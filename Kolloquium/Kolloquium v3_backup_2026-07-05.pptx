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86" r:id="rId4"/>
    <p:sldId id="271" r:id="rId5"/>
    <p:sldId id="270" r:id="rId6"/>
    <p:sldId id="269" r:id="rId7"/>
    <p:sldId id="258" r:id="rId8"/>
    <p:sldId id="290" r:id="rId9"/>
    <p:sldId id="292" r:id="rId10"/>
    <p:sldId id="260" r:id="rId11"/>
    <p:sldId id="287" r:id="rId12"/>
    <p:sldId id="293" r:id="rId13"/>
    <p:sldId id="297" r:id="rId14"/>
    <p:sldId id="282" r:id="rId15"/>
    <p:sldId id="262" r:id="rId16"/>
    <p:sldId id="283" r:id="rId17"/>
    <p:sldId id="285" r:id="rId18"/>
    <p:sldId id="272" r:id="rId19"/>
    <p:sldId id="274" r:id="rId20"/>
    <p:sldId id="276" r:id="rId21"/>
    <p:sldId id="279" r:id="rId22"/>
    <p:sldId id="294" r:id="rId23"/>
    <p:sldId id="295" r:id="rId24"/>
    <p:sldId id="296" r:id="rId25"/>
    <p:sldId id="265" r:id="rId26"/>
    <p:sldId id="266" r:id="rId27"/>
    <p:sldId id="267"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EFDA"/>
    <a:srgbClr val="E6D44F"/>
    <a:srgbClr val="78A2F9"/>
    <a:srgbClr val="3CBA77"/>
    <a:srgbClr val="F46451"/>
    <a:srgbClr val="082E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046257-789C-224F-9FF0-81096475CB9D}" v="393" dt="2026-07-04T13:37:43.458"/>
    <p1510:client id="{A0543C63-59B1-4C4A-A05B-95E80D9D0EF0}" v="62" dt="2026-07-04T23:33:34.931"/>
    <p1510:client id="{BC9CA0B8-AD44-404C-B298-833E100FD511}" v="257" dt="2026-07-04T11:09:01.155"/>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774"/>
    <p:restoredTop sz="94688"/>
  </p:normalViewPr>
  <p:slideViewPr>
    <p:cSldViewPr snapToGrid="0">
      <p:cViewPr varScale="1">
        <p:scale>
          <a:sx n="104" d="100"/>
          <a:sy n="104" d="100"/>
        </p:scale>
        <p:origin x="240" y="6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title>
      <c:tx>
        <c:rich>
          <a:bodyPr/>
          <a:lstStyle/>
          <a:p>
            <a:pPr>
              <a:defRPr sz="1600" b="1">
                <a:solidFill>
                  <a:srgbClr val="F2EFDA"/>
                </a:solidFill>
              </a:defRPr>
            </a:pPr>
            <a:r>
              <a:rPr lang="de-DE" sz="1600" b="1" dirty="0">
                <a:solidFill>
                  <a:srgbClr val="F2EFDA"/>
                </a:solidFill>
              </a:rPr>
              <a:t>Zeitreihe </a:t>
            </a:r>
            <a:r>
              <a:rPr lang="de-DE" sz="1600" b="1" dirty="0" err="1">
                <a:solidFill>
                  <a:srgbClr val="F2EFDA"/>
                </a:solidFill>
              </a:rPr>
              <a:t>ΔYt</a:t>
            </a:r>
            <a:endParaRPr lang="de-DE" sz="1600" b="1" dirty="0">
              <a:solidFill>
                <a:srgbClr val="F2EFDA"/>
              </a:solidFill>
            </a:endParaRPr>
          </a:p>
        </c:rich>
      </c:tx>
      <c:overlay val="0"/>
    </c:title>
    <c:autoTitleDeleted val="0"/>
    <c:plotArea>
      <c:layout/>
      <c:lineChart>
        <c:grouping val="standard"/>
        <c:varyColors val="0"/>
        <c:ser>
          <c:idx val="0"/>
          <c:order val="0"/>
          <c:tx>
            <c:v>ΔYt (simuliert)</c:v>
          </c:tx>
          <c:spPr>
            <a:ln w="25400">
              <a:solidFill>
                <a:srgbClr val="78A2F9"/>
              </a:solidFill>
            </a:ln>
          </c:spPr>
          <c:marker>
            <c:symbol val="none"/>
          </c:marker>
          <c:dLbls>
            <c:spPr>
              <a:noFill/>
              <a:ln>
                <a:noFill/>
              </a:ln>
              <a:effectLst/>
            </c:spPr>
            <c:showLegendKey val="0"/>
            <c:showVal val="0"/>
            <c:showCatName val="0"/>
            <c:showSerName val="0"/>
            <c:showPercent val="0"/>
            <c:showBubbleSize val="1"/>
            <c:showLeaderLines val="0"/>
            <c:extLst>
              <c:ext xmlns:c15="http://schemas.microsoft.com/office/drawing/2012/chart" uri="{CE6537A1-D6FC-4f65-9D91-7224C49458BB}">
                <c15:showLeaderLines val="0"/>
              </c:ext>
            </c:extLst>
          </c:dLbls>
          <c:cat>
            <c:numLit>
              <c:formatCode>General</c:formatCode>
              <c:ptCount val="5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numLit>
          </c:cat>
          <c:val>
            <c:numLit>
              <c:formatCode>General</c:formatCode>
              <c:ptCount val="50"/>
              <c:pt idx="0">
                <c:v>2.4</c:v>
              </c:pt>
              <c:pt idx="1">
                <c:v>0.4</c:v>
              </c:pt>
              <c:pt idx="2">
                <c:v>-0.59</c:v>
              </c:pt>
              <c:pt idx="3">
                <c:v>-0.93</c:v>
              </c:pt>
              <c:pt idx="4">
                <c:v>-1.1200000000000001</c:v>
              </c:pt>
              <c:pt idx="5">
                <c:v>-2.5</c:v>
              </c:pt>
              <c:pt idx="6">
                <c:v>-1.1200000000000001</c:v>
              </c:pt>
              <c:pt idx="7">
                <c:v>-1.25</c:v>
              </c:pt>
              <c:pt idx="8">
                <c:v>-1.41</c:v>
              </c:pt>
              <c:pt idx="9">
                <c:v>-1.97</c:v>
              </c:pt>
              <c:pt idx="10">
                <c:v>-1.36</c:v>
              </c:pt>
              <c:pt idx="11">
                <c:v>0.74</c:v>
              </c:pt>
              <c:pt idx="12">
                <c:v>1.67</c:v>
              </c:pt>
              <c:pt idx="13">
                <c:v>1.74</c:v>
              </c:pt>
              <c:pt idx="14">
                <c:v>1.25</c:v>
              </c:pt>
              <c:pt idx="15">
                <c:v>1.9</c:v>
              </c:pt>
              <c:pt idx="16">
                <c:v>1.54</c:v>
              </c:pt>
              <c:pt idx="17">
                <c:v>1.38</c:v>
              </c:pt>
              <c:pt idx="18">
                <c:v>0.15</c:v>
              </c:pt>
              <c:pt idx="19">
                <c:v>0.33</c:v>
              </c:pt>
              <c:pt idx="20">
                <c:v>-0.73</c:v>
              </c:pt>
              <c:pt idx="21">
                <c:v>-0.88</c:v>
              </c:pt>
              <c:pt idx="22">
                <c:v>-0.78</c:v>
              </c:pt>
              <c:pt idx="23">
                <c:v>0.42</c:v>
              </c:pt>
              <c:pt idx="24">
                <c:v>0.57999999999999996</c:v>
              </c:pt>
              <c:pt idx="25">
                <c:v>0.18</c:v>
              </c:pt>
              <c:pt idx="26">
                <c:v>-7.0000000000000007E-2</c:v>
              </c:pt>
              <c:pt idx="27">
                <c:v>-0.52</c:v>
              </c:pt>
              <c:pt idx="28">
                <c:v>1.42</c:v>
              </c:pt>
              <c:pt idx="29">
                <c:v>-1.04</c:v>
              </c:pt>
              <c:pt idx="30">
                <c:v>0.72</c:v>
              </c:pt>
              <c:pt idx="31">
                <c:v>0.9</c:v>
              </c:pt>
              <c:pt idx="32">
                <c:v>-0.26</c:v>
              </c:pt>
              <c:pt idx="33">
                <c:v>0.83</c:v>
              </c:pt>
              <c:pt idx="34">
                <c:v>0.47</c:v>
              </c:pt>
              <c:pt idx="35">
                <c:v>-0.06</c:v>
              </c:pt>
              <c:pt idx="36">
                <c:v>0.56000000000000005</c:v>
              </c:pt>
              <c:pt idx="37">
                <c:v>0.84</c:v>
              </c:pt>
              <c:pt idx="38">
                <c:v>1</c:v>
              </c:pt>
              <c:pt idx="39">
                <c:v>1.65</c:v>
              </c:pt>
              <c:pt idx="40">
                <c:v>0.23</c:v>
              </c:pt>
              <c:pt idx="41">
                <c:v>-0.52</c:v>
              </c:pt>
              <c:pt idx="42">
                <c:v>-0.44</c:v>
              </c:pt>
              <c:pt idx="43">
                <c:v>-1</c:v>
              </c:pt>
              <c:pt idx="44">
                <c:v>-1.24</c:v>
              </c:pt>
              <c:pt idx="45">
                <c:v>1.42</c:v>
              </c:pt>
              <c:pt idx="46">
                <c:v>0</c:v>
              </c:pt>
              <c:pt idx="47">
                <c:v>0.61</c:v>
              </c:pt>
              <c:pt idx="48">
                <c:v>-0.14000000000000001</c:v>
              </c:pt>
              <c:pt idx="49">
                <c:v>1.21</c:v>
              </c:pt>
            </c:numLit>
          </c:val>
          <c:smooth val="0"/>
          <c:extLst>
            <c:ext xmlns:c16="http://schemas.microsoft.com/office/drawing/2014/chart" uri="{C3380CC4-5D6E-409C-BE32-E72D297353CC}">
              <c16:uniqueId val="{00000000-01E6-7F45-BE0E-E823F4CA376D}"/>
            </c:ext>
          </c:extLst>
        </c:ser>
        <c:dLbls>
          <c:showLegendKey val="0"/>
          <c:showVal val="0"/>
          <c:showCatName val="0"/>
          <c:showSerName val="0"/>
          <c:showPercent val="0"/>
          <c:showBubbleSize val="0"/>
        </c:dLbls>
        <c:smooth val="0"/>
        <c:axId val="111111111"/>
        <c:axId val="222222222"/>
      </c:lineChart>
      <c:catAx>
        <c:axId val="111111111"/>
        <c:scaling>
          <c:orientation val="minMax"/>
        </c:scaling>
        <c:delete val="0"/>
        <c:axPos val="b"/>
        <c:numFmt formatCode="General" sourceLinked="0"/>
        <c:majorTickMark val="none"/>
        <c:minorTickMark val="none"/>
        <c:tickLblPos val="low"/>
        <c:spPr>
          <a:ln w="9525">
            <a:solidFill>
              <a:srgbClr val="B3BC9A"/>
            </a:solidFill>
          </a:ln>
        </c:spPr>
        <c:txPr>
          <a:bodyPr/>
          <a:lstStyle/>
          <a:p>
            <a:pPr>
              <a:defRPr sz="1400">
                <a:solidFill>
                  <a:srgbClr val="B3BC9A"/>
                </a:solidFill>
              </a:defRPr>
            </a:pPr>
            <a:endParaRPr lang="de-DE"/>
          </a:p>
        </c:txPr>
        <c:crossAx val="222222222"/>
        <c:crosses val="min"/>
        <c:auto val="1"/>
        <c:lblAlgn val="ctr"/>
        <c:lblOffset val="100"/>
        <c:tickLblSkip val="10"/>
        <c:tickMarkSkip val="10"/>
        <c:noMultiLvlLbl val="1"/>
      </c:catAx>
      <c:valAx>
        <c:axId val="222222222"/>
        <c:scaling>
          <c:orientation val="minMax"/>
        </c:scaling>
        <c:delete val="0"/>
        <c:axPos val="l"/>
        <c:numFmt formatCode="General" sourceLinked="1"/>
        <c:majorTickMark val="out"/>
        <c:minorTickMark val="none"/>
        <c:tickLblPos val="nextTo"/>
        <c:spPr>
          <a:ln w="9525">
            <a:solidFill>
              <a:srgbClr val="B3BC9A"/>
            </a:solidFill>
          </a:ln>
        </c:spPr>
        <c:txPr>
          <a:bodyPr/>
          <a:lstStyle/>
          <a:p>
            <a:pPr>
              <a:defRPr sz="1400">
                <a:solidFill>
                  <a:srgbClr val="B3BC9A"/>
                </a:solidFill>
              </a:defRPr>
            </a:pPr>
            <a:endParaRPr lang="de-DE"/>
          </a:p>
        </c:txPr>
        <c:crossAx val="111111111"/>
        <c:crosses val="autoZero"/>
        <c:crossBetween val="between"/>
      </c:valAx>
    </c:plotArea>
    <c:plotVisOnly val="1"/>
    <c:dispBlanksAs val="zero"/>
    <c:showDLblsOverMax val="1"/>
  </c:chart>
  <c:spPr>
    <a:noFill/>
    <a:ln>
      <a:noFill/>
    </a:ln>
  </c:spPr>
  <c:txPr>
    <a:bodyPr/>
    <a:lstStyle/>
    <a:p>
      <a:pPr>
        <a:defRPr sz="1400">
          <a:solidFill>
            <a:srgbClr val="F2EFDA"/>
          </a:solidFill>
        </a:defRPr>
      </a:pPr>
      <a:endParaRPr lang="de-DE"/>
    </a:p>
  </c:tx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title>
      <c:tx>
        <c:rich>
          <a:bodyPr/>
          <a:lstStyle/>
          <a:p>
            <a:pPr>
              <a:defRPr sz="1600" b="1">
                <a:solidFill>
                  <a:srgbClr val="F2EFDA"/>
                </a:solidFill>
              </a:defRPr>
            </a:pPr>
            <a:r>
              <a:rPr lang="de-DE" sz="1600" b="1" dirty="0">
                <a:solidFill>
                  <a:srgbClr val="F2EFDA"/>
                </a:solidFill>
              </a:rPr>
              <a:t>Zeitreihe </a:t>
            </a:r>
            <a:r>
              <a:rPr lang="de-DE" sz="1600" b="1" dirty="0" err="1">
                <a:solidFill>
                  <a:srgbClr val="F2EFDA"/>
                </a:solidFill>
              </a:rPr>
              <a:t>ΔYt</a:t>
            </a:r>
            <a:endParaRPr lang="de-DE" sz="1600" b="1" dirty="0">
              <a:solidFill>
                <a:srgbClr val="F2EFDA"/>
              </a:solidFill>
            </a:endParaRPr>
          </a:p>
        </c:rich>
      </c:tx>
      <c:overlay val="0"/>
    </c:title>
    <c:autoTitleDeleted val="0"/>
    <c:plotArea>
      <c:layout/>
      <c:lineChart>
        <c:grouping val="standard"/>
        <c:varyColors val="0"/>
        <c:ser>
          <c:idx val="0"/>
          <c:order val="0"/>
          <c:tx>
            <c:v>ΔYt (simuliert)</c:v>
          </c:tx>
          <c:spPr>
            <a:ln w="25400">
              <a:solidFill>
                <a:srgbClr val="78A2F9"/>
              </a:solidFill>
            </a:ln>
          </c:spPr>
          <c:marker>
            <c:symbol val="none"/>
          </c:marker>
          <c:dLbls>
            <c:spPr>
              <a:noFill/>
              <a:ln>
                <a:noFill/>
              </a:ln>
              <a:effectLst/>
            </c:spPr>
            <c:showLegendKey val="0"/>
            <c:showVal val="0"/>
            <c:showCatName val="0"/>
            <c:showSerName val="0"/>
            <c:showPercent val="0"/>
            <c:showBubbleSize val="1"/>
            <c:showLeaderLines val="0"/>
            <c:extLst>
              <c:ext xmlns:c15="http://schemas.microsoft.com/office/drawing/2012/chart" uri="{CE6537A1-D6FC-4f65-9D91-7224C49458BB}">
                <c15:showLeaderLines val="0"/>
              </c:ext>
            </c:extLst>
          </c:dLbls>
          <c:cat>
            <c:numLit>
              <c:formatCode>General</c:formatCode>
              <c:ptCount val="5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numLit>
          </c:cat>
          <c:val>
            <c:numLit>
              <c:formatCode>General</c:formatCode>
              <c:ptCount val="50"/>
              <c:pt idx="0">
                <c:v>2.4</c:v>
              </c:pt>
              <c:pt idx="1">
                <c:v>0.4</c:v>
              </c:pt>
              <c:pt idx="2">
                <c:v>-0.59</c:v>
              </c:pt>
              <c:pt idx="3">
                <c:v>-0.93</c:v>
              </c:pt>
              <c:pt idx="4">
                <c:v>-1.1200000000000001</c:v>
              </c:pt>
              <c:pt idx="5">
                <c:v>-2.5</c:v>
              </c:pt>
              <c:pt idx="6">
                <c:v>-1.1200000000000001</c:v>
              </c:pt>
              <c:pt idx="7">
                <c:v>-1.25</c:v>
              </c:pt>
              <c:pt idx="8">
                <c:v>-1.41</c:v>
              </c:pt>
              <c:pt idx="9">
                <c:v>-1.97</c:v>
              </c:pt>
              <c:pt idx="10">
                <c:v>-1.36</c:v>
              </c:pt>
              <c:pt idx="11">
                <c:v>0.74</c:v>
              </c:pt>
              <c:pt idx="12">
                <c:v>1.67</c:v>
              </c:pt>
              <c:pt idx="13">
                <c:v>1.74</c:v>
              </c:pt>
              <c:pt idx="14">
                <c:v>1.25</c:v>
              </c:pt>
              <c:pt idx="15">
                <c:v>1.9</c:v>
              </c:pt>
              <c:pt idx="16">
                <c:v>1.54</c:v>
              </c:pt>
              <c:pt idx="17">
                <c:v>1.38</c:v>
              </c:pt>
              <c:pt idx="18">
                <c:v>0.15</c:v>
              </c:pt>
              <c:pt idx="19">
                <c:v>0.33</c:v>
              </c:pt>
              <c:pt idx="20">
                <c:v>-0.73</c:v>
              </c:pt>
              <c:pt idx="21">
                <c:v>-0.88</c:v>
              </c:pt>
              <c:pt idx="22">
                <c:v>-0.78</c:v>
              </c:pt>
              <c:pt idx="23">
                <c:v>0.42</c:v>
              </c:pt>
              <c:pt idx="24">
                <c:v>0.57999999999999996</c:v>
              </c:pt>
              <c:pt idx="25">
                <c:v>0.18</c:v>
              </c:pt>
              <c:pt idx="26">
                <c:v>-7.0000000000000007E-2</c:v>
              </c:pt>
              <c:pt idx="27">
                <c:v>-0.52</c:v>
              </c:pt>
              <c:pt idx="28">
                <c:v>1.42</c:v>
              </c:pt>
              <c:pt idx="29">
                <c:v>-1.04</c:v>
              </c:pt>
              <c:pt idx="30">
                <c:v>0.72</c:v>
              </c:pt>
              <c:pt idx="31">
                <c:v>0.9</c:v>
              </c:pt>
              <c:pt idx="32">
                <c:v>-0.26</c:v>
              </c:pt>
              <c:pt idx="33">
                <c:v>0.83</c:v>
              </c:pt>
              <c:pt idx="34">
                <c:v>0.47</c:v>
              </c:pt>
              <c:pt idx="35">
                <c:v>-0.06</c:v>
              </c:pt>
              <c:pt idx="36">
                <c:v>0.56000000000000005</c:v>
              </c:pt>
              <c:pt idx="37">
                <c:v>0.84</c:v>
              </c:pt>
              <c:pt idx="38">
                <c:v>1</c:v>
              </c:pt>
              <c:pt idx="39">
                <c:v>1.65</c:v>
              </c:pt>
              <c:pt idx="40">
                <c:v>0.23</c:v>
              </c:pt>
              <c:pt idx="41">
                <c:v>-0.52</c:v>
              </c:pt>
              <c:pt idx="42">
                <c:v>-0.44</c:v>
              </c:pt>
              <c:pt idx="43">
                <c:v>-1</c:v>
              </c:pt>
              <c:pt idx="44">
                <c:v>-1.24</c:v>
              </c:pt>
              <c:pt idx="45">
                <c:v>1.42</c:v>
              </c:pt>
              <c:pt idx="46">
                <c:v>0</c:v>
              </c:pt>
              <c:pt idx="47">
                <c:v>0.61</c:v>
              </c:pt>
              <c:pt idx="48">
                <c:v>-0.14000000000000001</c:v>
              </c:pt>
              <c:pt idx="49">
                <c:v>1.21</c:v>
              </c:pt>
            </c:numLit>
          </c:val>
          <c:smooth val="0"/>
          <c:extLst>
            <c:ext xmlns:c16="http://schemas.microsoft.com/office/drawing/2014/chart" uri="{C3380CC4-5D6E-409C-BE32-E72D297353CC}">
              <c16:uniqueId val="{00000000-01E6-7F45-BE0E-E823F4CA376D}"/>
            </c:ext>
          </c:extLst>
        </c:ser>
        <c:dLbls>
          <c:showLegendKey val="0"/>
          <c:showVal val="0"/>
          <c:showCatName val="0"/>
          <c:showSerName val="0"/>
          <c:showPercent val="0"/>
          <c:showBubbleSize val="0"/>
        </c:dLbls>
        <c:smooth val="0"/>
        <c:axId val="111111111"/>
        <c:axId val="222222222"/>
      </c:lineChart>
      <c:catAx>
        <c:axId val="111111111"/>
        <c:scaling>
          <c:orientation val="minMax"/>
        </c:scaling>
        <c:delete val="0"/>
        <c:axPos val="b"/>
        <c:numFmt formatCode="General" sourceLinked="0"/>
        <c:majorTickMark val="none"/>
        <c:minorTickMark val="none"/>
        <c:tickLblPos val="low"/>
        <c:spPr>
          <a:ln w="9525">
            <a:solidFill>
              <a:srgbClr val="B3BC9A"/>
            </a:solidFill>
          </a:ln>
        </c:spPr>
        <c:txPr>
          <a:bodyPr/>
          <a:lstStyle/>
          <a:p>
            <a:pPr>
              <a:defRPr sz="1400">
                <a:solidFill>
                  <a:srgbClr val="B3BC9A"/>
                </a:solidFill>
              </a:defRPr>
            </a:pPr>
            <a:endParaRPr lang="de-DE"/>
          </a:p>
        </c:txPr>
        <c:crossAx val="222222222"/>
        <c:crosses val="min"/>
        <c:auto val="1"/>
        <c:lblAlgn val="ctr"/>
        <c:lblOffset val="100"/>
        <c:tickLblSkip val="10"/>
        <c:tickMarkSkip val="10"/>
        <c:noMultiLvlLbl val="1"/>
      </c:catAx>
      <c:valAx>
        <c:axId val="222222222"/>
        <c:scaling>
          <c:orientation val="minMax"/>
        </c:scaling>
        <c:delete val="0"/>
        <c:axPos val="l"/>
        <c:numFmt formatCode="General" sourceLinked="1"/>
        <c:majorTickMark val="out"/>
        <c:minorTickMark val="none"/>
        <c:tickLblPos val="nextTo"/>
        <c:spPr>
          <a:ln w="9525">
            <a:solidFill>
              <a:srgbClr val="B3BC9A"/>
            </a:solidFill>
          </a:ln>
        </c:spPr>
        <c:txPr>
          <a:bodyPr/>
          <a:lstStyle/>
          <a:p>
            <a:pPr>
              <a:defRPr sz="1400">
                <a:solidFill>
                  <a:srgbClr val="B3BC9A"/>
                </a:solidFill>
              </a:defRPr>
            </a:pPr>
            <a:endParaRPr lang="de-DE"/>
          </a:p>
        </c:txPr>
        <c:crossAx val="111111111"/>
        <c:crosses val="autoZero"/>
        <c:crossBetween val="between"/>
      </c:valAx>
    </c:plotArea>
    <c:plotVisOnly val="1"/>
    <c:dispBlanksAs val="zero"/>
    <c:showDLblsOverMax val="1"/>
  </c:chart>
  <c:spPr>
    <a:noFill/>
    <a:ln>
      <a:noFill/>
    </a:ln>
  </c:spPr>
  <c:txPr>
    <a:bodyPr/>
    <a:lstStyle/>
    <a:p>
      <a:pPr>
        <a:defRPr sz="1400">
          <a:solidFill>
            <a:srgbClr val="F2EFDA"/>
          </a:solidFill>
        </a:defRPr>
      </a:pPr>
      <a:endParaRPr lang="de-DE"/>
    </a:p>
  </c:tx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6951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Sehr </a:t>
            </a:r>
            <a:r>
              <a:rPr lang="en-US" err="1"/>
              <a:t>geehrter</a:t>
            </a:r>
            <a:r>
              <a:rPr lang="en-US"/>
              <a:t> Professor Steglich, </a:t>
            </a:r>
            <a:r>
              <a:rPr lang="en-US" err="1"/>
              <a:t>sehr</a:t>
            </a:r>
            <a:r>
              <a:rPr lang="en-US"/>
              <a:t> </a:t>
            </a:r>
            <a:r>
              <a:rPr lang="en-US" err="1"/>
              <a:t>geehrter</a:t>
            </a:r>
            <a:r>
              <a:rPr lang="en-US"/>
              <a:t> Professor </a:t>
            </a:r>
            <a:r>
              <a:rPr lang="en-US" err="1"/>
              <a:t>Stollhoff</a:t>
            </a:r>
            <a:r>
              <a:rPr lang="en-US"/>
              <a:t>, ich </a:t>
            </a:r>
            <a:r>
              <a:rPr lang="en-US" err="1"/>
              <a:t>freue</a:t>
            </a:r>
            <a:r>
              <a:rPr lang="en-US"/>
              <a:t> </a:t>
            </a:r>
            <a:r>
              <a:rPr lang="en-US" err="1"/>
              <a:t>mich</a:t>
            </a:r>
            <a:r>
              <a:rPr lang="en-US"/>
              <a:t>, </a:t>
            </a:r>
            <a:r>
              <a:rPr lang="en-US" err="1"/>
              <a:t>dasss</a:t>
            </a:r>
            <a:r>
              <a:rPr lang="en-US"/>
              <a:t> ich </a:t>
            </a:r>
            <a:r>
              <a:rPr lang="en-US" err="1"/>
              <a:t>hier</a:t>
            </a:r>
            <a:r>
              <a:rPr lang="en-US"/>
              <a:t> </a:t>
            </a:r>
            <a:r>
              <a:rPr lang="en-US" err="1"/>
              <a:t>beim</a:t>
            </a:r>
            <a:r>
              <a:rPr lang="en-US"/>
              <a:t> </a:t>
            </a:r>
            <a:r>
              <a:rPr lang="en-US" err="1"/>
              <a:t>Kolloquium</a:t>
            </a:r>
            <a:r>
              <a:rPr lang="en-US"/>
              <a:t> die Möglichkeit </a:t>
            </a:r>
            <a:r>
              <a:rPr lang="en-US" err="1"/>
              <a:t>habe</a:t>
            </a:r>
            <a:r>
              <a:rPr lang="en-US"/>
              <a:t>, meine </a:t>
            </a:r>
            <a:r>
              <a:rPr lang="en-US" err="1"/>
              <a:t>Masterarbeit</a:t>
            </a:r>
            <a:r>
              <a:rPr lang="en-US"/>
              <a:t> “</a:t>
            </a:r>
            <a:r>
              <a:rPr lang="en-US" err="1"/>
              <a:t>Zeitreihenbasierte</a:t>
            </a:r>
            <a:r>
              <a:rPr lang="en-US"/>
              <a:t> </a:t>
            </a:r>
            <a:r>
              <a:rPr lang="en-US" err="1"/>
              <a:t>Analyse</a:t>
            </a:r>
            <a:r>
              <a:rPr lang="en-US"/>
              <a:t> der Dynamik von </a:t>
            </a:r>
            <a:r>
              <a:rPr lang="en-US" err="1"/>
              <a:t>Finanzkennzahlen</a:t>
            </a:r>
            <a:r>
              <a:rPr lang="en-US"/>
              <a:t> </a:t>
            </a:r>
            <a:r>
              <a:rPr lang="en-US" err="1"/>
              <a:t>börsennotierter</a:t>
            </a:r>
            <a:r>
              <a:rPr lang="en-US"/>
              <a:t> </a:t>
            </a:r>
            <a:r>
              <a:rPr lang="en-US" err="1"/>
              <a:t>Unternehmen</a:t>
            </a:r>
            <a:r>
              <a:rPr lang="en-US"/>
              <a:t>” </a:t>
            </a:r>
            <a:r>
              <a:rPr lang="en-US" err="1"/>
              <a:t>vorzustellen</a:t>
            </a:r>
            <a:r>
              <a:rPr lang="en-US"/>
              <a:t>. Ich habe untersucht, wie sich Finanzkennzahlen börsennotierter US-Unternehmen über die Zeit verhalten — nicht ihre Höhe, sondern ihre Dynamik. In den nächsten 15 Minuten zeige ich Ihnen, warum sich diese Dynamik systematisch unterscheidet, wie die Kennzahlen zusammenhängen und womit sich die Unterschiede erklären lassen.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[Zeit: 1:30] Eine Kennzahl wie der ROA ist eine Momentaufnahme. Die Information steckt in der Bewegung: Kehrt eine Veränderung im nächsten Quartal zurück — oder bleibt sie? Und wie stark schwankt eine Kennzahl? Diese beiden Dimensionen — Korrekturgeschwindigkeit und Volatilität — sind der Gegenstand der Arbeit. Daraus ergeben sich drei Forschungsfragen: systematische Unterschiede, Interdependenzen über Zeit und Krisen, und der Zusammenhang mit Unternehmensmerkmalen.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7FE76-30F9-E81D-C609-6B89577643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9A0220-4F89-3882-C2A0-AD703044C2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BE5A11-6F13-E27F-3D78-3BCB54C24CC6}"/>
              </a:ext>
            </a:extLst>
          </p:cNvPr>
          <p:cNvSpPr>
            <a:spLocks noGrp="1"/>
          </p:cNvSpPr>
          <p:nvPr>
            <p:ph type="body" idx="1"/>
          </p:nvPr>
        </p:nvSpPr>
        <p:spPr/>
        <p:txBody>
          <a:bodyPr/>
          <a:lstStyle/>
          <a:p>
            <a:r>
              <a:rPr lang="en-US"/>
              <a:t>[Zeit: 1:30] Eine Kennzahl wie der ROA ist eine Momentaufnahme. Die Information steckt in der Bewegung: Kehrt eine Veränderung im nächsten Quartal zurück — oder bleibt sie? Und wie stark schwankt eine Kennzahl? Diese beiden Dimensionen — Korrekturgeschwindigkeit und Volatilität — sind der Gegenstand der Arbeit. Daraus ergeben sich drei Forschungsfragen: systematische Unterschiede, Interdependenzen über Zeit und Krisen, und der Zusammenhang mit Unternehmensmerkmalen.</a:t>
            </a:r>
          </a:p>
        </p:txBody>
      </p:sp>
      <p:sp>
        <p:nvSpPr>
          <p:cNvPr id="4" name="Slide Number Placeholder 3">
            <a:extLst>
              <a:ext uri="{FF2B5EF4-FFF2-40B4-BE49-F238E27FC236}">
                <a16:creationId xmlns:a16="http://schemas.microsoft.com/office/drawing/2014/main" id="{6714EC63-BC69-1CB4-4049-FB44C62C6C0B}"/>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4421173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91930-6BC8-FEF0-1AF1-DE584EC0A4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9027FD-479D-BBA6-E597-DD42073E43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ED106F-01DB-1314-4EF5-1A3D13F047F5}"/>
              </a:ext>
            </a:extLst>
          </p:cNvPr>
          <p:cNvSpPr>
            <a:spLocks noGrp="1"/>
          </p:cNvSpPr>
          <p:nvPr>
            <p:ph type="body" idx="1"/>
          </p:nvPr>
        </p:nvSpPr>
        <p:spPr/>
        <p:txBody>
          <a:bodyPr/>
          <a:lstStyle/>
          <a:p>
            <a:r>
              <a:rPr lang="en-US"/>
              <a:t>[Zeit: 1:30] Eine Kennzahl wie der ROA ist eine Momentaufnahme. Die Information steckt in der Bewegung: Kehrt eine Veränderung im nächsten Quartal zurück — oder bleibt sie? Und wie stark schwankt eine Kennzahl? Diese beiden Dimensionen — Korrekturgeschwindigkeit und Volatilität — sind der Gegenstand der Arbeit. Daraus ergeben sich drei Forschungsfragen: systematische Unterschiede, Interdependenzen über Zeit und Krisen, und der Zusammenhang mit Unternehmensmerkmalen.</a:t>
            </a:r>
          </a:p>
        </p:txBody>
      </p:sp>
      <p:sp>
        <p:nvSpPr>
          <p:cNvPr id="4" name="Slide Number Placeholder 3">
            <a:extLst>
              <a:ext uri="{FF2B5EF4-FFF2-40B4-BE49-F238E27FC236}">
                <a16:creationId xmlns:a16="http://schemas.microsoft.com/office/drawing/2014/main" id="{E2B0CADC-1360-0509-CABF-E77757AE30F9}"/>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7679442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3A5CB-29CD-04CA-9734-CD726E4A00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7F7C9F-F995-FF4A-F4F7-B629997B9B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377D6-A7D4-0A3D-986A-43CDC82D4BB8}"/>
              </a:ext>
            </a:extLst>
          </p:cNvPr>
          <p:cNvSpPr>
            <a:spLocks noGrp="1"/>
          </p:cNvSpPr>
          <p:nvPr>
            <p:ph type="body" idx="1"/>
          </p:nvPr>
        </p:nvSpPr>
        <p:spPr/>
        <p:txBody>
          <a:bodyPr/>
          <a:lstStyle/>
          <a:p>
            <a:r>
              <a:rPr lang="en-US"/>
              <a:t>[Zeit: 1:30] Eine Kennzahl wie der ROA ist eine Momentaufnahme. Die Information steckt in der Bewegung: Kehrt eine Veränderung im nächsten Quartal zurück — oder bleibt sie? Und wie stark schwankt eine Kennzahl? Diese beiden Dimensionen — Korrekturgeschwindigkeit und Volatilität — sind der Gegenstand der Arbeit. Daraus ergeben sich drei Forschungsfragen: systematische Unterschiede, Interdependenzen über Zeit und Krisen, und der Zusammenhang mit Unternehmensmerkmalen.</a:t>
            </a:r>
          </a:p>
        </p:txBody>
      </p:sp>
      <p:sp>
        <p:nvSpPr>
          <p:cNvPr id="4" name="Slide Number Placeholder 3">
            <a:extLst>
              <a:ext uri="{FF2B5EF4-FFF2-40B4-BE49-F238E27FC236}">
                <a16:creationId xmlns:a16="http://schemas.microsoft.com/office/drawing/2014/main" id="{C40521D6-27E5-BCF1-534A-0FBB76A8C510}"/>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1088085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E951E-5BF9-5DE2-2E6B-05B45B3ED8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92183A-72F8-4A85-EA62-B246580F6F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EB3215-8F5F-3A84-98AC-9DF296579E67}"/>
              </a:ext>
            </a:extLst>
          </p:cNvPr>
          <p:cNvSpPr>
            <a:spLocks noGrp="1"/>
          </p:cNvSpPr>
          <p:nvPr>
            <p:ph type="body" idx="1"/>
          </p:nvPr>
        </p:nvSpPr>
        <p:spPr/>
        <p:txBody>
          <a:bodyPr/>
          <a:lstStyle/>
          <a:p>
            <a:r>
              <a:rPr lang="en-US"/>
              <a:t>[Zeit: 1:30] Eine Kennzahl wie der ROA ist eine Momentaufnahme. Die Information steckt in der Bewegung: Kehrt eine Veränderung im nächsten Quartal zurück — oder bleibt sie? Und wie stark schwankt eine Kennzahl? Diese beiden Dimensionen — Korrekturgeschwindigkeit und Volatilität — sind der Gegenstand der Arbeit. Daraus ergeben sich drei Forschungsfragen: systematische Unterschiede, Interdependenzen über Zeit und Krisen, und der Zusammenhang mit Unternehmensmerkmalen.</a:t>
            </a:r>
          </a:p>
        </p:txBody>
      </p:sp>
      <p:sp>
        <p:nvSpPr>
          <p:cNvPr id="4" name="Slide Number Placeholder 3">
            <a:extLst>
              <a:ext uri="{FF2B5EF4-FFF2-40B4-BE49-F238E27FC236}">
                <a16:creationId xmlns:a16="http://schemas.microsoft.com/office/drawing/2014/main" id="{19E306A4-D495-537D-37B6-03DFA72AFBC9}"/>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7109246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1:00] </a:t>
            </a:r>
            <a:r>
              <a:rPr lang="en-US" dirty="0" err="1"/>
              <a:t>Datengrundlage</a:t>
            </a:r>
            <a:r>
              <a:rPr lang="en-US" dirty="0"/>
              <a:t> </a:t>
            </a:r>
            <a:r>
              <a:rPr lang="en-US" dirty="0" err="1"/>
              <a:t>sind</a:t>
            </a:r>
            <a:r>
              <a:rPr lang="en-US" dirty="0"/>
              <a:t> </a:t>
            </a:r>
            <a:r>
              <a:rPr lang="en-US" dirty="0" err="1"/>
              <a:t>Quartalsabschlüsse</a:t>
            </a:r>
            <a:r>
              <a:rPr lang="en-US" dirty="0"/>
              <a:t> US-</a:t>
            </a:r>
            <a:r>
              <a:rPr lang="en-US" dirty="0" err="1"/>
              <a:t>amerikanischer</a:t>
            </a:r>
            <a:r>
              <a:rPr lang="en-US" dirty="0"/>
              <a:t> </a:t>
            </a:r>
            <a:r>
              <a:rPr lang="en-US" dirty="0" err="1"/>
              <a:t>börsennotierter</a:t>
            </a:r>
            <a:r>
              <a:rPr lang="en-US" dirty="0"/>
              <a:t> </a:t>
            </a:r>
            <a:r>
              <a:rPr lang="en-US" dirty="0" err="1"/>
              <a:t>Unternehmen</a:t>
            </a:r>
            <a:r>
              <a:rPr lang="en-US" dirty="0"/>
              <a:t> </a:t>
            </a:r>
            <a:r>
              <a:rPr lang="en-US" dirty="0" err="1"/>
              <a:t>über</a:t>
            </a:r>
            <a:r>
              <a:rPr lang="en-US" dirty="0"/>
              <a:t> 25 Jahre — 100 </a:t>
            </a:r>
            <a:r>
              <a:rPr lang="en-US" dirty="0" err="1"/>
              <a:t>Quartale</a:t>
            </a:r>
            <a:r>
              <a:rPr lang="en-US" dirty="0"/>
              <a:t>, 2000–2024, via EODHD-API. Aus </a:t>
            </a:r>
            <a:r>
              <a:rPr lang="en-US" dirty="0" err="1"/>
              <a:t>knapp</a:t>
            </a:r>
            <a:r>
              <a:rPr lang="en-US" dirty="0"/>
              <a:t> 5.900 </a:t>
            </a:r>
            <a:r>
              <a:rPr lang="en-US" dirty="0" err="1"/>
              <a:t>Unternehmen</a:t>
            </a:r>
            <a:r>
              <a:rPr lang="en-US" dirty="0"/>
              <a:t> </a:t>
            </a:r>
            <a:r>
              <a:rPr lang="en-US" dirty="0" err="1"/>
              <a:t>entsteht</a:t>
            </a:r>
            <a:r>
              <a:rPr lang="en-US" dirty="0"/>
              <a:t> </a:t>
            </a:r>
            <a:r>
              <a:rPr lang="en-US" dirty="0" err="1"/>
              <a:t>über</a:t>
            </a:r>
            <a:r>
              <a:rPr lang="en-US" dirty="0"/>
              <a:t> </a:t>
            </a:r>
            <a:r>
              <a:rPr lang="en-US" dirty="0" err="1"/>
              <a:t>eine</a:t>
            </a:r>
            <a:r>
              <a:rPr lang="en-US" dirty="0"/>
              <a:t> </a:t>
            </a:r>
            <a:r>
              <a:rPr lang="en-US" dirty="0" err="1"/>
              <a:t>Filterkette</a:t>
            </a:r>
            <a:r>
              <a:rPr lang="en-US" dirty="0"/>
              <a:t> die finale </a:t>
            </a:r>
            <a:r>
              <a:rPr lang="en-US" dirty="0" err="1"/>
              <a:t>Stichprobe</a:t>
            </a:r>
            <a:r>
              <a:rPr lang="en-US" dirty="0"/>
              <a:t> von 932: </a:t>
            </a:r>
            <a:r>
              <a:rPr lang="en-US" dirty="0" err="1"/>
              <a:t>Finanzsektor</a:t>
            </a:r>
            <a:r>
              <a:rPr lang="en-US" dirty="0"/>
              <a:t> </a:t>
            </a:r>
            <a:r>
              <a:rPr lang="en-US" dirty="0" err="1"/>
              <a:t>ausgeschlossen</a:t>
            </a:r>
            <a:r>
              <a:rPr lang="en-US" dirty="0"/>
              <a:t>, ADRs </a:t>
            </a:r>
            <a:r>
              <a:rPr lang="en-US" dirty="0" err="1"/>
              <a:t>entfernt</a:t>
            </a:r>
            <a:r>
              <a:rPr lang="en-US" dirty="0"/>
              <a:t>, </a:t>
            </a:r>
            <a:r>
              <a:rPr lang="en-US" dirty="0" err="1"/>
              <a:t>Vollständigkeit</a:t>
            </a:r>
            <a:r>
              <a:rPr lang="en-US" dirty="0"/>
              <a:t>, </a:t>
            </a:r>
            <a:r>
              <a:rPr lang="en-US" dirty="0" err="1"/>
              <a:t>Winsorisierung</a:t>
            </a:r>
            <a:r>
              <a:rPr lang="en-US" dirty="0"/>
              <a:t>. Der </a:t>
            </a:r>
            <a:r>
              <a:rPr lang="en-US" dirty="0" err="1"/>
              <a:t>Vollständigkeitsfilter</a:t>
            </a:r>
            <a:r>
              <a:rPr lang="en-US" dirty="0"/>
              <a:t> </a:t>
            </a:r>
            <a:r>
              <a:rPr lang="en-US" dirty="0" err="1"/>
              <a:t>erzeugt</a:t>
            </a:r>
            <a:r>
              <a:rPr lang="en-US" dirty="0"/>
              <a:t> </a:t>
            </a:r>
            <a:r>
              <a:rPr lang="en-US" dirty="0" err="1"/>
              <a:t>einen</a:t>
            </a:r>
            <a:r>
              <a:rPr lang="en-US" dirty="0"/>
              <a:t> Survivorship Bias — </a:t>
            </a:r>
            <a:r>
              <a:rPr lang="en-US" dirty="0" err="1"/>
              <a:t>quantifiziert</a:t>
            </a:r>
            <a:r>
              <a:rPr lang="en-US" dirty="0"/>
              <a:t> und </a:t>
            </a:r>
            <a:r>
              <a:rPr lang="en-US" dirty="0" err="1"/>
              <a:t>getestet</a:t>
            </a:r>
            <a:r>
              <a:rPr lang="en-US" dirty="0"/>
              <a:t>. </a:t>
            </a:r>
            <a:r>
              <a:rPr lang="en-US" dirty="0" err="1"/>
              <a:t>Insgesamt</a:t>
            </a:r>
            <a:r>
              <a:rPr lang="en-US" dirty="0"/>
              <a:t> 6.521 </a:t>
            </a:r>
            <a:r>
              <a:rPr lang="en-US" dirty="0" err="1"/>
              <a:t>Unternehmen-Kennzahl-Kombinationen</a:t>
            </a:r>
            <a:r>
              <a:rPr lang="en-US" dirty="0"/>
              <a:t> für </a:t>
            </a:r>
            <a:r>
              <a:rPr lang="en-US" dirty="0" err="1"/>
              <a:t>sieben</a:t>
            </a:r>
            <a:r>
              <a:rPr lang="en-US" dirty="0"/>
              <a:t> </a:t>
            </a:r>
            <a:r>
              <a:rPr lang="en-US" dirty="0" err="1"/>
              <a:t>Kennzahlen</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1:30] Für </a:t>
            </a:r>
            <a:r>
              <a:rPr lang="en-US" dirty="0" err="1"/>
              <a:t>jede</a:t>
            </a:r>
            <a:r>
              <a:rPr lang="en-US" dirty="0"/>
              <a:t> der 6.521 </a:t>
            </a:r>
            <a:r>
              <a:rPr lang="en-US" dirty="0" err="1"/>
              <a:t>Kombinationen</a:t>
            </a:r>
            <a:r>
              <a:rPr lang="en-US" dirty="0"/>
              <a:t> </a:t>
            </a:r>
            <a:r>
              <a:rPr lang="en-US" dirty="0" err="1"/>
              <a:t>schätze</a:t>
            </a:r>
            <a:r>
              <a:rPr lang="en-US" dirty="0"/>
              <a:t> ich </a:t>
            </a:r>
            <a:r>
              <a:rPr lang="en-US" dirty="0" err="1"/>
              <a:t>ein</a:t>
            </a:r>
            <a:r>
              <a:rPr lang="en-US" dirty="0"/>
              <a:t> AR(1)-Modell — nicht auf </a:t>
            </a:r>
            <a:r>
              <a:rPr lang="en-US" dirty="0" err="1"/>
              <a:t>Niveaus</a:t>
            </a:r>
            <a:r>
              <a:rPr lang="en-US" dirty="0"/>
              <a:t>, </a:t>
            </a:r>
            <a:r>
              <a:rPr lang="en-US" dirty="0" err="1"/>
              <a:t>sondern</a:t>
            </a:r>
            <a:r>
              <a:rPr lang="en-US" dirty="0"/>
              <a:t> auf </a:t>
            </a:r>
            <a:r>
              <a:rPr lang="en-US" dirty="0" err="1"/>
              <a:t>ersten</a:t>
            </a:r>
            <a:r>
              <a:rPr lang="en-US" dirty="0"/>
              <a:t> </a:t>
            </a:r>
            <a:r>
              <a:rPr lang="en-US" dirty="0" err="1"/>
              <a:t>Differenzen</a:t>
            </a:r>
            <a:r>
              <a:rPr lang="en-US" dirty="0"/>
              <a:t>. Drei </a:t>
            </a:r>
            <a:r>
              <a:rPr lang="en-US" dirty="0" err="1"/>
              <a:t>Gründe</a:t>
            </a:r>
            <a:r>
              <a:rPr lang="en-US" dirty="0"/>
              <a:t>: </a:t>
            </a:r>
            <a:r>
              <a:rPr lang="en-US" dirty="0" err="1"/>
              <a:t>direkte</a:t>
            </a:r>
            <a:r>
              <a:rPr lang="en-US" dirty="0"/>
              <a:t> </a:t>
            </a:r>
            <a:r>
              <a:rPr lang="en-US" dirty="0" err="1"/>
              <a:t>ökonomische</a:t>
            </a:r>
            <a:r>
              <a:rPr lang="en-US" dirty="0"/>
              <a:t> Interpretation, </a:t>
            </a:r>
            <a:r>
              <a:rPr lang="en-US" dirty="0" err="1"/>
              <a:t>Stationarität</a:t>
            </a:r>
            <a:r>
              <a:rPr lang="en-US" dirty="0"/>
              <a:t>, </a:t>
            </a:r>
            <a:r>
              <a:rPr lang="en-US" dirty="0" err="1"/>
              <a:t>Vergleichbarkeit</a:t>
            </a:r>
            <a:r>
              <a:rPr lang="en-US" dirty="0"/>
              <a:t>. Phi </a:t>
            </a:r>
            <a:r>
              <a:rPr lang="en-US" dirty="0" err="1"/>
              <a:t>misst</a:t>
            </a:r>
            <a:r>
              <a:rPr lang="en-US" dirty="0"/>
              <a:t> die </a:t>
            </a:r>
            <a:r>
              <a:rPr lang="en-US" dirty="0" err="1"/>
              <a:t>Autokorrelation</a:t>
            </a:r>
            <a:r>
              <a:rPr lang="en-US" dirty="0"/>
              <a:t> der </a:t>
            </a:r>
            <a:r>
              <a:rPr lang="en-US" dirty="0" err="1"/>
              <a:t>Veränderungen</a:t>
            </a:r>
            <a:r>
              <a:rPr lang="en-US" dirty="0"/>
              <a:t>, nicht die </a:t>
            </a:r>
            <a:r>
              <a:rPr lang="en-US" dirty="0" err="1"/>
              <a:t>Persistenz</a:t>
            </a:r>
            <a:r>
              <a:rPr lang="en-US" dirty="0"/>
              <a:t> der </a:t>
            </a:r>
            <a:r>
              <a:rPr lang="en-US" dirty="0" err="1"/>
              <a:t>Niveaus</a:t>
            </a:r>
            <a:r>
              <a:rPr lang="en-US" dirty="0"/>
              <a:t>. Aus </a:t>
            </a:r>
            <a:r>
              <a:rPr lang="en-US" dirty="0" err="1"/>
              <a:t>jeder</a:t>
            </a:r>
            <a:r>
              <a:rPr lang="en-US" dirty="0"/>
              <a:t> </a:t>
            </a:r>
            <a:r>
              <a:rPr lang="en-US" dirty="0" err="1"/>
              <a:t>Schätzung</a:t>
            </a:r>
            <a:r>
              <a:rPr lang="en-US" dirty="0"/>
              <a:t>: Phi (</a:t>
            </a:r>
            <a:r>
              <a:rPr lang="en-US" dirty="0" err="1"/>
              <a:t>negativ</a:t>
            </a:r>
            <a:r>
              <a:rPr lang="en-US" dirty="0"/>
              <a:t> = Mean-Reversion) und Sigma (</a:t>
            </a:r>
            <a:r>
              <a:rPr lang="en-US" dirty="0" err="1"/>
              <a:t>Volatilität</a:t>
            </a:r>
            <a:r>
              <a:rPr lang="en-US" dirty="0"/>
              <a:t>). Mean-Group-Ansatz </a:t>
            </a:r>
            <a:r>
              <a:rPr lang="en-US" dirty="0" err="1"/>
              <a:t>nach</a:t>
            </a:r>
            <a:r>
              <a:rPr lang="en-US" dirty="0"/>
              <a:t> </a:t>
            </a:r>
            <a:r>
              <a:rPr lang="en-US" dirty="0" err="1"/>
              <a:t>Pesaran</a:t>
            </a:r>
            <a:r>
              <a:rPr lang="en-US" dirty="0"/>
              <a:t>/Smith.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37C06-0B9B-0C67-FA9B-3F12280811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254333-E8B6-4B15-A97B-09F1D69317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229877-DFDB-8DF8-3EDE-0C50AEF34FA8}"/>
              </a:ext>
            </a:extLst>
          </p:cNvPr>
          <p:cNvSpPr>
            <a:spLocks noGrp="1"/>
          </p:cNvSpPr>
          <p:nvPr>
            <p:ph type="body" idx="1"/>
          </p:nvPr>
        </p:nvSpPr>
        <p:spPr/>
        <p:txBody>
          <a:bodyPr/>
          <a:lstStyle/>
          <a:p>
            <a:r>
              <a:rPr lang="en-US" dirty="0"/>
              <a:t>[Zeit: 1:30] Für </a:t>
            </a:r>
            <a:r>
              <a:rPr lang="en-US" dirty="0" err="1"/>
              <a:t>jede</a:t>
            </a:r>
            <a:r>
              <a:rPr lang="en-US" dirty="0"/>
              <a:t> der 6.521 </a:t>
            </a:r>
            <a:r>
              <a:rPr lang="en-US" dirty="0" err="1"/>
              <a:t>Kombinationen</a:t>
            </a:r>
            <a:r>
              <a:rPr lang="en-US" dirty="0"/>
              <a:t> </a:t>
            </a:r>
            <a:r>
              <a:rPr lang="en-US" dirty="0" err="1"/>
              <a:t>schätze</a:t>
            </a:r>
            <a:r>
              <a:rPr lang="en-US" dirty="0"/>
              <a:t> ich </a:t>
            </a:r>
            <a:r>
              <a:rPr lang="en-US" dirty="0" err="1"/>
              <a:t>ein</a:t>
            </a:r>
            <a:r>
              <a:rPr lang="en-US" dirty="0"/>
              <a:t> AR(1)-Modell — nicht auf </a:t>
            </a:r>
            <a:r>
              <a:rPr lang="en-US" dirty="0" err="1"/>
              <a:t>Niveaus</a:t>
            </a:r>
            <a:r>
              <a:rPr lang="en-US" dirty="0"/>
              <a:t>, </a:t>
            </a:r>
            <a:r>
              <a:rPr lang="en-US" dirty="0" err="1"/>
              <a:t>sondern</a:t>
            </a:r>
            <a:r>
              <a:rPr lang="en-US" dirty="0"/>
              <a:t> auf </a:t>
            </a:r>
            <a:r>
              <a:rPr lang="en-US" dirty="0" err="1"/>
              <a:t>ersten</a:t>
            </a:r>
            <a:r>
              <a:rPr lang="en-US" dirty="0"/>
              <a:t> </a:t>
            </a:r>
            <a:r>
              <a:rPr lang="en-US" dirty="0" err="1"/>
              <a:t>Differenzen</a:t>
            </a:r>
            <a:r>
              <a:rPr lang="en-US" dirty="0"/>
              <a:t>. Drei </a:t>
            </a:r>
            <a:r>
              <a:rPr lang="en-US" dirty="0" err="1"/>
              <a:t>Gründe</a:t>
            </a:r>
            <a:r>
              <a:rPr lang="en-US" dirty="0"/>
              <a:t>: </a:t>
            </a:r>
            <a:r>
              <a:rPr lang="en-US" dirty="0" err="1"/>
              <a:t>direkte</a:t>
            </a:r>
            <a:r>
              <a:rPr lang="en-US" dirty="0"/>
              <a:t> </a:t>
            </a:r>
            <a:r>
              <a:rPr lang="en-US" dirty="0" err="1"/>
              <a:t>ökonomische</a:t>
            </a:r>
            <a:r>
              <a:rPr lang="en-US" dirty="0"/>
              <a:t> Interpretation, </a:t>
            </a:r>
            <a:r>
              <a:rPr lang="en-US" dirty="0" err="1"/>
              <a:t>Stationarität</a:t>
            </a:r>
            <a:r>
              <a:rPr lang="en-US" dirty="0"/>
              <a:t>, </a:t>
            </a:r>
            <a:r>
              <a:rPr lang="en-US" dirty="0" err="1"/>
              <a:t>Vergleichbarkeit</a:t>
            </a:r>
            <a:r>
              <a:rPr lang="en-US" dirty="0"/>
              <a:t>. Phi </a:t>
            </a:r>
            <a:r>
              <a:rPr lang="en-US" dirty="0" err="1"/>
              <a:t>misst</a:t>
            </a:r>
            <a:r>
              <a:rPr lang="en-US" dirty="0"/>
              <a:t> die </a:t>
            </a:r>
            <a:r>
              <a:rPr lang="en-US" dirty="0" err="1"/>
              <a:t>Autokorrelation</a:t>
            </a:r>
            <a:r>
              <a:rPr lang="en-US" dirty="0"/>
              <a:t> der </a:t>
            </a:r>
            <a:r>
              <a:rPr lang="en-US" dirty="0" err="1"/>
              <a:t>Veränderungen</a:t>
            </a:r>
            <a:r>
              <a:rPr lang="en-US" dirty="0"/>
              <a:t>, nicht die </a:t>
            </a:r>
            <a:r>
              <a:rPr lang="en-US" dirty="0" err="1"/>
              <a:t>Persistenz</a:t>
            </a:r>
            <a:r>
              <a:rPr lang="en-US" dirty="0"/>
              <a:t> der </a:t>
            </a:r>
            <a:r>
              <a:rPr lang="en-US" dirty="0" err="1"/>
              <a:t>Niveaus</a:t>
            </a:r>
            <a:r>
              <a:rPr lang="en-US" dirty="0"/>
              <a:t>. Aus </a:t>
            </a:r>
            <a:r>
              <a:rPr lang="en-US" dirty="0" err="1"/>
              <a:t>jeder</a:t>
            </a:r>
            <a:r>
              <a:rPr lang="en-US" dirty="0"/>
              <a:t> </a:t>
            </a:r>
            <a:r>
              <a:rPr lang="en-US" dirty="0" err="1"/>
              <a:t>Schätzung</a:t>
            </a:r>
            <a:r>
              <a:rPr lang="en-US" dirty="0"/>
              <a:t>: Phi (</a:t>
            </a:r>
            <a:r>
              <a:rPr lang="en-US" dirty="0" err="1"/>
              <a:t>negativ</a:t>
            </a:r>
            <a:r>
              <a:rPr lang="en-US" dirty="0"/>
              <a:t> = Mean-Reversion) und Sigma (</a:t>
            </a:r>
            <a:r>
              <a:rPr lang="en-US" dirty="0" err="1"/>
              <a:t>Volatilität</a:t>
            </a:r>
            <a:r>
              <a:rPr lang="en-US" dirty="0"/>
              <a:t>). Mean-Group-Ansatz </a:t>
            </a:r>
            <a:r>
              <a:rPr lang="en-US" dirty="0" err="1"/>
              <a:t>nach</a:t>
            </a:r>
            <a:r>
              <a:rPr lang="en-US" dirty="0"/>
              <a:t> </a:t>
            </a:r>
            <a:r>
              <a:rPr lang="en-US" dirty="0" err="1"/>
              <a:t>Pesaran</a:t>
            </a:r>
            <a:r>
              <a:rPr lang="en-US" dirty="0"/>
              <a:t>/Smith.</a:t>
            </a:r>
          </a:p>
        </p:txBody>
      </p:sp>
      <p:sp>
        <p:nvSpPr>
          <p:cNvPr id="4" name="Slide Number Placeholder 3">
            <a:extLst>
              <a:ext uri="{FF2B5EF4-FFF2-40B4-BE49-F238E27FC236}">
                <a16:creationId xmlns:a16="http://schemas.microsoft.com/office/drawing/2014/main" id="{830003DC-4D32-48B6-CDCB-9042938184F5}"/>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533663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1:00] Phi und Sigma </a:t>
            </a:r>
            <a:r>
              <a:rPr lang="en-US" dirty="0" err="1"/>
              <a:t>spannen</a:t>
            </a:r>
            <a:r>
              <a:rPr lang="en-US" dirty="0"/>
              <a:t> pro </a:t>
            </a:r>
            <a:r>
              <a:rPr lang="en-US" dirty="0" err="1"/>
              <a:t>Kennzahl</a:t>
            </a:r>
            <a:r>
              <a:rPr lang="en-US" dirty="0"/>
              <a:t> </a:t>
            </a:r>
            <a:r>
              <a:rPr lang="en-US" dirty="0" err="1"/>
              <a:t>einen</a:t>
            </a:r>
            <a:r>
              <a:rPr lang="en-US" dirty="0"/>
              <a:t> Raum auf, in dem </a:t>
            </a:r>
            <a:r>
              <a:rPr lang="en-US" dirty="0" err="1"/>
              <a:t>jedes</a:t>
            </a:r>
            <a:r>
              <a:rPr lang="en-US" dirty="0"/>
              <a:t> </a:t>
            </a:r>
            <a:r>
              <a:rPr lang="en-US" dirty="0" err="1"/>
              <a:t>Unternehmen</a:t>
            </a:r>
            <a:r>
              <a:rPr lang="en-US" dirty="0"/>
              <a:t> </a:t>
            </a:r>
            <a:r>
              <a:rPr lang="en-US" dirty="0" err="1"/>
              <a:t>ein</a:t>
            </a:r>
            <a:r>
              <a:rPr lang="en-US" dirty="0"/>
              <a:t> </a:t>
            </a:r>
            <a:r>
              <a:rPr lang="en-US" dirty="0" err="1"/>
              <a:t>Punkt</a:t>
            </a:r>
            <a:r>
              <a:rPr lang="en-US" dirty="0"/>
              <a:t> </a:t>
            </a:r>
            <a:r>
              <a:rPr lang="en-US" dirty="0" err="1"/>
              <a:t>ist</a:t>
            </a:r>
            <a:r>
              <a:rPr lang="en-US" dirty="0"/>
              <a:t>. Ein Median-Split </a:t>
            </a:r>
            <a:r>
              <a:rPr lang="en-US" dirty="0" err="1"/>
              <a:t>erzeugt</a:t>
            </a:r>
            <a:r>
              <a:rPr lang="en-US" dirty="0"/>
              <a:t> vier </a:t>
            </a:r>
            <a:r>
              <a:rPr lang="en-US" dirty="0" err="1"/>
              <a:t>Dynamiktypen</a:t>
            </a:r>
            <a:r>
              <a:rPr lang="en-US" dirty="0"/>
              <a:t>: </a:t>
            </a:r>
            <a:r>
              <a:rPr lang="en-US" dirty="0" err="1"/>
              <a:t>korrektiv-stabil</a:t>
            </a:r>
            <a:r>
              <a:rPr lang="en-US" dirty="0"/>
              <a:t>, </a:t>
            </a:r>
            <a:r>
              <a:rPr lang="en-US" dirty="0" err="1"/>
              <a:t>korrektiv-volatil</a:t>
            </a:r>
            <a:r>
              <a:rPr lang="en-US" dirty="0"/>
              <a:t>, persistent-</a:t>
            </a:r>
            <a:r>
              <a:rPr lang="en-US" dirty="0" err="1"/>
              <a:t>stabil</a:t>
            </a:r>
            <a:r>
              <a:rPr lang="en-US" dirty="0"/>
              <a:t>, persistent-</a:t>
            </a:r>
            <a:r>
              <a:rPr lang="en-US" dirty="0" err="1"/>
              <a:t>volatil</a:t>
            </a:r>
            <a:r>
              <a:rPr lang="en-US" dirty="0"/>
              <a:t>. Portfolio-Sort-</a:t>
            </a:r>
            <a:r>
              <a:rPr lang="en-US" dirty="0" err="1"/>
              <a:t>Logik</a:t>
            </a:r>
            <a:r>
              <a:rPr lang="en-US" dirty="0"/>
              <a:t> </a:t>
            </a:r>
            <a:r>
              <a:rPr lang="en-US" dirty="0" err="1"/>
              <a:t>nach</a:t>
            </a:r>
            <a:r>
              <a:rPr lang="en-US" dirty="0"/>
              <a:t> Fama/French. Die </a:t>
            </a:r>
            <a:r>
              <a:rPr lang="en-US" dirty="0" err="1"/>
              <a:t>Achsen</a:t>
            </a:r>
            <a:r>
              <a:rPr lang="en-US" dirty="0"/>
              <a:t> </a:t>
            </a:r>
            <a:r>
              <a:rPr lang="en-US" dirty="0" err="1"/>
              <a:t>sind</a:t>
            </a:r>
            <a:r>
              <a:rPr lang="en-US" dirty="0"/>
              <a:t> </a:t>
            </a:r>
            <a:r>
              <a:rPr lang="en-US" dirty="0" err="1"/>
              <a:t>unabhängig</a:t>
            </a:r>
            <a:r>
              <a:rPr lang="en-US" dirty="0"/>
              <a:t>: </a:t>
            </a:r>
            <a:r>
              <a:rPr lang="en-US" dirty="0" err="1"/>
              <a:t>gemeinsame</a:t>
            </a:r>
            <a:r>
              <a:rPr lang="en-US" dirty="0"/>
              <a:t> Variation maximal </a:t>
            </a:r>
            <a:r>
              <a:rPr lang="en-US" dirty="0" err="1"/>
              <a:t>sechs</a:t>
            </a:r>
            <a:r>
              <a:rPr lang="en-US" dirty="0"/>
              <a:t> </a:t>
            </a:r>
            <a:r>
              <a:rPr lang="en-US" dirty="0" err="1"/>
              <a:t>Prozent</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EE75A-BB37-C13D-BB92-C44330AB8E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C05260-E4F3-8611-9D04-B84F70A491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9DB4BC-AE4A-2415-82EC-2B20AD747123}"/>
              </a:ext>
            </a:extLst>
          </p:cNvPr>
          <p:cNvSpPr>
            <a:spLocks noGrp="1"/>
          </p:cNvSpPr>
          <p:nvPr>
            <p:ph type="body" idx="1"/>
          </p:nvPr>
        </p:nvSpPr>
        <p:spPr/>
        <p:txBody>
          <a:bodyPr/>
          <a:lstStyle/>
          <a:p>
            <a:r>
              <a:rPr lang="en-US" dirty="0"/>
              <a:t>[Zeit: 1:00] Phi und Sigma </a:t>
            </a:r>
            <a:r>
              <a:rPr lang="en-US" dirty="0" err="1"/>
              <a:t>spannen</a:t>
            </a:r>
            <a:r>
              <a:rPr lang="en-US" dirty="0"/>
              <a:t> pro </a:t>
            </a:r>
            <a:r>
              <a:rPr lang="en-US" dirty="0" err="1"/>
              <a:t>Kennzahl</a:t>
            </a:r>
            <a:r>
              <a:rPr lang="en-US" dirty="0"/>
              <a:t> </a:t>
            </a:r>
            <a:r>
              <a:rPr lang="en-US" dirty="0" err="1"/>
              <a:t>einen</a:t>
            </a:r>
            <a:r>
              <a:rPr lang="en-US" dirty="0"/>
              <a:t> Raum auf, in dem </a:t>
            </a:r>
            <a:r>
              <a:rPr lang="en-US" dirty="0" err="1"/>
              <a:t>jedes</a:t>
            </a:r>
            <a:r>
              <a:rPr lang="en-US" dirty="0"/>
              <a:t> </a:t>
            </a:r>
            <a:r>
              <a:rPr lang="en-US" dirty="0" err="1"/>
              <a:t>Unternehmen</a:t>
            </a:r>
            <a:r>
              <a:rPr lang="en-US" dirty="0"/>
              <a:t> </a:t>
            </a:r>
            <a:r>
              <a:rPr lang="en-US" dirty="0" err="1"/>
              <a:t>ein</a:t>
            </a:r>
            <a:r>
              <a:rPr lang="en-US" dirty="0"/>
              <a:t> </a:t>
            </a:r>
            <a:r>
              <a:rPr lang="en-US" dirty="0" err="1"/>
              <a:t>Punkt</a:t>
            </a:r>
            <a:r>
              <a:rPr lang="en-US" dirty="0"/>
              <a:t> </a:t>
            </a:r>
            <a:r>
              <a:rPr lang="en-US" dirty="0" err="1"/>
              <a:t>ist</a:t>
            </a:r>
            <a:r>
              <a:rPr lang="en-US" dirty="0"/>
              <a:t>. Ein Median-Split </a:t>
            </a:r>
            <a:r>
              <a:rPr lang="en-US" dirty="0" err="1"/>
              <a:t>erzeugt</a:t>
            </a:r>
            <a:r>
              <a:rPr lang="en-US" dirty="0"/>
              <a:t> vier </a:t>
            </a:r>
            <a:r>
              <a:rPr lang="en-US" dirty="0" err="1"/>
              <a:t>Dynamiktypen</a:t>
            </a:r>
            <a:r>
              <a:rPr lang="en-US" dirty="0"/>
              <a:t>: </a:t>
            </a:r>
            <a:r>
              <a:rPr lang="en-US" dirty="0" err="1"/>
              <a:t>korrektiv-stabil</a:t>
            </a:r>
            <a:r>
              <a:rPr lang="en-US" dirty="0"/>
              <a:t>, </a:t>
            </a:r>
            <a:r>
              <a:rPr lang="en-US" dirty="0" err="1"/>
              <a:t>korrektiv-volatil</a:t>
            </a:r>
            <a:r>
              <a:rPr lang="en-US" dirty="0"/>
              <a:t>, persistent-</a:t>
            </a:r>
            <a:r>
              <a:rPr lang="en-US" dirty="0" err="1"/>
              <a:t>stabil</a:t>
            </a:r>
            <a:r>
              <a:rPr lang="en-US" dirty="0"/>
              <a:t>, persistent-</a:t>
            </a:r>
            <a:r>
              <a:rPr lang="en-US" dirty="0" err="1"/>
              <a:t>volatil</a:t>
            </a:r>
            <a:r>
              <a:rPr lang="en-US" dirty="0"/>
              <a:t>. Portfolio-Sort-</a:t>
            </a:r>
            <a:r>
              <a:rPr lang="en-US" dirty="0" err="1"/>
              <a:t>Logik</a:t>
            </a:r>
            <a:r>
              <a:rPr lang="en-US" dirty="0"/>
              <a:t> </a:t>
            </a:r>
            <a:r>
              <a:rPr lang="en-US" dirty="0" err="1"/>
              <a:t>nach</a:t>
            </a:r>
            <a:r>
              <a:rPr lang="en-US" dirty="0"/>
              <a:t> Fama/French. Die </a:t>
            </a:r>
            <a:r>
              <a:rPr lang="en-US" dirty="0" err="1"/>
              <a:t>Achsen</a:t>
            </a:r>
            <a:r>
              <a:rPr lang="en-US" dirty="0"/>
              <a:t> </a:t>
            </a:r>
            <a:r>
              <a:rPr lang="en-US" dirty="0" err="1"/>
              <a:t>sind</a:t>
            </a:r>
            <a:r>
              <a:rPr lang="en-US" dirty="0"/>
              <a:t> </a:t>
            </a:r>
            <a:r>
              <a:rPr lang="en-US" dirty="0" err="1"/>
              <a:t>unabhängig</a:t>
            </a:r>
            <a:r>
              <a:rPr lang="en-US" dirty="0"/>
              <a:t>: </a:t>
            </a:r>
            <a:r>
              <a:rPr lang="en-US" dirty="0" err="1"/>
              <a:t>gemeinsame</a:t>
            </a:r>
            <a:r>
              <a:rPr lang="en-US" dirty="0"/>
              <a:t> Variation maximal </a:t>
            </a:r>
            <a:r>
              <a:rPr lang="en-US" dirty="0" err="1"/>
              <a:t>sechs</a:t>
            </a:r>
            <a:r>
              <a:rPr lang="en-US" dirty="0"/>
              <a:t> </a:t>
            </a:r>
            <a:r>
              <a:rPr lang="en-US" dirty="0" err="1"/>
              <a:t>Prozent</a:t>
            </a:r>
            <a:r>
              <a:rPr lang="en-US" dirty="0"/>
              <a:t>.</a:t>
            </a:r>
          </a:p>
        </p:txBody>
      </p:sp>
      <p:sp>
        <p:nvSpPr>
          <p:cNvPr id="4" name="Slide Number Placeholder 3">
            <a:extLst>
              <a:ext uri="{FF2B5EF4-FFF2-40B4-BE49-F238E27FC236}">
                <a16:creationId xmlns:a16="http://schemas.microsoft.com/office/drawing/2014/main" id="{74F70F19-3D68-9FA9-4024-C029F3658F21}"/>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6249352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92E7B-470A-3CE5-C3CA-09AF0E2865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AF912E-5F3E-32C7-BA56-73707F3C8B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E57DBE-A15F-82D1-655D-EF7C9756EC97}"/>
              </a:ext>
            </a:extLst>
          </p:cNvPr>
          <p:cNvSpPr>
            <a:spLocks noGrp="1"/>
          </p:cNvSpPr>
          <p:nvPr>
            <p:ph type="body" idx="1"/>
          </p:nvPr>
        </p:nvSpPr>
        <p:spPr/>
        <p:txBody>
          <a:bodyPr/>
          <a:lstStyle/>
          <a:p>
            <a:r>
              <a:rPr lang="en-US" dirty="0"/>
              <a:t>[Zeit: 1:00] Phi und Sigma </a:t>
            </a:r>
            <a:r>
              <a:rPr lang="en-US" dirty="0" err="1"/>
              <a:t>spannen</a:t>
            </a:r>
            <a:r>
              <a:rPr lang="en-US" dirty="0"/>
              <a:t> pro </a:t>
            </a:r>
            <a:r>
              <a:rPr lang="en-US" dirty="0" err="1"/>
              <a:t>Kennzahl</a:t>
            </a:r>
            <a:r>
              <a:rPr lang="en-US" dirty="0"/>
              <a:t> </a:t>
            </a:r>
            <a:r>
              <a:rPr lang="en-US" dirty="0" err="1"/>
              <a:t>einen</a:t>
            </a:r>
            <a:r>
              <a:rPr lang="en-US" dirty="0"/>
              <a:t> Raum auf, in dem </a:t>
            </a:r>
            <a:r>
              <a:rPr lang="en-US" dirty="0" err="1"/>
              <a:t>jedes</a:t>
            </a:r>
            <a:r>
              <a:rPr lang="en-US" dirty="0"/>
              <a:t> </a:t>
            </a:r>
            <a:r>
              <a:rPr lang="en-US" dirty="0" err="1"/>
              <a:t>Unternehmen</a:t>
            </a:r>
            <a:r>
              <a:rPr lang="en-US" dirty="0"/>
              <a:t> </a:t>
            </a:r>
            <a:r>
              <a:rPr lang="en-US" dirty="0" err="1"/>
              <a:t>ein</a:t>
            </a:r>
            <a:r>
              <a:rPr lang="en-US" dirty="0"/>
              <a:t> </a:t>
            </a:r>
            <a:r>
              <a:rPr lang="en-US" dirty="0" err="1"/>
              <a:t>Punkt</a:t>
            </a:r>
            <a:r>
              <a:rPr lang="en-US" dirty="0"/>
              <a:t> </a:t>
            </a:r>
            <a:r>
              <a:rPr lang="en-US" dirty="0" err="1"/>
              <a:t>ist</a:t>
            </a:r>
            <a:r>
              <a:rPr lang="en-US" dirty="0"/>
              <a:t>. Ein Median-Split </a:t>
            </a:r>
            <a:r>
              <a:rPr lang="en-US" dirty="0" err="1"/>
              <a:t>erzeugt</a:t>
            </a:r>
            <a:r>
              <a:rPr lang="en-US" dirty="0"/>
              <a:t> vier </a:t>
            </a:r>
            <a:r>
              <a:rPr lang="en-US" dirty="0" err="1"/>
              <a:t>Dynamiktypen</a:t>
            </a:r>
            <a:r>
              <a:rPr lang="en-US" dirty="0"/>
              <a:t>: </a:t>
            </a:r>
            <a:r>
              <a:rPr lang="en-US" dirty="0" err="1"/>
              <a:t>korrektiv-stabil</a:t>
            </a:r>
            <a:r>
              <a:rPr lang="en-US" dirty="0"/>
              <a:t>, </a:t>
            </a:r>
            <a:r>
              <a:rPr lang="en-US" dirty="0" err="1"/>
              <a:t>korrektiv-volatil</a:t>
            </a:r>
            <a:r>
              <a:rPr lang="en-US" dirty="0"/>
              <a:t>, persistent-</a:t>
            </a:r>
            <a:r>
              <a:rPr lang="en-US" dirty="0" err="1"/>
              <a:t>stabil</a:t>
            </a:r>
            <a:r>
              <a:rPr lang="en-US" dirty="0"/>
              <a:t>, persistent-</a:t>
            </a:r>
            <a:r>
              <a:rPr lang="en-US" dirty="0" err="1"/>
              <a:t>volatil</a:t>
            </a:r>
            <a:r>
              <a:rPr lang="en-US" dirty="0"/>
              <a:t>. Portfolio-Sort-</a:t>
            </a:r>
            <a:r>
              <a:rPr lang="en-US" dirty="0" err="1"/>
              <a:t>Logik</a:t>
            </a:r>
            <a:r>
              <a:rPr lang="en-US" dirty="0"/>
              <a:t> </a:t>
            </a:r>
            <a:r>
              <a:rPr lang="en-US" dirty="0" err="1"/>
              <a:t>nach</a:t>
            </a:r>
            <a:r>
              <a:rPr lang="en-US" dirty="0"/>
              <a:t> Fama/French. Die </a:t>
            </a:r>
            <a:r>
              <a:rPr lang="en-US" dirty="0" err="1"/>
              <a:t>Achsen</a:t>
            </a:r>
            <a:r>
              <a:rPr lang="en-US" dirty="0"/>
              <a:t> </a:t>
            </a:r>
            <a:r>
              <a:rPr lang="en-US" dirty="0" err="1"/>
              <a:t>sind</a:t>
            </a:r>
            <a:r>
              <a:rPr lang="en-US" dirty="0"/>
              <a:t> </a:t>
            </a:r>
            <a:r>
              <a:rPr lang="en-US" dirty="0" err="1"/>
              <a:t>unabhängig</a:t>
            </a:r>
            <a:r>
              <a:rPr lang="en-US" dirty="0"/>
              <a:t>: </a:t>
            </a:r>
            <a:r>
              <a:rPr lang="en-US" dirty="0" err="1"/>
              <a:t>gemeinsame</a:t>
            </a:r>
            <a:r>
              <a:rPr lang="en-US" dirty="0"/>
              <a:t> Variation maximal </a:t>
            </a:r>
            <a:r>
              <a:rPr lang="en-US" dirty="0" err="1"/>
              <a:t>sechs</a:t>
            </a:r>
            <a:r>
              <a:rPr lang="en-US" dirty="0"/>
              <a:t> </a:t>
            </a:r>
            <a:r>
              <a:rPr lang="en-US" dirty="0" err="1"/>
              <a:t>Prozent</a:t>
            </a:r>
            <a:r>
              <a:rPr lang="en-US" dirty="0"/>
              <a:t>.</a:t>
            </a:r>
          </a:p>
        </p:txBody>
      </p:sp>
      <p:sp>
        <p:nvSpPr>
          <p:cNvPr id="4" name="Slide Number Placeholder 3">
            <a:extLst>
              <a:ext uri="{FF2B5EF4-FFF2-40B4-BE49-F238E27FC236}">
                <a16:creationId xmlns:a16="http://schemas.microsoft.com/office/drawing/2014/main" id="{E540E400-C29F-D0D6-0C42-55B0DCC6DA5B}"/>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8296843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192A4-4920-065B-7234-FEFA7229A2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B1BED5-A8CE-05B9-D514-27E156CD16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8BEDA-7EFD-6F82-BAD0-77172F7D658A}"/>
              </a:ext>
            </a:extLst>
          </p:cNvPr>
          <p:cNvSpPr>
            <a:spLocks noGrp="1"/>
          </p:cNvSpPr>
          <p:nvPr>
            <p:ph type="body" idx="1"/>
          </p:nvPr>
        </p:nvSpPr>
        <p:spPr/>
        <p:txBody>
          <a:bodyPr/>
          <a:lstStyle/>
          <a:p>
            <a:r>
              <a:rPr lang="en-US" dirty="0"/>
              <a:t>[Zeit: 1:00] Phi und Sigma </a:t>
            </a:r>
            <a:r>
              <a:rPr lang="en-US" dirty="0" err="1"/>
              <a:t>spannen</a:t>
            </a:r>
            <a:r>
              <a:rPr lang="en-US" dirty="0"/>
              <a:t> pro </a:t>
            </a:r>
            <a:r>
              <a:rPr lang="en-US" dirty="0" err="1"/>
              <a:t>Kennzahl</a:t>
            </a:r>
            <a:r>
              <a:rPr lang="en-US" dirty="0"/>
              <a:t> </a:t>
            </a:r>
            <a:r>
              <a:rPr lang="en-US" dirty="0" err="1"/>
              <a:t>einen</a:t>
            </a:r>
            <a:r>
              <a:rPr lang="en-US" dirty="0"/>
              <a:t> Raum auf, in dem </a:t>
            </a:r>
            <a:r>
              <a:rPr lang="en-US" dirty="0" err="1"/>
              <a:t>jedes</a:t>
            </a:r>
            <a:r>
              <a:rPr lang="en-US" dirty="0"/>
              <a:t> </a:t>
            </a:r>
            <a:r>
              <a:rPr lang="en-US" dirty="0" err="1"/>
              <a:t>Unternehmen</a:t>
            </a:r>
            <a:r>
              <a:rPr lang="en-US" dirty="0"/>
              <a:t> </a:t>
            </a:r>
            <a:r>
              <a:rPr lang="en-US" dirty="0" err="1"/>
              <a:t>ein</a:t>
            </a:r>
            <a:r>
              <a:rPr lang="en-US" dirty="0"/>
              <a:t> </a:t>
            </a:r>
            <a:r>
              <a:rPr lang="en-US" dirty="0" err="1"/>
              <a:t>Punkt</a:t>
            </a:r>
            <a:r>
              <a:rPr lang="en-US" dirty="0"/>
              <a:t> </a:t>
            </a:r>
            <a:r>
              <a:rPr lang="en-US" dirty="0" err="1"/>
              <a:t>ist</a:t>
            </a:r>
            <a:r>
              <a:rPr lang="en-US" dirty="0"/>
              <a:t>. Ein Median-Split </a:t>
            </a:r>
            <a:r>
              <a:rPr lang="en-US" dirty="0" err="1"/>
              <a:t>erzeugt</a:t>
            </a:r>
            <a:r>
              <a:rPr lang="en-US" dirty="0"/>
              <a:t> vier </a:t>
            </a:r>
            <a:r>
              <a:rPr lang="en-US" dirty="0" err="1"/>
              <a:t>Dynamiktypen</a:t>
            </a:r>
            <a:r>
              <a:rPr lang="en-US" dirty="0"/>
              <a:t>: </a:t>
            </a:r>
            <a:r>
              <a:rPr lang="en-US" dirty="0" err="1"/>
              <a:t>korrektiv-stabil</a:t>
            </a:r>
            <a:r>
              <a:rPr lang="en-US" dirty="0"/>
              <a:t>, </a:t>
            </a:r>
            <a:r>
              <a:rPr lang="en-US" dirty="0" err="1"/>
              <a:t>korrektiv-volatil</a:t>
            </a:r>
            <a:r>
              <a:rPr lang="en-US" dirty="0"/>
              <a:t>, persistent-</a:t>
            </a:r>
            <a:r>
              <a:rPr lang="en-US" dirty="0" err="1"/>
              <a:t>stabil</a:t>
            </a:r>
            <a:r>
              <a:rPr lang="en-US" dirty="0"/>
              <a:t>, persistent-</a:t>
            </a:r>
            <a:r>
              <a:rPr lang="en-US" dirty="0" err="1"/>
              <a:t>volatil</a:t>
            </a:r>
            <a:r>
              <a:rPr lang="en-US" dirty="0"/>
              <a:t>. Portfolio-Sort-</a:t>
            </a:r>
            <a:r>
              <a:rPr lang="en-US" dirty="0" err="1"/>
              <a:t>Logik</a:t>
            </a:r>
            <a:r>
              <a:rPr lang="en-US" dirty="0"/>
              <a:t> </a:t>
            </a:r>
            <a:r>
              <a:rPr lang="en-US" dirty="0" err="1"/>
              <a:t>nach</a:t>
            </a:r>
            <a:r>
              <a:rPr lang="en-US" dirty="0"/>
              <a:t> Fama/French. Die </a:t>
            </a:r>
            <a:r>
              <a:rPr lang="en-US" dirty="0" err="1"/>
              <a:t>Achsen</a:t>
            </a:r>
            <a:r>
              <a:rPr lang="en-US" dirty="0"/>
              <a:t> </a:t>
            </a:r>
            <a:r>
              <a:rPr lang="en-US" dirty="0" err="1"/>
              <a:t>sind</a:t>
            </a:r>
            <a:r>
              <a:rPr lang="en-US" dirty="0"/>
              <a:t> </a:t>
            </a:r>
            <a:r>
              <a:rPr lang="en-US" dirty="0" err="1"/>
              <a:t>unabhängig</a:t>
            </a:r>
            <a:r>
              <a:rPr lang="en-US" dirty="0"/>
              <a:t>: </a:t>
            </a:r>
            <a:r>
              <a:rPr lang="en-US" dirty="0" err="1"/>
              <a:t>gemeinsame</a:t>
            </a:r>
            <a:r>
              <a:rPr lang="en-US" dirty="0"/>
              <a:t> Variation maximal </a:t>
            </a:r>
            <a:r>
              <a:rPr lang="en-US" dirty="0" err="1"/>
              <a:t>sechs</a:t>
            </a:r>
            <a:r>
              <a:rPr lang="en-US" dirty="0"/>
              <a:t> </a:t>
            </a:r>
            <a:r>
              <a:rPr lang="en-US" dirty="0" err="1"/>
              <a:t>Prozent</a:t>
            </a:r>
            <a:r>
              <a:rPr lang="en-US" dirty="0"/>
              <a:t>.</a:t>
            </a:r>
          </a:p>
        </p:txBody>
      </p:sp>
      <p:sp>
        <p:nvSpPr>
          <p:cNvPr id="4" name="Slide Number Placeholder 3">
            <a:extLst>
              <a:ext uri="{FF2B5EF4-FFF2-40B4-BE49-F238E27FC236}">
                <a16:creationId xmlns:a16="http://schemas.microsoft.com/office/drawing/2014/main" id="{53502475-0BC8-B4B3-6F88-5F4B0D0DAF92}"/>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5046759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[Zeit: 0:30] Verdichtet in die Quadranten gruppieren sich die Sektoren in drei Profile: das stabile — Versorger, Industrie, Basiskonsum; das persistente — Technologie und Grundstoffe, wo Wachstums- und Rohstofftrends nachwirken; und das korrektiv-volatile — Immobilien, Kommunikation, Energie: große Ausschläge, schnelle Korrektur. Fünf Sektoren bündeln sich in nur zwei Quadranten — einzig der Zyklische Konsum besetzt alle vier.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[Zeit: 1:30] Zwei Mechanismen. Erstens Konstruktion: Stromgrößen wie FCF- und EBIT-Marge korrigieren am stärksten; Bestandsgrößen wie die Eigenkapitalquote kaum; ROA, ROE, Current Ratio dazwischen. Zweitens Korrekturmechanismus: Der Markt korrigiert die Profitabilität (Wettbewerb, Fama/French ≈ 38 % p. a.); die Kapitalstruktur ändert sich nur durch Managemententscheidungen — Emission, Rückkauf, Dividende.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[Zeit: 1:00] Forschungsfrage zwei. Ich korreliere die firmenspezifisch geschätzten Parameter paarweise über die 932 Unternehmen — Spearman, 21 Paare je Matrix. Die Phi-Matrix zeigt: Die starken Kopplungen liegen ausschließlich in der Profitabilität — ROA und ROE mit 0,78, mit der EBIT-Marge 0,56 und 0,54. Wer in einer Profitabilitätskennzahl schnell korrigiert, tut es auch in den anderen — die Korrekturgeschwindigkeit ist dort ein konsistentes Firmenmerkmal. Die FCF-Marge fällt heraus: nur 0,14 bis 0,19 — Periodenabgrenzungen glätten Buchgewinne, den Cashflow nicht; das ist die Accrual-Mechanik nach Sloan und Dechow. Und zwischen den Blöcken ist nach Bonferroni nur ein einziges von zwölf Paaren signifikant.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[Zeit: 0:30] Zwei Ergänzungen. Innerhalb jeder Kennzahl korrelieren Phi und Sigma zwischen minus 0,09 und minus 0,24 — volatilere Unternehmen korrigieren schneller, das bestätigt Dichev und Tang. Aber alle Werte unter 0,25: Die Achsen bleiben trennbar, die Quadranten sind gerechtfertigt. Und die Lead-Lag-Analyse: 13 von 21 Paaren erreichen ihren Peak bei Lag null — Schocks laufen synchron, eine gestaffelte Transmission ist auf Quartalsfrequenz nicht nachweisbar. Ein ehrliches Nullergebnis.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dirty="0"/>
              <a:t>[Zeit: 1:00] Vor den </a:t>
            </a:r>
            <a:r>
              <a:rPr dirty="0" err="1"/>
              <a:t>Krisentests</a:t>
            </a:r>
            <a:r>
              <a:rPr dirty="0"/>
              <a:t> der </a:t>
            </a:r>
            <a:r>
              <a:rPr dirty="0" err="1"/>
              <a:t>langfristige</a:t>
            </a:r>
            <a:r>
              <a:rPr dirty="0"/>
              <a:t> Trend: Pro Sektor und </a:t>
            </a:r>
            <a:r>
              <a:rPr dirty="0" err="1"/>
              <a:t>Kennzahl</a:t>
            </a:r>
            <a:r>
              <a:rPr dirty="0"/>
              <a:t> </a:t>
            </a:r>
            <a:r>
              <a:rPr dirty="0" err="1"/>
              <a:t>glätte</a:t>
            </a:r>
            <a:r>
              <a:rPr dirty="0"/>
              <a:t> ich das Median-</a:t>
            </a:r>
            <a:r>
              <a:rPr dirty="0" err="1"/>
              <a:t>Niveau</a:t>
            </a:r>
            <a:r>
              <a:rPr dirty="0"/>
              <a:t> </a:t>
            </a:r>
            <a:r>
              <a:rPr dirty="0" err="1"/>
              <a:t>über</a:t>
            </a:r>
            <a:r>
              <a:rPr dirty="0"/>
              <a:t> 25 </a:t>
            </a:r>
            <a:r>
              <a:rPr dirty="0" err="1"/>
              <a:t>Quartale</a:t>
            </a:r>
            <a:r>
              <a:rPr dirty="0"/>
              <a:t> und </a:t>
            </a:r>
            <a:r>
              <a:rPr dirty="0" err="1"/>
              <a:t>schätze</a:t>
            </a:r>
            <a:r>
              <a:rPr dirty="0"/>
              <a:t> parallel die AR(1)-Drift-</a:t>
            </a:r>
            <a:r>
              <a:rPr dirty="0" err="1"/>
              <a:t>Konstante</a:t>
            </a:r>
            <a:r>
              <a:rPr dirty="0"/>
              <a:t> c pro </a:t>
            </a:r>
            <a:r>
              <a:rPr dirty="0" err="1"/>
              <a:t>Unternehmen</a:t>
            </a:r>
            <a:r>
              <a:rPr dirty="0"/>
              <a:t> — </a:t>
            </a:r>
            <a:r>
              <a:rPr dirty="0" err="1"/>
              <a:t>zwei</a:t>
            </a:r>
            <a:r>
              <a:rPr dirty="0"/>
              <a:t> </a:t>
            </a:r>
            <a:r>
              <a:rPr dirty="0" err="1"/>
              <a:t>unabhängige</a:t>
            </a:r>
            <a:r>
              <a:rPr dirty="0"/>
              <a:t> </a:t>
            </a:r>
            <a:r>
              <a:rPr dirty="0" err="1"/>
              <a:t>Messungen</a:t>
            </a:r>
            <a:r>
              <a:rPr dirty="0"/>
              <a:t> </a:t>
            </a:r>
            <a:r>
              <a:rPr dirty="0" err="1"/>
              <a:t>desselben</a:t>
            </a:r>
            <a:r>
              <a:rPr dirty="0"/>
              <a:t> Trends, </a:t>
            </a:r>
            <a:r>
              <a:rPr dirty="0" err="1"/>
              <a:t>Übereinstimmung</a:t>
            </a:r>
            <a:r>
              <a:rPr dirty="0"/>
              <a:t> r </a:t>
            </a:r>
            <a:r>
              <a:rPr dirty="0" err="1"/>
              <a:t>gleich</a:t>
            </a:r>
            <a:r>
              <a:rPr dirty="0"/>
              <a:t> 0,86. Das </a:t>
            </a:r>
            <a:r>
              <a:rPr dirty="0" err="1"/>
              <a:t>Beispiel</a:t>
            </a:r>
            <a:r>
              <a:rPr dirty="0"/>
              <a:t> Technologie: Die Current Ratio </a:t>
            </a:r>
            <a:r>
              <a:rPr dirty="0" err="1"/>
              <a:t>fällt</a:t>
            </a:r>
            <a:r>
              <a:rPr dirty="0"/>
              <a:t> von 2,48 auf 1,87, Debt/Equity </a:t>
            </a:r>
            <a:r>
              <a:rPr dirty="0" err="1"/>
              <a:t>steigt</a:t>
            </a:r>
            <a:r>
              <a:rPr dirty="0"/>
              <a:t> von 0,18 auf 0,42 — die </a:t>
            </a:r>
            <a:r>
              <a:rPr dirty="0" err="1"/>
              <a:t>Kurven</a:t>
            </a:r>
            <a:r>
              <a:rPr dirty="0"/>
              <a:t> </a:t>
            </a:r>
            <a:r>
              <a:rPr dirty="0" err="1"/>
              <a:t>kreuzen</a:t>
            </a:r>
            <a:r>
              <a:rPr dirty="0"/>
              <a:t> </a:t>
            </a:r>
            <a:r>
              <a:rPr dirty="0" err="1"/>
              <a:t>sich</a:t>
            </a:r>
            <a:r>
              <a:rPr dirty="0"/>
              <a:t> 2013: </a:t>
            </a:r>
            <a:r>
              <a:rPr dirty="0" err="1"/>
              <a:t>vom</a:t>
            </a:r>
            <a:r>
              <a:rPr dirty="0"/>
              <a:t> </a:t>
            </a:r>
            <a:r>
              <a:rPr dirty="0" err="1"/>
              <a:t>liquiditätsdominierten</a:t>
            </a:r>
            <a:r>
              <a:rPr dirty="0"/>
              <a:t> Start-up-</a:t>
            </a:r>
            <a:r>
              <a:rPr dirty="0" err="1"/>
              <a:t>Profil</a:t>
            </a:r>
            <a:r>
              <a:rPr dirty="0"/>
              <a:t> </a:t>
            </a:r>
            <a:r>
              <a:rPr dirty="0" err="1"/>
              <a:t>zur</a:t>
            </a:r>
            <a:r>
              <a:rPr dirty="0"/>
              <a:t> </a:t>
            </a:r>
            <a:r>
              <a:rPr dirty="0" err="1"/>
              <a:t>reifen</a:t>
            </a:r>
            <a:r>
              <a:rPr dirty="0"/>
              <a:t>, </a:t>
            </a:r>
            <a:r>
              <a:rPr dirty="0" err="1"/>
              <a:t>fremdfinanzierten</a:t>
            </a:r>
            <a:r>
              <a:rPr dirty="0"/>
              <a:t> </a:t>
            </a:r>
            <a:r>
              <a:rPr dirty="0" err="1"/>
              <a:t>Struktur</a:t>
            </a:r>
            <a:r>
              <a:rPr dirty="0"/>
              <a:t>. Und </a:t>
            </a:r>
            <a:r>
              <a:rPr dirty="0" err="1"/>
              <a:t>über</a:t>
            </a:r>
            <a:r>
              <a:rPr dirty="0"/>
              <a:t> alle 70 </a:t>
            </a:r>
            <a:r>
              <a:rPr dirty="0" err="1"/>
              <a:t>Kombinationen</a:t>
            </a:r>
            <a:r>
              <a:rPr dirty="0"/>
              <a:t>: Debt/Equity </a:t>
            </a:r>
            <a:r>
              <a:rPr dirty="0" err="1"/>
              <a:t>driftet</a:t>
            </a:r>
            <a:r>
              <a:rPr dirty="0"/>
              <a:t> in </a:t>
            </a:r>
            <a:r>
              <a:rPr dirty="0" err="1"/>
              <a:t>allen</a:t>
            </a:r>
            <a:r>
              <a:rPr dirty="0"/>
              <a:t> </a:t>
            </a:r>
            <a:r>
              <a:rPr dirty="0" err="1"/>
              <a:t>zehn</a:t>
            </a:r>
            <a:r>
              <a:rPr dirty="0"/>
              <a:t> </a:t>
            </a:r>
            <a:r>
              <a:rPr dirty="0" err="1"/>
              <a:t>Sektoren</a:t>
            </a:r>
            <a:r>
              <a:rPr dirty="0"/>
              <a:t> </a:t>
            </a:r>
            <a:r>
              <a:rPr dirty="0" err="1"/>
              <a:t>positiv</a:t>
            </a:r>
            <a:r>
              <a:rPr dirty="0"/>
              <a:t>, die </a:t>
            </a:r>
            <a:r>
              <a:rPr dirty="0" err="1"/>
              <a:t>Eigenkapitalquote</a:t>
            </a:r>
            <a:r>
              <a:rPr dirty="0"/>
              <a:t> in </a:t>
            </a:r>
            <a:r>
              <a:rPr dirty="0" err="1"/>
              <a:t>sieben</a:t>
            </a:r>
            <a:r>
              <a:rPr dirty="0"/>
              <a:t> von </a:t>
            </a:r>
            <a:r>
              <a:rPr dirty="0" err="1"/>
              <a:t>zehn</a:t>
            </a:r>
            <a:r>
              <a:rPr dirty="0"/>
              <a:t> </a:t>
            </a:r>
            <a:r>
              <a:rPr dirty="0" err="1"/>
              <a:t>negativ</a:t>
            </a:r>
            <a:r>
              <a:rPr dirty="0"/>
              <a:t> — die </a:t>
            </a:r>
            <a:r>
              <a:rPr dirty="0" err="1"/>
              <a:t>Verschuldungs</a:t>
            </a:r>
            <a:r>
              <a:rPr dirty="0"/>
              <a:t>- und </a:t>
            </a:r>
            <a:r>
              <a:rPr dirty="0" err="1"/>
              <a:t>Margenexpansion</a:t>
            </a:r>
            <a:r>
              <a:rPr dirty="0"/>
              <a:t> der </a:t>
            </a:r>
            <a:r>
              <a:rPr dirty="0" err="1"/>
              <a:t>letzten</a:t>
            </a:r>
            <a:r>
              <a:rPr dirty="0"/>
              <a:t> 25 Jahre.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dirty="0"/>
              <a:t>[Zeit: 0:30] Und </a:t>
            </a:r>
            <a:r>
              <a:rPr dirty="0" err="1"/>
              <a:t>welche</a:t>
            </a:r>
            <a:r>
              <a:rPr dirty="0"/>
              <a:t> </a:t>
            </a:r>
            <a:r>
              <a:rPr dirty="0" err="1"/>
              <a:t>Kennzahl</a:t>
            </a:r>
            <a:r>
              <a:rPr dirty="0"/>
              <a:t> </a:t>
            </a:r>
            <a:r>
              <a:rPr dirty="0" err="1"/>
              <a:t>reagiert</a:t>
            </a:r>
            <a:r>
              <a:rPr dirty="0"/>
              <a:t> in </a:t>
            </a:r>
            <a:r>
              <a:rPr dirty="0" err="1"/>
              <a:t>welcher</a:t>
            </a:r>
            <a:r>
              <a:rPr dirty="0"/>
              <a:t> Krise? Die EBIT-Marge am </a:t>
            </a:r>
            <a:r>
              <a:rPr dirty="0" err="1"/>
              <a:t>stärksten</a:t>
            </a:r>
            <a:r>
              <a:rPr dirty="0"/>
              <a:t> in </a:t>
            </a:r>
            <a:r>
              <a:rPr dirty="0" err="1"/>
              <a:t>Finanzkrise</a:t>
            </a:r>
            <a:r>
              <a:rPr dirty="0"/>
              <a:t> und COVID — Faktor 1,5 </a:t>
            </a:r>
            <a:r>
              <a:rPr dirty="0" err="1"/>
              <a:t>über</a:t>
            </a:r>
            <a:r>
              <a:rPr dirty="0"/>
              <a:t> der Baseline: </a:t>
            </a:r>
            <a:r>
              <a:rPr dirty="0" err="1"/>
              <a:t>operativer</a:t>
            </a:r>
            <a:r>
              <a:rPr dirty="0"/>
              <a:t> Hebel, </a:t>
            </a:r>
            <a:r>
              <a:rPr dirty="0" err="1"/>
              <a:t>Umsatz</a:t>
            </a:r>
            <a:r>
              <a:rPr dirty="0"/>
              <a:t> </a:t>
            </a:r>
            <a:r>
              <a:rPr dirty="0" err="1"/>
              <a:t>bricht</a:t>
            </a:r>
            <a:r>
              <a:rPr dirty="0"/>
              <a:t> </a:t>
            </a:r>
            <a:r>
              <a:rPr dirty="0" err="1"/>
              <a:t>bei</a:t>
            </a:r>
            <a:r>
              <a:rPr dirty="0"/>
              <a:t> fixer </a:t>
            </a:r>
            <a:r>
              <a:rPr dirty="0" err="1"/>
              <a:t>Kostenstruktur</a:t>
            </a:r>
            <a:r>
              <a:rPr dirty="0"/>
              <a:t>. Debt/Equity </a:t>
            </a:r>
            <a:r>
              <a:rPr dirty="0" err="1"/>
              <a:t>dagegen</a:t>
            </a:r>
            <a:r>
              <a:rPr dirty="0"/>
              <a:t> in der Dot-Com-Phase — der Kurs-Crash </a:t>
            </a:r>
            <a:r>
              <a:rPr dirty="0" err="1"/>
              <a:t>vernichtet</a:t>
            </a:r>
            <a:r>
              <a:rPr dirty="0"/>
              <a:t> </a:t>
            </a:r>
            <a:r>
              <a:rPr dirty="0" err="1"/>
              <a:t>Eigenkapital</a:t>
            </a:r>
            <a:r>
              <a:rPr dirty="0"/>
              <a:t> </a:t>
            </a:r>
            <a:r>
              <a:rPr dirty="0" err="1"/>
              <a:t>mechanisch</a:t>
            </a:r>
            <a:r>
              <a:rPr dirty="0"/>
              <a:t>. Die FCF-Marge </a:t>
            </a:r>
            <a:r>
              <a:rPr dirty="0" err="1"/>
              <a:t>bleibt</a:t>
            </a:r>
            <a:r>
              <a:rPr dirty="0"/>
              <a:t> in der </a:t>
            </a:r>
            <a:r>
              <a:rPr dirty="0" err="1"/>
              <a:t>Finanzkrise</a:t>
            </a:r>
            <a:r>
              <a:rPr dirty="0"/>
              <a:t> fast </a:t>
            </a:r>
            <a:r>
              <a:rPr dirty="0" err="1"/>
              <a:t>unauffällig</a:t>
            </a:r>
            <a:r>
              <a:rPr dirty="0"/>
              <a:t> — </a:t>
            </a:r>
            <a:r>
              <a:rPr dirty="0" err="1"/>
              <a:t>dieselbe</a:t>
            </a:r>
            <a:r>
              <a:rPr dirty="0"/>
              <a:t> </a:t>
            </a:r>
            <a:r>
              <a:rPr dirty="0" err="1"/>
              <a:t>Sonderstellung</a:t>
            </a:r>
            <a:r>
              <a:rPr dirty="0"/>
              <a:t> </a:t>
            </a:r>
            <a:r>
              <a:rPr dirty="0" err="1"/>
              <a:t>wie</a:t>
            </a:r>
            <a:r>
              <a:rPr dirty="0"/>
              <a:t> in der Phi-Matrix. Und die Current Ratio </a:t>
            </a:r>
            <a:r>
              <a:rPr dirty="0" err="1"/>
              <a:t>reagiert</a:t>
            </a:r>
            <a:r>
              <a:rPr dirty="0"/>
              <a:t> </a:t>
            </a:r>
            <a:r>
              <a:rPr dirty="0" err="1"/>
              <a:t>überall</a:t>
            </a:r>
            <a:r>
              <a:rPr dirty="0"/>
              <a:t> am </a:t>
            </a:r>
            <a:r>
              <a:rPr dirty="0" err="1"/>
              <a:t>schwächsten</a:t>
            </a:r>
            <a:r>
              <a:rPr dirty="0"/>
              <a:t> — die </a:t>
            </a:r>
            <a:r>
              <a:rPr dirty="0" err="1"/>
              <a:t>träge</a:t>
            </a:r>
            <a:r>
              <a:rPr dirty="0"/>
              <a:t> </a:t>
            </a:r>
            <a:r>
              <a:rPr dirty="0" err="1"/>
              <a:t>Bilanzposition</a:t>
            </a:r>
            <a:r>
              <a:rPr dirty="0"/>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dirty="0"/>
              <a:t>[Zeit: 0:30] Zwei </a:t>
            </a:r>
            <a:r>
              <a:rPr dirty="0" err="1"/>
              <a:t>weitere</a:t>
            </a:r>
            <a:r>
              <a:rPr dirty="0"/>
              <a:t> </a:t>
            </a:r>
            <a:r>
              <a:rPr dirty="0" err="1"/>
              <a:t>Variablen</a:t>
            </a:r>
            <a:r>
              <a:rPr dirty="0"/>
              <a:t>. Das </a:t>
            </a:r>
            <a:r>
              <a:rPr dirty="0" err="1"/>
              <a:t>Profitabilitätsniveau</a:t>
            </a:r>
            <a:r>
              <a:rPr dirty="0"/>
              <a:t>: Profitable </a:t>
            </a:r>
            <a:r>
              <a:rPr dirty="0" err="1"/>
              <a:t>Unternehmen</a:t>
            </a:r>
            <a:r>
              <a:rPr dirty="0"/>
              <a:t> </a:t>
            </a:r>
            <a:r>
              <a:rPr dirty="0" err="1"/>
              <a:t>schwanken</a:t>
            </a:r>
            <a:r>
              <a:rPr dirty="0"/>
              <a:t> </a:t>
            </a:r>
            <a:r>
              <a:rPr dirty="0" err="1"/>
              <a:t>weniger</a:t>
            </a:r>
            <a:r>
              <a:rPr dirty="0"/>
              <a:t> — EBIT-Marge minus 0,44 — und </a:t>
            </a:r>
            <a:r>
              <a:rPr dirty="0" err="1"/>
              <a:t>revertieren</a:t>
            </a:r>
            <a:r>
              <a:rPr dirty="0"/>
              <a:t> </a:t>
            </a:r>
            <a:r>
              <a:rPr dirty="0" err="1"/>
              <a:t>sogar</a:t>
            </a:r>
            <a:r>
              <a:rPr dirty="0"/>
              <a:t> </a:t>
            </a:r>
            <a:r>
              <a:rPr dirty="0" err="1"/>
              <a:t>etwas</a:t>
            </a:r>
            <a:r>
              <a:rPr dirty="0"/>
              <a:t> </a:t>
            </a:r>
            <a:r>
              <a:rPr dirty="0" err="1"/>
              <a:t>langsamer</a:t>
            </a:r>
            <a:r>
              <a:rPr dirty="0"/>
              <a:t>: </a:t>
            </a:r>
            <a:r>
              <a:rPr dirty="0" err="1"/>
              <a:t>weniger</a:t>
            </a:r>
            <a:r>
              <a:rPr dirty="0"/>
              <a:t> </a:t>
            </a:r>
            <a:r>
              <a:rPr dirty="0" err="1"/>
              <a:t>Schwankung</a:t>
            </a:r>
            <a:r>
              <a:rPr dirty="0"/>
              <a:t>, </a:t>
            </a:r>
            <a:r>
              <a:rPr dirty="0" err="1"/>
              <a:t>weniger</a:t>
            </a:r>
            <a:r>
              <a:rPr dirty="0"/>
              <a:t> </a:t>
            </a:r>
            <a:r>
              <a:rPr dirty="0" err="1"/>
              <a:t>Korrekturbedarf</a:t>
            </a:r>
            <a:r>
              <a:rPr dirty="0"/>
              <a:t>. Und die </a:t>
            </a:r>
            <a:r>
              <a:rPr dirty="0" err="1"/>
              <a:t>Periodenabgrenzungen</a:t>
            </a:r>
            <a:r>
              <a:rPr dirty="0"/>
              <a:t> </a:t>
            </a:r>
            <a:r>
              <a:rPr dirty="0" err="1"/>
              <a:t>nach</a:t>
            </a:r>
            <a:r>
              <a:rPr dirty="0"/>
              <a:t> Sloan: Sie </a:t>
            </a:r>
            <a:r>
              <a:rPr dirty="0" err="1"/>
              <a:t>dämpfen</a:t>
            </a:r>
            <a:r>
              <a:rPr dirty="0"/>
              <a:t> die </a:t>
            </a:r>
            <a:r>
              <a:rPr dirty="0" err="1"/>
              <a:t>Volatilität</a:t>
            </a:r>
            <a:r>
              <a:rPr dirty="0"/>
              <a:t> der </a:t>
            </a:r>
            <a:r>
              <a:rPr dirty="0" err="1"/>
              <a:t>Buchgewinne</a:t>
            </a:r>
            <a:r>
              <a:rPr dirty="0"/>
              <a:t> — ROA minus 0,27 — </a:t>
            </a:r>
            <a:r>
              <a:rPr dirty="0" err="1"/>
              <a:t>aber</a:t>
            </a:r>
            <a:r>
              <a:rPr dirty="0"/>
              <a:t> nicht die der FCF-Marge. Damit </a:t>
            </a:r>
            <a:r>
              <a:rPr dirty="0" err="1"/>
              <a:t>ist</a:t>
            </a:r>
            <a:r>
              <a:rPr dirty="0"/>
              <a:t> der </a:t>
            </a:r>
            <a:r>
              <a:rPr dirty="0" err="1"/>
              <a:t>Mechanismus</a:t>
            </a:r>
            <a:r>
              <a:rPr dirty="0"/>
              <a:t> hinter der FCF-</a:t>
            </a:r>
            <a:r>
              <a:rPr dirty="0" err="1"/>
              <a:t>Sonderstellung</a:t>
            </a:r>
            <a:r>
              <a:rPr dirty="0"/>
              <a:t> </a:t>
            </a:r>
            <a:r>
              <a:rPr dirty="0" err="1"/>
              <a:t>aus</a:t>
            </a:r>
            <a:r>
              <a:rPr dirty="0"/>
              <a:t> </a:t>
            </a:r>
            <a:r>
              <a:rPr dirty="0" err="1"/>
              <a:t>Forschungsfrage</a:t>
            </a:r>
            <a:r>
              <a:rPr dirty="0"/>
              <a:t> </a:t>
            </a:r>
            <a:r>
              <a:rPr dirty="0" err="1"/>
              <a:t>zwei</a:t>
            </a:r>
            <a:r>
              <a:rPr dirty="0"/>
              <a:t> </a:t>
            </a:r>
            <a:r>
              <a:rPr dirty="0" err="1"/>
              <a:t>direkt</a:t>
            </a:r>
            <a:r>
              <a:rPr dirty="0"/>
              <a:t> </a:t>
            </a:r>
            <a:r>
              <a:rPr dirty="0" err="1"/>
              <a:t>nachgewiesen</a:t>
            </a:r>
            <a:r>
              <a:rPr dirty="0"/>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[Zeit: 0:45] Und die härteste Prüfung: Aus jeder Sektor-Cluster-Mechanik aus Forschungsfrage eins habe ich eine falsifizierbare Vorhersage zur Quadranten-Verteilung abgeleitet. Drei von vier Clustern bestätigen sich mit 60 bis 66 Prozent Konformität. Das schwächste benenne ich offen: Kommunikation und Energie mit 43 Prozent — bei der FCF-Marge nur 30 Prozent, weil Investitionszyklen den Cashflow länger als ein Quartal persistieren lassen. Und das fünfte Cluster, Gesundheit und zyklischer Konsum, bleibt diffus — genau wie vorhergesagt.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dirty="0"/>
              <a:t>[Zeit: 0:30] </a:t>
            </a:r>
            <a:r>
              <a:rPr dirty="0" err="1"/>
              <a:t>Forschungsfrage</a:t>
            </a:r>
            <a:r>
              <a:rPr dirty="0"/>
              <a:t> </a:t>
            </a:r>
            <a:r>
              <a:rPr dirty="0" err="1"/>
              <a:t>drei</a:t>
            </a:r>
            <a:r>
              <a:rPr dirty="0"/>
              <a:t> </a:t>
            </a:r>
            <a:r>
              <a:rPr dirty="0" err="1"/>
              <a:t>prüfe</a:t>
            </a:r>
            <a:r>
              <a:rPr dirty="0"/>
              <a:t> ich auf </a:t>
            </a:r>
            <a:r>
              <a:rPr dirty="0" err="1"/>
              <a:t>drei</a:t>
            </a:r>
            <a:r>
              <a:rPr dirty="0"/>
              <a:t> </a:t>
            </a:r>
            <a:r>
              <a:rPr dirty="0" err="1"/>
              <a:t>Ebenen</a:t>
            </a:r>
            <a:r>
              <a:rPr dirty="0"/>
              <a:t> — das </a:t>
            </a:r>
            <a:r>
              <a:rPr dirty="0" err="1"/>
              <a:t>ist</a:t>
            </a:r>
            <a:r>
              <a:rPr dirty="0"/>
              <a:t> das </a:t>
            </a:r>
            <a:r>
              <a:rPr dirty="0" err="1"/>
              <a:t>Testprogramm</a:t>
            </a:r>
            <a:r>
              <a:rPr dirty="0"/>
              <a:t>: </a:t>
            </a:r>
            <a:r>
              <a:rPr dirty="0" err="1"/>
              <a:t>Erstens</a:t>
            </a:r>
            <a:r>
              <a:rPr dirty="0"/>
              <a:t> die </a:t>
            </a:r>
            <a:r>
              <a:rPr dirty="0" err="1"/>
              <a:t>Unternehmensmerkmale</a:t>
            </a:r>
            <a:r>
              <a:rPr dirty="0"/>
              <a:t> — </a:t>
            </a:r>
            <a:r>
              <a:rPr dirty="0" err="1"/>
              <a:t>fünf</a:t>
            </a:r>
            <a:r>
              <a:rPr dirty="0"/>
              <a:t> </a:t>
            </a:r>
            <a:r>
              <a:rPr dirty="0" err="1"/>
              <a:t>Strukturvariablen</a:t>
            </a:r>
            <a:r>
              <a:rPr dirty="0"/>
              <a:t> </a:t>
            </a:r>
            <a:r>
              <a:rPr dirty="0" err="1"/>
              <a:t>gegen</a:t>
            </a:r>
            <a:r>
              <a:rPr dirty="0"/>
              <a:t> Phi und Sigma </a:t>
            </a:r>
            <a:r>
              <a:rPr dirty="0" err="1"/>
              <a:t>jeder</a:t>
            </a:r>
            <a:r>
              <a:rPr dirty="0"/>
              <a:t> </a:t>
            </a:r>
            <a:r>
              <a:rPr dirty="0" err="1"/>
              <a:t>Kennzahl</a:t>
            </a:r>
            <a:r>
              <a:rPr dirty="0"/>
              <a:t>, 98 Spearman-Tests plus </a:t>
            </a:r>
            <a:r>
              <a:rPr dirty="0" err="1"/>
              <a:t>Quintilvergleiche</a:t>
            </a:r>
            <a:r>
              <a:rPr dirty="0"/>
              <a:t>. </a:t>
            </a:r>
            <a:r>
              <a:rPr dirty="0" err="1"/>
              <a:t>Zweitens</a:t>
            </a:r>
            <a:r>
              <a:rPr dirty="0"/>
              <a:t> der Sektor — Kruskal-Wallis </a:t>
            </a:r>
            <a:r>
              <a:rPr dirty="0" err="1"/>
              <a:t>über</a:t>
            </a:r>
            <a:r>
              <a:rPr dirty="0"/>
              <a:t> die </a:t>
            </a:r>
            <a:r>
              <a:rPr dirty="0" err="1"/>
              <a:t>zehn</a:t>
            </a:r>
            <a:r>
              <a:rPr dirty="0"/>
              <a:t> GICS-</a:t>
            </a:r>
            <a:r>
              <a:rPr dirty="0" err="1"/>
              <a:t>Sektoren</a:t>
            </a:r>
            <a:r>
              <a:rPr dirty="0"/>
              <a:t>, </a:t>
            </a:r>
            <a:r>
              <a:rPr dirty="0" err="1"/>
              <a:t>dazu</a:t>
            </a:r>
            <a:r>
              <a:rPr dirty="0"/>
              <a:t> die </a:t>
            </a:r>
            <a:r>
              <a:rPr dirty="0" err="1"/>
              <a:t>Falsifikation</a:t>
            </a:r>
            <a:r>
              <a:rPr dirty="0"/>
              <a:t> der </a:t>
            </a:r>
            <a:r>
              <a:rPr dirty="0" err="1"/>
              <a:t>fünf</a:t>
            </a:r>
            <a:r>
              <a:rPr dirty="0"/>
              <a:t> Sektor-Cluster und die </a:t>
            </a:r>
            <a:r>
              <a:rPr dirty="0" err="1"/>
              <a:t>Parallelschätzung</a:t>
            </a:r>
            <a:r>
              <a:rPr dirty="0"/>
              <a:t> der 451 </a:t>
            </a:r>
            <a:r>
              <a:rPr dirty="0" err="1"/>
              <a:t>Finanzdienstleister</a:t>
            </a:r>
            <a:r>
              <a:rPr dirty="0"/>
              <a:t>. </a:t>
            </a:r>
            <a:r>
              <a:rPr dirty="0" err="1"/>
              <a:t>Drittens</a:t>
            </a:r>
            <a:r>
              <a:rPr dirty="0"/>
              <a:t> die </a:t>
            </a:r>
            <a:r>
              <a:rPr dirty="0" err="1"/>
              <a:t>Synthese</a:t>
            </a:r>
            <a:r>
              <a:rPr dirty="0"/>
              <a:t> — 14 multivariate </a:t>
            </a:r>
            <a:r>
              <a:rPr dirty="0" err="1"/>
              <a:t>Regressionen</a:t>
            </a:r>
            <a:r>
              <a:rPr dirty="0"/>
              <a:t> </a:t>
            </a:r>
            <a:r>
              <a:rPr dirty="0" err="1"/>
              <a:t>mit</a:t>
            </a:r>
            <a:r>
              <a:rPr dirty="0"/>
              <a:t> </a:t>
            </a:r>
            <a:r>
              <a:rPr dirty="0" err="1"/>
              <a:t>allen</a:t>
            </a:r>
            <a:r>
              <a:rPr dirty="0"/>
              <a:t> </a:t>
            </a:r>
            <a:r>
              <a:rPr dirty="0" err="1"/>
              <a:t>Variablen</a:t>
            </a:r>
            <a:r>
              <a:rPr dirty="0"/>
              <a:t> </a:t>
            </a:r>
            <a:r>
              <a:rPr dirty="0" err="1"/>
              <a:t>gemeinsam</a:t>
            </a:r>
            <a:r>
              <a:rPr dirty="0"/>
              <a:t>. </a:t>
            </a:r>
            <a:r>
              <a:rPr dirty="0" err="1"/>
              <a:t>Durchgängig</a:t>
            </a:r>
            <a:r>
              <a:rPr dirty="0"/>
              <a:t> Bonferroni-</a:t>
            </a:r>
            <a:r>
              <a:rPr dirty="0" err="1"/>
              <a:t>korrigiert</a:t>
            </a:r>
            <a:r>
              <a:rPr dirty="0"/>
              <a:t>. Der Reihe </a:t>
            </a:r>
            <a:r>
              <a:rPr dirty="0" err="1"/>
              <a:t>nach</a:t>
            </a:r>
            <a:r>
              <a:rPr dirty="0"/>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dirty="0"/>
              <a:t>[Zeit: 1:00] Die bivariate Ebene: Links Sigma, </a:t>
            </a:r>
            <a:r>
              <a:rPr dirty="0" err="1"/>
              <a:t>rechts</a:t>
            </a:r>
            <a:r>
              <a:rPr dirty="0"/>
              <a:t> Phi — und das Muster </a:t>
            </a:r>
            <a:r>
              <a:rPr dirty="0" err="1"/>
              <a:t>springt</a:t>
            </a:r>
            <a:r>
              <a:rPr dirty="0"/>
              <a:t> ins Auge: 31 von 49 Sigma-Tests </a:t>
            </a:r>
            <a:r>
              <a:rPr dirty="0" err="1"/>
              <a:t>signifikant</a:t>
            </a:r>
            <a:r>
              <a:rPr dirty="0"/>
              <a:t>, </a:t>
            </a:r>
            <a:r>
              <a:rPr dirty="0" err="1"/>
              <a:t>nur</a:t>
            </a:r>
            <a:r>
              <a:rPr dirty="0"/>
              <a:t> 10 von 49 </a:t>
            </a:r>
            <a:r>
              <a:rPr dirty="0" err="1"/>
              <a:t>bei</a:t>
            </a:r>
            <a:r>
              <a:rPr dirty="0"/>
              <a:t> Phi; die </a:t>
            </a:r>
            <a:r>
              <a:rPr dirty="0" err="1"/>
              <a:t>zehn</a:t>
            </a:r>
            <a:r>
              <a:rPr dirty="0"/>
              <a:t> </a:t>
            </a:r>
            <a:r>
              <a:rPr dirty="0" err="1"/>
              <a:t>stärksten</a:t>
            </a:r>
            <a:r>
              <a:rPr dirty="0"/>
              <a:t> </a:t>
            </a:r>
            <a:r>
              <a:rPr dirty="0" err="1"/>
              <a:t>Effekte</a:t>
            </a:r>
            <a:r>
              <a:rPr dirty="0"/>
              <a:t> </a:t>
            </a:r>
            <a:r>
              <a:rPr dirty="0" err="1"/>
              <a:t>betreffen</a:t>
            </a:r>
            <a:r>
              <a:rPr dirty="0"/>
              <a:t> </a:t>
            </a:r>
            <a:r>
              <a:rPr dirty="0" err="1"/>
              <a:t>ausnahmslos</a:t>
            </a:r>
            <a:r>
              <a:rPr dirty="0"/>
              <a:t> Sigma. Am </a:t>
            </a:r>
            <a:r>
              <a:rPr dirty="0" err="1"/>
              <a:t>stärksten</a:t>
            </a:r>
            <a:r>
              <a:rPr dirty="0"/>
              <a:t> </a:t>
            </a:r>
            <a:r>
              <a:rPr dirty="0" err="1"/>
              <a:t>wirkt</a:t>
            </a:r>
            <a:r>
              <a:rPr dirty="0"/>
              <a:t> die </a:t>
            </a:r>
            <a:r>
              <a:rPr dirty="0" err="1"/>
              <a:t>Größe</a:t>
            </a:r>
            <a:r>
              <a:rPr dirty="0"/>
              <a:t>: Die </a:t>
            </a:r>
            <a:r>
              <a:rPr dirty="0" err="1"/>
              <a:t>Mitarbeiterzahl</a:t>
            </a:r>
            <a:r>
              <a:rPr dirty="0"/>
              <a:t> </a:t>
            </a:r>
            <a:r>
              <a:rPr dirty="0" err="1"/>
              <a:t>dämpft</a:t>
            </a:r>
            <a:r>
              <a:rPr dirty="0"/>
              <a:t> die </a:t>
            </a:r>
            <a:r>
              <a:rPr dirty="0" err="1"/>
              <a:t>Volatilität</a:t>
            </a:r>
            <a:r>
              <a:rPr dirty="0"/>
              <a:t> von FCF-Marge und Current Ratio </a:t>
            </a:r>
            <a:r>
              <a:rPr dirty="0" err="1"/>
              <a:t>mit</a:t>
            </a:r>
            <a:r>
              <a:rPr dirty="0"/>
              <a:t> minus 0,53 — </a:t>
            </a:r>
            <a:r>
              <a:rPr dirty="0" err="1"/>
              <a:t>vom</a:t>
            </a:r>
            <a:r>
              <a:rPr dirty="0"/>
              <a:t> </a:t>
            </a:r>
            <a:r>
              <a:rPr dirty="0" err="1"/>
              <a:t>kleinsten</a:t>
            </a:r>
            <a:r>
              <a:rPr dirty="0"/>
              <a:t> </a:t>
            </a:r>
            <a:r>
              <a:rPr dirty="0" err="1"/>
              <a:t>zum</a:t>
            </a:r>
            <a:r>
              <a:rPr dirty="0"/>
              <a:t> </a:t>
            </a:r>
            <a:r>
              <a:rPr dirty="0" err="1"/>
              <a:t>größten</a:t>
            </a:r>
            <a:r>
              <a:rPr dirty="0"/>
              <a:t> Quintil </a:t>
            </a:r>
            <a:r>
              <a:rPr dirty="0" err="1"/>
              <a:t>fällt</a:t>
            </a:r>
            <a:r>
              <a:rPr dirty="0"/>
              <a:t> der Sigma-Median von 0,45 auf 0,11, Cohens r 0,80, der </a:t>
            </a:r>
            <a:r>
              <a:rPr dirty="0" err="1"/>
              <a:t>stärkste</a:t>
            </a:r>
            <a:r>
              <a:rPr dirty="0"/>
              <a:t> </a:t>
            </a:r>
            <a:r>
              <a:rPr dirty="0" err="1"/>
              <a:t>Effekt</a:t>
            </a:r>
            <a:r>
              <a:rPr dirty="0"/>
              <a:t> der </a:t>
            </a:r>
            <a:r>
              <a:rPr dirty="0" err="1"/>
              <a:t>Analyse</a:t>
            </a:r>
            <a:r>
              <a:rPr dirty="0"/>
              <a:t>. Die </a:t>
            </a:r>
            <a:r>
              <a:rPr dirty="0" err="1"/>
              <a:t>Anlagenintensität</a:t>
            </a:r>
            <a:r>
              <a:rPr dirty="0"/>
              <a:t> </a:t>
            </a:r>
            <a:r>
              <a:rPr dirty="0" err="1"/>
              <a:t>zeigt</a:t>
            </a:r>
            <a:r>
              <a:rPr dirty="0"/>
              <a:t> das </a:t>
            </a:r>
            <a:r>
              <a:rPr dirty="0" err="1"/>
              <a:t>feinste</a:t>
            </a:r>
            <a:r>
              <a:rPr dirty="0"/>
              <a:t> Muster: </a:t>
            </a:r>
            <a:r>
              <a:rPr dirty="0" err="1"/>
              <a:t>Bilanzgrößen</a:t>
            </a:r>
            <a:r>
              <a:rPr dirty="0"/>
              <a:t> </a:t>
            </a:r>
            <a:r>
              <a:rPr dirty="0" err="1"/>
              <a:t>stabiler</a:t>
            </a:r>
            <a:r>
              <a:rPr dirty="0"/>
              <a:t>, Strom-</a:t>
            </a:r>
            <a:r>
              <a:rPr dirty="0" err="1"/>
              <a:t>Margen</a:t>
            </a:r>
            <a:r>
              <a:rPr dirty="0"/>
              <a:t> </a:t>
            </a:r>
            <a:r>
              <a:rPr dirty="0" err="1"/>
              <a:t>volatiler</a:t>
            </a:r>
            <a:r>
              <a:rPr dirty="0"/>
              <a:t> — die Strom-</a:t>
            </a:r>
            <a:r>
              <a:rPr dirty="0" err="1"/>
              <a:t>Bestand</a:t>
            </a:r>
            <a:r>
              <a:rPr dirty="0"/>
              <a:t>-Mechanik </a:t>
            </a:r>
            <a:r>
              <a:rPr dirty="0" err="1"/>
              <a:t>aus</a:t>
            </a:r>
            <a:r>
              <a:rPr dirty="0"/>
              <a:t> </a:t>
            </a:r>
            <a:r>
              <a:rPr dirty="0" err="1"/>
              <a:t>Forschungsfrage</a:t>
            </a:r>
            <a:r>
              <a:rPr dirty="0"/>
              <a:t> </a:t>
            </a:r>
            <a:r>
              <a:rPr dirty="0" err="1"/>
              <a:t>eins</a:t>
            </a:r>
            <a:r>
              <a:rPr dirty="0"/>
              <a:t> auf </a:t>
            </a:r>
            <a:r>
              <a:rPr dirty="0" err="1"/>
              <a:t>Unternehmensebene</a:t>
            </a:r>
            <a:r>
              <a:rPr dirty="0"/>
              <a:t>. Und die </a:t>
            </a:r>
            <a:r>
              <a:rPr dirty="0" err="1"/>
              <a:t>Periodenabgrenzungen</a:t>
            </a:r>
            <a:r>
              <a:rPr dirty="0"/>
              <a:t> </a:t>
            </a:r>
            <a:r>
              <a:rPr dirty="0" err="1"/>
              <a:t>dämpfen</a:t>
            </a:r>
            <a:r>
              <a:rPr dirty="0"/>
              <a:t> die </a:t>
            </a:r>
            <a:r>
              <a:rPr dirty="0" err="1"/>
              <a:t>Buchgewinne</a:t>
            </a:r>
            <a:r>
              <a:rPr dirty="0"/>
              <a:t>, </a:t>
            </a:r>
            <a:r>
              <a:rPr dirty="0" err="1"/>
              <a:t>aber</a:t>
            </a:r>
            <a:r>
              <a:rPr dirty="0"/>
              <a:t> nicht die FCF-Marge — der </a:t>
            </a:r>
            <a:r>
              <a:rPr dirty="0" err="1"/>
              <a:t>direkte</a:t>
            </a:r>
            <a:r>
              <a:rPr dirty="0"/>
              <a:t> </a:t>
            </a:r>
            <a:r>
              <a:rPr dirty="0" err="1"/>
              <a:t>Nachweis</a:t>
            </a:r>
            <a:r>
              <a:rPr dirty="0"/>
              <a:t> des </a:t>
            </a:r>
            <a:r>
              <a:rPr dirty="0" err="1"/>
              <a:t>Mechanismus</a:t>
            </a:r>
            <a:r>
              <a:rPr dirty="0"/>
              <a:t> hinter der FCF-</a:t>
            </a:r>
            <a:r>
              <a:rPr dirty="0" err="1"/>
              <a:t>Sonderstellung</a:t>
            </a:r>
            <a:r>
              <a:rPr dirty="0"/>
              <a:t> </a:t>
            </a:r>
            <a:r>
              <a:rPr dirty="0" err="1"/>
              <a:t>aus</a:t>
            </a:r>
            <a:r>
              <a:rPr dirty="0"/>
              <a:t> </a:t>
            </a:r>
            <a:r>
              <a:rPr dirty="0" err="1"/>
              <a:t>Forschungsfrage</a:t>
            </a:r>
            <a:r>
              <a:rPr dirty="0"/>
              <a:t> </a:t>
            </a:r>
            <a:r>
              <a:rPr dirty="0" err="1"/>
              <a:t>zwei</a:t>
            </a:r>
            <a:r>
              <a:rPr dirty="0"/>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dirty="0"/>
              <a:t>[Zeit: 1:00] Das </a:t>
            </a:r>
            <a:r>
              <a:rPr dirty="0" err="1"/>
              <a:t>kategoriale</a:t>
            </a:r>
            <a:r>
              <a:rPr dirty="0"/>
              <a:t> </a:t>
            </a:r>
            <a:r>
              <a:rPr dirty="0" err="1"/>
              <a:t>Gegenstück</a:t>
            </a:r>
            <a:r>
              <a:rPr dirty="0"/>
              <a:t>: der Sektor. Auf der Sigma-</a:t>
            </a:r>
            <a:r>
              <a:rPr dirty="0" err="1"/>
              <a:t>Seite</a:t>
            </a:r>
            <a:r>
              <a:rPr dirty="0"/>
              <a:t> </a:t>
            </a:r>
            <a:r>
              <a:rPr dirty="0" err="1"/>
              <a:t>erklärt</a:t>
            </a:r>
            <a:r>
              <a:rPr dirty="0"/>
              <a:t> die </a:t>
            </a:r>
            <a:r>
              <a:rPr dirty="0" err="1"/>
              <a:t>Sektorzugehörigkeit</a:t>
            </a:r>
            <a:r>
              <a:rPr dirty="0"/>
              <a:t> bis </a:t>
            </a:r>
            <a:r>
              <a:rPr dirty="0" err="1"/>
              <a:t>zu</a:t>
            </a:r>
            <a:r>
              <a:rPr dirty="0"/>
              <a:t> 22 </a:t>
            </a:r>
            <a:r>
              <a:rPr dirty="0" err="1"/>
              <a:t>Prozent</a:t>
            </a:r>
            <a:r>
              <a:rPr dirty="0"/>
              <a:t> der Variation — FCF-Marge und Current Ratio </a:t>
            </a:r>
            <a:r>
              <a:rPr dirty="0" err="1"/>
              <a:t>vorn</a:t>
            </a:r>
            <a:r>
              <a:rPr dirty="0"/>
              <a:t>, alle </a:t>
            </a:r>
            <a:r>
              <a:rPr dirty="0" err="1"/>
              <a:t>sieben</a:t>
            </a:r>
            <a:r>
              <a:rPr dirty="0"/>
              <a:t> </a:t>
            </a:r>
            <a:r>
              <a:rPr dirty="0" err="1"/>
              <a:t>signifikant</a:t>
            </a:r>
            <a:r>
              <a:rPr dirty="0"/>
              <a:t>. Auf der Phi-</a:t>
            </a:r>
            <a:r>
              <a:rPr dirty="0" err="1"/>
              <a:t>Seite</a:t>
            </a:r>
            <a:r>
              <a:rPr dirty="0"/>
              <a:t> maximal </a:t>
            </a:r>
            <a:r>
              <a:rPr dirty="0" err="1"/>
              <a:t>sieben</a:t>
            </a:r>
            <a:r>
              <a:rPr dirty="0"/>
              <a:t> </a:t>
            </a:r>
            <a:r>
              <a:rPr dirty="0" err="1"/>
              <a:t>Prozent</a:t>
            </a:r>
            <a:r>
              <a:rPr dirty="0"/>
              <a:t> — </a:t>
            </a:r>
            <a:r>
              <a:rPr dirty="0" err="1"/>
              <a:t>dieselbe</a:t>
            </a:r>
            <a:r>
              <a:rPr dirty="0"/>
              <a:t> </a:t>
            </a:r>
            <a:r>
              <a:rPr dirty="0" err="1"/>
              <a:t>Asymmetrie</a:t>
            </a:r>
            <a:r>
              <a:rPr dirty="0"/>
              <a:t> </a:t>
            </a:r>
            <a:r>
              <a:rPr dirty="0" err="1"/>
              <a:t>wie</a:t>
            </a:r>
            <a:r>
              <a:rPr dirty="0"/>
              <a:t> </a:t>
            </a:r>
            <a:r>
              <a:rPr dirty="0" err="1"/>
              <a:t>bei</a:t>
            </a:r>
            <a:r>
              <a:rPr dirty="0"/>
              <a:t> den </a:t>
            </a:r>
            <a:r>
              <a:rPr dirty="0" err="1"/>
              <a:t>Strukturvariablen</a:t>
            </a:r>
            <a:r>
              <a:rPr dirty="0"/>
              <a:t>. Der </a:t>
            </a:r>
            <a:r>
              <a:rPr dirty="0" err="1"/>
              <a:t>schärfste</a:t>
            </a:r>
            <a:r>
              <a:rPr dirty="0"/>
              <a:t> </a:t>
            </a:r>
            <a:r>
              <a:rPr dirty="0" err="1"/>
              <a:t>Kontrast</a:t>
            </a:r>
            <a:r>
              <a:rPr dirty="0"/>
              <a:t>: die 451 parallel </a:t>
            </a:r>
            <a:r>
              <a:rPr dirty="0" err="1"/>
              <a:t>geschätzten</a:t>
            </a:r>
            <a:r>
              <a:rPr dirty="0"/>
              <a:t> </a:t>
            </a:r>
            <a:r>
              <a:rPr dirty="0" err="1"/>
              <a:t>Finanzdienstleister</a:t>
            </a:r>
            <a:r>
              <a:rPr dirty="0"/>
              <a:t> — Current-Ratio-</a:t>
            </a:r>
            <a:r>
              <a:rPr dirty="0" err="1"/>
              <a:t>Volatilität</a:t>
            </a:r>
            <a:r>
              <a:rPr dirty="0"/>
              <a:t> </a:t>
            </a:r>
            <a:r>
              <a:rPr dirty="0" err="1"/>
              <a:t>beim</a:t>
            </a:r>
            <a:r>
              <a:rPr dirty="0"/>
              <a:t> 29-fachen, und die Bilanz-</a:t>
            </a:r>
            <a:r>
              <a:rPr dirty="0" err="1"/>
              <a:t>Kennzahlen</a:t>
            </a:r>
            <a:r>
              <a:rPr dirty="0"/>
              <a:t> </a:t>
            </a:r>
            <a:r>
              <a:rPr dirty="0" err="1"/>
              <a:t>revertieren</a:t>
            </a:r>
            <a:r>
              <a:rPr dirty="0"/>
              <a:t> </a:t>
            </a:r>
            <a:r>
              <a:rPr dirty="0" err="1"/>
              <a:t>deutlich</a:t>
            </a:r>
            <a:r>
              <a:rPr dirty="0"/>
              <a:t> </a:t>
            </a:r>
            <a:r>
              <a:rPr dirty="0" err="1"/>
              <a:t>stärker</a:t>
            </a:r>
            <a:r>
              <a:rPr dirty="0"/>
              <a:t>, </a:t>
            </a:r>
            <a:r>
              <a:rPr dirty="0" err="1"/>
              <a:t>weil</a:t>
            </a:r>
            <a:r>
              <a:rPr dirty="0"/>
              <a:t> </a:t>
            </a:r>
            <a:r>
              <a:rPr dirty="0" err="1"/>
              <a:t>Mindestquoten</a:t>
            </a:r>
            <a:r>
              <a:rPr dirty="0"/>
              <a:t> die </a:t>
            </a:r>
            <a:r>
              <a:rPr dirty="0" err="1"/>
              <a:t>Korrektur</a:t>
            </a:r>
            <a:r>
              <a:rPr dirty="0"/>
              <a:t> </a:t>
            </a:r>
            <a:r>
              <a:rPr dirty="0" err="1"/>
              <a:t>erzwingen</a:t>
            </a:r>
            <a:r>
              <a:rPr dirty="0"/>
              <a:t>: Der </a:t>
            </a:r>
            <a:r>
              <a:rPr dirty="0" err="1"/>
              <a:t>Ausschluss</a:t>
            </a:r>
            <a:r>
              <a:rPr dirty="0"/>
              <a:t> </a:t>
            </a:r>
            <a:r>
              <a:rPr dirty="0" err="1"/>
              <a:t>ist</a:t>
            </a:r>
            <a:r>
              <a:rPr dirty="0"/>
              <a:t> </a:t>
            </a:r>
            <a:r>
              <a:rPr dirty="0" err="1"/>
              <a:t>empirisch</a:t>
            </a:r>
            <a:r>
              <a:rPr dirty="0"/>
              <a:t> </a:t>
            </a:r>
            <a:r>
              <a:rPr dirty="0" err="1"/>
              <a:t>begründet</a:t>
            </a:r>
            <a:r>
              <a:rPr dirty="0"/>
              <a:t>. Und die </a:t>
            </a:r>
            <a:r>
              <a:rPr dirty="0" err="1"/>
              <a:t>härteste</a:t>
            </a:r>
            <a:r>
              <a:rPr dirty="0"/>
              <a:t> </a:t>
            </a:r>
            <a:r>
              <a:rPr dirty="0" err="1"/>
              <a:t>Prüfung</a:t>
            </a:r>
            <a:r>
              <a:rPr dirty="0"/>
              <a:t>: Aus </a:t>
            </a:r>
            <a:r>
              <a:rPr dirty="0" err="1"/>
              <a:t>jeder</a:t>
            </a:r>
            <a:r>
              <a:rPr dirty="0"/>
              <a:t> Cluster-Mechanik </a:t>
            </a:r>
            <a:r>
              <a:rPr dirty="0" err="1"/>
              <a:t>eine</a:t>
            </a:r>
            <a:r>
              <a:rPr dirty="0"/>
              <a:t> </a:t>
            </a:r>
            <a:r>
              <a:rPr dirty="0" err="1"/>
              <a:t>falsifizierbare</a:t>
            </a:r>
            <a:r>
              <a:rPr dirty="0"/>
              <a:t> </a:t>
            </a:r>
            <a:r>
              <a:rPr dirty="0" err="1"/>
              <a:t>Vorhersage</a:t>
            </a:r>
            <a:r>
              <a:rPr dirty="0"/>
              <a:t> — </a:t>
            </a:r>
            <a:r>
              <a:rPr dirty="0" err="1"/>
              <a:t>drei</a:t>
            </a:r>
            <a:r>
              <a:rPr dirty="0"/>
              <a:t> von vier </a:t>
            </a:r>
            <a:r>
              <a:rPr dirty="0" err="1"/>
              <a:t>bestätigt</a:t>
            </a:r>
            <a:r>
              <a:rPr dirty="0"/>
              <a:t>, das </a:t>
            </a:r>
            <a:r>
              <a:rPr dirty="0" err="1"/>
              <a:t>schwächste</a:t>
            </a:r>
            <a:r>
              <a:rPr dirty="0"/>
              <a:t> </a:t>
            </a:r>
            <a:r>
              <a:rPr dirty="0" err="1"/>
              <a:t>offen</a:t>
            </a:r>
            <a:r>
              <a:rPr dirty="0"/>
              <a:t> </a:t>
            </a:r>
            <a:r>
              <a:rPr dirty="0" err="1"/>
              <a:t>benannt</a:t>
            </a:r>
            <a:r>
              <a:rPr dirty="0"/>
              <a:t>: 43 </a:t>
            </a:r>
            <a:r>
              <a:rPr dirty="0" err="1"/>
              <a:t>Prozent</a:t>
            </a:r>
            <a:r>
              <a:rPr dirty="0"/>
              <a:t>, FCF </a:t>
            </a:r>
            <a:r>
              <a:rPr dirty="0" err="1"/>
              <a:t>sogar</a:t>
            </a:r>
            <a:r>
              <a:rPr dirty="0"/>
              <a:t> </a:t>
            </a:r>
            <a:r>
              <a:rPr dirty="0" err="1"/>
              <a:t>nur</a:t>
            </a:r>
            <a:r>
              <a:rPr dirty="0"/>
              <a:t> 30 — </a:t>
            </a:r>
            <a:r>
              <a:rPr dirty="0" err="1"/>
              <a:t>Investitionszyklen</a:t>
            </a:r>
            <a:r>
              <a:rPr dirty="0"/>
              <a:t> </a:t>
            </a:r>
            <a:r>
              <a:rPr dirty="0" err="1"/>
              <a:t>persistieren</a:t>
            </a:r>
            <a:r>
              <a:rPr dirty="0"/>
              <a:t> </a:t>
            </a:r>
            <a:r>
              <a:rPr dirty="0" err="1"/>
              <a:t>länger</a:t>
            </a:r>
            <a:r>
              <a:rPr dirty="0"/>
              <a:t> </a:t>
            </a:r>
            <a:r>
              <a:rPr dirty="0" err="1"/>
              <a:t>als</a:t>
            </a:r>
            <a:r>
              <a:rPr dirty="0"/>
              <a:t> </a:t>
            </a:r>
            <a:r>
              <a:rPr dirty="0" err="1"/>
              <a:t>ein</a:t>
            </a:r>
            <a:r>
              <a:rPr dirty="0"/>
              <a:t> Quartal.</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[Zeit: 1:30] Hauptbefund, Forschungsfrage drei: Phi und Sigma auf fünf Strukturvariablen regressiert — Größe, Anlagenintensität, Investitionsintensität, Profitabilitätsniveau, Periodenabgrenzungen. Asymmetrie: rund 30 % der Volatilität erklärt (FCF-Marge fast die Hälfte), aber nur rund 5 % der Korrekturgeschwindigkeit. Sigma misst Exposition, Phi misst Reaktion — Phi bleibt idiosynkratisch.</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[Zeit: 1:00] Zwei Validierungen. Erstens falsifizierungsorientierte Prüfung der Sektor-Mechaniken: drei von vier Clustern bestätigen sich mit 60–66 %, das schwächste (Kommunikation/Energie, 43 %) wird offen benannt. Zweitens der Kontrast mit 451 Finanzdienstleistern: deren Current-Ratio-Volatilität liegt beim 29-Fachen der Hauptstichprobe — der Sektorausschluss ist empirisch begründet.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[Zeit: 1:00] Vier Grenzen. Survivorship Bias: 77 % entfernt, aber Phi-Mediane stabil bis zur 40-Quartals-Schwelle (2.356 Firmen). Differenzen-Konvention: Phi misst Veränderungs-Autokorrelation; entscheidend ist die ökonomische Spreizung. In-Sample-Charakter der Krisentests. Geltungsbereich: etablierte US-Unternehmen, Quartalsfrequenz — Subquartals-Effekte und andere Märkte bleiben offen.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82E1C"/>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4" name="Text 1"/>
          <p:cNvSpPr/>
          <p:nvPr/>
        </p:nvSpPr>
        <p:spPr>
          <a:xfrm>
            <a:off x="415654" y="648068"/>
            <a:ext cx="8889797" cy="215798"/>
          </a:xfrm>
          <a:prstGeom prst="rect">
            <a:avLst/>
          </a:prstGeom>
          <a:noFill/>
          <a:ln/>
        </p:spPr>
        <p:txBody>
          <a:bodyPr wrap="square" rtlCol="0" anchor="ctr"/>
          <a:lstStyle/>
          <a:p>
            <a:pPr marL="0" indent="0">
              <a:buNone/>
            </a:pPr>
            <a:r>
              <a:rPr lang="en-US" sz="1200" b="1" kern="0" spc="400">
                <a:solidFill>
                  <a:srgbClr val="E6D44F"/>
                </a:solidFill>
                <a:latin typeface="Courier New" pitchFamily="34" charset="0"/>
                <a:ea typeface="Courier New" pitchFamily="34" charset="-122"/>
                <a:cs typeface="Courier New" pitchFamily="34" charset="-120"/>
              </a:rPr>
              <a:t>MASTERKOLLOQUIUM</a:t>
            </a:r>
            <a:endParaRPr lang="en-US" sz="1000">
              <a:solidFill>
                <a:srgbClr val="E6D44F"/>
              </a:solidFill>
            </a:endParaRPr>
          </a:p>
        </p:txBody>
      </p:sp>
      <p:sp>
        <p:nvSpPr>
          <p:cNvPr id="5" name="Text 2"/>
          <p:cNvSpPr/>
          <p:nvPr/>
        </p:nvSpPr>
        <p:spPr>
          <a:xfrm>
            <a:off x="634594" y="1428517"/>
            <a:ext cx="10933951" cy="1209867"/>
          </a:xfrm>
          <a:prstGeom prst="rect">
            <a:avLst/>
          </a:prstGeom>
          <a:noFill/>
          <a:ln/>
        </p:spPr>
        <p:txBody>
          <a:bodyPr wrap="square" rtlCol="0" anchor="t"/>
          <a:lstStyle/>
          <a:p>
            <a:pPr marL="0" indent="0" algn="ctr">
              <a:lnSpc>
                <a:spcPct val="102000"/>
              </a:lnSpc>
              <a:buNone/>
            </a:pPr>
            <a:r>
              <a:rPr lang="en-US" sz="3600" b="1" kern="0" spc="-100">
                <a:solidFill>
                  <a:srgbClr val="F3EFDA"/>
                </a:solidFill>
                <a:latin typeface="Arial" pitchFamily="34" charset="0"/>
                <a:ea typeface="Arial" pitchFamily="34" charset="-122"/>
                <a:cs typeface="Arial" pitchFamily="34" charset="-120"/>
              </a:rPr>
              <a:t>Zeitreihenbasierte Analyse der Dynamik von Finanzkennzahlen </a:t>
            </a:r>
            <a:r>
              <a:rPr lang="en-US" sz="3600" b="1" kern="0" spc="-100" err="1">
                <a:solidFill>
                  <a:srgbClr val="F3EFDA"/>
                </a:solidFill>
                <a:latin typeface="Arial" pitchFamily="34" charset="0"/>
                <a:ea typeface="Arial" pitchFamily="34" charset="-122"/>
                <a:cs typeface="Arial" pitchFamily="34" charset="-120"/>
              </a:rPr>
              <a:t>börsennotierter</a:t>
            </a:r>
            <a:r>
              <a:rPr lang="en-US" sz="3600" b="1" kern="0" spc="-100">
                <a:solidFill>
                  <a:srgbClr val="F3EFDA"/>
                </a:solidFill>
                <a:latin typeface="Arial" pitchFamily="34" charset="0"/>
                <a:ea typeface="Arial" pitchFamily="34" charset="-122"/>
                <a:cs typeface="Arial" pitchFamily="34" charset="-120"/>
              </a:rPr>
              <a:t> </a:t>
            </a:r>
            <a:r>
              <a:rPr lang="en-US" sz="3600" b="1" kern="0" spc="-100" err="1">
                <a:solidFill>
                  <a:srgbClr val="F3EFDA"/>
                </a:solidFill>
                <a:latin typeface="Arial" pitchFamily="34" charset="0"/>
                <a:ea typeface="Arial" pitchFamily="34" charset="-122"/>
                <a:cs typeface="Arial" pitchFamily="34" charset="-120"/>
              </a:rPr>
              <a:t>Unternehmen</a:t>
            </a:r>
            <a:endParaRPr lang="en-US" sz="3600">
              <a:solidFill>
                <a:srgbClr val="F3EFDA"/>
              </a:solidFill>
            </a:endParaRPr>
          </a:p>
        </p:txBody>
      </p:sp>
      <p:sp>
        <p:nvSpPr>
          <p:cNvPr id="11" name="Text 8"/>
          <p:cNvSpPr/>
          <p:nvPr/>
        </p:nvSpPr>
        <p:spPr>
          <a:xfrm>
            <a:off x="461312" y="3463845"/>
            <a:ext cx="2286000" cy="152705"/>
          </a:xfrm>
          <a:prstGeom prst="rect">
            <a:avLst/>
          </a:prstGeom>
          <a:noFill/>
          <a:ln/>
        </p:spPr>
        <p:txBody>
          <a:bodyPr wrap="square" rtlCol="0" anchor="t"/>
          <a:lstStyle/>
          <a:p>
            <a:pPr marL="0" indent="0" algn="r">
              <a:lnSpc>
                <a:spcPct val="105000"/>
              </a:lnSpc>
              <a:buNone/>
            </a:pPr>
            <a:r>
              <a:rPr lang="en-US" sz="1200" b="1" kern="0" spc="200">
                <a:solidFill>
                  <a:srgbClr val="E6D44F"/>
                </a:solidFill>
                <a:latin typeface="Courier New" pitchFamily="34" charset="0"/>
                <a:ea typeface="Courier New" pitchFamily="34" charset="-122"/>
                <a:cs typeface="Courier New" pitchFamily="34" charset="-120"/>
              </a:rPr>
              <a:t>VORGELEGT VON</a:t>
            </a: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r>
              <a:rPr lang="en-US" sz="1200" b="1" kern="0" spc="200">
                <a:solidFill>
                  <a:srgbClr val="E6D44F"/>
                </a:solidFill>
                <a:latin typeface="Courier New" pitchFamily="34" charset="0"/>
                <a:cs typeface="Courier New" pitchFamily="34" charset="-120"/>
              </a:rPr>
              <a:t>HOCHSCHULE</a:t>
            </a: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r>
              <a:rPr lang="en-US" sz="1200" b="1" kern="0" spc="200">
                <a:solidFill>
                  <a:srgbClr val="E6D44F"/>
                </a:solidFill>
                <a:latin typeface="Courier New" pitchFamily="34" charset="0"/>
                <a:cs typeface="Courier New" pitchFamily="34" charset="-120"/>
              </a:rPr>
              <a:t>PRÜFER</a:t>
            </a: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r>
              <a:rPr lang="en-US" sz="1200" b="1" kern="0" spc="200">
                <a:solidFill>
                  <a:srgbClr val="E6D44F"/>
                </a:solidFill>
                <a:latin typeface="Courier New" pitchFamily="34" charset="0"/>
                <a:cs typeface="Courier New" pitchFamily="34" charset="-120"/>
              </a:rPr>
              <a:t>DATUM</a:t>
            </a:r>
            <a:endParaRPr lang="en-US" sz="900" b="1" kern="0" spc="200">
              <a:solidFill>
                <a:srgbClr val="E6D44F"/>
              </a:solidFill>
              <a:latin typeface="Courier New" pitchFamily="34" charset="0"/>
              <a:cs typeface="Courier New" pitchFamily="34" charset="-120"/>
            </a:endParaRPr>
          </a:p>
        </p:txBody>
      </p:sp>
      <p:sp>
        <p:nvSpPr>
          <p:cNvPr id="12" name="Text 9"/>
          <p:cNvSpPr/>
          <p:nvPr/>
        </p:nvSpPr>
        <p:spPr>
          <a:xfrm>
            <a:off x="3499985" y="3454660"/>
            <a:ext cx="2286000"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Tobias Mourier</a:t>
            </a:r>
            <a:endParaRPr lang="en-US" sz="1400"/>
          </a:p>
        </p:txBody>
      </p:sp>
      <p:pic>
        <p:nvPicPr>
          <p:cNvPr id="3" name="Grafik 2">
            <a:extLst>
              <a:ext uri="{FF2B5EF4-FFF2-40B4-BE49-F238E27FC236}">
                <a16:creationId xmlns:a16="http://schemas.microsoft.com/office/drawing/2014/main" id="{324B70AD-BD1D-0514-C299-459E1BACE3A3}"/>
              </a:ext>
            </a:extLst>
          </p:cNvPr>
          <p:cNvPicPr>
            <a:picLocks noChangeAspect="1"/>
          </p:cNvPicPr>
          <p:nvPr/>
        </p:nvPicPr>
        <p:blipFill>
          <a:blip r:embed="rId3"/>
          <a:stretch>
            <a:fillRect/>
          </a:stretch>
        </p:blipFill>
        <p:spPr>
          <a:xfrm>
            <a:off x="10231872" y="380800"/>
            <a:ext cx="1618140" cy="693489"/>
          </a:xfrm>
          <a:prstGeom prst="rect">
            <a:avLst/>
          </a:prstGeom>
        </p:spPr>
      </p:pic>
      <p:sp>
        <p:nvSpPr>
          <p:cNvPr id="19" name="Text 9">
            <a:extLst>
              <a:ext uri="{FF2B5EF4-FFF2-40B4-BE49-F238E27FC236}">
                <a16:creationId xmlns:a16="http://schemas.microsoft.com/office/drawing/2014/main" id="{8B0D7EA3-88F9-F05C-E011-8FC22262E690}"/>
              </a:ext>
            </a:extLst>
          </p:cNvPr>
          <p:cNvSpPr/>
          <p:nvPr/>
        </p:nvSpPr>
        <p:spPr>
          <a:xfrm>
            <a:off x="3499984" y="4051555"/>
            <a:ext cx="3003847" cy="292878"/>
          </a:xfrm>
          <a:prstGeom prst="rect">
            <a:avLst/>
          </a:prstGeom>
          <a:noFill/>
          <a:ln/>
        </p:spPr>
        <p:txBody>
          <a:bodyPr wrap="square" rtlCol="0" anchor="t"/>
          <a:lstStyle/>
          <a:p>
            <a:pPr marL="0" indent="0" algn="l">
              <a:lnSpc>
                <a:spcPct val="105000"/>
              </a:lnSpc>
              <a:buNone/>
            </a:pPr>
            <a:r>
              <a:rPr lang="en-US" sz="1400" b="1" err="1">
                <a:solidFill>
                  <a:srgbClr val="F2EFDA"/>
                </a:solidFill>
                <a:latin typeface="Arial" pitchFamily="34" charset="0"/>
                <a:ea typeface="Arial" pitchFamily="34" charset="-122"/>
                <a:cs typeface="Arial" pitchFamily="34" charset="-120"/>
              </a:rPr>
              <a:t>Technische</a:t>
            </a:r>
            <a:r>
              <a:rPr lang="en-US" sz="1400" b="1">
                <a:solidFill>
                  <a:srgbClr val="F2EFDA"/>
                </a:solidFill>
                <a:latin typeface="Arial" pitchFamily="34" charset="0"/>
                <a:ea typeface="Arial" pitchFamily="34" charset="-122"/>
                <a:cs typeface="Arial" pitchFamily="34" charset="-120"/>
              </a:rPr>
              <a:t> Hochschule Wildau</a:t>
            </a:r>
            <a:endParaRPr lang="en-US" sz="1400"/>
          </a:p>
        </p:txBody>
      </p:sp>
      <p:sp>
        <p:nvSpPr>
          <p:cNvPr id="20" name="Text 9">
            <a:extLst>
              <a:ext uri="{FF2B5EF4-FFF2-40B4-BE49-F238E27FC236}">
                <a16:creationId xmlns:a16="http://schemas.microsoft.com/office/drawing/2014/main" id="{3D1A27AC-F3F8-8963-7DAA-A6C880C7C8A9}"/>
              </a:ext>
            </a:extLst>
          </p:cNvPr>
          <p:cNvSpPr/>
          <p:nvPr/>
        </p:nvSpPr>
        <p:spPr>
          <a:xfrm>
            <a:off x="3499985" y="4602607"/>
            <a:ext cx="2286000"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Prof. Dr. M. Steglich</a:t>
            </a:r>
          </a:p>
          <a:p>
            <a:pPr marL="0" indent="0" algn="l">
              <a:lnSpc>
                <a:spcPct val="105000"/>
              </a:lnSpc>
              <a:buNone/>
            </a:pPr>
            <a:r>
              <a:rPr lang="en-US" sz="1400" b="1">
                <a:solidFill>
                  <a:srgbClr val="F2EFDA"/>
                </a:solidFill>
                <a:latin typeface="Arial" pitchFamily="34" charset="0"/>
                <a:cs typeface="Arial" pitchFamily="34" charset="-120"/>
              </a:rPr>
              <a:t>Prof. Dr. R. </a:t>
            </a:r>
            <a:r>
              <a:rPr lang="en-US" sz="1400" b="1" err="1">
                <a:solidFill>
                  <a:srgbClr val="F2EFDA"/>
                </a:solidFill>
                <a:latin typeface="Arial" pitchFamily="34" charset="0"/>
                <a:cs typeface="Arial" pitchFamily="34" charset="-120"/>
              </a:rPr>
              <a:t>Stollhoff</a:t>
            </a:r>
            <a:endParaRPr lang="en-US" sz="1400"/>
          </a:p>
        </p:txBody>
      </p:sp>
      <p:sp>
        <p:nvSpPr>
          <p:cNvPr id="21" name="Text 9">
            <a:extLst>
              <a:ext uri="{FF2B5EF4-FFF2-40B4-BE49-F238E27FC236}">
                <a16:creationId xmlns:a16="http://schemas.microsoft.com/office/drawing/2014/main" id="{C3683C61-2CF9-EE4C-BF49-6DEAFBE66068}"/>
              </a:ext>
            </a:extLst>
          </p:cNvPr>
          <p:cNvSpPr/>
          <p:nvPr/>
        </p:nvSpPr>
        <p:spPr>
          <a:xfrm>
            <a:off x="3499985" y="5337654"/>
            <a:ext cx="2286000"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07.07.2026</a:t>
            </a:r>
            <a:endParaRPr lang="en-US" sz="1400"/>
          </a:p>
        </p:txBody>
      </p:sp>
      <p:pic>
        <p:nvPicPr>
          <p:cNvPr id="22" name="Grafik 21">
            <a:extLst>
              <a:ext uri="{FF2B5EF4-FFF2-40B4-BE49-F238E27FC236}">
                <a16:creationId xmlns:a16="http://schemas.microsoft.com/office/drawing/2014/main" id="{CEF7AEE1-50DC-1F30-E9E7-5B152B6E8239}"/>
              </a:ext>
            </a:extLst>
          </p:cNvPr>
          <p:cNvPicPr>
            <a:picLocks noChangeAspect="1"/>
          </p:cNvPicPr>
          <p:nvPr/>
        </p:nvPicPr>
        <p:blipFill>
          <a:blip r:embed="rId4"/>
          <a:stretch>
            <a:fillRect/>
          </a:stretch>
        </p:blipFill>
        <p:spPr>
          <a:xfrm>
            <a:off x="8507100" y="3153787"/>
            <a:ext cx="2425840" cy="3431804"/>
          </a:xfrm>
          <a:prstGeom prst="rect">
            <a:avLst/>
          </a:prstGeom>
          <a:effectLst>
            <a:outerShdw blurRad="50800" dist="127000" dir="13500000" algn="br" rotWithShape="0">
              <a:schemeClr val="bg1">
                <a:alpha val="40000"/>
              </a:schemeClr>
            </a:outerShdw>
          </a:effectLst>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62" name="Shape 16">
            <a:extLst>
              <a:ext uri="{FF2B5EF4-FFF2-40B4-BE49-F238E27FC236}">
                <a16:creationId xmlns:a16="http://schemas.microsoft.com/office/drawing/2014/main" id="{2B8ADCE8-FECF-5BB8-7B22-6B49F29FDF66}"/>
              </a:ext>
            </a:extLst>
          </p:cNvPr>
          <p:cNvSpPr/>
          <p:nvPr/>
        </p:nvSpPr>
        <p:spPr>
          <a:xfrm>
            <a:off x="876198" y="3835908"/>
            <a:ext cx="10579202" cy="194259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4" name="Text 1"/>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EINLEITUNG</a:t>
            </a:r>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02 / 13</a:t>
            </a:r>
            <a:endParaRPr lang="en-US" sz="1200"/>
          </a:p>
        </p:txBody>
      </p:sp>
      <p:sp>
        <p:nvSpPr>
          <p:cNvPr id="6" name="Text 3"/>
          <p:cNvSpPr/>
          <p:nvPr/>
        </p:nvSpPr>
        <p:spPr>
          <a:xfrm>
            <a:off x="634595" y="4102407"/>
            <a:ext cx="10921592" cy="1283828"/>
          </a:xfrm>
          <a:prstGeom prst="rect">
            <a:avLst/>
          </a:prstGeom>
          <a:noFill/>
          <a:ln/>
        </p:spPr>
        <p:txBody>
          <a:bodyPr wrap="square" rtlCol="0" anchor="t"/>
          <a:lstStyle/>
          <a:p>
            <a:pPr marL="0" indent="0" algn="ctr">
              <a:lnSpc>
                <a:spcPct val="150000"/>
              </a:lnSpc>
              <a:buNone/>
            </a:pPr>
            <a:r>
              <a:rPr lang="en-US" sz="2400" b="1">
                <a:solidFill>
                  <a:srgbClr val="F2EFDA"/>
                </a:solidFill>
                <a:latin typeface="Arial" pitchFamily="34" charset="0"/>
                <a:ea typeface="Arial" pitchFamily="34" charset="-122"/>
                <a:cs typeface="Arial" pitchFamily="34" charset="-120"/>
              </a:rPr>
              <a:t>Eine Kennzahl ist </a:t>
            </a:r>
            <a:r>
              <a:rPr lang="en-US" sz="2400" b="1" err="1">
                <a:solidFill>
                  <a:srgbClr val="F2EFDA"/>
                </a:solidFill>
                <a:latin typeface="Arial" pitchFamily="34" charset="0"/>
                <a:ea typeface="Arial" pitchFamily="34" charset="-122"/>
                <a:cs typeface="Arial" pitchFamily="34" charset="-120"/>
              </a:rPr>
              <a:t>eine</a:t>
            </a:r>
            <a:r>
              <a:rPr lang="en-US" sz="2400" b="1">
                <a:solidFill>
                  <a:srgbClr val="F2EFDA"/>
                </a:solidFill>
                <a:latin typeface="Arial" pitchFamily="34" charset="0"/>
                <a:ea typeface="Arial" pitchFamily="34" charset="-122"/>
                <a:cs typeface="Arial" pitchFamily="34" charset="-120"/>
              </a:rPr>
              <a:t> </a:t>
            </a:r>
            <a:r>
              <a:rPr lang="en-US" sz="2400" b="1" err="1">
                <a:solidFill>
                  <a:srgbClr val="F2EFDA"/>
                </a:solidFill>
                <a:latin typeface="Arial" pitchFamily="34" charset="0"/>
                <a:ea typeface="Arial" pitchFamily="34" charset="-122"/>
                <a:cs typeface="Arial" pitchFamily="34" charset="-120"/>
              </a:rPr>
              <a:t>Momentaufnahme</a:t>
            </a:r>
            <a:r>
              <a:rPr lang="en-US" sz="2400" b="1">
                <a:solidFill>
                  <a:srgbClr val="F2EFDA"/>
                </a:solidFill>
                <a:latin typeface="Arial" pitchFamily="34" charset="0"/>
                <a:ea typeface="Arial" pitchFamily="34" charset="-122"/>
                <a:cs typeface="Arial" pitchFamily="34" charset="-120"/>
              </a:rPr>
              <a:t>, die Information steckt in der </a:t>
            </a:r>
            <a:r>
              <a:rPr lang="en-US" sz="3200" b="1" err="1">
                <a:solidFill>
                  <a:srgbClr val="78A2F9"/>
                </a:solidFill>
                <a:latin typeface="Arial" pitchFamily="34" charset="0"/>
                <a:ea typeface="Arial" pitchFamily="34" charset="-122"/>
                <a:cs typeface="Arial" pitchFamily="34" charset="-120"/>
              </a:rPr>
              <a:t>Veränderung</a:t>
            </a:r>
            <a:r>
              <a:rPr lang="en-US" sz="3200" b="1">
                <a:solidFill>
                  <a:srgbClr val="78A2F9"/>
                </a:solidFill>
                <a:latin typeface="Arial" pitchFamily="34" charset="0"/>
                <a:ea typeface="Arial" pitchFamily="34" charset="-122"/>
                <a:cs typeface="Arial" pitchFamily="34" charset="-120"/>
              </a:rPr>
              <a:t> / Dynamik</a:t>
            </a:r>
            <a:endParaRPr lang="en-US" sz="2400"/>
          </a:p>
        </p:txBody>
      </p:sp>
      <p:sp>
        <p:nvSpPr>
          <p:cNvPr id="54" name="Text 2">
            <a:extLst>
              <a:ext uri="{FF2B5EF4-FFF2-40B4-BE49-F238E27FC236}">
                <a16:creationId xmlns:a16="http://schemas.microsoft.com/office/drawing/2014/main" id="{148FA918-77A5-D32A-008B-BBD14EAC800D}"/>
              </a:ext>
            </a:extLst>
          </p:cNvPr>
          <p:cNvSpPr/>
          <p:nvPr/>
        </p:nvSpPr>
        <p:spPr>
          <a:xfrm>
            <a:off x="634594" y="1428517"/>
            <a:ext cx="10933951" cy="1209867"/>
          </a:xfrm>
          <a:prstGeom prst="rect">
            <a:avLst/>
          </a:prstGeom>
          <a:noFill/>
          <a:ln/>
        </p:spPr>
        <p:txBody>
          <a:bodyPr wrap="square" rtlCol="0" anchor="t"/>
          <a:lstStyle/>
          <a:p>
            <a:pPr marL="0" indent="0" algn="ctr">
              <a:lnSpc>
                <a:spcPct val="102000"/>
              </a:lnSpc>
              <a:buNone/>
            </a:pPr>
            <a:r>
              <a:rPr lang="en-US" sz="3600" b="1" kern="0" spc="-100">
                <a:solidFill>
                  <a:srgbClr val="F3EFDA"/>
                </a:solidFill>
                <a:latin typeface="Arial" pitchFamily="34" charset="0"/>
                <a:ea typeface="Arial" pitchFamily="34" charset="-122"/>
                <a:cs typeface="Arial" pitchFamily="34" charset="-120"/>
              </a:rPr>
              <a:t>Zeitreihenbasierte Analyse der Dynamik von Finanzkennzahlen </a:t>
            </a:r>
            <a:r>
              <a:rPr lang="en-US" sz="3600" b="1" kern="0" spc="-100" err="1">
                <a:solidFill>
                  <a:srgbClr val="F3EFDA"/>
                </a:solidFill>
                <a:latin typeface="Arial" pitchFamily="34" charset="0"/>
                <a:ea typeface="Arial" pitchFamily="34" charset="-122"/>
                <a:cs typeface="Arial" pitchFamily="34" charset="-120"/>
              </a:rPr>
              <a:t>börsennotierter</a:t>
            </a:r>
            <a:r>
              <a:rPr lang="en-US" sz="3600" b="1" kern="0" spc="-100">
                <a:solidFill>
                  <a:srgbClr val="F3EFDA"/>
                </a:solidFill>
                <a:latin typeface="Arial" pitchFamily="34" charset="0"/>
                <a:ea typeface="Arial" pitchFamily="34" charset="-122"/>
                <a:cs typeface="Arial" pitchFamily="34" charset="-120"/>
              </a:rPr>
              <a:t> </a:t>
            </a:r>
            <a:r>
              <a:rPr lang="en-US" sz="3600" b="1" kern="0" spc="-100" err="1">
                <a:solidFill>
                  <a:srgbClr val="F3EFDA"/>
                </a:solidFill>
                <a:latin typeface="Arial" pitchFamily="34" charset="0"/>
                <a:ea typeface="Arial" pitchFamily="34" charset="-122"/>
                <a:cs typeface="Arial" pitchFamily="34" charset="-120"/>
              </a:rPr>
              <a:t>Unternehmen</a:t>
            </a:r>
            <a:endParaRPr lang="en-US" sz="3600">
              <a:solidFill>
                <a:srgbClr val="F3EFDA"/>
              </a:solidFill>
            </a:endParaRPr>
          </a:p>
        </p:txBody>
      </p:sp>
      <p:sp>
        <p:nvSpPr>
          <p:cNvPr id="60" name="Text 2">
            <a:extLst>
              <a:ext uri="{FF2B5EF4-FFF2-40B4-BE49-F238E27FC236}">
                <a16:creationId xmlns:a16="http://schemas.microsoft.com/office/drawing/2014/main" id="{69DDE473-F5E2-CC75-B428-49DDEF93D32F}"/>
              </a:ext>
            </a:extLst>
          </p:cNvPr>
          <p:cNvSpPr/>
          <p:nvPr/>
        </p:nvSpPr>
        <p:spPr>
          <a:xfrm>
            <a:off x="634594" y="1990685"/>
            <a:ext cx="10933951" cy="701716"/>
          </a:xfrm>
          <a:prstGeom prst="rect">
            <a:avLst/>
          </a:prstGeom>
          <a:noFill/>
          <a:ln/>
        </p:spPr>
        <p:txBody>
          <a:bodyPr wrap="square" rtlCol="0" anchor="t"/>
          <a:lstStyle/>
          <a:p>
            <a:pPr marL="0" indent="0" algn="ctr">
              <a:lnSpc>
                <a:spcPct val="102000"/>
              </a:lnSpc>
              <a:buNone/>
            </a:pPr>
            <a:r>
              <a:rPr lang="en-US" sz="3600" b="1" kern="0" spc="-100" err="1">
                <a:solidFill>
                  <a:srgbClr val="F3EFDA"/>
                </a:solidFill>
                <a:latin typeface="Arial" pitchFamily="34" charset="0"/>
                <a:ea typeface="Arial" pitchFamily="34" charset="-122"/>
                <a:cs typeface="Arial" pitchFamily="34" charset="-120"/>
              </a:rPr>
              <a:t>Finanzkennzahlen</a:t>
            </a:r>
            <a:r>
              <a:rPr lang="en-US" sz="3600" b="1" kern="0" spc="-100">
                <a:solidFill>
                  <a:srgbClr val="F3EFDA"/>
                </a:solidFill>
                <a:latin typeface="Arial" pitchFamily="34" charset="0"/>
                <a:ea typeface="Arial" pitchFamily="34" charset="-122"/>
                <a:cs typeface="Arial" pitchFamily="34" charset="-120"/>
              </a:rPr>
              <a:t> </a:t>
            </a:r>
            <a:r>
              <a:rPr lang="en-US" sz="3600" b="1" kern="0" spc="-100" err="1">
                <a:solidFill>
                  <a:srgbClr val="F3EFDA"/>
                </a:solidFill>
                <a:latin typeface="Arial" pitchFamily="34" charset="0"/>
                <a:ea typeface="Arial" pitchFamily="34" charset="-122"/>
                <a:cs typeface="Arial" pitchFamily="34" charset="-120"/>
              </a:rPr>
              <a:t>börsennotierter</a:t>
            </a:r>
            <a:r>
              <a:rPr lang="en-US" sz="3600" b="1" kern="0" spc="-100">
                <a:solidFill>
                  <a:srgbClr val="F3EFDA"/>
                </a:solidFill>
                <a:latin typeface="Arial" pitchFamily="34" charset="0"/>
                <a:ea typeface="Arial" pitchFamily="34" charset="-122"/>
                <a:cs typeface="Arial" pitchFamily="34" charset="-120"/>
              </a:rPr>
              <a:t> </a:t>
            </a:r>
            <a:r>
              <a:rPr lang="en-US" sz="3600" b="1" kern="0" spc="-100" err="1">
                <a:solidFill>
                  <a:srgbClr val="F3EFDA"/>
                </a:solidFill>
                <a:latin typeface="Arial" pitchFamily="34" charset="0"/>
                <a:ea typeface="Arial" pitchFamily="34" charset="-122"/>
                <a:cs typeface="Arial" pitchFamily="34" charset="-120"/>
              </a:rPr>
              <a:t>Unternehmen</a:t>
            </a:r>
            <a:endParaRPr lang="en-US" sz="3600">
              <a:solidFill>
                <a:srgbClr val="F3EFDA"/>
              </a:solidFill>
            </a:endParaRPr>
          </a:p>
        </p:txBody>
      </p:sp>
      <p:sp>
        <p:nvSpPr>
          <p:cNvPr id="61" name="Text 2">
            <a:extLst>
              <a:ext uri="{FF2B5EF4-FFF2-40B4-BE49-F238E27FC236}">
                <a16:creationId xmlns:a16="http://schemas.microsoft.com/office/drawing/2014/main" id="{9EC68522-C9FF-7A32-A0AE-BA8ED81B805A}"/>
              </a:ext>
            </a:extLst>
          </p:cNvPr>
          <p:cNvSpPr/>
          <p:nvPr/>
        </p:nvSpPr>
        <p:spPr>
          <a:xfrm>
            <a:off x="1307695" y="1428517"/>
            <a:ext cx="4204106" cy="673407"/>
          </a:xfrm>
          <a:prstGeom prst="rect">
            <a:avLst/>
          </a:prstGeom>
          <a:noFill/>
          <a:ln/>
        </p:spPr>
        <p:txBody>
          <a:bodyPr wrap="square" rtlCol="0" anchor="t"/>
          <a:lstStyle/>
          <a:p>
            <a:pPr marL="0" indent="0" algn="ctr">
              <a:lnSpc>
                <a:spcPct val="102000"/>
              </a:lnSpc>
              <a:buNone/>
            </a:pPr>
            <a:r>
              <a:rPr lang="en-US" sz="3600" b="1" kern="0" spc="-100" err="1">
                <a:solidFill>
                  <a:srgbClr val="F3EFDA"/>
                </a:solidFill>
                <a:latin typeface="Arial" pitchFamily="34" charset="0"/>
                <a:ea typeface="Arial" pitchFamily="34" charset="-122"/>
                <a:cs typeface="Arial" pitchFamily="34" charset="-120"/>
              </a:rPr>
              <a:t>Zeitreihenbasierte</a:t>
            </a:r>
            <a:endParaRPr lang="en-US" sz="3600">
              <a:solidFill>
                <a:srgbClr val="F3EFDA"/>
              </a:solidFill>
            </a:endParaRPr>
          </a:p>
        </p:txBody>
      </p:sp>
      <p:sp>
        <p:nvSpPr>
          <p:cNvPr id="64" name="Freihandform 63">
            <a:extLst>
              <a:ext uri="{FF2B5EF4-FFF2-40B4-BE49-F238E27FC236}">
                <a16:creationId xmlns:a16="http://schemas.microsoft.com/office/drawing/2014/main" id="{A04FF9E1-B817-C502-66FA-0A741D7BBFA8}"/>
              </a:ext>
            </a:extLst>
          </p:cNvPr>
          <p:cNvSpPr/>
          <p:nvPr/>
        </p:nvSpPr>
        <p:spPr>
          <a:xfrm>
            <a:off x="1676400" y="2755227"/>
            <a:ext cx="2476500" cy="610273"/>
          </a:xfrm>
          <a:custGeom>
            <a:avLst/>
            <a:gdLst>
              <a:gd name="csX0" fmla="*/ 0 w 2476500"/>
              <a:gd name="csY0" fmla="*/ 610273 h 610273"/>
              <a:gd name="csX1" fmla="*/ 927100 w 2476500"/>
              <a:gd name="csY1" fmla="*/ 673 h 610273"/>
              <a:gd name="csX2" fmla="*/ 1892300 w 2476500"/>
              <a:gd name="csY2" fmla="*/ 483273 h 610273"/>
              <a:gd name="csX3" fmla="*/ 2476500 w 2476500"/>
              <a:gd name="csY3" fmla="*/ 114973 h 610273"/>
            </a:gdLst>
            <a:ahLst/>
            <a:cxnLst>
              <a:cxn ang="0">
                <a:pos x="csX0" y="csY0"/>
              </a:cxn>
              <a:cxn ang="0">
                <a:pos x="csX1" y="csY1"/>
              </a:cxn>
              <a:cxn ang="0">
                <a:pos x="csX2" y="csY2"/>
              </a:cxn>
              <a:cxn ang="0">
                <a:pos x="csX3" y="csY3"/>
              </a:cxn>
            </a:cxnLst>
            <a:rect l="l" t="t" r="r" b="b"/>
            <a:pathLst>
              <a:path w="2476500" h="610273">
                <a:moveTo>
                  <a:pt x="0" y="610273"/>
                </a:moveTo>
                <a:cubicBezTo>
                  <a:pt x="305858" y="316056"/>
                  <a:pt x="611717" y="21840"/>
                  <a:pt x="927100" y="673"/>
                </a:cubicBezTo>
                <a:cubicBezTo>
                  <a:pt x="1242483" y="-20494"/>
                  <a:pt x="1634067" y="464223"/>
                  <a:pt x="1892300" y="483273"/>
                </a:cubicBezTo>
                <a:cubicBezTo>
                  <a:pt x="2150533" y="502323"/>
                  <a:pt x="2313516" y="308648"/>
                  <a:pt x="2476500" y="114973"/>
                </a:cubicBezTo>
              </a:path>
            </a:pathLst>
          </a:custGeom>
          <a:noFill/>
          <a:ln w="38100">
            <a:solidFill>
              <a:srgbClr val="E6D4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grpId="0" nodeType="clickEffect">
                                  <p:stCondLst>
                                    <p:cond delay="0"/>
                                  </p:stCondLst>
                                  <p:iterate type="lt">
                                    <p:tmPct val="4000"/>
                                  </p:iterate>
                                  <p:childTnLst>
                                    <p:set>
                                      <p:cBhvr override="childStyle">
                                        <p:cTn id="6" dur="500" fill="hold"/>
                                        <p:tgtEl>
                                          <p:spTgt spid="60"/>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18" presetClass="emph" presetSubtype="0" fill="hold" grpId="0" nodeType="clickEffect">
                                  <p:stCondLst>
                                    <p:cond delay="0"/>
                                  </p:stCondLst>
                                  <p:iterate type="lt">
                                    <p:tmPct val="4000"/>
                                  </p:iterate>
                                  <p:childTnLst>
                                    <p:set>
                                      <p:cBhvr override="childStyle">
                                        <p:cTn id="10" dur="500" fill="hold"/>
                                        <p:tgtEl>
                                          <p:spTgt spid="61"/>
                                        </p:tgtEl>
                                        <p:attrNameLst>
                                          <p:attrName>style.textDecorationUnderline</p:attrName>
                                        </p:attrNameLst>
                                      </p:cBhvr>
                                      <p:to>
                                        <p:strVal val="true"/>
                                      </p:to>
                                    </p:se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000"/>
                                        <p:tgtEl>
                                          <p:spTgt spid="6"/>
                                        </p:tgtEl>
                                      </p:cBhvr>
                                    </p:animEffect>
                                    <p:anim calcmode="lin" valueType="num">
                                      <p:cBhvr>
                                        <p:cTn id="16" dur="1000" fill="hold"/>
                                        <p:tgtEl>
                                          <p:spTgt spid="6"/>
                                        </p:tgtEl>
                                        <p:attrNameLst>
                                          <p:attrName>ppt_x</p:attrName>
                                        </p:attrNameLst>
                                      </p:cBhvr>
                                      <p:tavLst>
                                        <p:tav tm="0">
                                          <p:val>
                                            <p:strVal val="#ppt_x"/>
                                          </p:val>
                                        </p:tav>
                                        <p:tav tm="100000">
                                          <p:val>
                                            <p:strVal val="#ppt_x"/>
                                          </p:val>
                                        </p:tav>
                                      </p:tavLst>
                                    </p:anim>
                                    <p:anim calcmode="lin" valueType="num">
                                      <p:cBhvr>
                                        <p:cTn id="17" dur="1000" fill="hold"/>
                                        <p:tgtEl>
                                          <p:spTgt spid="6"/>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62"/>
                                        </p:tgtEl>
                                        <p:attrNameLst>
                                          <p:attrName>style.visibility</p:attrName>
                                        </p:attrNameLst>
                                      </p:cBhvr>
                                      <p:to>
                                        <p:strVal val="visible"/>
                                      </p:to>
                                    </p:set>
                                    <p:animEffect transition="in" filter="fade">
                                      <p:cBhvr>
                                        <p:cTn id="20" dur="1000"/>
                                        <p:tgtEl>
                                          <p:spTgt spid="62"/>
                                        </p:tgtEl>
                                      </p:cBhvr>
                                    </p:animEffect>
                                    <p:anim calcmode="lin" valueType="num">
                                      <p:cBhvr>
                                        <p:cTn id="21" dur="1000" fill="hold"/>
                                        <p:tgtEl>
                                          <p:spTgt spid="62"/>
                                        </p:tgtEl>
                                        <p:attrNameLst>
                                          <p:attrName>ppt_x</p:attrName>
                                        </p:attrNameLst>
                                      </p:cBhvr>
                                      <p:tavLst>
                                        <p:tav tm="0">
                                          <p:val>
                                            <p:strVal val="#ppt_x"/>
                                          </p:val>
                                        </p:tav>
                                        <p:tav tm="100000">
                                          <p:val>
                                            <p:strVal val="#ppt_x"/>
                                          </p:val>
                                        </p:tav>
                                      </p:tavLst>
                                    </p:anim>
                                    <p:anim calcmode="lin" valueType="num">
                                      <p:cBhvr>
                                        <p:cTn id="22" dur="1000" fill="hold"/>
                                        <p:tgtEl>
                                          <p:spTgt spid="62"/>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0" presetClass="entr" presetSubtype="0" repeatCount="0" fill="remove" grpId="0" nodeType="clickEffect">
                                  <p:stCondLst>
                                    <p:cond delay="0"/>
                                  </p:stCondLst>
                                  <p:iterate type="lt">
                                    <p:tmPct val="10000"/>
                                  </p:iterate>
                                  <p:childTnLst>
                                    <p:set>
                                      <p:cBhvr>
                                        <p:cTn id="26" dur="1" fill="hold">
                                          <p:stCondLst>
                                            <p:cond delay="0"/>
                                          </p:stCondLst>
                                        </p:cTn>
                                        <p:tgtEl>
                                          <p:spTgt spid="64"/>
                                        </p:tgtEl>
                                        <p:attrNameLst>
                                          <p:attrName>style.visibility</p:attrName>
                                        </p:attrNameLst>
                                      </p:cBhvr>
                                      <p:to>
                                        <p:strVal val="visible"/>
                                      </p:to>
                                    </p:set>
                                    <p:animEffect transition="in" filter="fade">
                                      <p:cBhvr>
                                        <p:cTn id="27" dur="500"/>
                                        <p:tgtEl>
                                          <p:spTgt spid="64"/>
                                        </p:tgtEl>
                                      </p:cBhvr>
                                    </p:animEffect>
                                  </p:childTnLst>
                                  <p:subTnLst>
                                    <p:set>
                                      <p:cBhvr override="childStyle">
                                        <p:cTn dur="1" fill="hold" display="0" masterRel="sameClick" afterEffect="1">
                                          <p:stCondLst>
                                            <p:cond evt="end" delay="0">
                                              <p:tn val="25"/>
                                            </p:cond>
                                          </p:stCondLst>
                                        </p:cTn>
                                        <p:tgtEl>
                                          <p:spTgt spid="6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 grpId="0" animBg="1"/>
      <p:bldP spid="60" grpId="0" animBg="1"/>
      <p:bldP spid="61" grpId="0" animBg="1"/>
      <p:bldP spid="6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40392-D8FD-AB43-4548-396C5376A96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0C93CB7-BFC6-5F81-12D1-8EDF8E2A0969}"/>
              </a:ext>
            </a:extLst>
          </p:cNvPr>
          <p:cNvSpPr/>
          <p:nvPr/>
        </p:nvSpPr>
        <p:spPr>
          <a:xfrm>
            <a:off x="0" y="0"/>
            <a:ext cx="12191695" cy="38405"/>
          </a:xfrm>
          <a:prstGeom prst="rect">
            <a:avLst/>
          </a:prstGeom>
          <a:solidFill>
            <a:srgbClr val="DBDEE2"/>
          </a:solidFill>
          <a:ln/>
        </p:spPr>
        <p:txBody>
          <a:bodyPr/>
          <a:lstStyle/>
          <a:p>
            <a:endParaRPr lang="de-DE"/>
          </a:p>
        </p:txBody>
      </p:sp>
      <p:sp>
        <p:nvSpPr>
          <p:cNvPr id="4" name="Text 1">
            <a:extLst>
              <a:ext uri="{FF2B5EF4-FFF2-40B4-BE49-F238E27FC236}">
                <a16:creationId xmlns:a16="http://schemas.microsoft.com/office/drawing/2014/main" id="{7BD67CBC-CFD2-7759-2701-94AE434A129D}"/>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EINLEITUNG</a:t>
            </a:r>
          </a:p>
        </p:txBody>
      </p:sp>
      <p:sp>
        <p:nvSpPr>
          <p:cNvPr id="5" name="Text 2">
            <a:extLst>
              <a:ext uri="{FF2B5EF4-FFF2-40B4-BE49-F238E27FC236}">
                <a16:creationId xmlns:a16="http://schemas.microsoft.com/office/drawing/2014/main" id="{CE23936F-8BA2-8997-99CD-2528654F06A1}"/>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02 / 13</a:t>
            </a:r>
            <a:endParaRPr lang="en-US" sz="1200"/>
          </a:p>
        </p:txBody>
      </p:sp>
      <p:sp>
        <p:nvSpPr>
          <p:cNvPr id="12" name="Shape 16">
            <a:extLst>
              <a:ext uri="{FF2B5EF4-FFF2-40B4-BE49-F238E27FC236}">
                <a16:creationId xmlns:a16="http://schemas.microsoft.com/office/drawing/2014/main" id="{C7EDC60F-7F90-DF13-575D-D95D30387624}"/>
              </a:ext>
            </a:extLst>
          </p:cNvPr>
          <p:cNvSpPr/>
          <p:nvPr/>
        </p:nvSpPr>
        <p:spPr>
          <a:xfrm>
            <a:off x="876198" y="1130807"/>
            <a:ext cx="10452202" cy="3301493"/>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13" name="Text 3">
            <a:extLst>
              <a:ext uri="{FF2B5EF4-FFF2-40B4-BE49-F238E27FC236}">
                <a16:creationId xmlns:a16="http://schemas.microsoft.com/office/drawing/2014/main" id="{360353AB-1EA1-9E84-2F10-D120C64F5CE3}"/>
              </a:ext>
            </a:extLst>
          </p:cNvPr>
          <p:cNvSpPr/>
          <p:nvPr/>
        </p:nvSpPr>
        <p:spPr>
          <a:xfrm>
            <a:off x="634595" y="1397307"/>
            <a:ext cx="10921592" cy="1283828"/>
          </a:xfrm>
          <a:prstGeom prst="rect">
            <a:avLst/>
          </a:prstGeom>
          <a:noFill/>
          <a:ln/>
        </p:spPr>
        <p:txBody>
          <a:bodyPr wrap="square" rtlCol="0" anchor="t"/>
          <a:lstStyle/>
          <a:p>
            <a:pPr marL="0" indent="0" algn="ctr">
              <a:lnSpc>
                <a:spcPct val="150000"/>
              </a:lnSpc>
              <a:buNone/>
            </a:pPr>
            <a:r>
              <a:rPr lang="en-US" sz="2400" b="1">
                <a:solidFill>
                  <a:srgbClr val="F2EFDA"/>
                </a:solidFill>
                <a:latin typeface="Arial" pitchFamily="34" charset="0"/>
                <a:ea typeface="Arial" pitchFamily="34" charset="-122"/>
                <a:cs typeface="Arial" pitchFamily="34" charset="-120"/>
              </a:rPr>
              <a:t>Eine Kennzahl ist </a:t>
            </a:r>
            <a:r>
              <a:rPr lang="en-US" sz="2400" b="1" err="1">
                <a:solidFill>
                  <a:srgbClr val="F2EFDA"/>
                </a:solidFill>
                <a:latin typeface="Arial" pitchFamily="34" charset="0"/>
                <a:ea typeface="Arial" pitchFamily="34" charset="-122"/>
                <a:cs typeface="Arial" pitchFamily="34" charset="-120"/>
              </a:rPr>
              <a:t>eine</a:t>
            </a:r>
            <a:r>
              <a:rPr lang="en-US" sz="2400" b="1">
                <a:solidFill>
                  <a:srgbClr val="F2EFDA"/>
                </a:solidFill>
                <a:latin typeface="Arial" pitchFamily="34" charset="0"/>
                <a:ea typeface="Arial" pitchFamily="34" charset="-122"/>
                <a:cs typeface="Arial" pitchFamily="34" charset="-120"/>
              </a:rPr>
              <a:t> </a:t>
            </a:r>
            <a:r>
              <a:rPr lang="en-US" sz="2400" b="1" err="1">
                <a:solidFill>
                  <a:srgbClr val="F2EFDA"/>
                </a:solidFill>
                <a:latin typeface="Arial" pitchFamily="34" charset="0"/>
                <a:ea typeface="Arial" pitchFamily="34" charset="-122"/>
                <a:cs typeface="Arial" pitchFamily="34" charset="-120"/>
              </a:rPr>
              <a:t>Momentaufnahme</a:t>
            </a:r>
            <a:r>
              <a:rPr lang="en-US" sz="2400" b="1">
                <a:solidFill>
                  <a:srgbClr val="F2EFDA"/>
                </a:solidFill>
                <a:latin typeface="Arial" pitchFamily="34" charset="0"/>
                <a:ea typeface="Arial" pitchFamily="34" charset="-122"/>
                <a:cs typeface="Arial" pitchFamily="34" charset="-120"/>
              </a:rPr>
              <a:t>, die Information steckt in der </a:t>
            </a:r>
            <a:r>
              <a:rPr lang="en-US" sz="3200" b="1" err="1">
                <a:solidFill>
                  <a:srgbClr val="78A2F9"/>
                </a:solidFill>
                <a:latin typeface="Arial" pitchFamily="34" charset="0"/>
                <a:ea typeface="Arial" pitchFamily="34" charset="-122"/>
                <a:cs typeface="Arial" pitchFamily="34" charset="-120"/>
              </a:rPr>
              <a:t>Veränderung</a:t>
            </a:r>
            <a:r>
              <a:rPr lang="en-US" sz="3200" b="1">
                <a:solidFill>
                  <a:srgbClr val="78A2F9"/>
                </a:solidFill>
                <a:latin typeface="Arial" pitchFamily="34" charset="0"/>
                <a:ea typeface="Arial" pitchFamily="34" charset="-122"/>
                <a:cs typeface="Arial" pitchFamily="34" charset="-120"/>
              </a:rPr>
              <a:t> / Dynamik</a:t>
            </a:r>
            <a:endParaRPr lang="en-US" sz="2400"/>
          </a:p>
        </p:txBody>
      </p:sp>
      <p:grpSp>
        <p:nvGrpSpPr>
          <p:cNvPr id="14" name="Gruppieren 13">
            <a:extLst>
              <a:ext uri="{FF2B5EF4-FFF2-40B4-BE49-F238E27FC236}">
                <a16:creationId xmlns:a16="http://schemas.microsoft.com/office/drawing/2014/main" id="{94E9CA68-9714-CD5A-46A2-3A73EADDEF8C}"/>
              </a:ext>
            </a:extLst>
          </p:cNvPr>
          <p:cNvGrpSpPr/>
          <p:nvPr/>
        </p:nvGrpSpPr>
        <p:grpSpPr>
          <a:xfrm>
            <a:off x="3462652" y="3178966"/>
            <a:ext cx="5266696" cy="952805"/>
            <a:chOff x="3462652" y="3178966"/>
            <a:chExt cx="5266696" cy="952805"/>
          </a:xfrm>
        </p:grpSpPr>
        <p:sp>
          <p:nvSpPr>
            <p:cNvPr id="15" name="Shape 8">
              <a:extLst>
                <a:ext uri="{FF2B5EF4-FFF2-40B4-BE49-F238E27FC236}">
                  <a16:creationId xmlns:a16="http://schemas.microsoft.com/office/drawing/2014/main" id="{A479BB1A-2830-5E92-BF44-7EF85F5646EC}"/>
                </a:ext>
              </a:extLst>
            </p:cNvPr>
            <p:cNvSpPr/>
            <p:nvPr/>
          </p:nvSpPr>
          <p:spPr>
            <a:xfrm>
              <a:off x="3462652" y="3178966"/>
              <a:ext cx="5266696"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16" name="Text 10">
              <a:extLst>
                <a:ext uri="{FF2B5EF4-FFF2-40B4-BE49-F238E27FC236}">
                  <a16:creationId xmlns:a16="http://schemas.microsoft.com/office/drawing/2014/main" id="{C61362DC-9124-FC43-4BD4-8B5FC70D87A5}"/>
                </a:ext>
              </a:extLst>
            </p:cNvPr>
            <p:cNvSpPr/>
            <p:nvPr/>
          </p:nvSpPr>
          <p:spPr>
            <a:xfrm>
              <a:off x="4541644" y="3370076"/>
              <a:ext cx="3746297"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Dynamik</a:t>
              </a:r>
              <a:endParaRPr lang="en-US" sz="1400"/>
            </a:p>
          </p:txBody>
        </p:sp>
        <p:sp>
          <p:nvSpPr>
            <p:cNvPr id="17" name="Text 11">
              <a:extLst>
                <a:ext uri="{FF2B5EF4-FFF2-40B4-BE49-F238E27FC236}">
                  <a16:creationId xmlns:a16="http://schemas.microsoft.com/office/drawing/2014/main" id="{8FC9A8A6-5943-CBB4-F0E0-AC3B06F0A402}"/>
                </a:ext>
              </a:extLst>
            </p:cNvPr>
            <p:cNvSpPr/>
            <p:nvPr/>
          </p:nvSpPr>
          <p:spPr>
            <a:xfrm>
              <a:off x="4541644" y="3674571"/>
              <a:ext cx="4187704" cy="305719"/>
            </a:xfrm>
            <a:prstGeom prst="rect">
              <a:avLst/>
            </a:prstGeom>
            <a:noFill/>
            <a:ln/>
          </p:spPr>
          <p:txBody>
            <a:bodyPr wrap="square" rtlCol="0" anchor="t"/>
            <a:lstStyle/>
            <a:p>
              <a:pPr marL="0" indent="0" algn="l">
                <a:lnSpc>
                  <a:spcPct val="105000"/>
                </a:lnSpc>
                <a:buNone/>
              </a:pPr>
              <a:r>
                <a:rPr lang="en-US" sz="1200" err="1">
                  <a:solidFill>
                    <a:srgbClr val="B3BC9A"/>
                  </a:solidFill>
                  <a:latin typeface="Arial" pitchFamily="34" charset="0"/>
                  <a:ea typeface="Arial" pitchFamily="34" charset="-122"/>
                  <a:cs typeface="Arial" pitchFamily="34" charset="-120"/>
                </a:rPr>
                <a:t>Verhalten</a:t>
              </a:r>
              <a:r>
                <a:rPr lang="en-US" sz="1200">
                  <a:solidFill>
                    <a:srgbClr val="B3BC9A"/>
                  </a:solidFill>
                  <a:latin typeface="Arial" pitchFamily="34" charset="0"/>
                  <a:ea typeface="Arial" pitchFamily="34" charset="-122"/>
                  <a:cs typeface="Arial" pitchFamily="34" charset="-120"/>
                </a:rPr>
                <a:t> </a:t>
              </a:r>
              <a:r>
                <a:rPr lang="en-US" sz="1200" err="1">
                  <a:solidFill>
                    <a:srgbClr val="B3BC9A"/>
                  </a:solidFill>
                  <a:latin typeface="Arial" pitchFamily="34" charset="0"/>
                  <a:ea typeface="Arial" pitchFamily="34" charset="-122"/>
                  <a:cs typeface="Arial" pitchFamily="34" charset="-120"/>
                </a:rPr>
                <a:t>einer</a:t>
              </a:r>
              <a:r>
                <a:rPr lang="en-US" sz="1200">
                  <a:solidFill>
                    <a:srgbClr val="B3BC9A"/>
                  </a:solidFill>
                  <a:latin typeface="Arial" pitchFamily="34" charset="0"/>
                  <a:ea typeface="Arial" pitchFamily="34" charset="-122"/>
                  <a:cs typeface="Arial" pitchFamily="34" charset="-120"/>
                </a:rPr>
                <a:t> </a:t>
              </a:r>
              <a:r>
                <a:rPr lang="en-US" sz="1200" err="1">
                  <a:solidFill>
                    <a:srgbClr val="B3BC9A"/>
                  </a:solidFill>
                  <a:latin typeface="Arial" pitchFamily="34" charset="0"/>
                  <a:ea typeface="Arial" pitchFamily="34" charset="-122"/>
                  <a:cs typeface="Arial" pitchFamily="34" charset="-120"/>
                </a:rPr>
                <a:t>Kennzahl</a:t>
              </a:r>
              <a:r>
                <a:rPr lang="en-US" sz="1200">
                  <a:solidFill>
                    <a:srgbClr val="B3BC9A"/>
                  </a:solidFill>
                  <a:latin typeface="Arial" pitchFamily="34" charset="0"/>
                  <a:ea typeface="Arial" pitchFamily="34" charset="-122"/>
                  <a:cs typeface="Arial" pitchFamily="34" charset="-120"/>
                </a:rPr>
                <a:t> </a:t>
              </a:r>
              <a:r>
                <a:rPr lang="en-US" sz="1200" err="1">
                  <a:solidFill>
                    <a:srgbClr val="B3BC9A"/>
                  </a:solidFill>
                  <a:latin typeface="Arial" pitchFamily="34" charset="0"/>
                  <a:ea typeface="Arial" pitchFamily="34" charset="-122"/>
                  <a:cs typeface="Arial" pitchFamily="34" charset="-120"/>
                </a:rPr>
                <a:t>über</a:t>
              </a:r>
              <a:r>
                <a:rPr lang="en-US" sz="1200">
                  <a:solidFill>
                    <a:srgbClr val="B3BC9A"/>
                  </a:solidFill>
                  <a:latin typeface="Arial" pitchFamily="34" charset="0"/>
                  <a:ea typeface="Arial" pitchFamily="34" charset="-122"/>
                  <a:cs typeface="Arial" pitchFamily="34" charset="-120"/>
                </a:rPr>
                <a:t> die Zeit</a:t>
              </a:r>
              <a:endParaRPr lang="en-US" sz="1200"/>
            </a:p>
          </p:txBody>
        </p:sp>
        <p:pic>
          <p:nvPicPr>
            <p:cNvPr id="18" name="Grafik 17" descr="Aufwärtstrend mit einfarbiger Füllung">
              <a:extLst>
                <a:ext uri="{FF2B5EF4-FFF2-40B4-BE49-F238E27FC236}">
                  <a16:creationId xmlns:a16="http://schemas.microsoft.com/office/drawing/2014/main" id="{07E0A666-31E2-AF25-06DE-EF0E45A1FF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49976" y="3370076"/>
              <a:ext cx="625033" cy="625033"/>
            </a:xfrm>
            <a:prstGeom prst="rect">
              <a:avLst/>
            </a:prstGeom>
          </p:spPr>
        </p:pic>
      </p:grpSp>
    </p:spTree>
    <p:extLst>
      <p:ext uri="{BB962C8B-B14F-4D97-AF65-F5344CB8AC3E}">
        <p14:creationId xmlns:p14="http://schemas.microsoft.com/office/powerpoint/2010/main" val="87880430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E25D7-FDF0-5C23-5771-3650123D968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0C37D20-3A10-B0EB-64DC-BE304FC3A233}"/>
              </a:ext>
            </a:extLst>
          </p:cNvPr>
          <p:cNvSpPr/>
          <p:nvPr/>
        </p:nvSpPr>
        <p:spPr>
          <a:xfrm>
            <a:off x="0" y="0"/>
            <a:ext cx="12191695" cy="38405"/>
          </a:xfrm>
          <a:prstGeom prst="rect">
            <a:avLst/>
          </a:prstGeom>
          <a:solidFill>
            <a:srgbClr val="DBDEE2"/>
          </a:solidFill>
          <a:ln/>
        </p:spPr>
        <p:txBody>
          <a:bodyPr/>
          <a:lstStyle/>
          <a:p>
            <a:endParaRPr lang="de-DE"/>
          </a:p>
        </p:txBody>
      </p:sp>
      <p:sp>
        <p:nvSpPr>
          <p:cNvPr id="4" name="Text 1">
            <a:extLst>
              <a:ext uri="{FF2B5EF4-FFF2-40B4-BE49-F238E27FC236}">
                <a16:creationId xmlns:a16="http://schemas.microsoft.com/office/drawing/2014/main" id="{50B0DCAE-1D7F-6427-7BCC-81AC5CD1AC87}"/>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EINLEITUNG</a:t>
            </a:r>
          </a:p>
        </p:txBody>
      </p:sp>
      <p:sp>
        <p:nvSpPr>
          <p:cNvPr id="5" name="Text 2">
            <a:extLst>
              <a:ext uri="{FF2B5EF4-FFF2-40B4-BE49-F238E27FC236}">
                <a16:creationId xmlns:a16="http://schemas.microsoft.com/office/drawing/2014/main" id="{6EE368D7-56D7-BDE4-15D8-7514BD2B977E}"/>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02 / 13</a:t>
            </a:r>
            <a:endParaRPr lang="en-US" sz="1200"/>
          </a:p>
        </p:txBody>
      </p:sp>
      <p:sp>
        <p:nvSpPr>
          <p:cNvPr id="6" name="Text 3">
            <a:extLst>
              <a:ext uri="{FF2B5EF4-FFF2-40B4-BE49-F238E27FC236}">
                <a16:creationId xmlns:a16="http://schemas.microsoft.com/office/drawing/2014/main" id="{7AC0A42C-C39A-9B4B-AB6B-085A6C41A2D4}"/>
              </a:ext>
            </a:extLst>
          </p:cNvPr>
          <p:cNvSpPr/>
          <p:nvPr/>
        </p:nvSpPr>
        <p:spPr>
          <a:xfrm>
            <a:off x="634594" y="1410007"/>
            <a:ext cx="10921593" cy="1283828"/>
          </a:xfrm>
          <a:prstGeom prst="rect">
            <a:avLst/>
          </a:prstGeom>
          <a:noFill/>
          <a:ln/>
        </p:spPr>
        <p:txBody>
          <a:bodyPr wrap="square" rtlCol="0" anchor="t"/>
          <a:lstStyle/>
          <a:p>
            <a:pPr marL="0" indent="0" algn="ctr">
              <a:lnSpc>
                <a:spcPct val="150000"/>
              </a:lnSpc>
              <a:buNone/>
            </a:pPr>
            <a:r>
              <a:rPr lang="en-US" sz="2400" b="1">
                <a:solidFill>
                  <a:srgbClr val="F2EFDA"/>
                </a:solidFill>
                <a:latin typeface="Arial" pitchFamily="34" charset="0"/>
                <a:ea typeface="Arial" pitchFamily="34" charset="-122"/>
                <a:cs typeface="Arial" pitchFamily="34" charset="-120"/>
              </a:rPr>
              <a:t>Eine Kennzahl ist </a:t>
            </a:r>
            <a:r>
              <a:rPr lang="en-US" sz="2400" b="1" err="1">
                <a:solidFill>
                  <a:srgbClr val="F2EFDA"/>
                </a:solidFill>
                <a:latin typeface="Arial" pitchFamily="34" charset="0"/>
                <a:ea typeface="Arial" pitchFamily="34" charset="-122"/>
                <a:cs typeface="Arial" pitchFamily="34" charset="-120"/>
              </a:rPr>
              <a:t>eine</a:t>
            </a:r>
            <a:r>
              <a:rPr lang="en-US" sz="2400" b="1">
                <a:solidFill>
                  <a:srgbClr val="F2EFDA"/>
                </a:solidFill>
                <a:latin typeface="Arial" pitchFamily="34" charset="0"/>
                <a:ea typeface="Arial" pitchFamily="34" charset="-122"/>
                <a:cs typeface="Arial" pitchFamily="34" charset="-120"/>
              </a:rPr>
              <a:t> </a:t>
            </a:r>
            <a:r>
              <a:rPr lang="en-US" sz="2400" b="1" err="1">
                <a:solidFill>
                  <a:srgbClr val="F2EFDA"/>
                </a:solidFill>
                <a:latin typeface="Arial" pitchFamily="34" charset="0"/>
                <a:ea typeface="Arial" pitchFamily="34" charset="-122"/>
                <a:cs typeface="Arial" pitchFamily="34" charset="-120"/>
              </a:rPr>
              <a:t>Momentaufnahme</a:t>
            </a:r>
            <a:r>
              <a:rPr lang="en-US" sz="2400" b="1">
                <a:solidFill>
                  <a:srgbClr val="F2EFDA"/>
                </a:solidFill>
                <a:latin typeface="Arial" pitchFamily="34" charset="0"/>
                <a:ea typeface="Arial" pitchFamily="34" charset="-122"/>
                <a:cs typeface="Arial" pitchFamily="34" charset="-120"/>
              </a:rPr>
              <a:t>, die Information steckt in der </a:t>
            </a:r>
            <a:r>
              <a:rPr lang="en-US" sz="3200" b="1" err="1">
                <a:solidFill>
                  <a:srgbClr val="78A2F9"/>
                </a:solidFill>
                <a:latin typeface="Arial" pitchFamily="34" charset="0"/>
                <a:ea typeface="Arial" pitchFamily="34" charset="-122"/>
                <a:cs typeface="Arial" pitchFamily="34" charset="-120"/>
              </a:rPr>
              <a:t>Veränderung</a:t>
            </a:r>
            <a:r>
              <a:rPr lang="en-US" sz="3200" b="1">
                <a:solidFill>
                  <a:srgbClr val="78A2F9"/>
                </a:solidFill>
                <a:latin typeface="Arial" pitchFamily="34" charset="0"/>
                <a:ea typeface="Arial" pitchFamily="34" charset="-122"/>
                <a:cs typeface="Arial" pitchFamily="34" charset="-120"/>
              </a:rPr>
              <a:t> / Dynamik</a:t>
            </a:r>
            <a:endParaRPr lang="en-US" sz="2400"/>
          </a:p>
        </p:txBody>
      </p:sp>
      <p:grpSp>
        <p:nvGrpSpPr>
          <p:cNvPr id="15" name="Gruppieren 14">
            <a:extLst>
              <a:ext uri="{FF2B5EF4-FFF2-40B4-BE49-F238E27FC236}">
                <a16:creationId xmlns:a16="http://schemas.microsoft.com/office/drawing/2014/main" id="{F48EC34E-5C0C-123E-855E-D0FE2FE3AD92}"/>
              </a:ext>
            </a:extLst>
          </p:cNvPr>
          <p:cNvGrpSpPr/>
          <p:nvPr/>
        </p:nvGrpSpPr>
        <p:grpSpPr>
          <a:xfrm>
            <a:off x="634594" y="4820018"/>
            <a:ext cx="5266695" cy="952805"/>
            <a:chOff x="634594" y="4820018"/>
            <a:chExt cx="5266695" cy="952805"/>
          </a:xfrm>
        </p:grpSpPr>
        <p:sp>
          <p:nvSpPr>
            <p:cNvPr id="7" name="Shape 4">
              <a:extLst>
                <a:ext uri="{FF2B5EF4-FFF2-40B4-BE49-F238E27FC236}">
                  <a16:creationId xmlns:a16="http://schemas.microsoft.com/office/drawing/2014/main" id="{2451CCD6-5F43-4207-EDFC-BC142E67F31D}"/>
                </a:ext>
              </a:extLst>
            </p:cNvPr>
            <p:cNvSpPr/>
            <p:nvPr/>
          </p:nvSpPr>
          <p:spPr>
            <a:xfrm>
              <a:off x="634594" y="4820018"/>
              <a:ext cx="5266695"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8" name="Text 5">
              <a:extLst>
                <a:ext uri="{FF2B5EF4-FFF2-40B4-BE49-F238E27FC236}">
                  <a16:creationId xmlns:a16="http://schemas.microsoft.com/office/drawing/2014/main" id="{8C261A6A-7A71-6FC2-CA7A-60031356759B}"/>
                </a:ext>
              </a:extLst>
            </p:cNvPr>
            <p:cNvSpPr/>
            <p:nvPr/>
          </p:nvSpPr>
          <p:spPr>
            <a:xfrm>
              <a:off x="952806" y="5011128"/>
              <a:ext cx="571500" cy="558698"/>
            </a:xfrm>
            <a:prstGeom prst="rect">
              <a:avLst/>
            </a:prstGeom>
            <a:noFill/>
            <a:ln/>
          </p:spPr>
          <p:txBody>
            <a:bodyPr wrap="square" rtlCol="0" anchor="ctr"/>
            <a:lstStyle/>
            <a:p>
              <a:pPr marL="0" indent="0" algn="l">
                <a:lnSpc>
                  <a:spcPct val="105000"/>
                </a:lnSpc>
                <a:buNone/>
              </a:pPr>
              <a:r>
                <a:rPr lang="en-US" sz="3200" b="1">
                  <a:solidFill>
                    <a:srgbClr val="78A2F9"/>
                  </a:solidFill>
                  <a:latin typeface="Courier New" pitchFamily="34" charset="0"/>
                  <a:ea typeface="Courier New" pitchFamily="34" charset="-122"/>
                  <a:cs typeface="Courier New" pitchFamily="34" charset="-120"/>
                </a:rPr>
                <a:t>φ</a:t>
              </a:r>
              <a:endParaRPr lang="en-US" sz="3200">
                <a:solidFill>
                  <a:srgbClr val="78A2F9"/>
                </a:solidFill>
              </a:endParaRPr>
            </a:p>
          </p:txBody>
        </p:sp>
        <p:sp>
          <p:nvSpPr>
            <p:cNvPr id="9" name="Text 6">
              <a:extLst>
                <a:ext uri="{FF2B5EF4-FFF2-40B4-BE49-F238E27FC236}">
                  <a16:creationId xmlns:a16="http://schemas.microsoft.com/office/drawing/2014/main" id="{FE7B232F-7009-15DA-52A6-73B1B8FEF839}"/>
                </a:ext>
              </a:extLst>
            </p:cNvPr>
            <p:cNvSpPr/>
            <p:nvPr/>
          </p:nvSpPr>
          <p:spPr>
            <a:xfrm>
              <a:off x="1714501" y="5011128"/>
              <a:ext cx="3873398"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Korrekturgeschwindigkeit</a:t>
              </a:r>
              <a:endParaRPr lang="en-US" sz="1400"/>
            </a:p>
          </p:txBody>
        </p:sp>
        <p:sp>
          <p:nvSpPr>
            <p:cNvPr id="10" name="Text 7">
              <a:extLst>
                <a:ext uri="{FF2B5EF4-FFF2-40B4-BE49-F238E27FC236}">
                  <a16:creationId xmlns:a16="http://schemas.microsoft.com/office/drawing/2014/main" id="{71DE3C69-4297-AC3F-FC64-7518BEAF47C7}"/>
                </a:ext>
              </a:extLst>
            </p:cNvPr>
            <p:cNvSpPr/>
            <p:nvPr/>
          </p:nvSpPr>
          <p:spPr>
            <a:xfrm>
              <a:off x="1714501" y="5315623"/>
              <a:ext cx="4063594" cy="305614"/>
            </a:xfrm>
            <a:prstGeom prst="rect">
              <a:avLst/>
            </a:prstGeom>
            <a:noFill/>
            <a:ln/>
          </p:spPr>
          <p:txBody>
            <a:bodyPr wrap="square" rtlCol="0" anchor="t"/>
            <a:lstStyle/>
            <a:p>
              <a:pPr marL="0" indent="0" algn="l">
                <a:lnSpc>
                  <a:spcPct val="105000"/>
                </a:lnSpc>
                <a:buNone/>
              </a:pPr>
              <a:r>
                <a:rPr lang="en-US" sz="1200">
                  <a:solidFill>
                    <a:srgbClr val="B3BC9A"/>
                  </a:solidFill>
                  <a:latin typeface="Arial" pitchFamily="34" charset="0"/>
                  <a:ea typeface="Arial" pitchFamily="34" charset="-122"/>
                  <a:cs typeface="Arial" pitchFamily="34" charset="-120"/>
                </a:rPr>
                <a:t>Kehrt eine Quartalsveränderung im Folgequartal </a:t>
              </a:r>
              <a:r>
                <a:rPr lang="en-US" sz="1200" err="1">
                  <a:solidFill>
                    <a:srgbClr val="B3BC9A"/>
                  </a:solidFill>
                  <a:latin typeface="Arial" pitchFamily="34" charset="0"/>
                  <a:ea typeface="Arial" pitchFamily="34" charset="-122"/>
                  <a:cs typeface="Arial" pitchFamily="34" charset="-120"/>
                </a:rPr>
                <a:t>zurück</a:t>
              </a:r>
              <a:r>
                <a:rPr lang="en-US" sz="1200">
                  <a:solidFill>
                    <a:srgbClr val="B3BC9A"/>
                  </a:solidFill>
                  <a:latin typeface="Arial" pitchFamily="34" charset="0"/>
                  <a:ea typeface="Arial" pitchFamily="34" charset="-122"/>
                  <a:cs typeface="Arial" pitchFamily="34" charset="-120"/>
                </a:rPr>
                <a:t>?</a:t>
              </a:r>
            </a:p>
          </p:txBody>
        </p:sp>
      </p:grpSp>
      <p:grpSp>
        <p:nvGrpSpPr>
          <p:cNvPr id="3" name="Gruppieren 2">
            <a:extLst>
              <a:ext uri="{FF2B5EF4-FFF2-40B4-BE49-F238E27FC236}">
                <a16:creationId xmlns:a16="http://schemas.microsoft.com/office/drawing/2014/main" id="{47DAF238-00C2-6622-981D-613DCDB81374}"/>
              </a:ext>
            </a:extLst>
          </p:cNvPr>
          <p:cNvGrpSpPr/>
          <p:nvPr/>
        </p:nvGrpSpPr>
        <p:grpSpPr>
          <a:xfrm>
            <a:off x="6290715" y="4820018"/>
            <a:ext cx="5266696" cy="952805"/>
            <a:chOff x="6290715" y="4820018"/>
            <a:chExt cx="5266696" cy="952805"/>
          </a:xfrm>
        </p:grpSpPr>
        <p:sp>
          <p:nvSpPr>
            <p:cNvPr id="11" name="Shape 8">
              <a:extLst>
                <a:ext uri="{FF2B5EF4-FFF2-40B4-BE49-F238E27FC236}">
                  <a16:creationId xmlns:a16="http://schemas.microsoft.com/office/drawing/2014/main" id="{4086EA3F-A978-2D25-8677-0BBBA68145E1}"/>
                </a:ext>
              </a:extLst>
            </p:cNvPr>
            <p:cNvSpPr/>
            <p:nvPr/>
          </p:nvSpPr>
          <p:spPr>
            <a:xfrm>
              <a:off x="6290715" y="4820018"/>
              <a:ext cx="5266696"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12" name="Text 9">
              <a:extLst>
                <a:ext uri="{FF2B5EF4-FFF2-40B4-BE49-F238E27FC236}">
                  <a16:creationId xmlns:a16="http://schemas.microsoft.com/office/drawing/2014/main" id="{1E78499B-0088-8C2B-BF2F-4A0A8CE10A58}"/>
                </a:ext>
              </a:extLst>
            </p:cNvPr>
            <p:cNvSpPr/>
            <p:nvPr/>
          </p:nvSpPr>
          <p:spPr>
            <a:xfrm>
              <a:off x="6608012" y="4947120"/>
              <a:ext cx="571500" cy="622706"/>
            </a:xfrm>
            <a:prstGeom prst="rect">
              <a:avLst/>
            </a:prstGeom>
            <a:noFill/>
            <a:ln/>
          </p:spPr>
          <p:txBody>
            <a:bodyPr wrap="square" rtlCol="0" anchor="ctr"/>
            <a:lstStyle/>
            <a:p>
              <a:pPr marL="0" indent="0" algn="l">
                <a:lnSpc>
                  <a:spcPct val="105000"/>
                </a:lnSpc>
                <a:buNone/>
              </a:pPr>
              <a:r>
                <a:rPr lang="en-US" sz="3200" b="1">
                  <a:solidFill>
                    <a:srgbClr val="79A2F9"/>
                  </a:solidFill>
                  <a:latin typeface="Courier New" pitchFamily="34" charset="0"/>
                  <a:ea typeface="Courier New" pitchFamily="34" charset="-122"/>
                  <a:cs typeface="Courier New" pitchFamily="34" charset="-120"/>
                </a:rPr>
                <a:t>σ</a:t>
              </a:r>
              <a:endParaRPr lang="en-US" sz="3200"/>
            </a:p>
          </p:txBody>
        </p:sp>
        <p:sp>
          <p:nvSpPr>
            <p:cNvPr id="13" name="Text 10">
              <a:extLst>
                <a:ext uri="{FF2B5EF4-FFF2-40B4-BE49-F238E27FC236}">
                  <a16:creationId xmlns:a16="http://schemas.microsoft.com/office/drawing/2014/main" id="{E6483B8E-97EC-D192-D25F-1714F3BCE9AB}"/>
                </a:ext>
              </a:extLst>
            </p:cNvPr>
            <p:cNvSpPr/>
            <p:nvPr/>
          </p:nvSpPr>
          <p:spPr>
            <a:xfrm>
              <a:off x="7369707" y="5011128"/>
              <a:ext cx="3746297"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Veränderungsvolatilität σ(ΔY)</a:t>
              </a:r>
              <a:endParaRPr lang="en-US" sz="1400"/>
            </a:p>
          </p:txBody>
        </p:sp>
        <p:sp>
          <p:nvSpPr>
            <p:cNvPr id="14" name="Text 11">
              <a:extLst>
                <a:ext uri="{FF2B5EF4-FFF2-40B4-BE49-F238E27FC236}">
                  <a16:creationId xmlns:a16="http://schemas.microsoft.com/office/drawing/2014/main" id="{6FB592D6-6B5B-AFCC-57BA-F1ACE4CC3C12}"/>
                </a:ext>
              </a:extLst>
            </p:cNvPr>
            <p:cNvSpPr/>
            <p:nvPr/>
          </p:nvSpPr>
          <p:spPr>
            <a:xfrm>
              <a:off x="7369707" y="5315623"/>
              <a:ext cx="4187704" cy="305719"/>
            </a:xfrm>
            <a:prstGeom prst="rect">
              <a:avLst/>
            </a:prstGeom>
            <a:noFill/>
            <a:ln/>
          </p:spPr>
          <p:txBody>
            <a:bodyPr wrap="square" rtlCol="0" anchor="t"/>
            <a:lstStyle/>
            <a:p>
              <a:pPr marL="0" indent="0" algn="l">
                <a:lnSpc>
                  <a:spcPct val="105000"/>
                </a:lnSpc>
                <a:buNone/>
              </a:pPr>
              <a:r>
                <a:rPr lang="en-US" sz="1200">
                  <a:solidFill>
                    <a:srgbClr val="B3BC9A"/>
                  </a:solidFill>
                  <a:latin typeface="Arial" pitchFamily="34" charset="0"/>
                  <a:ea typeface="Arial" pitchFamily="34" charset="-122"/>
                  <a:cs typeface="Arial" pitchFamily="34" charset="-120"/>
                </a:rPr>
                <a:t>Wie stark schwankt eine Kennzahl von Quartal zu Quartal?</a:t>
              </a:r>
              <a:endParaRPr lang="en-US" sz="1200"/>
            </a:p>
          </p:txBody>
        </p:sp>
      </p:grpSp>
      <p:grpSp>
        <p:nvGrpSpPr>
          <p:cNvPr id="45" name="Gruppieren 44">
            <a:extLst>
              <a:ext uri="{FF2B5EF4-FFF2-40B4-BE49-F238E27FC236}">
                <a16:creationId xmlns:a16="http://schemas.microsoft.com/office/drawing/2014/main" id="{928B4D57-F59F-7C6B-DBD9-574286438805}"/>
              </a:ext>
            </a:extLst>
          </p:cNvPr>
          <p:cNvGrpSpPr/>
          <p:nvPr/>
        </p:nvGrpSpPr>
        <p:grpSpPr>
          <a:xfrm>
            <a:off x="3462652" y="3178966"/>
            <a:ext cx="5266696" cy="952805"/>
            <a:chOff x="3462652" y="3178966"/>
            <a:chExt cx="5266696" cy="952805"/>
          </a:xfrm>
        </p:grpSpPr>
        <p:sp>
          <p:nvSpPr>
            <p:cNvPr id="39" name="Shape 8">
              <a:extLst>
                <a:ext uri="{FF2B5EF4-FFF2-40B4-BE49-F238E27FC236}">
                  <a16:creationId xmlns:a16="http://schemas.microsoft.com/office/drawing/2014/main" id="{DD1B9EFF-261D-51CF-9FC3-11836FAD152B}"/>
                </a:ext>
              </a:extLst>
            </p:cNvPr>
            <p:cNvSpPr/>
            <p:nvPr/>
          </p:nvSpPr>
          <p:spPr>
            <a:xfrm>
              <a:off x="3462652" y="3178966"/>
              <a:ext cx="5266696"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41" name="Text 10">
              <a:extLst>
                <a:ext uri="{FF2B5EF4-FFF2-40B4-BE49-F238E27FC236}">
                  <a16:creationId xmlns:a16="http://schemas.microsoft.com/office/drawing/2014/main" id="{8C0CD161-CEAC-6651-E084-2F75ACF396A8}"/>
                </a:ext>
              </a:extLst>
            </p:cNvPr>
            <p:cNvSpPr/>
            <p:nvPr/>
          </p:nvSpPr>
          <p:spPr>
            <a:xfrm>
              <a:off x="4541644" y="3370076"/>
              <a:ext cx="3746297"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Dynamik</a:t>
              </a:r>
              <a:endParaRPr lang="en-US" sz="1400"/>
            </a:p>
          </p:txBody>
        </p:sp>
        <p:sp>
          <p:nvSpPr>
            <p:cNvPr id="42" name="Text 11">
              <a:extLst>
                <a:ext uri="{FF2B5EF4-FFF2-40B4-BE49-F238E27FC236}">
                  <a16:creationId xmlns:a16="http://schemas.microsoft.com/office/drawing/2014/main" id="{08ECA982-588D-B53B-0703-D8A0D6EB93EA}"/>
                </a:ext>
              </a:extLst>
            </p:cNvPr>
            <p:cNvSpPr/>
            <p:nvPr/>
          </p:nvSpPr>
          <p:spPr>
            <a:xfrm>
              <a:off x="4541644" y="3674571"/>
              <a:ext cx="4187704" cy="305719"/>
            </a:xfrm>
            <a:prstGeom prst="rect">
              <a:avLst/>
            </a:prstGeom>
            <a:noFill/>
            <a:ln/>
          </p:spPr>
          <p:txBody>
            <a:bodyPr wrap="square" rtlCol="0" anchor="t"/>
            <a:lstStyle/>
            <a:p>
              <a:pPr marL="0" indent="0" algn="l">
                <a:lnSpc>
                  <a:spcPct val="105000"/>
                </a:lnSpc>
                <a:buNone/>
              </a:pPr>
              <a:r>
                <a:rPr lang="en-US" sz="1200" err="1">
                  <a:solidFill>
                    <a:srgbClr val="B3BC9A"/>
                  </a:solidFill>
                  <a:latin typeface="Arial" pitchFamily="34" charset="0"/>
                  <a:ea typeface="Arial" pitchFamily="34" charset="-122"/>
                  <a:cs typeface="Arial" pitchFamily="34" charset="-120"/>
                </a:rPr>
                <a:t>Verhalten</a:t>
              </a:r>
              <a:r>
                <a:rPr lang="en-US" sz="1200">
                  <a:solidFill>
                    <a:srgbClr val="B3BC9A"/>
                  </a:solidFill>
                  <a:latin typeface="Arial" pitchFamily="34" charset="0"/>
                  <a:ea typeface="Arial" pitchFamily="34" charset="-122"/>
                  <a:cs typeface="Arial" pitchFamily="34" charset="-120"/>
                </a:rPr>
                <a:t> </a:t>
              </a:r>
              <a:r>
                <a:rPr lang="en-US" sz="1200" err="1">
                  <a:solidFill>
                    <a:srgbClr val="B3BC9A"/>
                  </a:solidFill>
                  <a:latin typeface="Arial" pitchFamily="34" charset="0"/>
                  <a:ea typeface="Arial" pitchFamily="34" charset="-122"/>
                  <a:cs typeface="Arial" pitchFamily="34" charset="-120"/>
                </a:rPr>
                <a:t>einer</a:t>
              </a:r>
              <a:r>
                <a:rPr lang="en-US" sz="1200">
                  <a:solidFill>
                    <a:srgbClr val="B3BC9A"/>
                  </a:solidFill>
                  <a:latin typeface="Arial" pitchFamily="34" charset="0"/>
                  <a:ea typeface="Arial" pitchFamily="34" charset="-122"/>
                  <a:cs typeface="Arial" pitchFamily="34" charset="-120"/>
                </a:rPr>
                <a:t> </a:t>
              </a:r>
              <a:r>
                <a:rPr lang="en-US" sz="1200" err="1">
                  <a:solidFill>
                    <a:srgbClr val="B3BC9A"/>
                  </a:solidFill>
                  <a:latin typeface="Arial" pitchFamily="34" charset="0"/>
                  <a:ea typeface="Arial" pitchFamily="34" charset="-122"/>
                  <a:cs typeface="Arial" pitchFamily="34" charset="-120"/>
                </a:rPr>
                <a:t>Kennzahl</a:t>
              </a:r>
              <a:r>
                <a:rPr lang="en-US" sz="1200">
                  <a:solidFill>
                    <a:srgbClr val="B3BC9A"/>
                  </a:solidFill>
                  <a:latin typeface="Arial" pitchFamily="34" charset="0"/>
                  <a:ea typeface="Arial" pitchFamily="34" charset="-122"/>
                  <a:cs typeface="Arial" pitchFamily="34" charset="-120"/>
                </a:rPr>
                <a:t> </a:t>
              </a:r>
              <a:r>
                <a:rPr lang="en-US" sz="1200" err="1">
                  <a:solidFill>
                    <a:srgbClr val="B3BC9A"/>
                  </a:solidFill>
                  <a:latin typeface="Arial" pitchFamily="34" charset="0"/>
                  <a:ea typeface="Arial" pitchFamily="34" charset="-122"/>
                  <a:cs typeface="Arial" pitchFamily="34" charset="-120"/>
                </a:rPr>
                <a:t>über</a:t>
              </a:r>
              <a:r>
                <a:rPr lang="en-US" sz="1200">
                  <a:solidFill>
                    <a:srgbClr val="B3BC9A"/>
                  </a:solidFill>
                  <a:latin typeface="Arial" pitchFamily="34" charset="0"/>
                  <a:ea typeface="Arial" pitchFamily="34" charset="-122"/>
                  <a:cs typeface="Arial" pitchFamily="34" charset="-120"/>
                </a:rPr>
                <a:t> die Zeit</a:t>
              </a:r>
              <a:endParaRPr lang="en-US" sz="1200"/>
            </a:p>
          </p:txBody>
        </p:sp>
        <p:pic>
          <p:nvPicPr>
            <p:cNvPr id="44" name="Grafik 43" descr="Aufwärtstrend mit einfarbiger Füllung">
              <a:extLst>
                <a:ext uri="{FF2B5EF4-FFF2-40B4-BE49-F238E27FC236}">
                  <a16:creationId xmlns:a16="http://schemas.microsoft.com/office/drawing/2014/main" id="{24D64D48-6A16-2786-7C82-AED8F4A3B3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49976" y="3370076"/>
              <a:ext cx="625033" cy="625033"/>
            </a:xfrm>
            <a:prstGeom prst="rect">
              <a:avLst/>
            </a:prstGeom>
          </p:spPr>
        </p:pic>
      </p:grpSp>
      <p:cxnSp>
        <p:nvCxnSpPr>
          <p:cNvPr id="46" name="Gewinkelte Verbindung 45">
            <a:extLst>
              <a:ext uri="{FF2B5EF4-FFF2-40B4-BE49-F238E27FC236}">
                <a16:creationId xmlns:a16="http://schemas.microsoft.com/office/drawing/2014/main" id="{26DA133E-1058-3591-FB3A-B6E033BB1576}"/>
              </a:ext>
            </a:extLst>
          </p:cNvPr>
          <p:cNvCxnSpPr>
            <a:cxnSpLocks/>
            <a:stCxn id="39" idx="2"/>
            <a:endCxn id="7" idx="0"/>
          </p:cNvCxnSpPr>
          <p:nvPr/>
        </p:nvCxnSpPr>
        <p:spPr>
          <a:xfrm rot="5400000">
            <a:off x="4337848" y="3061865"/>
            <a:ext cx="688247" cy="2828058"/>
          </a:xfrm>
          <a:prstGeom prst="bentConnector3">
            <a:avLst>
              <a:gd name="adj1" fmla="val 50000"/>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cxnSp>
        <p:nvCxnSpPr>
          <p:cNvPr id="49" name="Gewinkelte Verbindung 48">
            <a:extLst>
              <a:ext uri="{FF2B5EF4-FFF2-40B4-BE49-F238E27FC236}">
                <a16:creationId xmlns:a16="http://schemas.microsoft.com/office/drawing/2014/main" id="{684DF1C6-C32B-49F3-DB40-CDCDE7806DD8}"/>
              </a:ext>
            </a:extLst>
          </p:cNvPr>
          <p:cNvCxnSpPr>
            <a:cxnSpLocks/>
            <a:stCxn id="39" idx="2"/>
            <a:endCxn id="11" idx="0"/>
          </p:cNvCxnSpPr>
          <p:nvPr/>
        </p:nvCxnSpPr>
        <p:spPr>
          <a:xfrm rot="16200000" flipH="1">
            <a:off x="7165908" y="3061862"/>
            <a:ext cx="688247" cy="2828063"/>
          </a:xfrm>
          <a:prstGeom prst="bentConnector3">
            <a:avLst>
              <a:gd name="adj1" fmla="val 50000"/>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856874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09C14-B51D-0216-737F-740F386C755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D3A4A10-7F25-EF39-BAEF-DA9E4524417B}"/>
              </a:ext>
            </a:extLst>
          </p:cNvPr>
          <p:cNvSpPr/>
          <p:nvPr/>
        </p:nvSpPr>
        <p:spPr>
          <a:xfrm>
            <a:off x="0" y="0"/>
            <a:ext cx="12191695" cy="38405"/>
          </a:xfrm>
          <a:prstGeom prst="rect">
            <a:avLst/>
          </a:prstGeom>
          <a:solidFill>
            <a:srgbClr val="DBDEE2"/>
          </a:solidFill>
          <a:ln/>
        </p:spPr>
        <p:txBody>
          <a:bodyPr/>
          <a:lstStyle/>
          <a:p>
            <a:endParaRPr lang="de-DE"/>
          </a:p>
        </p:txBody>
      </p:sp>
      <p:sp>
        <p:nvSpPr>
          <p:cNvPr id="4" name="Text 1">
            <a:extLst>
              <a:ext uri="{FF2B5EF4-FFF2-40B4-BE49-F238E27FC236}">
                <a16:creationId xmlns:a16="http://schemas.microsoft.com/office/drawing/2014/main" id="{469CB94D-3082-21EE-E366-DBF73557BB0A}"/>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EINLEITUNG</a:t>
            </a:r>
          </a:p>
        </p:txBody>
      </p:sp>
      <p:sp>
        <p:nvSpPr>
          <p:cNvPr id="5" name="Text 2">
            <a:extLst>
              <a:ext uri="{FF2B5EF4-FFF2-40B4-BE49-F238E27FC236}">
                <a16:creationId xmlns:a16="http://schemas.microsoft.com/office/drawing/2014/main" id="{0B529815-CC56-9E8A-CE39-7DC360FBEA68}"/>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02 / 13</a:t>
            </a:r>
            <a:endParaRPr lang="en-US" sz="1200"/>
          </a:p>
        </p:txBody>
      </p:sp>
      <p:grpSp>
        <p:nvGrpSpPr>
          <p:cNvPr id="35" name="Gruppieren 34">
            <a:extLst>
              <a:ext uri="{FF2B5EF4-FFF2-40B4-BE49-F238E27FC236}">
                <a16:creationId xmlns:a16="http://schemas.microsoft.com/office/drawing/2014/main" id="{3586E0AB-5A61-06DC-79A8-A387C14F456D}"/>
              </a:ext>
            </a:extLst>
          </p:cNvPr>
          <p:cNvGrpSpPr/>
          <p:nvPr/>
        </p:nvGrpSpPr>
        <p:grpSpPr>
          <a:xfrm>
            <a:off x="634593" y="1187066"/>
            <a:ext cx="5266695" cy="952805"/>
            <a:chOff x="634593" y="1187066"/>
            <a:chExt cx="5266695" cy="952805"/>
          </a:xfrm>
        </p:grpSpPr>
        <p:sp>
          <p:nvSpPr>
            <p:cNvPr id="7" name="Shape 4">
              <a:extLst>
                <a:ext uri="{FF2B5EF4-FFF2-40B4-BE49-F238E27FC236}">
                  <a16:creationId xmlns:a16="http://schemas.microsoft.com/office/drawing/2014/main" id="{EBF44CF2-9361-B17E-7E1E-F1F282FFE6F4}"/>
                </a:ext>
              </a:extLst>
            </p:cNvPr>
            <p:cNvSpPr/>
            <p:nvPr/>
          </p:nvSpPr>
          <p:spPr>
            <a:xfrm>
              <a:off x="634593" y="1187066"/>
              <a:ext cx="5266695"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8" name="Text 5">
              <a:extLst>
                <a:ext uri="{FF2B5EF4-FFF2-40B4-BE49-F238E27FC236}">
                  <a16:creationId xmlns:a16="http://schemas.microsoft.com/office/drawing/2014/main" id="{C1C9EC93-F886-0FEB-10FA-7162C273CED6}"/>
                </a:ext>
              </a:extLst>
            </p:cNvPr>
            <p:cNvSpPr/>
            <p:nvPr/>
          </p:nvSpPr>
          <p:spPr>
            <a:xfrm>
              <a:off x="952805" y="1378176"/>
              <a:ext cx="571500" cy="558698"/>
            </a:xfrm>
            <a:prstGeom prst="rect">
              <a:avLst/>
            </a:prstGeom>
            <a:noFill/>
            <a:ln/>
          </p:spPr>
          <p:txBody>
            <a:bodyPr wrap="square" rtlCol="0" anchor="ctr"/>
            <a:lstStyle/>
            <a:p>
              <a:pPr marL="0" indent="0" algn="l">
                <a:lnSpc>
                  <a:spcPct val="105000"/>
                </a:lnSpc>
                <a:buNone/>
              </a:pPr>
              <a:r>
                <a:rPr lang="en-US" sz="3200" b="1">
                  <a:solidFill>
                    <a:srgbClr val="78A2F9"/>
                  </a:solidFill>
                  <a:latin typeface="Courier New" pitchFamily="34" charset="0"/>
                  <a:ea typeface="Courier New" pitchFamily="34" charset="-122"/>
                  <a:cs typeface="Courier New" pitchFamily="34" charset="-120"/>
                </a:rPr>
                <a:t>φ</a:t>
              </a:r>
              <a:endParaRPr lang="en-US" sz="3200">
                <a:solidFill>
                  <a:srgbClr val="78A2F9"/>
                </a:solidFill>
              </a:endParaRPr>
            </a:p>
          </p:txBody>
        </p:sp>
        <p:sp>
          <p:nvSpPr>
            <p:cNvPr id="9" name="Text 6">
              <a:extLst>
                <a:ext uri="{FF2B5EF4-FFF2-40B4-BE49-F238E27FC236}">
                  <a16:creationId xmlns:a16="http://schemas.microsoft.com/office/drawing/2014/main" id="{AFD26D88-7A8C-070A-23F4-C5224BF81050}"/>
                </a:ext>
              </a:extLst>
            </p:cNvPr>
            <p:cNvSpPr/>
            <p:nvPr/>
          </p:nvSpPr>
          <p:spPr>
            <a:xfrm>
              <a:off x="1714500" y="1378176"/>
              <a:ext cx="3873398"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Korrekturgeschwindigkeit</a:t>
              </a:r>
              <a:endParaRPr lang="en-US" sz="1400"/>
            </a:p>
          </p:txBody>
        </p:sp>
        <p:sp>
          <p:nvSpPr>
            <p:cNvPr id="10" name="Text 7">
              <a:extLst>
                <a:ext uri="{FF2B5EF4-FFF2-40B4-BE49-F238E27FC236}">
                  <a16:creationId xmlns:a16="http://schemas.microsoft.com/office/drawing/2014/main" id="{956A0472-0642-45C0-55BC-03938B4FD80D}"/>
                </a:ext>
              </a:extLst>
            </p:cNvPr>
            <p:cNvSpPr/>
            <p:nvPr/>
          </p:nvSpPr>
          <p:spPr>
            <a:xfrm>
              <a:off x="1714500" y="1682671"/>
              <a:ext cx="4063594" cy="305614"/>
            </a:xfrm>
            <a:prstGeom prst="rect">
              <a:avLst/>
            </a:prstGeom>
            <a:noFill/>
            <a:ln/>
          </p:spPr>
          <p:txBody>
            <a:bodyPr wrap="square" rtlCol="0" anchor="t"/>
            <a:lstStyle/>
            <a:p>
              <a:pPr marL="0" indent="0" algn="l">
                <a:lnSpc>
                  <a:spcPct val="105000"/>
                </a:lnSpc>
                <a:buNone/>
              </a:pPr>
              <a:r>
                <a:rPr lang="en-US" sz="1200">
                  <a:solidFill>
                    <a:srgbClr val="B3BC9A"/>
                  </a:solidFill>
                  <a:latin typeface="Arial" pitchFamily="34" charset="0"/>
                  <a:ea typeface="Arial" pitchFamily="34" charset="-122"/>
                  <a:cs typeface="Arial" pitchFamily="34" charset="-120"/>
                </a:rPr>
                <a:t>Kehrt eine Quartalsveränderung im Folgequartal </a:t>
              </a:r>
              <a:r>
                <a:rPr lang="en-US" sz="1200" err="1">
                  <a:solidFill>
                    <a:srgbClr val="B3BC9A"/>
                  </a:solidFill>
                  <a:latin typeface="Arial" pitchFamily="34" charset="0"/>
                  <a:ea typeface="Arial" pitchFamily="34" charset="-122"/>
                  <a:cs typeface="Arial" pitchFamily="34" charset="-120"/>
                </a:rPr>
                <a:t>zurück</a:t>
              </a:r>
              <a:r>
                <a:rPr lang="en-US" sz="1200">
                  <a:solidFill>
                    <a:srgbClr val="B3BC9A"/>
                  </a:solidFill>
                  <a:latin typeface="Arial" pitchFamily="34" charset="0"/>
                  <a:ea typeface="Arial" pitchFamily="34" charset="-122"/>
                  <a:cs typeface="Arial" pitchFamily="34" charset="-120"/>
                </a:rPr>
                <a:t>?</a:t>
              </a:r>
            </a:p>
          </p:txBody>
        </p:sp>
      </p:grpSp>
      <p:grpSp>
        <p:nvGrpSpPr>
          <p:cNvPr id="34" name="Gruppieren 33">
            <a:extLst>
              <a:ext uri="{FF2B5EF4-FFF2-40B4-BE49-F238E27FC236}">
                <a16:creationId xmlns:a16="http://schemas.microsoft.com/office/drawing/2014/main" id="{9185C676-6C2A-35FA-907F-AD52B0CA8709}"/>
              </a:ext>
            </a:extLst>
          </p:cNvPr>
          <p:cNvGrpSpPr/>
          <p:nvPr/>
        </p:nvGrpSpPr>
        <p:grpSpPr>
          <a:xfrm>
            <a:off x="6290714" y="1187066"/>
            <a:ext cx="5266696" cy="952805"/>
            <a:chOff x="6290714" y="1187066"/>
            <a:chExt cx="5266696" cy="952805"/>
          </a:xfrm>
        </p:grpSpPr>
        <p:sp>
          <p:nvSpPr>
            <p:cNvPr id="11" name="Shape 8">
              <a:extLst>
                <a:ext uri="{FF2B5EF4-FFF2-40B4-BE49-F238E27FC236}">
                  <a16:creationId xmlns:a16="http://schemas.microsoft.com/office/drawing/2014/main" id="{C1ADF452-6B3F-5D09-2040-586DB02E9E7C}"/>
                </a:ext>
              </a:extLst>
            </p:cNvPr>
            <p:cNvSpPr/>
            <p:nvPr/>
          </p:nvSpPr>
          <p:spPr>
            <a:xfrm>
              <a:off x="6290714" y="1187066"/>
              <a:ext cx="5266696"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12" name="Text 9">
              <a:extLst>
                <a:ext uri="{FF2B5EF4-FFF2-40B4-BE49-F238E27FC236}">
                  <a16:creationId xmlns:a16="http://schemas.microsoft.com/office/drawing/2014/main" id="{731C39D2-4E43-407F-0988-04629E064595}"/>
                </a:ext>
              </a:extLst>
            </p:cNvPr>
            <p:cNvSpPr/>
            <p:nvPr/>
          </p:nvSpPr>
          <p:spPr>
            <a:xfrm>
              <a:off x="6608011" y="1314168"/>
              <a:ext cx="571500" cy="622706"/>
            </a:xfrm>
            <a:prstGeom prst="rect">
              <a:avLst/>
            </a:prstGeom>
            <a:noFill/>
            <a:ln/>
          </p:spPr>
          <p:txBody>
            <a:bodyPr wrap="square" rtlCol="0" anchor="ctr"/>
            <a:lstStyle/>
            <a:p>
              <a:pPr marL="0" indent="0" algn="l">
                <a:lnSpc>
                  <a:spcPct val="105000"/>
                </a:lnSpc>
                <a:buNone/>
              </a:pPr>
              <a:r>
                <a:rPr lang="en-US" sz="3200" b="1">
                  <a:solidFill>
                    <a:srgbClr val="79A2F9"/>
                  </a:solidFill>
                  <a:latin typeface="Courier New" pitchFamily="34" charset="0"/>
                  <a:ea typeface="Courier New" pitchFamily="34" charset="-122"/>
                  <a:cs typeface="Courier New" pitchFamily="34" charset="-120"/>
                </a:rPr>
                <a:t>σ</a:t>
              </a:r>
              <a:endParaRPr lang="en-US" sz="3200"/>
            </a:p>
          </p:txBody>
        </p:sp>
        <p:sp>
          <p:nvSpPr>
            <p:cNvPr id="13" name="Text 10">
              <a:extLst>
                <a:ext uri="{FF2B5EF4-FFF2-40B4-BE49-F238E27FC236}">
                  <a16:creationId xmlns:a16="http://schemas.microsoft.com/office/drawing/2014/main" id="{66791E79-A1DF-2EA2-C60E-9F296CC020A7}"/>
                </a:ext>
              </a:extLst>
            </p:cNvPr>
            <p:cNvSpPr/>
            <p:nvPr/>
          </p:nvSpPr>
          <p:spPr>
            <a:xfrm>
              <a:off x="7369706" y="1378176"/>
              <a:ext cx="3746297"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Veränderungsvolatilität σ(ΔY)</a:t>
              </a:r>
              <a:endParaRPr lang="en-US" sz="1400"/>
            </a:p>
          </p:txBody>
        </p:sp>
        <p:sp>
          <p:nvSpPr>
            <p:cNvPr id="14" name="Text 11">
              <a:extLst>
                <a:ext uri="{FF2B5EF4-FFF2-40B4-BE49-F238E27FC236}">
                  <a16:creationId xmlns:a16="http://schemas.microsoft.com/office/drawing/2014/main" id="{EE94BBEA-15DA-D4B6-8955-237BBD13EA62}"/>
                </a:ext>
              </a:extLst>
            </p:cNvPr>
            <p:cNvSpPr/>
            <p:nvPr/>
          </p:nvSpPr>
          <p:spPr>
            <a:xfrm>
              <a:off x="7369706" y="1682671"/>
              <a:ext cx="4187704" cy="305719"/>
            </a:xfrm>
            <a:prstGeom prst="rect">
              <a:avLst/>
            </a:prstGeom>
            <a:noFill/>
            <a:ln/>
          </p:spPr>
          <p:txBody>
            <a:bodyPr wrap="square" rtlCol="0" anchor="t"/>
            <a:lstStyle/>
            <a:p>
              <a:pPr marL="0" indent="0" algn="l">
                <a:lnSpc>
                  <a:spcPct val="105000"/>
                </a:lnSpc>
                <a:buNone/>
              </a:pPr>
              <a:r>
                <a:rPr lang="en-US" sz="1200">
                  <a:solidFill>
                    <a:srgbClr val="B3BC9A"/>
                  </a:solidFill>
                  <a:latin typeface="Arial" pitchFamily="34" charset="0"/>
                  <a:ea typeface="Arial" pitchFamily="34" charset="-122"/>
                  <a:cs typeface="Arial" pitchFamily="34" charset="-120"/>
                </a:rPr>
                <a:t>Wie stark schwankt eine Kennzahl von Quartal zu Quartal?</a:t>
              </a:r>
              <a:endParaRPr lang="en-US" sz="1200"/>
            </a:p>
          </p:txBody>
        </p:sp>
      </p:grpSp>
      <p:sp>
        <p:nvSpPr>
          <p:cNvPr id="15" name="Shape 12">
            <a:extLst>
              <a:ext uri="{FF2B5EF4-FFF2-40B4-BE49-F238E27FC236}">
                <a16:creationId xmlns:a16="http://schemas.microsoft.com/office/drawing/2014/main" id="{9BFD8FCB-DA08-6496-726B-05792DB3650F}"/>
              </a:ext>
            </a:extLst>
          </p:cNvPr>
          <p:cNvSpPr/>
          <p:nvPr/>
        </p:nvSpPr>
        <p:spPr>
          <a:xfrm>
            <a:off x="634594" y="3066283"/>
            <a:ext cx="3226003" cy="2730398"/>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16" name="Text 13">
            <a:extLst>
              <a:ext uri="{FF2B5EF4-FFF2-40B4-BE49-F238E27FC236}">
                <a16:creationId xmlns:a16="http://schemas.microsoft.com/office/drawing/2014/main" id="{6C25C326-784E-207C-C96A-EC49D9BE1D0D}"/>
              </a:ext>
            </a:extLst>
          </p:cNvPr>
          <p:cNvSpPr/>
          <p:nvPr/>
        </p:nvSpPr>
        <p:spPr>
          <a:xfrm>
            <a:off x="838505" y="3284188"/>
            <a:ext cx="508406" cy="381305"/>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1</a:t>
            </a:r>
            <a:endParaRPr lang="en-US" sz="1400"/>
          </a:p>
        </p:txBody>
      </p:sp>
      <p:sp>
        <p:nvSpPr>
          <p:cNvPr id="17" name="Shape 14">
            <a:extLst>
              <a:ext uri="{FF2B5EF4-FFF2-40B4-BE49-F238E27FC236}">
                <a16:creationId xmlns:a16="http://schemas.microsoft.com/office/drawing/2014/main" id="{F9E7DB07-9DE8-82D1-22AB-D66FB251A1F1}"/>
              </a:ext>
            </a:extLst>
          </p:cNvPr>
          <p:cNvSpPr/>
          <p:nvPr/>
        </p:nvSpPr>
        <p:spPr>
          <a:xfrm>
            <a:off x="1206094" y="3422294"/>
            <a:ext cx="2450592" cy="19202"/>
          </a:xfrm>
          <a:prstGeom prst="rect">
            <a:avLst/>
          </a:prstGeom>
          <a:solidFill>
            <a:srgbClr val="DBDEE2"/>
          </a:solidFill>
          <a:ln/>
        </p:spPr>
        <p:txBody>
          <a:bodyPr/>
          <a:lstStyle/>
          <a:p>
            <a:endParaRPr lang="de-DE"/>
          </a:p>
        </p:txBody>
      </p:sp>
      <p:sp>
        <p:nvSpPr>
          <p:cNvPr id="18" name="Text 15">
            <a:extLst>
              <a:ext uri="{FF2B5EF4-FFF2-40B4-BE49-F238E27FC236}">
                <a16:creationId xmlns:a16="http://schemas.microsoft.com/office/drawing/2014/main" id="{4DA35E5E-8654-21B0-27CE-1A175310E094}"/>
              </a:ext>
            </a:extLst>
          </p:cNvPr>
          <p:cNvSpPr/>
          <p:nvPr/>
        </p:nvSpPr>
        <p:spPr>
          <a:xfrm>
            <a:off x="838505" y="3764884"/>
            <a:ext cx="2819095" cy="1533035"/>
          </a:xfrm>
          <a:prstGeom prst="rect">
            <a:avLst/>
          </a:prstGeom>
          <a:noFill/>
          <a:ln/>
        </p:spPr>
        <p:txBody>
          <a:bodyPr wrap="square" rtlCol="0" anchor="ctr"/>
          <a:lstStyle/>
          <a:p>
            <a:pPr marL="0" indent="0" algn="l">
              <a:lnSpc>
                <a:spcPct val="125000"/>
              </a:lnSpc>
              <a:buNone/>
            </a:pPr>
            <a:r>
              <a:rPr lang="en-US" sz="1400">
                <a:solidFill>
                  <a:srgbClr val="F2EFDA"/>
                </a:solidFill>
                <a:latin typeface="Arial" pitchFamily="34" charset="0"/>
                <a:ea typeface="Arial" pitchFamily="34" charset="-122"/>
                <a:cs typeface="Arial" pitchFamily="34" charset="-120"/>
              </a:rPr>
              <a:t>Weisen </a:t>
            </a:r>
            <a:r>
              <a:rPr lang="en-US" sz="1400" err="1">
                <a:solidFill>
                  <a:srgbClr val="F2EFDA"/>
                </a:solidFill>
                <a:latin typeface="Arial" pitchFamily="34" charset="0"/>
                <a:ea typeface="Arial" pitchFamily="34" charset="-122"/>
                <a:cs typeface="Arial" pitchFamily="34" charset="-120"/>
              </a:rPr>
              <a:t>Finanzkennzahlen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über</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Unternehmen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hinweg</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systematische</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Unterschiede</a:t>
            </a:r>
            <a:r>
              <a:rPr lang="en-US" sz="1400">
                <a:solidFill>
                  <a:srgbClr val="F2EFDA"/>
                </a:solidFill>
                <a:latin typeface="Arial" pitchFamily="34" charset="0"/>
                <a:ea typeface="Arial" pitchFamily="34" charset="-122"/>
                <a:cs typeface="Arial" pitchFamily="34" charset="-120"/>
              </a:rPr>
              <a:t> in </a:t>
            </a:r>
            <a:r>
              <a:rPr lang="en-US" sz="1400" err="1">
                <a:solidFill>
                  <a:srgbClr val="F2EFDA"/>
                </a:solidFill>
                <a:latin typeface="Arial" pitchFamily="34" charset="0"/>
                <a:ea typeface="Arial" pitchFamily="34" charset="-122"/>
                <a:cs typeface="Arial" pitchFamily="34" charset="-120"/>
              </a:rPr>
              <a:t>ihrer</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zeitlichen</a:t>
            </a:r>
            <a:r>
              <a:rPr lang="en-US" sz="1400">
                <a:solidFill>
                  <a:srgbClr val="F2EFDA"/>
                </a:solidFill>
                <a:latin typeface="Arial" pitchFamily="34" charset="0"/>
                <a:ea typeface="Arial" pitchFamily="34" charset="-122"/>
                <a:cs typeface="Arial" pitchFamily="34" charset="-120"/>
              </a:rPr>
              <a:t> Dynamik auf?</a:t>
            </a:r>
          </a:p>
        </p:txBody>
      </p:sp>
      <p:sp>
        <p:nvSpPr>
          <p:cNvPr id="19" name="Shape 16">
            <a:extLst>
              <a:ext uri="{FF2B5EF4-FFF2-40B4-BE49-F238E27FC236}">
                <a16:creationId xmlns:a16="http://schemas.microsoft.com/office/drawing/2014/main" id="{B2C6BDE1-A9EF-2569-6ABE-1E0946594962}"/>
              </a:ext>
            </a:extLst>
          </p:cNvPr>
          <p:cNvSpPr/>
          <p:nvPr/>
        </p:nvSpPr>
        <p:spPr>
          <a:xfrm>
            <a:off x="4482998" y="3066283"/>
            <a:ext cx="3226003" cy="2730398"/>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0" name="Text 17">
            <a:extLst>
              <a:ext uri="{FF2B5EF4-FFF2-40B4-BE49-F238E27FC236}">
                <a16:creationId xmlns:a16="http://schemas.microsoft.com/office/drawing/2014/main" id="{9666CFD0-64F3-AE31-EF77-CA546E12EFE7}"/>
              </a:ext>
            </a:extLst>
          </p:cNvPr>
          <p:cNvSpPr/>
          <p:nvPr/>
        </p:nvSpPr>
        <p:spPr>
          <a:xfrm>
            <a:off x="4685995" y="3270333"/>
            <a:ext cx="508406" cy="381305"/>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2</a:t>
            </a:r>
            <a:endParaRPr lang="en-US" sz="1400"/>
          </a:p>
        </p:txBody>
      </p:sp>
      <p:sp>
        <p:nvSpPr>
          <p:cNvPr id="21" name="Shape 18">
            <a:extLst>
              <a:ext uri="{FF2B5EF4-FFF2-40B4-BE49-F238E27FC236}">
                <a16:creationId xmlns:a16="http://schemas.microsoft.com/office/drawing/2014/main" id="{DA5A3B3A-4484-6DB5-60B4-D3B2201111D8}"/>
              </a:ext>
            </a:extLst>
          </p:cNvPr>
          <p:cNvSpPr/>
          <p:nvPr/>
        </p:nvSpPr>
        <p:spPr>
          <a:xfrm>
            <a:off x="5054498" y="3422294"/>
            <a:ext cx="2450592" cy="19202"/>
          </a:xfrm>
          <a:prstGeom prst="rect">
            <a:avLst/>
          </a:prstGeom>
          <a:solidFill>
            <a:srgbClr val="DBDEE2"/>
          </a:solidFill>
          <a:ln/>
        </p:spPr>
        <p:txBody>
          <a:bodyPr/>
          <a:lstStyle/>
          <a:p>
            <a:endParaRPr lang="de-DE"/>
          </a:p>
        </p:txBody>
      </p:sp>
      <p:sp>
        <p:nvSpPr>
          <p:cNvPr id="22" name="Text 19">
            <a:extLst>
              <a:ext uri="{FF2B5EF4-FFF2-40B4-BE49-F238E27FC236}">
                <a16:creationId xmlns:a16="http://schemas.microsoft.com/office/drawing/2014/main" id="{71777E05-924F-1469-1E4A-04D10DD1E5D9}"/>
              </a:ext>
            </a:extLst>
          </p:cNvPr>
          <p:cNvSpPr/>
          <p:nvPr/>
        </p:nvSpPr>
        <p:spPr>
          <a:xfrm>
            <a:off x="4685995" y="3764884"/>
            <a:ext cx="2819095" cy="1533035"/>
          </a:xfrm>
          <a:prstGeom prst="rect">
            <a:avLst/>
          </a:prstGeom>
          <a:noFill/>
          <a:ln/>
        </p:spPr>
        <p:txBody>
          <a:bodyPr wrap="square" rtlCol="0" anchor="ctr"/>
          <a:lstStyle/>
          <a:p>
            <a:pPr marL="0" indent="0" algn="l">
              <a:lnSpc>
                <a:spcPct val="125000"/>
              </a:lnSpc>
              <a:buNone/>
            </a:pPr>
            <a:r>
              <a:rPr lang="en-US" sz="1400" err="1">
                <a:solidFill>
                  <a:srgbClr val="F2EFDA"/>
                </a:solidFill>
                <a:latin typeface="Arial" pitchFamily="34" charset="0"/>
                <a:ea typeface="Arial" pitchFamily="34" charset="-122"/>
                <a:cs typeface="Arial" pitchFamily="34" charset="-120"/>
              </a:rPr>
              <a:t>Welche</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Interdependenzen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bestehen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zwischen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Finanzkennzahlen</a:t>
            </a:r>
            <a:r>
              <a:rPr lang="en-US" sz="1400">
                <a:solidFill>
                  <a:srgbClr val="F2EFDA"/>
                </a:solidFill>
                <a:latin typeface="Arial" pitchFamily="34" charset="0"/>
                <a:ea typeface="Arial" pitchFamily="34" charset="-122"/>
                <a:cs typeface="Arial" pitchFamily="34" charset="-120"/>
              </a:rPr>
              <a:t> und </a:t>
            </a:r>
            <a:r>
              <a:rPr lang="en-US" sz="1400" err="1">
                <a:solidFill>
                  <a:srgbClr val="F2EFDA"/>
                </a:solidFill>
                <a:latin typeface="Arial" pitchFamily="34" charset="0"/>
                <a:ea typeface="Arial" pitchFamily="34" charset="-122"/>
                <a:cs typeface="Arial" pitchFamily="34" charset="-120"/>
              </a:rPr>
              <a:t>inwieweit</a:t>
            </a:r>
            <a:endParaRPr lang="en-US" sz="1400">
              <a:solidFill>
                <a:srgbClr val="F2EFDA"/>
              </a:solidFill>
              <a:latin typeface="Arial" pitchFamily="34" charset="0"/>
              <a:ea typeface="Arial" pitchFamily="34" charset="-122"/>
              <a:cs typeface="Arial" pitchFamily="34" charset="-120"/>
            </a:endParaRPr>
          </a:p>
          <a:p>
            <a:pPr marL="0" indent="0" algn="l">
              <a:lnSpc>
                <a:spcPct val="125000"/>
              </a:lnSpc>
              <a:buNone/>
            </a:pPr>
            <a:r>
              <a:rPr lang="en-US" sz="1400" err="1">
                <a:solidFill>
                  <a:srgbClr val="F2EFDA"/>
                </a:solidFill>
                <a:latin typeface="Arial" pitchFamily="34" charset="0"/>
                <a:ea typeface="Arial" pitchFamily="34" charset="-122"/>
                <a:cs typeface="Arial" pitchFamily="34" charset="-120"/>
              </a:rPr>
              <a:t>unterscheiden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sich</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diese</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zwischen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Unternehmen</a:t>
            </a:r>
            <a:r>
              <a:rPr lang="en-US" sz="1400">
                <a:solidFill>
                  <a:srgbClr val="F2EFDA"/>
                </a:solidFill>
                <a:latin typeface="Arial" pitchFamily="34" charset="0"/>
                <a:ea typeface="Arial" pitchFamily="34" charset="-122"/>
                <a:cs typeface="Arial" pitchFamily="34" charset="-120"/>
              </a:rPr>
              <a:t>?</a:t>
            </a:r>
          </a:p>
        </p:txBody>
      </p:sp>
      <p:sp>
        <p:nvSpPr>
          <p:cNvPr id="23" name="Shape 20">
            <a:extLst>
              <a:ext uri="{FF2B5EF4-FFF2-40B4-BE49-F238E27FC236}">
                <a16:creationId xmlns:a16="http://schemas.microsoft.com/office/drawing/2014/main" id="{36B9BA81-E333-256E-7144-6785FA5AEB7D}"/>
              </a:ext>
            </a:extLst>
          </p:cNvPr>
          <p:cNvSpPr/>
          <p:nvPr/>
        </p:nvSpPr>
        <p:spPr>
          <a:xfrm>
            <a:off x="8330183" y="3066283"/>
            <a:ext cx="3226003" cy="2730398"/>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4" name="Text 21">
            <a:extLst>
              <a:ext uri="{FF2B5EF4-FFF2-40B4-BE49-F238E27FC236}">
                <a16:creationId xmlns:a16="http://schemas.microsoft.com/office/drawing/2014/main" id="{8D56924E-5BCF-A449-657E-771953E1C94E}"/>
              </a:ext>
            </a:extLst>
          </p:cNvPr>
          <p:cNvSpPr/>
          <p:nvPr/>
        </p:nvSpPr>
        <p:spPr>
          <a:xfrm>
            <a:off x="8534094" y="3270333"/>
            <a:ext cx="508406" cy="381305"/>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3</a:t>
            </a:r>
            <a:endParaRPr lang="en-US" sz="1400"/>
          </a:p>
        </p:txBody>
      </p:sp>
      <p:sp>
        <p:nvSpPr>
          <p:cNvPr id="25" name="Shape 22">
            <a:extLst>
              <a:ext uri="{FF2B5EF4-FFF2-40B4-BE49-F238E27FC236}">
                <a16:creationId xmlns:a16="http://schemas.microsoft.com/office/drawing/2014/main" id="{657967A6-169D-A03A-A654-1638E53D46C2}"/>
              </a:ext>
            </a:extLst>
          </p:cNvPr>
          <p:cNvSpPr/>
          <p:nvPr/>
        </p:nvSpPr>
        <p:spPr>
          <a:xfrm>
            <a:off x="8901683" y="3422294"/>
            <a:ext cx="2450592" cy="19202"/>
          </a:xfrm>
          <a:prstGeom prst="rect">
            <a:avLst/>
          </a:prstGeom>
          <a:solidFill>
            <a:srgbClr val="DBDEE2"/>
          </a:solidFill>
          <a:ln/>
        </p:spPr>
        <p:txBody>
          <a:bodyPr/>
          <a:lstStyle/>
          <a:p>
            <a:endParaRPr lang="de-DE"/>
          </a:p>
        </p:txBody>
      </p:sp>
      <p:sp>
        <p:nvSpPr>
          <p:cNvPr id="26" name="Text 23">
            <a:extLst>
              <a:ext uri="{FF2B5EF4-FFF2-40B4-BE49-F238E27FC236}">
                <a16:creationId xmlns:a16="http://schemas.microsoft.com/office/drawing/2014/main" id="{DDDE5884-773F-4E85-4031-29C7E92937C5}"/>
              </a:ext>
            </a:extLst>
          </p:cNvPr>
          <p:cNvSpPr/>
          <p:nvPr/>
        </p:nvSpPr>
        <p:spPr>
          <a:xfrm>
            <a:off x="8534094" y="3764884"/>
            <a:ext cx="2819095" cy="1533035"/>
          </a:xfrm>
          <a:prstGeom prst="rect">
            <a:avLst/>
          </a:prstGeom>
          <a:noFill/>
          <a:ln/>
        </p:spPr>
        <p:txBody>
          <a:bodyPr wrap="square" rtlCol="0" anchor="ctr"/>
          <a:lstStyle/>
          <a:p>
            <a:pPr marL="0" indent="0" algn="l">
              <a:lnSpc>
                <a:spcPct val="125000"/>
              </a:lnSpc>
              <a:buNone/>
            </a:pPr>
            <a:r>
              <a:rPr lang="en-US" sz="1400">
                <a:solidFill>
                  <a:srgbClr val="F2EFDA"/>
                </a:solidFill>
                <a:latin typeface="Arial" pitchFamily="34" charset="0"/>
                <a:ea typeface="Arial" pitchFamily="34" charset="-122"/>
                <a:cs typeface="Arial" pitchFamily="34" charset="-120"/>
              </a:rPr>
              <a:t>Stehen </a:t>
            </a:r>
            <a:r>
              <a:rPr lang="en-US" sz="1400" err="1">
                <a:solidFill>
                  <a:srgbClr val="F2EFDA"/>
                </a:solidFill>
                <a:latin typeface="Arial" pitchFamily="34" charset="0"/>
                <a:ea typeface="Arial" pitchFamily="34" charset="-122"/>
                <a:cs typeface="Arial" pitchFamily="34" charset="-120"/>
              </a:rPr>
              <a:t>zeitliche</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Dynamiken</a:t>
            </a:r>
            <a:r>
              <a:rPr lang="en-US" sz="1400">
                <a:solidFill>
                  <a:srgbClr val="F2EFDA"/>
                </a:solidFill>
                <a:latin typeface="Arial" pitchFamily="34" charset="0"/>
                <a:ea typeface="Arial" pitchFamily="34" charset="-122"/>
                <a:cs typeface="Arial" pitchFamily="34" charset="-120"/>
              </a:rPr>
              <a:t> von </a:t>
            </a:r>
            <a:r>
              <a:rPr lang="en-US" sz="1400" err="1">
                <a:solidFill>
                  <a:srgbClr val="F2EFDA"/>
                </a:solidFill>
                <a:latin typeface="Arial" pitchFamily="34" charset="0"/>
                <a:ea typeface="Arial" pitchFamily="34" charset="-122"/>
                <a:cs typeface="Arial" pitchFamily="34" charset="-120"/>
              </a:rPr>
              <a:t>Finanzkennzahlen</a:t>
            </a:r>
            <a:r>
              <a:rPr lang="en-US" sz="1400">
                <a:solidFill>
                  <a:srgbClr val="F2EFDA"/>
                </a:solidFill>
                <a:latin typeface="Arial" pitchFamily="34" charset="0"/>
                <a:ea typeface="Arial" pitchFamily="34" charset="-122"/>
                <a:cs typeface="Arial" pitchFamily="34" charset="-120"/>
              </a:rPr>
              <a:t> in </a:t>
            </a:r>
            <a:r>
              <a:rPr lang="en-US" sz="1400" err="1">
                <a:solidFill>
                  <a:srgbClr val="F2EFDA"/>
                </a:solidFill>
                <a:latin typeface="Arial" pitchFamily="34" charset="0"/>
                <a:ea typeface="Arial" pitchFamily="34" charset="-122"/>
                <a:cs typeface="Arial" pitchFamily="34" charset="-120"/>
              </a:rPr>
              <a:t>Zusammenhang</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mit</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strukturellen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Unternehmensmerkmalen</a:t>
            </a:r>
            <a:r>
              <a:rPr lang="en-US" sz="1400">
                <a:solidFill>
                  <a:srgbClr val="F2EFDA"/>
                </a:solidFill>
                <a:latin typeface="Arial" pitchFamily="34" charset="0"/>
                <a:ea typeface="Arial" pitchFamily="34" charset="-122"/>
                <a:cs typeface="Arial" pitchFamily="34" charset="-120"/>
              </a:rPr>
              <a:t>?</a:t>
            </a:r>
          </a:p>
        </p:txBody>
      </p:sp>
      <p:cxnSp>
        <p:nvCxnSpPr>
          <p:cNvPr id="27" name="Gewinkelte Verbindung 26">
            <a:extLst>
              <a:ext uri="{FF2B5EF4-FFF2-40B4-BE49-F238E27FC236}">
                <a16:creationId xmlns:a16="http://schemas.microsoft.com/office/drawing/2014/main" id="{02C62F4B-0BDD-C945-F62F-FEA477E23994}"/>
              </a:ext>
            </a:extLst>
          </p:cNvPr>
          <p:cNvCxnSpPr>
            <a:stCxn id="7" idx="2"/>
            <a:endCxn id="23" idx="0"/>
          </p:cNvCxnSpPr>
          <p:nvPr/>
        </p:nvCxnSpPr>
        <p:spPr>
          <a:xfrm rot="16200000" flipH="1">
            <a:off x="6142357" y="-734545"/>
            <a:ext cx="926412" cy="6675244"/>
          </a:xfrm>
          <a:prstGeom prst="bentConnector3">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cxnSp>
        <p:nvCxnSpPr>
          <p:cNvPr id="29" name="Gewinkelte Verbindung 28">
            <a:extLst>
              <a:ext uri="{FF2B5EF4-FFF2-40B4-BE49-F238E27FC236}">
                <a16:creationId xmlns:a16="http://schemas.microsoft.com/office/drawing/2014/main" id="{7B2029E9-5806-691D-CE44-8ADAC71C2B5A}"/>
              </a:ext>
            </a:extLst>
          </p:cNvPr>
          <p:cNvCxnSpPr>
            <a:stCxn id="7" idx="2"/>
            <a:endCxn id="19" idx="0"/>
          </p:cNvCxnSpPr>
          <p:nvPr/>
        </p:nvCxnSpPr>
        <p:spPr>
          <a:xfrm rot="16200000" flipH="1">
            <a:off x="4218764" y="1189047"/>
            <a:ext cx="926412" cy="2828059"/>
          </a:xfrm>
          <a:prstGeom prst="bentConnector3">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cxnSp>
        <p:nvCxnSpPr>
          <p:cNvPr id="31" name="Gewinkelte Verbindung 30">
            <a:extLst>
              <a:ext uri="{FF2B5EF4-FFF2-40B4-BE49-F238E27FC236}">
                <a16:creationId xmlns:a16="http://schemas.microsoft.com/office/drawing/2014/main" id="{EB6AF2DD-CB03-AD69-FB21-2F0056A7106F}"/>
              </a:ext>
            </a:extLst>
          </p:cNvPr>
          <p:cNvCxnSpPr>
            <a:cxnSpLocks/>
            <a:stCxn id="7" idx="2"/>
            <a:endCxn id="15" idx="0"/>
          </p:cNvCxnSpPr>
          <p:nvPr/>
        </p:nvCxnSpPr>
        <p:spPr>
          <a:xfrm rot="5400000">
            <a:off x="2294563" y="2092905"/>
            <a:ext cx="926412" cy="1020345"/>
          </a:xfrm>
          <a:prstGeom prst="bentConnector3">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cxnSp>
        <p:nvCxnSpPr>
          <p:cNvPr id="33" name="Gewinkelte Verbindung 32">
            <a:extLst>
              <a:ext uri="{FF2B5EF4-FFF2-40B4-BE49-F238E27FC236}">
                <a16:creationId xmlns:a16="http://schemas.microsoft.com/office/drawing/2014/main" id="{515C89FF-BAD1-FF26-A511-19B5E108CBF8}"/>
              </a:ext>
            </a:extLst>
          </p:cNvPr>
          <p:cNvCxnSpPr>
            <a:stCxn id="11" idx="2"/>
            <a:endCxn id="19" idx="0"/>
          </p:cNvCxnSpPr>
          <p:nvPr/>
        </p:nvCxnSpPr>
        <p:spPr>
          <a:xfrm rot="5400000">
            <a:off x="7046825" y="1189046"/>
            <a:ext cx="926412" cy="2828062"/>
          </a:xfrm>
          <a:prstGeom prst="bentConnector3">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523319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451E4-4982-23E3-8EF8-95F83DB9218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368BBE8-1D8F-9ADD-4C92-4E376BD456B2}"/>
              </a:ext>
            </a:extLst>
          </p:cNvPr>
          <p:cNvSpPr/>
          <p:nvPr/>
        </p:nvSpPr>
        <p:spPr>
          <a:xfrm>
            <a:off x="0" y="0"/>
            <a:ext cx="12191695" cy="38405"/>
          </a:xfrm>
          <a:prstGeom prst="rect">
            <a:avLst/>
          </a:prstGeom>
          <a:solidFill>
            <a:srgbClr val="DBDEE2"/>
          </a:solidFill>
          <a:ln/>
        </p:spPr>
        <p:txBody>
          <a:bodyPr/>
          <a:lstStyle/>
          <a:p>
            <a:endParaRPr lang="de-DE"/>
          </a:p>
        </p:txBody>
      </p:sp>
      <p:sp>
        <p:nvSpPr>
          <p:cNvPr id="4" name="Text 1">
            <a:extLst>
              <a:ext uri="{FF2B5EF4-FFF2-40B4-BE49-F238E27FC236}">
                <a16:creationId xmlns:a16="http://schemas.microsoft.com/office/drawing/2014/main" id="{C4CF78A2-8F04-6C60-9309-32338B1F32AF}"/>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EINLEITUNG</a:t>
            </a:r>
          </a:p>
        </p:txBody>
      </p:sp>
      <p:sp>
        <p:nvSpPr>
          <p:cNvPr id="5" name="Text 2">
            <a:extLst>
              <a:ext uri="{FF2B5EF4-FFF2-40B4-BE49-F238E27FC236}">
                <a16:creationId xmlns:a16="http://schemas.microsoft.com/office/drawing/2014/main" id="{61CA8CA7-F8FF-ACE9-9B1D-988ABF328FE2}"/>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02 / 13</a:t>
            </a:r>
            <a:endParaRPr lang="en-US" sz="1200"/>
          </a:p>
        </p:txBody>
      </p:sp>
      <p:sp>
        <p:nvSpPr>
          <p:cNvPr id="15" name="Shape 12">
            <a:extLst>
              <a:ext uri="{FF2B5EF4-FFF2-40B4-BE49-F238E27FC236}">
                <a16:creationId xmlns:a16="http://schemas.microsoft.com/office/drawing/2014/main" id="{C0C842C1-28E1-8117-453A-FE4D9A2E37E3}"/>
              </a:ext>
            </a:extLst>
          </p:cNvPr>
          <p:cNvSpPr/>
          <p:nvPr/>
        </p:nvSpPr>
        <p:spPr>
          <a:xfrm>
            <a:off x="634594" y="1187197"/>
            <a:ext cx="3226003" cy="2002547"/>
          </a:xfrm>
          <a:prstGeom prst="roundRect">
            <a:avLst>
              <a:gd name="adj" fmla="val 3717"/>
            </a:avLst>
          </a:prstGeom>
          <a:solidFill>
            <a:srgbClr val="153B29"/>
          </a:solidFill>
          <a:ln w="12700">
            <a:solidFill>
              <a:srgbClr val="2B513D"/>
            </a:solidFill>
            <a:prstDash val="solid"/>
          </a:ln>
        </p:spPr>
        <p:txBody>
          <a:bodyPr/>
          <a:lstStyle/>
          <a:p>
            <a:endParaRPr lang="de-DE"/>
          </a:p>
        </p:txBody>
      </p:sp>
      <p:grpSp>
        <p:nvGrpSpPr>
          <p:cNvPr id="50" name="Gruppieren 49">
            <a:extLst>
              <a:ext uri="{FF2B5EF4-FFF2-40B4-BE49-F238E27FC236}">
                <a16:creationId xmlns:a16="http://schemas.microsoft.com/office/drawing/2014/main" id="{6551550D-EAFF-77BD-C781-4934F36804BA}"/>
              </a:ext>
            </a:extLst>
          </p:cNvPr>
          <p:cNvGrpSpPr/>
          <p:nvPr/>
        </p:nvGrpSpPr>
        <p:grpSpPr>
          <a:xfrm>
            <a:off x="838505" y="1405102"/>
            <a:ext cx="2818181" cy="381305"/>
            <a:chOff x="838505" y="1405102"/>
            <a:chExt cx="2818181" cy="381305"/>
          </a:xfrm>
        </p:grpSpPr>
        <p:sp>
          <p:nvSpPr>
            <p:cNvPr id="16" name="Text 13">
              <a:extLst>
                <a:ext uri="{FF2B5EF4-FFF2-40B4-BE49-F238E27FC236}">
                  <a16:creationId xmlns:a16="http://schemas.microsoft.com/office/drawing/2014/main" id="{3D3EDEFC-7B1F-80B8-83D8-C4919306094D}"/>
                </a:ext>
              </a:extLst>
            </p:cNvPr>
            <p:cNvSpPr/>
            <p:nvPr/>
          </p:nvSpPr>
          <p:spPr>
            <a:xfrm>
              <a:off x="838505" y="1405102"/>
              <a:ext cx="508406" cy="381305"/>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1</a:t>
              </a:r>
              <a:endParaRPr lang="en-US" sz="1400"/>
            </a:p>
          </p:txBody>
        </p:sp>
        <p:sp>
          <p:nvSpPr>
            <p:cNvPr id="17" name="Shape 14">
              <a:extLst>
                <a:ext uri="{FF2B5EF4-FFF2-40B4-BE49-F238E27FC236}">
                  <a16:creationId xmlns:a16="http://schemas.microsoft.com/office/drawing/2014/main" id="{D1573499-103B-973A-EBF5-C2C877705862}"/>
                </a:ext>
              </a:extLst>
            </p:cNvPr>
            <p:cNvSpPr/>
            <p:nvPr/>
          </p:nvSpPr>
          <p:spPr>
            <a:xfrm>
              <a:off x="1206094" y="1543208"/>
              <a:ext cx="2450592" cy="19202"/>
            </a:xfrm>
            <a:prstGeom prst="rect">
              <a:avLst/>
            </a:prstGeom>
            <a:solidFill>
              <a:srgbClr val="DBDEE2"/>
            </a:solidFill>
            <a:ln/>
          </p:spPr>
          <p:txBody>
            <a:bodyPr/>
            <a:lstStyle/>
            <a:p>
              <a:endParaRPr lang="de-DE"/>
            </a:p>
          </p:txBody>
        </p:sp>
      </p:grpSp>
      <p:sp>
        <p:nvSpPr>
          <p:cNvPr id="18" name="Text 15">
            <a:extLst>
              <a:ext uri="{FF2B5EF4-FFF2-40B4-BE49-F238E27FC236}">
                <a16:creationId xmlns:a16="http://schemas.microsoft.com/office/drawing/2014/main" id="{37B58CCC-869E-70F8-DBBB-D3008AFE245D}"/>
              </a:ext>
            </a:extLst>
          </p:cNvPr>
          <p:cNvSpPr/>
          <p:nvPr/>
        </p:nvSpPr>
        <p:spPr>
          <a:xfrm>
            <a:off x="838505" y="1438758"/>
            <a:ext cx="2819095" cy="1533035"/>
          </a:xfrm>
          <a:prstGeom prst="rect">
            <a:avLst/>
          </a:prstGeom>
          <a:noFill/>
          <a:ln/>
        </p:spPr>
        <p:txBody>
          <a:bodyPr wrap="square" rtlCol="0" anchor="ctr"/>
          <a:lstStyle/>
          <a:p>
            <a:pPr marL="0" indent="0" algn="l">
              <a:lnSpc>
                <a:spcPct val="125000"/>
              </a:lnSpc>
              <a:buNone/>
            </a:pPr>
            <a:r>
              <a:rPr lang="en-US" sz="1400">
                <a:solidFill>
                  <a:srgbClr val="F2EFDA"/>
                </a:solidFill>
                <a:latin typeface="Arial" pitchFamily="34" charset="0"/>
                <a:ea typeface="Arial" pitchFamily="34" charset="-122"/>
                <a:cs typeface="Arial" pitchFamily="34" charset="-120"/>
              </a:rPr>
              <a:t>Weisen </a:t>
            </a:r>
            <a:r>
              <a:rPr lang="en-US" sz="1400" err="1">
                <a:solidFill>
                  <a:srgbClr val="F2EFDA"/>
                </a:solidFill>
                <a:latin typeface="Arial" pitchFamily="34" charset="0"/>
                <a:ea typeface="Arial" pitchFamily="34" charset="-122"/>
                <a:cs typeface="Arial" pitchFamily="34" charset="-120"/>
              </a:rPr>
              <a:t>Finanzkennzahlen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über</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Unternehmen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hinweg</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systematische</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Unterschiede</a:t>
            </a:r>
            <a:r>
              <a:rPr lang="en-US" sz="1400">
                <a:solidFill>
                  <a:srgbClr val="F2EFDA"/>
                </a:solidFill>
                <a:latin typeface="Arial" pitchFamily="34" charset="0"/>
                <a:ea typeface="Arial" pitchFamily="34" charset="-122"/>
                <a:cs typeface="Arial" pitchFamily="34" charset="-120"/>
              </a:rPr>
              <a:t> in </a:t>
            </a:r>
            <a:r>
              <a:rPr lang="en-US" sz="1400" err="1">
                <a:solidFill>
                  <a:srgbClr val="F2EFDA"/>
                </a:solidFill>
                <a:latin typeface="Arial" pitchFamily="34" charset="0"/>
                <a:ea typeface="Arial" pitchFamily="34" charset="-122"/>
                <a:cs typeface="Arial" pitchFamily="34" charset="-120"/>
              </a:rPr>
              <a:t>ihrer</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zeitlichen</a:t>
            </a:r>
            <a:r>
              <a:rPr lang="en-US" sz="1400">
                <a:solidFill>
                  <a:srgbClr val="F2EFDA"/>
                </a:solidFill>
                <a:latin typeface="Arial" pitchFamily="34" charset="0"/>
                <a:ea typeface="Arial" pitchFamily="34" charset="-122"/>
                <a:cs typeface="Arial" pitchFamily="34" charset="-120"/>
              </a:rPr>
              <a:t> Dynamik auf?</a:t>
            </a:r>
          </a:p>
        </p:txBody>
      </p:sp>
      <p:sp>
        <p:nvSpPr>
          <p:cNvPr id="19" name="Shape 16">
            <a:extLst>
              <a:ext uri="{FF2B5EF4-FFF2-40B4-BE49-F238E27FC236}">
                <a16:creationId xmlns:a16="http://schemas.microsoft.com/office/drawing/2014/main" id="{B39138A5-A463-0E83-8DF1-975D13CC65B9}"/>
              </a:ext>
            </a:extLst>
          </p:cNvPr>
          <p:cNvSpPr/>
          <p:nvPr/>
        </p:nvSpPr>
        <p:spPr>
          <a:xfrm>
            <a:off x="4482998" y="1187197"/>
            <a:ext cx="3226003" cy="2002547"/>
          </a:xfrm>
          <a:prstGeom prst="roundRect">
            <a:avLst>
              <a:gd name="adj" fmla="val 3717"/>
            </a:avLst>
          </a:prstGeom>
          <a:solidFill>
            <a:srgbClr val="153B29"/>
          </a:solidFill>
          <a:ln w="12700">
            <a:solidFill>
              <a:srgbClr val="2B513D"/>
            </a:solidFill>
            <a:prstDash val="solid"/>
          </a:ln>
        </p:spPr>
        <p:txBody>
          <a:bodyPr/>
          <a:lstStyle/>
          <a:p>
            <a:endParaRPr lang="de-DE"/>
          </a:p>
        </p:txBody>
      </p:sp>
      <p:grpSp>
        <p:nvGrpSpPr>
          <p:cNvPr id="51" name="Gruppieren 50">
            <a:extLst>
              <a:ext uri="{FF2B5EF4-FFF2-40B4-BE49-F238E27FC236}">
                <a16:creationId xmlns:a16="http://schemas.microsoft.com/office/drawing/2014/main" id="{E1DF1117-ED2C-F815-4283-512EC161B396}"/>
              </a:ext>
            </a:extLst>
          </p:cNvPr>
          <p:cNvGrpSpPr/>
          <p:nvPr/>
        </p:nvGrpSpPr>
        <p:grpSpPr>
          <a:xfrm>
            <a:off x="4685995" y="1391247"/>
            <a:ext cx="2819095" cy="381305"/>
            <a:chOff x="4685995" y="1391247"/>
            <a:chExt cx="2819095" cy="381305"/>
          </a:xfrm>
        </p:grpSpPr>
        <p:sp>
          <p:nvSpPr>
            <p:cNvPr id="20" name="Text 17">
              <a:extLst>
                <a:ext uri="{FF2B5EF4-FFF2-40B4-BE49-F238E27FC236}">
                  <a16:creationId xmlns:a16="http://schemas.microsoft.com/office/drawing/2014/main" id="{4A74AC5B-8081-0105-FEF8-21F2AB8C3CB4}"/>
                </a:ext>
              </a:extLst>
            </p:cNvPr>
            <p:cNvSpPr/>
            <p:nvPr/>
          </p:nvSpPr>
          <p:spPr>
            <a:xfrm>
              <a:off x="4685995" y="1391247"/>
              <a:ext cx="508406" cy="381305"/>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2</a:t>
              </a:r>
              <a:endParaRPr lang="en-US" sz="1400"/>
            </a:p>
          </p:txBody>
        </p:sp>
        <p:sp>
          <p:nvSpPr>
            <p:cNvPr id="21" name="Shape 18">
              <a:extLst>
                <a:ext uri="{FF2B5EF4-FFF2-40B4-BE49-F238E27FC236}">
                  <a16:creationId xmlns:a16="http://schemas.microsoft.com/office/drawing/2014/main" id="{48C2227C-B444-6F31-BE01-07746C211DE5}"/>
                </a:ext>
              </a:extLst>
            </p:cNvPr>
            <p:cNvSpPr/>
            <p:nvPr/>
          </p:nvSpPr>
          <p:spPr>
            <a:xfrm>
              <a:off x="5054498" y="1543208"/>
              <a:ext cx="2450592" cy="19202"/>
            </a:xfrm>
            <a:prstGeom prst="rect">
              <a:avLst/>
            </a:prstGeom>
            <a:solidFill>
              <a:srgbClr val="DBDEE2"/>
            </a:solidFill>
            <a:ln/>
          </p:spPr>
          <p:txBody>
            <a:bodyPr/>
            <a:lstStyle/>
            <a:p>
              <a:endParaRPr lang="de-DE"/>
            </a:p>
          </p:txBody>
        </p:sp>
      </p:grpSp>
      <p:sp>
        <p:nvSpPr>
          <p:cNvPr id="22" name="Text 19">
            <a:extLst>
              <a:ext uri="{FF2B5EF4-FFF2-40B4-BE49-F238E27FC236}">
                <a16:creationId xmlns:a16="http://schemas.microsoft.com/office/drawing/2014/main" id="{8FB349CB-7CE5-0805-5005-721DCEC87515}"/>
              </a:ext>
            </a:extLst>
          </p:cNvPr>
          <p:cNvSpPr/>
          <p:nvPr/>
        </p:nvSpPr>
        <p:spPr>
          <a:xfrm>
            <a:off x="4685995" y="1541310"/>
            <a:ext cx="2819095" cy="1533035"/>
          </a:xfrm>
          <a:prstGeom prst="rect">
            <a:avLst/>
          </a:prstGeom>
          <a:noFill/>
          <a:ln/>
        </p:spPr>
        <p:txBody>
          <a:bodyPr wrap="square" rtlCol="0" anchor="ctr"/>
          <a:lstStyle/>
          <a:p>
            <a:pPr marL="0" indent="0" algn="l">
              <a:lnSpc>
                <a:spcPct val="125000"/>
              </a:lnSpc>
              <a:buNone/>
            </a:pPr>
            <a:r>
              <a:rPr lang="en-US" sz="1400" err="1">
                <a:solidFill>
                  <a:srgbClr val="F2EFDA"/>
                </a:solidFill>
                <a:latin typeface="Arial" pitchFamily="34" charset="0"/>
                <a:ea typeface="Arial" pitchFamily="34" charset="-122"/>
                <a:cs typeface="Arial" pitchFamily="34" charset="-120"/>
              </a:rPr>
              <a:t>Welche</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Interdependenzen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bestehen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zwischen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Finanzkennzahlen</a:t>
            </a:r>
            <a:r>
              <a:rPr lang="en-US" sz="1400">
                <a:solidFill>
                  <a:srgbClr val="F2EFDA"/>
                </a:solidFill>
                <a:latin typeface="Arial" pitchFamily="34" charset="0"/>
                <a:ea typeface="Arial" pitchFamily="34" charset="-122"/>
                <a:cs typeface="Arial" pitchFamily="34" charset="-120"/>
              </a:rPr>
              <a:t> und </a:t>
            </a:r>
            <a:r>
              <a:rPr lang="en-US" sz="1400" err="1">
                <a:solidFill>
                  <a:srgbClr val="F2EFDA"/>
                </a:solidFill>
                <a:latin typeface="Arial" pitchFamily="34" charset="0"/>
                <a:ea typeface="Arial" pitchFamily="34" charset="-122"/>
                <a:cs typeface="Arial" pitchFamily="34" charset="-120"/>
              </a:rPr>
              <a:t>inwieweit</a:t>
            </a:r>
            <a:endParaRPr lang="en-US" sz="1400">
              <a:solidFill>
                <a:srgbClr val="F2EFDA"/>
              </a:solidFill>
              <a:latin typeface="Arial" pitchFamily="34" charset="0"/>
              <a:ea typeface="Arial" pitchFamily="34" charset="-122"/>
              <a:cs typeface="Arial" pitchFamily="34" charset="-120"/>
            </a:endParaRPr>
          </a:p>
          <a:p>
            <a:pPr marL="0" indent="0" algn="l">
              <a:lnSpc>
                <a:spcPct val="125000"/>
              </a:lnSpc>
              <a:buNone/>
            </a:pPr>
            <a:r>
              <a:rPr lang="en-US" sz="1400" err="1">
                <a:solidFill>
                  <a:srgbClr val="F2EFDA"/>
                </a:solidFill>
                <a:latin typeface="Arial" pitchFamily="34" charset="0"/>
                <a:ea typeface="Arial" pitchFamily="34" charset="-122"/>
                <a:cs typeface="Arial" pitchFamily="34" charset="-120"/>
              </a:rPr>
              <a:t>unterscheiden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sich</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diese</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zwischen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Unternehmen</a:t>
            </a:r>
            <a:r>
              <a:rPr lang="en-US" sz="1400">
                <a:solidFill>
                  <a:srgbClr val="F2EFDA"/>
                </a:solidFill>
                <a:latin typeface="Arial" pitchFamily="34" charset="0"/>
                <a:ea typeface="Arial" pitchFamily="34" charset="-122"/>
                <a:cs typeface="Arial" pitchFamily="34" charset="-120"/>
              </a:rPr>
              <a:t>?</a:t>
            </a:r>
          </a:p>
        </p:txBody>
      </p:sp>
      <p:sp>
        <p:nvSpPr>
          <p:cNvPr id="23" name="Shape 20">
            <a:extLst>
              <a:ext uri="{FF2B5EF4-FFF2-40B4-BE49-F238E27FC236}">
                <a16:creationId xmlns:a16="http://schemas.microsoft.com/office/drawing/2014/main" id="{31AF9529-DE44-07EE-4D04-2D8440BEBC88}"/>
              </a:ext>
            </a:extLst>
          </p:cNvPr>
          <p:cNvSpPr/>
          <p:nvPr/>
        </p:nvSpPr>
        <p:spPr>
          <a:xfrm>
            <a:off x="8330183" y="1187197"/>
            <a:ext cx="3226003" cy="2002547"/>
          </a:xfrm>
          <a:prstGeom prst="roundRect">
            <a:avLst>
              <a:gd name="adj" fmla="val 3717"/>
            </a:avLst>
          </a:prstGeom>
          <a:solidFill>
            <a:srgbClr val="153B29"/>
          </a:solidFill>
          <a:ln w="12700">
            <a:solidFill>
              <a:srgbClr val="2B513D"/>
            </a:solidFill>
            <a:prstDash val="solid"/>
          </a:ln>
        </p:spPr>
        <p:txBody>
          <a:bodyPr/>
          <a:lstStyle/>
          <a:p>
            <a:endParaRPr lang="de-DE"/>
          </a:p>
        </p:txBody>
      </p:sp>
      <p:grpSp>
        <p:nvGrpSpPr>
          <p:cNvPr id="52" name="Gruppieren 51">
            <a:extLst>
              <a:ext uri="{FF2B5EF4-FFF2-40B4-BE49-F238E27FC236}">
                <a16:creationId xmlns:a16="http://schemas.microsoft.com/office/drawing/2014/main" id="{38C85DA3-B449-5A99-42EB-45AD577D8A41}"/>
              </a:ext>
            </a:extLst>
          </p:cNvPr>
          <p:cNvGrpSpPr/>
          <p:nvPr/>
        </p:nvGrpSpPr>
        <p:grpSpPr>
          <a:xfrm>
            <a:off x="8534094" y="1391247"/>
            <a:ext cx="2818181" cy="381305"/>
            <a:chOff x="8534094" y="1391247"/>
            <a:chExt cx="2818181" cy="381305"/>
          </a:xfrm>
        </p:grpSpPr>
        <p:sp>
          <p:nvSpPr>
            <p:cNvPr id="24" name="Text 21">
              <a:extLst>
                <a:ext uri="{FF2B5EF4-FFF2-40B4-BE49-F238E27FC236}">
                  <a16:creationId xmlns:a16="http://schemas.microsoft.com/office/drawing/2014/main" id="{5138326C-55F9-C391-0AA6-8363869A3312}"/>
                </a:ext>
              </a:extLst>
            </p:cNvPr>
            <p:cNvSpPr/>
            <p:nvPr/>
          </p:nvSpPr>
          <p:spPr>
            <a:xfrm>
              <a:off x="8534094" y="1391247"/>
              <a:ext cx="508406" cy="381305"/>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3</a:t>
              </a:r>
              <a:endParaRPr lang="en-US" sz="1400"/>
            </a:p>
          </p:txBody>
        </p:sp>
        <p:sp>
          <p:nvSpPr>
            <p:cNvPr id="25" name="Shape 22">
              <a:extLst>
                <a:ext uri="{FF2B5EF4-FFF2-40B4-BE49-F238E27FC236}">
                  <a16:creationId xmlns:a16="http://schemas.microsoft.com/office/drawing/2014/main" id="{DF06B852-C3B8-A933-7DDC-D4C5066B1367}"/>
                </a:ext>
              </a:extLst>
            </p:cNvPr>
            <p:cNvSpPr/>
            <p:nvPr/>
          </p:nvSpPr>
          <p:spPr>
            <a:xfrm>
              <a:off x="8901683" y="1543208"/>
              <a:ext cx="2450592" cy="19202"/>
            </a:xfrm>
            <a:prstGeom prst="rect">
              <a:avLst/>
            </a:prstGeom>
            <a:solidFill>
              <a:srgbClr val="DBDEE2"/>
            </a:solidFill>
            <a:ln/>
          </p:spPr>
          <p:txBody>
            <a:bodyPr/>
            <a:lstStyle/>
            <a:p>
              <a:endParaRPr lang="de-DE"/>
            </a:p>
          </p:txBody>
        </p:sp>
      </p:grpSp>
      <p:sp>
        <p:nvSpPr>
          <p:cNvPr id="26" name="Text 23">
            <a:extLst>
              <a:ext uri="{FF2B5EF4-FFF2-40B4-BE49-F238E27FC236}">
                <a16:creationId xmlns:a16="http://schemas.microsoft.com/office/drawing/2014/main" id="{9611075A-C01C-B3FA-29DD-CFC18AFA4CE4}"/>
              </a:ext>
            </a:extLst>
          </p:cNvPr>
          <p:cNvSpPr/>
          <p:nvPr/>
        </p:nvSpPr>
        <p:spPr>
          <a:xfrm>
            <a:off x="8533180" y="1438758"/>
            <a:ext cx="2819095" cy="1533035"/>
          </a:xfrm>
          <a:prstGeom prst="rect">
            <a:avLst/>
          </a:prstGeom>
          <a:noFill/>
          <a:ln/>
        </p:spPr>
        <p:txBody>
          <a:bodyPr wrap="square" rtlCol="0" anchor="ctr"/>
          <a:lstStyle/>
          <a:p>
            <a:pPr marL="0" indent="0" algn="l">
              <a:lnSpc>
                <a:spcPct val="125000"/>
              </a:lnSpc>
              <a:buNone/>
            </a:pPr>
            <a:r>
              <a:rPr lang="en-US" sz="1400">
                <a:solidFill>
                  <a:srgbClr val="F2EFDA"/>
                </a:solidFill>
                <a:latin typeface="Arial" pitchFamily="34" charset="0"/>
                <a:ea typeface="Arial" pitchFamily="34" charset="-122"/>
                <a:cs typeface="Arial" pitchFamily="34" charset="-120"/>
              </a:rPr>
              <a:t>Stehen </a:t>
            </a:r>
            <a:r>
              <a:rPr lang="en-US" sz="1400" err="1">
                <a:solidFill>
                  <a:srgbClr val="F2EFDA"/>
                </a:solidFill>
                <a:latin typeface="Arial" pitchFamily="34" charset="0"/>
                <a:ea typeface="Arial" pitchFamily="34" charset="-122"/>
                <a:cs typeface="Arial" pitchFamily="34" charset="-120"/>
              </a:rPr>
              <a:t>zeitliche</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Dynamiken</a:t>
            </a:r>
            <a:r>
              <a:rPr lang="en-US" sz="1400">
                <a:solidFill>
                  <a:srgbClr val="F2EFDA"/>
                </a:solidFill>
                <a:latin typeface="Arial" pitchFamily="34" charset="0"/>
                <a:ea typeface="Arial" pitchFamily="34" charset="-122"/>
                <a:cs typeface="Arial" pitchFamily="34" charset="-120"/>
              </a:rPr>
              <a:t> von </a:t>
            </a:r>
            <a:r>
              <a:rPr lang="en-US" sz="1400" err="1">
                <a:solidFill>
                  <a:srgbClr val="F2EFDA"/>
                </a:solidFill>
                <a:latin typeface="Arial" pitchFamily="34" charset="0"/>
                <a:ea typeface="Arial" pitchFamily="34" charset="-122"/>
                <a:cs typeface="Arial" pitchFamily="34" charset="-120"/>
              </a:rPr>
              <a:t>Finanzkennzahlen</a:t>
            </a:r>
            <a:r>
              <a:rPr lang="en-US" sz="1400">
                <a:solidFill>
                  <a:srgbClr val="F2EFDA"/>
                </a:solidFill>
                <a:latin typeface="Arial" pitchFamily="34" charset="0"/>
                <a:ea typeface="Arial" pitchFamily="34" charset="-122"/>
                <a:cs typeface="Arial" pitchFamily="34" charset="-120"/>
              </a:rPr>
              <a:t> in </a:t>
            </a:r>
            <a:r>
              <a:rPr lang="en-US" sz="1400" err="1">
                <a:solidFill>
                  <a:srgbClr val="F2EFDA"/>
                </a:solidFill>
                <a:latin typeface="Arial" pitchFamily="34" charset="0"/>
                <a:ea typeface="Arial" pitchFamily="34" charset="-122"/>
                <a:cs typeface="Arial" pitchFamily="34" charset="-120"/>
              </a:rPr>
              <a:t>Zusammenhang</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mit</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strukturellen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Unternehmensmerkmalen</a:t>
            </a:r>
            <a:r>
              <a:rPr lang="en-US" sz="1400">
                <a:solidFill>
                  <a:srgbClr val="F2EFDA"/>
                </a:solidFill>
                <a:latin typeface="Arial" pitchFamily="34" charset="0"/>
                <a:ea typeface="Arial" pitchFamily="34" charset="-122"/>
                <a:cs typeface="Arial" pitchFamily="34" charset="-120"/>
              </a:rPr>
              <a:t>?</a:t>
            </a:r>
          </a:p>
        </p:txBody>
      </p:sp>
      <mc:AlternateContent xmlns:mc="http://schemas.openxmlformats.org/markup-compatibility/2006" xmlns:a14="http://schemas.microsoft.com/office/drawing/2010/main">
        <mc:Choice Requires="a14">
          <p:sp>
            <p:nvSpPr>
              <p:cNvPr id="39" name="Textfeld 38">
                <a:extLst>
                  <a:ext uri="{FF2B5EF4-FFF2-40B4-BE49-F238E27FC236}">
                    <a16:creationId xmlns:a16="http://schemas.microsoft.com/office/drawing/2014/main" id="{9B988DCC-8D6F-AC80-C380-D4B3140CEAC7}"/>
                  </a:ext>
                </a:extLst>
              </p:cNvPr>
              <p:cNvSpPr txBox="1"/>
              <p:nvPr/>
            </p:nvSpPr>
            <p:spPr>
              <a:xfrm>
                <a:off x="3047238" y="3244334"/>
                <a:ext cx="609447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de-DE" smtClean="0">
                          <a:latin typeface="Cambria Math" panose="02040503050406030204" pitchFamily="18" charset="0"/>
                        </a:rPr>
                        <m:t>∙</m:t>
                      </m:r>
                    </m:oMath>
                  </m:oMathPara>
                </a14:m>
                <a:endParaRPr lang="de-DE"/>
              </a:p>
            </p:txBody>
          </p:sp>
        </mc:Choice>
        <mc:Fallback xmlns="">
          <p:sp>
            <p:nvSpPr>
              <p:cNvPr id="39" name="Textfeld 38">
                <a:extLst>
                  <a:ext uri="{FF2B5EF4-FFF2-40B4-BE49-F238E27FC236}">
                    <a16:creationId xmlns:a16="http://schemas.microsoft.com/office/drawing/2014/main" id="{9B988DCC-8D6F-AC80-C380-D4B3140CEAC7}"/>
                  </a:ext>
                </a:extLst>
              </p:cNvPr>
              <p:cNvSpPr txBox="1">
                <a:spLocks noRot="1" noChangeAspect="1" noMove="1" noResize="1" noEditPoints="1" noAdjustHandles="1" noChangeArrowheads="1" noChangeShapeType="1" noTextEdit="1"/>
              </p:cNvSpPr>
              <p:nvPr/>
            </p:nvSpPr>
            <p:spPr>
              <a:xfrm>
                <a:off x="3047238" y="3244334"/>
                <a:ext cx="6094476" cy="369332"/>
              </a:xfrm>
              <a:prstGeom prst="rect">
                <a:avLst/>
              </a:prstGeom>
              <a:blipFill>
                <a:blip r:embed="rId3"/>
                <a:stretch>
                  <a:fillRect/>
                </a:stretch>
              </a:blipFill>
            </p:spPr>
            <p:txBody>
              <a:bodyPr/>
              <a:lstStyle/>
              <a:p>
                <a:r>
                  <a:rPr lang="en-US">
                    <a:noFill/>
                  </a:rPr>
                  <a:t> </a:t>
                </a:r>
              </a:p>
            </p:txBody>
          </p:sp>
        </mc:Fallback>
      </mc:AlternateContent>
      <p:grpSp>
        <p:nvGrpSpPr>
          <p:cNvPr id="49" name="Gruppieren 48">
            <a:extLst>
              <a:ext uri="{FF2B5EF4-FFF2-40B4-BE49-F238E27FC236}">
                <a16:creationId xmlns:a16="http://schemas.microsoft.com/office/drawing/2014/main" id="{D5997860-115B-5DA0-1459-E598ADA76A37}"/>
              </a:ext>
            </a:extLst>
          </p:cNvPr>
          <p:cNvGrpSpPr/>
          <p:nvPr/>
        </p:nvGrpSpPr>
        <p:grpSpPr>
          <a:xfrm>
            <a:off x="509287" y="3761773"/>
            <a:ext cx="11142000" cy="2910304"/>
            <a:chOff x="509287" y="3761773"/>
            <a:chExt cx="11142000" cy="2910304"/>
          </a:xfrm>
        </p:grpSpPr>
        <p:sp>
          <p:nvSpPr>
            <p:cNvPr id="35" name="Shape 20">
              <a:extLst>
                <a:ext uri="{FF2B5EF4-FFF2-40B4-BE49-F238E27FC236}">
                  <a16:creationId xmlns:a16="http://schemas.microsoft.com/office/drawing/2014/main" id="{104C78D8-7E69-2FD4-B7D1-02508CD1C9DF}"/>
                </a:ext>
              </a:extLst>
            </p:cNvPr>
            <p:cNvSpPr/>
            <p:nvPr/>
          </p:nvSpPr>
          <p:spPr>
            <a:xfrm>
              <a:off x="509287" y="3761773"/>
              <a:ext cx="11142000" cy="2910304"/>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 name="Shape 4">
              <a:extLst>
                <a:ext uri="{FF2B5EF4-FFF2-40B4-BE49-F238E27FC236}">
                  <a16:creationId xmlns:a16="http://schemas.microsoft.com/office/drawing/2014/main" id="{E4C417A9-9A24-B483-B9F4-AD8BB6356F7C}"/>
                </a:ext>
              </a:extLst>
            </p:cNvPr>
            <p:cNvSpPr/>
            <p:nvPr/>
          </p:nvSpPr>
          <p:spPr>
            <a:xfrm>
              <a:off x="634594" y="4500397"/>
              <a:ext cx="10921594" cy="609905"/>
            </a:xfrm>
            <a:prstGeom prst="roundRect">
              <a:avLst>
                <a:gd name="adj" fmla="val 16642"/>
              </a:avLst>
            </a:prstGeom>
            <a:solidFill>
              <a:srgbClr val="1E402E"/>
            </a:solidFill>
            <a:ln w="12700">
              <a:solidFill>
                <a:srgbClr val="4A6D56"/>
              </a:solidFill>
              <a:prstDash val="solid"/>
            </a:ln>
          </p:spPr>
          <p:txBody>
            <a:bodyPr/>
            <a:lstStyle/>
            <a:p>
              <a:endParaRPr lang="de-DE"/>
            </a:p>
          </p:txBody>
        </p:sp>
        <mc:AlternateContent xmlns:mc="http://schemas.openxmlformats.org/markup-compatibility/2006" xmlns:a14="http://schemas.microsoft.com/office/drawing/2010/main">
          <mc:Choice Requires="a14">
            <p:sp>
              <p:nvSpPr>
                <p:cNvPr id="27" name="Text 5">
                  <a:extLst>
                    <a:ext uri="{FF2B5EF4-FFF2-40B4-BE49-F238E27FC236}">
                      <a16:creationId xmlns:a16="http://schemas.microsoft.com/office/drawing/2014/main" id="{F300F6F1-63EF-EB25-19BB-4D465FDE9C89}"/>
                    </a:ext>
                  </a:extLst>
                </p:cNvPr>
                <p:cNvSpPr/>
                <p:nvPr/>
              </p:nvSpPr>
              <p:spPr>
                <a:xfrm>
                  <a:off x="888797" y="4500397"/>
                  <a:ext cx="381305" cy="609905"/>
                </a:xfrm>
                <a:prstGeom prst="rect">
                  <a:avLst/>
                </a:prstGeom>
                <a:noFill/>
                <a:ln/>
              </p:spPr>
              <p:txBody>
                <a:bodyPr wrap="square" rtlCol="0" anchor="ctr"/>
                <a:lstStyle/>
                <a:p>
                  <a:pPr marL="0" indent="0" algn="l">
                    <a:lnSpc>
                      <a:spcPct val="105000"/>
                    </a:lnSpc>
                    <a:buNone/>
                  </a:pPr>
                  <a14:m>
                    <m:oMathPara xmlns:m="http://schemas.openxmlformats.org/officeDocument/2006/math">
                      <m:oMathParaPr>
                        <m:jc m:val="centerGroup"/>
                      </m:oMathParaPr>
                      <m:oMath xmlns:m="http://schemas.openxmlformats.org/officeDocument/2006/math">
                        <m:r>
                          <a:rPr lang="en-US" sz="4400" b="1" dirty="0" smtClean="0">
                            <a:solidFill>
                              <a:srgbClr val="E6D44F"/>
                            </a:solidFill>
                            <a:latin typeface="Cambria Math" panose="02040503050406030204" pitchFamily="18" charset="0"/>
                          </a:rPr>
                          <m:t>∙</m:t>
                        </m:r>
                      </m:oMath>
                    </m:oMathPara>
                  </a14:m>
                  <a:endParaRPr lang="en-US" sz="4400" b="1">
                    <a:solidFill>
                      <a:srgbClr val="E6D44F"/>
                    </a:solidFill>
                  </a:endParaRPr>
                </a:p>
              </p:txBody>
            </p:sp>
          </mc:Choice>
          <mc:Fallback xmlns="">
            <p:sp>
              <p:nvSpPr>
                <p:cNvPr id="27" name="Text 5">
                  <a:extLst>
                    <a:ext uri="{FF2B5EF4-FFF2-40B4-BE49-F238E27FC236}">
                      <a16:creationId xmlns:a16="http://schemas.microsoft.com/office/drawing/2014/main" id="{F300F6F1-63EF-EB25-19BB-4D465FDE9C89}"/>
                    </a:ext>
                  </a:extLst>
                </p:cNvPr>
                <p:cNvSpPr>
                  <a:spLocks noRot="1" noChangeAspect="1" noMove="1" noResize="1" noEditPoints="1" noAdjustHandles="1" noChangeArrowheads="1" noChangeShapeType="1" noTextEdit="1"/>
                </p:cNvSpPr>
                <p:nvPr/>
              </p:nvSpPr>
              <p:spPr>
                <a:xfrm>
                  <a:off x="888797" y="4500397"/>
                  <a:ext cx="381305" cy="609905"/>
                </a:xfrm>
                <a:prstGeom prst="rect">
                  <a:avLst/>
                </a:prstGeom>
                <a:blipFill>
                  <a:blip r:embed="rId4"/>
                  <a:stretch>
                    <a:fillRect/>
                  </a:stretch>
                </a:blipFill>
                <a:ln/>
              </p:spPr>
              <p:txBody>
                <a:bodyPr/>
                <a:lstStyle/>
                <a:p>
                  <a:r>
                    <a:rPr lang="en-US">
                      <a:noFill/>
                    </a:rPr>
                    <a:t> </a:t>
                  </a:r>
                </a:p>
              </p:txBody>
            </p:sp>
          </mc:Fallback>
        </mc:AlternateContent>
        <p:sp>
          <p:nvSpPr>
            <p:cNvPr id="28" name="Text 6">
              <a:extLst>
                <a:ext uri="{FF2B5EF4-FFF2-40B4-BE49-F238E27FC236}">
                  <a16:creationId xmlns:a16="http://schemas.microsoft.com/office/drawing/2014/main" id="{FAF0814E-B433-E665-D870-C05D2C32C16F}"/>
                </a:ext>
              </a:extLst>
            </p:cNvPr>
            <p:cNvSpPr/>
            <p:nvPr/>
          </p:nvSpPr>
          <p:spPr>
            <a:xfrm>
              <a:off x="1333195" y="4500397"/>
              <a:ext cx="10032797" cy="609905"/>
            </a:xfrm>
            <a:prstGeom prst="rect">
              <a:avLst/>
            </a:prstGeom>
            <a:noFill/>
            <a:ln/>
          </p:spPr>
          <p:txBody>
            <a:bodyPr wrap="square" rtlCol="0" anchor="ctr"/>
            <a:lstStyle/>
            <a:p>
              <a:pPr>
                <a:lnSpc>
                  <a:spcPct val="115000"/>
                </a:lnSpc>
              </a:pPr>
              <a:r>
                <a:rPr lang="en-US" sz="1400" err="1">
                  <a:solidFill>
                    <a:srgbClr val="F2EFDA"/>
                  </a:solidFill>
                  <a:latin typeface="Arial" pitchFamily="34" charset="0"/>
                  <a:ea typeface="Arial" pitchFamily="34" charset="-122"/>
                  <a:cs typeface="Arial" pitchFamily="34" charset="-120"/>
                </a:rPr>
                <a:t>Anwendung</a:t>
              </a:r>
              <a:r>
                <a:rPr lang="en-US" sz="1400">
                  <a:solidFill>
                    <a:srgbClr val="F2EFDA"/>
                  </a:solidFill>
                  <a:latin typeface="Arial" pitchFamily="34" charset="0"/>
                  <a:ea typeface="Arial" pitchFamily="34" charset="-122"/>
                  <a:cs typeface="Arial" pitchFamily="34" charset="-120"/>
                </a:rPr>
                <a:t> der Mean-Reversion auf </a:t>
              </a:r>
              <a:r>
                <a:rPr lang="en-US" sz="1400" err="1">
                  <a:solidFill>
                    <a:srgbClr val="F2EFDA"/>
                  </a:solidFill>
                  <a:latin typeface="Arial" pitchFamily="34" charset="0"/>
                  <a:ea typeface="Arial" pitchFamily="34" charset="-122"/>
                  <a:cs typeface="Arial" pitchFamily="34" charset="-120"/>
                </a:rPr>
                <a:t>Finanzkennzahlen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zur</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individuellen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Betrachtung</a:t>
              </a:r>
              <a:r>
                <a:rPr lang="en-US" sz="1400">
                  <a:solidFill>
                    <a:srgbClr val="F2EFDA"/>
                  </a:solidFill>
                  <a:latin typeface="Arial" pitchFamily="34" charset="0"/>
                  <a:ea typeface="Arial" pitchFamily="34" charset="-122"/>
                  <a:cs typeface="Arial" pitchFamily="34" charset="-120"/>
                </a:rPr>
                <a:t> pro </a:t>
              </a:r>
              <a:r>
                <a:rPr lang="en-US" sz="1400" err="1">
                  <a:solidFill>
                    <a:srgbClr val="F2EFDA"/>
                  </a:solidFill>
                  <a:latin typeface="Arial" pitchFamily="34" charset="0"/>
                  <a:ea typeface="Arial" pitchFamily="34" charset="-122"/>
                  <a:cs typeface="Arial" pitchFamily="34" charset="-120"/>
                </a:rPr>
                <a:t>Unternehmen</a:t>
              </a:r>
              <a:endParaRPr lang="en-US" sz="1400"/>
            </a:p>
          </p:txBody>
        </p:sp>
        <p:sp>
          <p:nvSpPr>
            <p:cNvPr id="29" name="Shape 7">
              <a:extLst>
                <a:ext uri="{FF2B5EF4-FFF2-40B4-BE49-F238E27FC236}">
                  <a16:creationId xmlns:a16="http://schemas.microsoft.com/office/drawing/2014/main" id="{424CF010-B52F-8BF9-05FF-8EE06118F21B}"/>
                </a:ext>
              </a:extLst>
            </p:cNvPr>
            <p:cNvSpPr/>
            <p:nvPr/>
          </p:nvSpPr>
          <p:spPr>
            <a:xfrm>
              <a:off x="634594" y="5186197"/>
              <a:ext cx="10921594" cy="609905"/>
            </a:xfrm>
            <a:prstGeom prst="roundRect">
              <a:avLst>
                <a:gd name="adj" fmla="val 16642"/>
              </a:avLst>
            </a:prstGeom>
            <a:solidFill>
              <a:srgbClr val="1E402E"/>
            </a:solidFill>
            <a:ln w="12700">
              <a:solidFill>
                <a:srgbClr val="4A6D56"/>
              </a:solidFill>
              <a:prstDash val="solid"/>
            </a:ln>
          </p:spPr>
          <p:txBody>
            <a:bodyPr/>
            <a:lstStyle/>
            <a:p>
              <a:endParaRPr lang="de-DE"/>
            </a:p>
          </p:txBody>
        </p:sp>
        <p:sp>
          <p:nvSpPr>
            <p:cNvPr id="31" name="Text 9">
              <a:extLst>
                <a:ext uri="{FF2B5EF4-FFF2-40B4-BE49-F238E27FC236}">
                  <a16:creationId xmlns:a16="http://schemas.microsoft.com/office/drawing/2014/main" id="{5A0C6D14-CAD4-6354-0BE8-B84036F252AE}"/>
                </a:ext>
              </a:extLst>
            </p:cNvPr>
            <p:cNvSpPr/>
            <p:nvPr/>
          </p:nvSpPr>
          <p:spPr>
            <a:xfrm>
              <a:off x="1333195" y="5186197"/>
              <a:ext cx="10032797" cy="609905"/>
            </a:xfrm>
            <a:prstGeom prst="rect">
              <a:avLst/>
            </a:prstGeom>
            <a:noFill/>
            <a:ln/>
          </p:spPr>
          <p:txBody>
            <a:bodyPr wrap="square" rtlCol="0" anchor="ctr"/>
            <a:lstStyle/>
            <a:p>
              <a:pPr marL="0" indent="0" algn="l">
                <a:lnSpc>
                  <a:spcPct val="115000"/>
                </a:lnSpc>
                <a:buNone/>
              </a:pPr>
              <a:r>
                <a:rPr lang="en-US" sz="1400" err="1">
                  <a:solidFill>
                    <a:srgbClr val="F2EFDA"/>
                  </a:solidFill>
                  <a:latin typeface="Arial" pitchFamily="34" charset="0"/>
                  <a:ea typeface="Arial" pitchFamily="34" charset="-122"/>
                  <a:cs typeface="Arial" pitchFamily="34" charset="-120"/>
                </a:rPr>
                <a:t>Untersuchung</a:t>
              </a:r>
              <a:r>
                <a:rPr lang="en-US" sz="1400">
                  <a:solidFill>
                    <a:srgbClr val="F2EFDA"/>
                  </a:solidFill>
                  <a:latin typeface="Arial" pitchFamily="34" charset="0"/>
                  <a:ea typeface="Arial" pitchFamily="34" charset="-122"/>
                  <a:cs typeface="Arial" pitchFamily="34" charset="-120"/>
                </a:rPr>
                <a:t> der Dynamik </a:t>
              </a:r>
              <a:r>
                <a:rPr lang="en-US" sz="1400" err="1">
                  <a:solidFill>
                    <a:srgbClr val="F2EFDA"/>
                  </a:solidFill>
                  <a:latin typeface="Arial" pitchFamily="34" charset="0"/>
                  <a:ea typeface="Arial" pitchFamily="34" charset="-122"/>
                  <a:cs typeface="Arial" pitchFamily="34" charset="-120"/>
                </a:rPr>
                <a:t>unterschiedlicher</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Finanzkennzahlen</a:t>
              </a:r>
              <a:endParaRPr lang="en-US" sz="1400"/>
            </a:p>
          </p:txBody>
        </p:sp>
        <p:sp>
          <p:nvSpPr>
            <p:cNvPr id="32" name="Shape 10">
              <a:extLst>
                <a:ext uri="{FF2B5EF4-FFF2-40B4-BE49-F238E27FC236}">
                  <a16:creationId xmlns:a16="http://schemas.microsoft.com/office/drawing/2014/main" id="{13004DB0-2FC5-E6AF-8B5F-B52F746C3DC5}"/>
                </a:ext>
              </a:extLst>
            </p:cNvPr>
            <p:cNvSpPr/>
            <p:nvPr/>
          </p:nvSpPr>
          <p:spPr>
            <a:xfrm>
              <a:off x="634594" y="5871997"/>
              <a:ext cx="10921594" cy="609905"/>
            </a:xfrm>
            <a:prstGeom prst="roundRect">
              <a:avLst>
                <a:gd name="adj" fmla="val 16642"/>
              </a:avLst>
            </a:prstGeom>
            <a:solidFill>
              <a:srgbClr val="1E402E"/>
            </a:solidFill>
            <a:ln w="12700">
              <a:solidFill>
                <a:srgbClr val="4A6D56"/>
              </a:solidFill>
              <a:prstDash val="solid"/>
            </a:ln>
          </p:spPr>
          <p:txBody>
            <a:bodyPr/>
            <a:lstStyle/>
            <a:p>
              <a:endParaRPr lang="de-DE"/>
            </a:p>
          </p:txBody>
        </p:sp>
        <p:sp>
          <p:nvSpPr>
            <p:cNvPr id="34" name="Text 12">
              <a:extLst>
                <a:ext uri="{FF2B5EF4-FFF2-40B4-BE49-F238E27FC236}">
                  <a16:creationId xmlns:a16="http://schemas.microsoft.com/office/drawing/2014/main" id="{5ED083AF-DF6A-EE06-DBDA-C83D2E33B4DA}"/>
                </a:ext>
              </a:extLst>
            </p:cNvPr>
            <p:cNvSpPr/>
            <p:nvPr/>
          </p:nvSpPr>
          <p:spPr>
            <a:xfrm>
              <a:off x="1333195" y="5871997"/>
              <a:ext cx="10032797" cy="609905"/>
            </a:xfrm>
            <a:prstGeom prst="rect">
              <a:avLst/>
            </a:prstGeom>
            <a:noFill/>
            <a:ln/>
          </p:spPr>
          <p:txBody>
            <a:bodyPr wrap="square" rtlCol="0" anchor="ctr"/>
            <a:lstStyle/>
            <a:p>
              <a:pPr marL="0" indent="0" algn="l">
                <a:lnSpc>
                  <a:spcPct val="115000"/>
                </a:lnSpc>
                <a:buNone/>
              </a:pPr>
              <a:r>
                <a:rPr lang="en-US" sz="1400" err="1">
                  <a:solidFill>
                    <a:srgbClr val="F2EFDA"/>
                  </a:solidFill>
                  <a:latin typeface="Arial" pitchFamily="34" charset="0"/>
                  <a:ea typeface="Arial" pitchFamily="34" charset="-122"/>
                  <a:cs typeface="Arial" pitchFamily="34" charset="-120"/>
                </a:rPr>
                <a:t>Einfluss</a:t>
              </a:r>
              <a:r>
                <a:rPr lang="en-US" sz="1400">
                  <a:solidFill>
                    <a:srgbClr val="F2EFDA"/>
                  </a:solidFill>
                  <a:latin typeface="Arial" pitchFamily="34" charset="0"/>
                  <a:ea typeface="Arial" pitchFamily="34" charset="-122"/>
                  <a:cs typeface="Arial" pitchFamily="34" charset="-120"/>
                </a:rPr>
                <a:t> der </a:t>
              </a:r>
              <a:r>
                <a:rPr lang="en-US" sz="1400" err="1">
                  <a:solidFill>
                    <a:srgbClr val="F2EFDA"/>
                  </a:solidFill>
                  <a:latin typeface="Arial" pitchFamily="34" charset="0"/>
                  <a:ea typeface="Arial" pitchFamily="34" charset="-122"/>
                  <a:cs typeface="Arial" pitchFamily="34" charset="-120"/>
                </a:rPr>
                <a:t>Strukturmerkmale</a:t>
              </a:r>
              <a:r>
                <a:rPr lang="en-US" sz="1400">
                  <a:solidFill>
                    <a:srgbClr val="F2EFDA"/>
                  </a:solidFill>
                  <a:latin typeface="Arial" pitchFamily="34" charset="0"/>
                  <a:ea typeface="Arial" pitchFamily="34" charset="-122"/>
                  <a:cs typeface="Arial" pitchFamily="34" charset="-120"/>
                </a:rPr>
                <a:t> auf Mean-Reversion und </a:t>
              </a:r>
              <a:r>
                <a:rPr lang="en-US" sz="1400" err="1">
                  <a:solidFill>
                    <a:srgbClr val="F2EFDA"/>
                  </a:solidFill>
                  <a:latin typeface="Arial" pitchFamily="34" charset="0"/>
                  <a:ea typeface="Arial" pitchFamily="34" charset="-122"/>
                  <a:cs typeface="Arial" pitchFamily="34" charset="-120"/>
                </a:rPr>
                <a:t>Volatilität</a:t>
              </a:r>
              <a:endParaRPr lang="en-US" sz="1400">
                <a:solidFill>
                  <a:srgbClr val="FF0000"/>
                </a:solidFill>
              </a:endParaRPr>
            </a:p>
          </p:txBody>
        </p:sp>
        <p:sp>
          <p:nvSpPr>
            <p:cNvPr id="36" name="Textfeld 35">
              <a:extLst>
                <a:ext uri="{FF2B5EF4-FFF2-40B4-BE49-F238E27FC236}">
                  <a16:creationId xmlns:a16="http://schemas.microsoft.com/office/drawing/2014/main" id="{A130EE69-BC72-68AF-30E8-B49AB542B86C}"/>
                </a:ext>
              </a:extLst>
            </p:cNvPr>
            <p:cNvSpPr txBox="1"/>
            <p:nvPr/>
          </p:nvSpPr>
          <p:spPr>
            <a:xfrm>
              <a:off x="686001" y="3900253"/>
              <a:ext cx="2970685" cy="461665"/>
            </a:xfrm>
            <a:prstGeom prst="rect">
              <a:avLst/>
            </a:prstGeom>
            <a:noFill/>
          </p:spPr>
          <p:txBody>
            <a:bodyPr wrap="none" rtlCol="0">
              <a:spAutoFit/>
            </a:bodyPr>
            <a:lstStyle/>
            <a:p>
              <a:r>
                <a:rPr lang="de-DE" sz="2400" b="1">
                  <a:solidFill>
                    <a:srgbClr val="78A2F9"/>
                  </a:solidFill>
                  <a:latin typeface="Arial" pitchFamily="34" charset="0"/>
                  <a:cs typeface="Arial" pitchFamily="34" charset="-120"/>
                </a:rPr>
                <a:t>Forschungsbeitrag</a:t>
              </a:r>
            </a:p>
          </p:txBody>
        </p:sp>
        <mc:AlternateContent xmlns:mc="http://schemas.openxmlformats.org/markup-compatibility/2006" xmlns:a14="http://schemas.microsoft.com/office/drawing/2010/main">
          <mc:Choice Requires="a14">
            <p:sp>
              <p:nvSpPr>
                <p:cNvPr id="40" name="Text 5">
                  <a:extLst>
                    <a:ext uri="{FF2B5EF4-FFF2-40B4-BE49-F238E27FC236}">
                      <a16:creationId xmlns:a16="http://schemas.microsoft.com/office/drawing/2014/main" id="{52838BB0-C7CE-EFCA-FE68-111E396272EE}"/>
                    </a:ext>
                  </a:extLst>
                </p:cNvPr>
                <p:cNvSpPr/>
                <p:nvPr/>
              </p:nvSpPr>
              <p:spPr>
                <a:xfrm>
                  <a:off x="888796" y="5186197"/>
                  <a:ext cx="381305" cy="609905"/>
                </a:xfrm>
                <a:prstGeom prst="rect">
                  <a:avLst/>
                </a:prstGeom>
                <a:noFill/>
                <a:ln/>
              </p:spPr>
              <p:txBody>
                <a:bodyPr wrap="square" rtlCol="0" anchor="ctr"/>
                <a:lstStyle/>
                <a:p>
                  <a:pPr marL="0" indent="0" algn="l">
                    <a:lnSpc>
                      <a:spcPct val="105000"/>
                    </a:lnSpc>
                    <a:buNone/>
                  </a:pPr>
                  <a14:m>
                    <m:oMathPara xmlns:m="http://schemas.openxmlformats.org/officeDocument/2006/math">
                      <m:oMathParaPr>
                        <m:jc m:val="centerGroup"/>
                      </m:oMathParaPr>
                      <m:oMath xmlns:m="http://schemas.openxmlformats.org/officeDocument/2006/math">
                        <m:r>
                          <a:rPr lang="en-US" sz="4400" b="1" dirty="0" smtClean="0">
                            <a:solidFill>
                              <a:srgbClr val="E6D44F"/>
                            </a:solidFill>
                            <a:latin typeface="Cambria Math" panose="02040503050406030204" pitchFamily="18" charset="0"/>
                          </a:rPr>
                          <m:t>∙</m:t>
                        </m:r>
                      </m:oMath>
                    </m:oMathPara>
                  </a14:m>
                  <a:endParaRPr lang="en-US" sz="4400" b="1">
                    <a:solidFill>
                      <a:srgbClr val="E6D44F"/>
                    </a:solidFill>
                  </a:endParaRPr>
                </a:p>
              </p:txBody>
            </p:sp>
          </mc:Choice>
          <mc:Fallback xmlns="">
            <p:sp>
              <p:nvSpPr>
                <p:cNvPr id="40" name="Text 5">
                  <a:extLst>
                    <a:ext uri="{FF2B5EF4-FFF2-40B4-BE49-F238E27FC236}">
                      <a16:creationId xmlns:a16="http://schemas.microsoft.com/office/drawing/2014/main" id="{52838BB0-C7CE-EFCA-FE68-111E396272EE}"/>
                    </a:ext>
                  </a:extLst>
                </p:cNvPr>
                <p:cNvSpPr>
                  <a:spLocks noRot="1" noChangeAspect="1" noMove="1" noResize="1" noEditPoints="1" noAdjustHandles="1" noChangeArrowheads="1" noChangeShapeType="1" noTextEdit="1"/>
                </p:cNvSpPr>
                <p:nvPr/>
              </p:nvSpPr>
              <p:spPr>
                <a:xfrm>
                  <a:off x="888796" y="5186197"/>
                  <a:ext cx="381305" cy="609905"/>
                </a:xfrm>
                <a:prstGeom prst="rect">
                  <a:avLst/>
                </a:prstGeom>
                <a:blipFill>
                  <a:blip r:embed="rId5"/>
                  <a:stretch>
                    <a:fillRect/>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 5">
                  <a:extLst>
                    <a:ext uri="{FF2B5EF4-FFF2-40B4-BE49-F238E27FC236}">
                      <a16:creationId xmlns:a16="http://schemas.microsoft.com/office/drawing/2014/main" id="{173030AA-CE19-5411-C01F-5B1E6F9672A4}"/>
                    </a:ext>
                  </a:extLst>
                </p:cNvPr>
                <p:cNvSpPr/>
                <p:nvPr/>
              </p:nvSpPr>
              <p:spPr>
                <a:xfrm>
                  <a:off x="888796" y="5871997"/>
                  <a:ext cx="381305" cy="609905"/>
                </a:xfrm>
                <a:prstGeom prst="rect">
                  <a:avLst/>
                </a:prstGeom>
                <a:noFill/>
                <a:ln/>
              </p:spPr>
              <p:txBody>
                <a:bodyPr wrap="square" rtlCol="0" anchor="ctr"/>
                <a:lstStyle/>
                <a:p>
                  <a:pPr marL="0" indent="0" algn="l">
                    <a:lnSpc>
                      <a:spcPct val="105000"/>
                    </a:lnSpc>
                    <a:buNone/>
                  </a:pPr>
                  <a14:m>
                    <m:oMathPara xmlns:m="http://schemas.openxmlformats.org/officeDocument/2006/math">
                      <m:oMathParaPr>
                        <m:jc m:val="centerGroup"/>
                      </m:oMathParaPr>
                      <m:oMath xmlns:m="http://schemas.openxmlformats.org/officeDocument/2006/math">
                        <m:r>
                          <a:rPr lang="en-US" sz="4400" b="1" dirty="0" smtClean="0">
                            <a:solidFill>
                              <a:srgbClr val="E6D44F"/>
                            </a:solidFill>
                            <a:latin typeface="Cambria Math" panose="02040503050406030204" pitchFamily="18" charset="0"/>
                          </a:rPr>
                          <m:t>∙</m:t>
                        </m:r>
                      </m:oMath>
                    </m:oMathPara>
                  </a14:m>
                  <a:endParaRPr lang="en-US" sz="4400" b="1">
                    <a:solidFill>
                      <a:srgbClr val="E6D44F"/>
                    </a:solidFill>
                  </a:endParaRPr>
                </a:p>
              </p:txBody>
            </p:sp>
          </mc:Choice>
          <mc:Fallback xmlns="">
            <p:sp>
              <p:nvSpPr>
                <p:cNvPr id="41" name="Text 5">
                  <a:extLst>
                    <a:ext uri="{FF2B5EF4-FFF2-40B4-BE49-F238E27FC236}">
                      <a16:creationId xmlns:a16="http://schemas.microsoft.com/office/drawing/2014/main" id="{173030AA-CE19-5411-C01F-5B1E6F9672A4}"/>
                    </a:ext>
                  </a:extLst>
                </p:cNvPr>
                <p:cNvSpPr>
                  <a:spLocks noRot="1" noChangeAspect="1" noMove="1" noResize="1" noEditPoints="1" noAdjustHandles="1" noChangeArrowheads="1" noChangeShapeType="1" noTextEdit="1"/>
                </p:cNvSpPr>
                <p:nvPr/>
              </p:nvSpPr>
              <p:spPr>
                <a:xfrm>
                  <a:off x="888796" y="5871997"/>
                  <a:ext cx="381305" cy="609905"/>
                </a:xfrm>
                <a:prstGeom prst="rect">
                  <a:avLst/>
                </a:prstGeom>
                <a:blipFill>
                  <a:blip r:embed="rId4"/>
                  <a:stretch>
                    <a:fillRect/>
                  </a:stretch>
                </a:blipFill>
                <a:ln/>
              </p:spPr>
              <p:txBody>
                <a:bodyPr/>
                <a:lstStyle/>
                <a:p>
                  <a:r>
                    <a:rPr lang="en-US">
                      <a:noFill/>
                    </a:rPr>
                    <a:t> </a:t>
                  </a:r>
                </a:p>
              </p:txBody>
            </p:sp>
          </mc:Fallback>
        </mc:AlternateContent>
      </p:grpSp>
      <p:cxnSp>
        <p:nvCxnSpPr>
          <p:cNvPr id="43" name="Gerade Verbindung mit Pfeil 42">
            <a:extLst>
              <a:ext uri="{FF2B5EF4-FFF2-40B4-BE49-F238E27FC236}">
                <a16:creationId xmlns:a16="http://schemas.microsoft.com/office/drawing/2014/main" id="{F9F5C56D-E0DE-A2DC-10A6-8AC066BCD89F}"/>
              </a:ext>
            </a:extLst>
          </p:cNvPr>
          <p:cNvCxnSpPr>
            <a:stCxn id="15" idx="2"/>
          </p:cNvCxnSpPr>
          <p:nvPr/>
        </p:nvCxnSpPr>
        <p:spPr>
          <a:xfrm>
            <a:off x="2247596" y="3189744"/>
            <a:ext cx="1828" cy="572029"/>
          </a:xfrm>
          <a:prstGeom prst="straightConnector1">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cxnSp>
        <p:nvCxnSpPr>
          <p:cNvPr id="44" name="Gerade Verbindung mit Pfeil 43">
            <a:extLst>
              <a:ext uri="{FF2B5EF4-FFF2-40B4-BE49-F238E27FC236}">
                <a16:creationId xmlns:a16="http://schemas.microsoft.com/office/drawing/2014/main" id="{2F72D3AB-A6D2-479F-A087-1780EA8BCE0C}"/>
              </a:ext>
            </a:extLst>
          </p:cNvPr>
          <p:cNvCxnSpPr>
            <a:cxnSpLocks/>
          </p:cNvCxnSpPr>
          <p:nvPr/>
        </p:nvCxnSpPr>
        <p:spPr>
          <a:xfrm>
            <a:off x="6078459" y="3189744"/>
            <a:ext cx="1828" cy="572029"/>
          </a:xfrm>
          <a:prstGeom prst="straightConnector1">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cxnSp>
        <p:nvCxnSpPr>
          <p:cNvPr id="48" name="Gerade Verbindung mit Pfeil 47">
            <a:extLst>
              <a:ext uri="{FF2B5EF4-FFF2-40B4-BE49-F238E27FC236}">
                <a16:creationId xmlns:a16="http://schemas.microsoft.com/office/drawing/2014/main" id="{3970CE8D-0B3C-24B8-2B18-D9D0C78FEC07}"/>
              </a:ext>
            </a:extLst>
          </p:cNvPr>
          <p:cNvCxnSpPr>
            <a:cxnSpLocks/>
          </p:cNvCxnSpPr>
          <p:nvPr/>
        </p:nvCxnSpPr>
        <p:spPr>
          <a:xfrm>
            <a:off x="9981286" y="3189743"/>
            <a:ext cx="1828" cy="572029"/>
          </a:xfrm>
          <a:prstGeom prst="straightConnector1">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071233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03 / 13</a:t>
            </a:r>
            <a:endParaRPr lang="en-US" sz="1200"/>
          </a:p>
        </p:txBody>
      </p:sp>
      <p:sp>
        <p:nvSpPr>
          <p:cNvPr id="6" name="Text 3"/>
          <p:cNvSpPr/>
          <p:nvPr/>
        </p:nvSpPr>
        <p:spPr>
          <a:xfrm>
            <a:off x="634594" y="761695"/>
            <a:ext cx="10921594" cy="495605"/>
          </a:xfrm>
          <a:prstGeom prst="rect">
            <a:avLst/>
          </a:prstGeom>
          <a:noFill/>
          <a:ln/>
        </p:spPr>
        <p:txBody>
          <a:bodyPr wrap="square" rtlCol="0" anchor="t"/>
          <a:lstStyle/>
          <a:p>
            <a:pPr marL="0" indent="0" algn="ctr">
              <a:lnSpc>
                <a:spcPct val="100000"/>
              </a:lnSpc>
              <a:buNone/>
            </a:pPr>
            <a:r>
              <a:rPr lang="en-US" sz="2600" b="1" kern="0" spc="-50" err="1">
                <a:solidFill>
                  <a:srgbClr val="F2EFDA"/>
                </a:solidFill>
                <a:latin typeface="Arial" pitchFamily="34" charset="0"/>
                <a:ea typeface="Arial" pitchFamily="34" charset="-122"/>
                <a:cs typeface="Arial" pitchFamily="34" charset="-120"/>
              </a:rPr>
              <a:t>Filterkette</a:t>
            </a:r>
            <a:r>
              <a:rPr lang="en-US" sz="2600" b="1" kern="0" spc="-50">
                <a:solidFill>
                  <a:srgbClr val="F2EFDA"/>
                </a:solidFill>
                <a:latin typeface="Arial" pitchFamily="34" charset="0"/>
                <a:ea typeface="Arial" pitchFamily="34" charset="-122"/>
                <a:cs typeface="Arial" pitchFamily="34" charset="-120"/>
              </a:rPr>
              <a:t> für </a:t>
            </a:r>
            <a:r>
              <a:rPr lang="en-US" sz="2600" b="1" kern="0" spc="-50" err="1">
                <a:solidFill>
                  <a:srgbClr val="78A2F9"/>
                </a:solidFill>
                <a:latin typeface="Arial" pitchFamily="34" charset="0"/>
                <a:ea typeface="Arial" pitchFamily="34" charset="-122"/>
                <a:cs typeface="Arial" pitchFamily="34" charset="-120"/>
              </a:rPr>
              <a:t>Datenqualität</a:t>
            </a:r>
            <a:endParaRPr lang="en-US" sz="2600">
              <a:solidFill>
                <a:srgbClr val="78A2F9"/>
              </a:solidFill>
            </a:endParaRPr>
          </a:p>
        </p:txBody>
      </p:sp>
      <p:sp>
        <p:nvSpPr>
          <p:cNvPr id="18" name="Shape 15"/>
          <p:cNvSpPr/>
          <p:nvPr/>
        </p:nvSpPr>
        <p:spPr>
          <a:xfrm>
            <a:off x="6493760" y="1730043"/>
            <a:ext cx="5298484" cy="3129157"/>
          </a:xfrm>
          <a:prstGeom prst="roundRect">
            <a:avLst>
              <a:gd name="adj" fmla="val 11100"/>
            </a:avLst>
          </a:prstGeom>
          <a:solidFill>
            <a:srgbClr val="1E402E"/>
          </a:solidFill>
          <a:ln w="12700">
            <a:solidFill>
              <a:srgbClr val="4A6D56"/>
            </a:solidFill>
            <a:prstDash val="solid"/>
          </a:ln>
        </p:spPr>
        <p:txBody>
          <a:bodyPr/>
          <a:lstStyle/>
          <a:p>
            <a:endParaRPr lang="de-DE">
              <a:solidFill>
                <a:srgbClr val="F3EFDA"/>
              </a:solidFill>
            </a:endParaRPr>
          </a:p>
        </p:txBody>
      </p:sp>
      <p:sp>
        <p:nvSpPr>
          <p:cNvPr id="21" name="Shape 18"/>
          <p:cNvSpPr/>
          <p:nvPr/>
        </p:nvSpPr>
        <p:spPr>
          <a:xfrm>
            <a:off x="6517210" y="5143248"/>
            <a:ext cx="2308586" cy="1166353"/>
          </a:xfrm>
          <a:prstGeom prst="roundRect">
            <a:avLst>
              <a:gd name="adj" fmla="val 11100"/>
            </a:avLst>
          </a:prstGeom>
          <a:solidFill>
            <a:srgbClr val="1E402E"/>
          </a:solidFill>
          <a:ln w="12700">
            <a:solidFill>
              <a:srgbClr val="4A6D56"/>
            </a:solidFill>
            <a:prstDash val="solid"/>
          </a:ln>
        </p:spPr>
        <p:txBody>
          <a:bodyPr/>
          <a:lstStyle/>
          <a:p>
            <a:endParaRPr lang="de-DE"/>
          </a:p>
        </p:txBody>
      </p:sp>
      <p:sp>
        <p:nvSpPr>
          <p:cNvPr id="22" name="Text 19"/>
          <p:cNvSpPr/>
          <p:nvPr/>
        </p:nvSpPr>
        <p:spPr>
          <a:xfrm>
            <a:off x="6781722" y="5295953"/>
            <a:ext cx="1865766" cy="777845"/>
          </a:xfrm>
          <a:prstGeom prst="rect">
            <a:avLst/>
          </a:prstGeom>
          <a:noFill/>
          <a:ln/>
        </p:spPr>
        <p:txBody>
          <a:bodyPr wrap="square" rtlCol="0" anchor="t"/>
          <a:lstStyle/>
          <a:p>
            <a:pPr marL="0" indent="0" algn="ctr">
              <a:lnSpc>
                <a:spcPct val="105000"/>
              </a:lnSpc>
              <a:buNone/>
            </a:pPr>
            <a:r>
              <a:rPr lang="en-US" sz="2600" b="1">
                <a:solidFill>
                  <a:srgbClr val="F2EFDA"/>
                </a:solidFill>
                <a:latin typeface="Courier New" pitchFamily="34" charset="0"/>
                <a:ea typeface="Courier New" pitchFamily="34" charset="-122"/>
                <a:cs typeface="Courier New" pitchFamily="34" charset="-120"/>
              </a:rPr>
              <a:t>7</a:t>
            </a:r>
            <a:endParaRPr lang="en-US" sz="2600"/>
          </a:p>
        </p:txBody>
      </p:sp>
      <p:sp>
        <p:nvSpPr>
          <p:cNvPr id="23" name="Text 20"/>
          <p:cNvSpPr/>
          <p:nvPr/>
        </p:nvSpPr>
        <p:spPr>
          <a:xfrm>
            <a:off x="6781722" y="5778757"/>
            <a:ext cx="1865766" cy="332905"/>
          </a:xfrm>
          <a:prstGeom prst="rect">
            <a:avLst/>
          </a:prstGeom>
          <a:noFill/>
          <a:ln/>
        </p:spPr>
        <p:txBody>
          <a:bodyPr wrap="square" rtlCol="0" anchor="t"/>
          <a:lstStyle/>
          <a:p>
            <a:pPr marL="0" indent="0" algn="ctr">
              <a:lnSpc>
                <a:spcPct val="105000"/>
              </a:lnSpc>
              <a:buNone/>
            </a:pPr>
            <a:r>
              <a:rPr lang="en-US" sz="1200" dirty="0" err="1">
                <a:solidFill>
                  <a:srgbClr val="B3BC9A"/>
                </a:solidFill>
                <a:latin typeface="Arial" pitchFamily="34" charset="0"/>
                <a:ea typeface="Arial" pitchFamily="34" charset="-122"/>
                <a:cs typeface="Arial" pitchFamily="34" charset="-120"/>
              </a:rPr>
              <a:t>Kennzahlen</a:t>
            </a:r>
            <a:r>
              <a:rPr lang="en-US" sz="1200" dirty="0">
                <a:solidFill>
                  <a:srgbClr val="B3BC9A"/>
                </a:solidFill>
                <a:latin typeface="Arial" pitchFamily="34" charset="0"/>
                <a:ea typeface="Arial" pitchFamily="34" charset="-122"/>
                <a:cs typeface="Arial" pitchFamily="34" charset="-120"/>
              </a:rPr>
              <a:t> </a:t>
            </a:r>
            <a:r>
              <a:rPr lang="en-US" sz="1200" dirty="0" err="1">
                <a:solidFill>
                  <a:srgbClr val="B3BC9A"/>
                </a:solidFill>
                <a:latin typeface="Arial" pitchFamily="34" charset="0"/>
                <a:ea typeface="Arial" pitchFamily="34" charset="-122"/>
                <a:cs typeface="Arial" pitchFamily="34" charset="-120"/>
              </a:rPr>
              <a:t>ohne</a:t>
            </a:r>
            <a:r>
              <a:rPr lang="en-US" sz="1200" dirty="0">
                <a:solidFill>
                  <a:srgbClr val="B3BC9A"/>
                </a:solidFill>
                <a:latin typeface="Arial" pitchFamily="34" charset="0"/>
                <a:ea typeface="Arial" pitchFamily="34" charset="-122"/>
                <a:cs typeface="Arial" pitchFamily="34" charset="-120"/>
              </a:rPr>
              <a:t> </a:t>
            </a:r>
            <a:r>
              <a:rPr lang="en-US" sz="1200" dirty="0" err="1">
                <a:solidFill>
                  <a:srgbClr val="B3BC9A"/>
                </a:solidFill>
                <a:latin typeface="Arial" pitchFamily="34" charset="0"/>
                <a:ea typeface="Arial" pitchFamily="34" charset="-122"/>
                <a:cs typeface="Arial" pitchFamily="34" charset="-120"/>
              </a:rPr>
              <a:t>Ausreißer</a:t>
            </a:r>
            <a:endParaRPr lang="en-US" sz="1200" dirty="0"/>
          </a:p>
        </p:txBody>
      </p:sp>
      <p:grpSp>
        <p:nvGrpSpPr>
          <p:cNvPr id="4" name="Gruppieren 3">
            <a:extLst>
              <a:ext uri="{FF2B5EF4-FFF2-40B4-BE49-F238E27FC236}">
                <a16:creationId xmlns:a16="http://schemas.microsoft.com/office/drawing/2014/main" id="{875E9B17-88F9-7450-14EE-80A82D92FC17}"/>
              </a:ext>
            </a:extLst>
          </p:cNvPr>
          <p:cNvGrpSpPr/>
          <p:nvPr/>
        </p:nvGrpSpPr>
        <p:grpSpPr>
          <a:xfrm>
            <a:off x="9090308" y="5143247"/>
            <a:ext cx="2701936" cy="1166354"/>
            <a:chOff x="9090308" y="5143247"/>
            <a:chExt cx="2701936" cy="1166354"/>
          </a:xfrm>
        </p:grpSpPr>
        <p:sp>
          <p:nvSpPr>
            <p:cNvPr id="24" name="Shape 21"/>
            <p:cNvSpPr/>
            <p:nvPr/>
          </p:nvSpPr>
          <p:spPr>
            <a:xfrm>
              <a:off x="9090308" y="5143247"/>
              <a:ext cx="2701936" cy="1166354"/>
            </a:xfrm>
            <a:prstGeom prst="roundRect">
              <a:avLst>
                <a:gd name="adj" fmla="val 11100"/>
              </a:avLst>
            </a:prstGeom>
            <a:solidFill>
              <a:srgbClr val="1E402E"/>
            </a:solidFill>
            <a:ln w="12700">
              <a:solidFill>
                <a:srgbClr val="4A6D56"/>
              </a:solidFill>
              <a:prstDash val="solid"/>
            </a:ln>
          </p:spPr>
          <p:txBody>
            <a:bodyPr/>
            <a:lstStyle/>
            <a:p>
              <a:endParaRPr lang="de-DE"/>
            </a:p>
          </p:txBody>
        </p:sp>
        <p:sp>
          <p:nvSpPr>
            <p:cNvPr id="25" name="Text 22"/>
            <p:cNvSpPr/>
            <p:nvPr/>
          </p:nvSpPr>
          <p:spPr>
            <a:xfrm>
              <a:off x="9355958" y="5295951"/>
              <a:ext cx="2267238" cy="845066"/>
            </a:xfrm>
            <a:prstGeom prst="rect">
              <a:avLst/>
            </a:prstGeom>
            <a:noFill/>
            <a:ln/>
          </p:spPr>
          <p:txBody>
            <a:bodyPr wrap="square" rtlCol="0" anchor="t"/>
            <a:lstStyle/>
            <a:p>
              <a:pPr marL="0" indent="0" algn="ctr">
                <a:lnSpc>
                  <a:spcPct val="105000"/>
                </a:lnSpc>
                <a:buNone/>
              </a:pPr>
              <a:r>
                <a:rPr lang="en-US" sz="2600" b="1" dirty="0">
                  <a:solidFill>
                    <a:srgbClr val="79A2F9"/>
                  </a:solidFill>
                  <a:latin typeface="Courier New" pitchFamily="34" charset="0"/>
                  <a:ea typeface="Courier New" pitchFamily="34" charset="-122"/>
                  <a:cs typeface="Courier New" pitchFamily="34" charset="-120"/>
                </a:rPr>
                <a:t>6.521</a:t>
              </a:r>
              <a:endParaRPr lang="en-US" sz="2600" dirty="0"/>
            </a:p>
          </p:txBody>
        </p:sp>
        <p:sp>
          <p:nvSpPr>
            <p:cNvPr id="26" name="Text 23"/>
            <p:cNvSpPr/>
            <p:nvPr/>
          </p:nvSpPr>
          <p:spPr>
            <a:xfrm>
              <a:off x="9355958" y="5778755"/>
              <a:ext cx="2267237" cy="488154"/>
            </a:xfrm>
            <a:prstGeom prst="rect">
              <a:avLst/>
            </a:prstGeom>
            <a:noFill/>
            <a:ln/>
          </p:spPr>
          <p:txBody>
            <a:bodyPr wrap="square" rtlCol="0" anchor="t"/>
            <a:lstStyle/>
            <a:p>
              <a:pPr marL="0" indent="0" algn="ctr">
                <a:lnSpc>
                  <a:spcPct val="105000"/>
                </a:lnSpc>
                <a:buNone/>
              </a:pPr>
              <a:r>
                <a:rPr lang="en-US" sz="1200" dirty="0" err="1">
                  <a:solidFill>
                    <a:srgbClr val="B3BC9A"/>
                  </a:solidFill>
                  <a:latin typeface="Arial" pitchFamily="34" charset="0"/>
                  <a:ea typeface="Arial" pitchFamily="34" charset="-122"/>
                  <a:cs typeface="Arial" pitchFamily="34" charset="-120"/>
                </a:rPr>
                <a:t>Unternehmen-Kennzahl-Kombinationen</a:t>
              </a:r>
              <a:endParaRPr lang="en-US" sz="1200" dirty="0"/>
            </a:p>
          </p:txBody>
        </p:sp>
      </p:grpSp>
      <p:sp>
        <p:nvSpPr>
          <p:cNvPr id="3" name="Text 1">
            <a:extLst>
              <a:ext uri="{FF2B5EF4-FFF2-40B4-BE49-F238E27FC236}">
                <a16:creationId xmlns:a16="http://schemas.microsoft.com/office/drawing/2014/main" id="{9FBC1F3B-A698-30ED-1A52-2B4B39B9A3DC}"/>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METHODIK</a:t>
            </a:r>
          </a:p>
        </p:txBody>
      </p:sp>
      <p:grpSp>
        <p:nvGrpSpPr>
          <p:cNvPr id="41" name="Gruppieren 40">
            <a:extLst>
              <a:ext uri="{FF2B5EF4-FFF2-40B4-BE49-F238E27FC236}">
                <a16:creationId xmlns:a16="http://schemas.microsoft.com/office/drawing/2014/main" id="{99382E20-8895-FB84-CB5A-BA43FE06AAAC}"/>
              </a:ext>
            </a:extLst>
          </p:cNvPr>
          <p:cNvGrpSpPr/>
          <p:nvPr/>
        </p:nvGrpSpPr>
        <p:grpSpPr>
          <a:xfrm>
            <a:off x="341036" y="1730044"/>
            <a:ext cx="5779249" cy="4366262"/>
            <a:chOff x="341036" y="1730044"/>
            <a:chExt cx="5779249" cy="4366262"/>
          </a:xfrm>
        </p:grpSpPr>
        <p:sp>
          <p:nvSpPr>
            <p:cNvPr id="35" name="Shape 16">
              <a:extLst>
                <a:ext uri="{FF2B5EF4-FFF2-40B4-BE49-F238E27FC236}">
                  <a16:creationId xmlns:a16="http://schemas.microsoft.com/office/drawing/2014/main" id="{348D57E5-985C-505A-706B-DE2174DEE793}"/>
                </a:ext>
              </a:extLst>
            </p:cNvPr>
            <p:cNvSpPr/>
            <p:nvPr/>
          </p:nvSpPr>
          <p:spPr>
            <a:xfrm>
              <a:off x="341036" y="1730044"/>
              <a:ext cx="5779249" cy="436626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7" name="Shape 4"/>
            <p:cNvSpPr/>
            <p:nvPr/>
          </p:nvSpPr>
          <p:spPr>
            <a:xfrm>
              <a:off x="634594" y="1904695"/>
              <a:ext cx="5206594" cy="457200"/>
            </a:xfrm>
            <a:prstGeom prst="rect">
              <a:avLst/>
            </a:prstGeom>
            <a:solidFill>
              <a:srgbClr val="2B513D"/>
            </a:solidFill>
            <a:ln/>
          </p:spPr>
          <p:txBody>
            <a:bodyPr/>
            <a:lstStyle/>
            <a:p>
              <a:endParaRPr lang="de-DE"/>
            </a:p>
          </p:txBody>
        </p:sp>
        <p:sp>
          <p:nvSpPr>
            <p:cNvPr id="8" name="Text 5"/>
            <p:cNvSpPr/>
            <p:nvPr/>
          </p:nvSpPr>
          <p:spPr>
            <a:xfrm>
              <a:off x="812902" y="1904695"/>
              <a:ext cx="4444898" cy="457200"/>
            </a:xfrm>
            <a:prstGeom prst="rect">
              <a:avLst/>
            </a:prstGeom>
            <a:noFill/>
            <a:ln/>
          </p:spPr>
          <p:txBody>
            <a:bodyPr wrap="square" rtlCol="0" anchor="ctr"/>
            <a:lstStyle/>
            <a:p>
              <a:pPr marL="0" indent="0" algn="l">
                <a:lnSpc>
                  <a:spcPct val="105000"/>
                </a:lnSpc>
                <a:buNone/>
              </a:pPr>
              <a:r>
                <a:rPr lang="en-US" sz="1200" b="1">
                  <a:solidFill>
                    <a:srgbClr val="F2EFDA"/>
                  </a:solidFill>
                  <a:latin typeface="Arial" pitchFamily="34" charset="0"/>
                  <a:ea typeface="Arial" pitchFamily="34" charset="-122"/>
                  <a:cs typeface="Arial" pitchFamily="34" charset="-120"/>
                </a:rPr>
                <a:t>Unternehmen mit Bilanz, GuV &amp; Cashflow</a:t>
              </a:r>
              <a:endParaRPr lang="en-US" sz="1200"/>
            </a:p>
          </p:txBody>
        </p:sp>
        <p:sp>
          <p:nvSpPr>
            <p:cNvPr id="9" name="Text 6"/>
            <p:cNvSpPr/>
            <p:nvPr/>
          </p:nvSpPr>
          <p:spPr>
            <a:xfrm>
              <a:off x="4556034" y="1904695"/>
              <a:ext cx="1270102" cy="457200"/>
            </a:xfrm>
            <a:prstGeom prst="rect">
              <a:avLst/>
            </a:prstGeom>
            <a:noFill/>
            <a:ln/>
          </p:spPr>
          <p:txBody>
            <a:bodyPr wrap="square" rtlCol="0" anchor="ctr"/>
            <a:lstStyle/>
            <a:p>
              <a:pPr algn="r">
                <a:lnSpc>
                  <a:spcPct val="105000"/>
                </a:lnSpc>
              </a:pPr>
              <a:r>
                <a:rPr lang="en-US" sz="1700" b="1">
                  <a:solidFill>
                    <a:srgbClr val="78A2F9"/>
                  </a:solidFill>
                  <a:latin typeface="Courier New" pitchFamily="34" charset="0"/>
                  <a:cs typeface="Courier New" pitchFamily="34" charset="-120"/>
                </a:rPr>
                <a:t>5.871</a:t>
              </a:r>
            </a:p>
          </p:txBody>
        </p:sp>
        <p:sp>
          <p:nvSpPr>
            <p:cNvPr id="15" name="Text 12"/>
            <p:cNvSpPr/>
            <p:nvPr/>
          </p:nvSpPr>
          <p:spPr>
            <a:xfrm>
              <a:off x="800101" y="5422798"/>
              <a:ext cx="2031797" cy="457200"/>
            </a:xfrm>
            <a:prstGeom prst="rect">
              <a:avLst/>
            </a:prstGeom>
            <a:noFill/>
            <a:ln/>
          </p:spPr>
          <p:txBody>
            <a:bodyPr wrap="square" rtlCol="0" anchor="ctr"/>
            <a:lstStyle/>
            <a:p>
              <a:pPr marL="0" indent="0" algn="l">
                <a:lnSpc>
                  <a:spcPct val="105000"/>
                </a:lnSpc>
                <a:buNone/>
              </a:pPr>
              <a:r>
                <a:rPr lang="en-US" sz="1200" b="1">
                  <a:solidFill>
                    <a:srgbClr val="092E1D"/>
                  </a:solidFill>
                  <a:latin typeface="Arial" pitchFamily="34" charset="0"/>
                  <a:ea typeface="Arial" pitchFamily="34" charset="-122"/>
                  <a:cs typeface="Arial" pitchFamily="34" charset="-120"/>
                </a:rPr>
                <a:t>Finale Stichprobe</a:t>
              </a:r>
              <a:endParaRPr lang="en-US" sz="1200"/>
            </a:p>
          </p:txBody>
        </p:sp>
        <p:sp>
          <p:nvSpPr>
            <p:cNvPr id="30" name="Shape 4">
              <a:extLst>
                <a:ext uri="{FF2B5EF4-FFF2-40B4-BE49-F238E27FC236}">
                  <a16:creationId xmlns:a16="http://schemas.microsoft.com/office/drawing/2014/main" id="{269889F2-24E1-C3BB-ADC4-6D219639DC73}"/>
                </a:ext>
              </a:extLst>
            </p:cNvPr>
            <p:cNvSpPr/>
            <p:nvPr/>
          </p:nvSpPr>
          <p:spPr>
            <a:xfrm>
              <a:off x="634594" y="5457129"/>
              <a:ext cx="5206594" cy="457200"/>
            </a:xfrm>
            <a:prstGeom prst="rect">
              <a:avLst/>
            </a:prstGeom>
            <a:solidFill>
              <a:srgbClr val="2B513D"/>
            </a:solidFill>
            <a:ln/>
          </p:spPr>
          <p:txBody>
            <a:bodyPr/>
            <a:lstStyle/>
            <a:p>
              <a:endParaRPr lang="de-DE"/>
            </a:p>
          </p:txBody>
        </p:sp>
        <p:sp>
          <p:nvSpPr>
            <p:cNvPr id="32" name="Text 5">
              <a:extLst>
                <a:ext uri="{FF2B5EF4-FFF2-40B4-BE49-F238E27FC236}">
                  <a16:creationId xmlns:a16="http://schemas.microsoft.com/office/drawing/2014/main" id="{F61D5EB5-456D-E278-FEE2-7FE120AD779E}"/>
                </a:ext>
              </a:extLst>
            </p:cNvPr>
            <p:cNvSpPr/>
            <p:nvPr/>
          </p:nvSpPr>
          <p:spPr>
            <a:xfrm>
              <a:off x="800101" y="5457129"/>
              <a:ext cx="4444898" cy="457200"/>
            </a:xfrm>
            <a:prstGeom prst="rect">
              <a:avLst/>
            </a:prstGeom>
            <a:noFill/>
            <a:ln/>
          </p:spPr>
          <p:txBody>
            <a:bodyPr wrap="square" rtlCol="0" anchor="ctr"/>
            <a:lstStyle/>
            <a:p>
              <a:pPr marL="0" indent="0" algn="l">
                <a:lnSpc>
                  <a:spcPct val="105000"/>
                </a:lnSpc>
                <a:buNone/>
              </a:pPr>
              <a:r>
                <a:rPr lang="en-US" sz="1200" b="1">
                  <a:solidFill>
                    <a:srgbClr val="F2EFDA"/>
                  </a:solidFill>
                  <a:latin typeface="Arial" pitchFamily="34" charset="0"/>
                  <a:ea typeface="Arial" pitchFamily="34" charset="-122"/>
                  <a:cs typeface="Arial" pitchFamily="34" charset="-120"/>
                </a:rPr>
                <a:t>Finale </a:t>
              </a:r>
              <a:r>
                <a:rPr lang="en-US" sz="1200" b="1" err="1">
                  <a:solidFill>
                    <a:srgbClr val="F2EFDA"/>
                  </a:solidFill>
                  <a:latin typeface="Arial" pitchFamily="34" charset="0"/>
                  <a:ea typeface="Arial" pitchFamily="34" charset="-122"/>
                  <a:cs typeface="Arial" pitchFamily="34" charset="-120"/>
                </a:rPr>
                <a:t>Stichprobe</a:t>
              </a:r>
              <a:endParaRPr lang="en-US" sz="1200"/>
            </a:p>
          </p:txBody>
        </p:sp>
        <p:sp>
          <p:nvSpPr>
            <p:cNvPr id="16" name="Text 13"/>
            <p:cNvSpPr/>
            <p:nvPr/>
          </p:nvSpPr>
          <p:spPr>
            <a:xfrm>
              <a:off x="4543233" y="5448403"/>
              <a:ext cx="1270102" cy="457200"/>
            </a:xfrm>
            <a:prstGeom prst="rect">
              <a:avLst/>
            </a:prstGeom>
            <a:noFill/>
            <a:ln/>
          </p:spPr>
          <p:txBody>
            <a:bodyPr wrap="square" rtlCol="0" anchor="ctr"/>
            <a:lstStyle/>
            <a:p>
              <a:pPr marL="0" indent="0" algn="r">
                <a:lnSpc>
                  <a:spcPct val="105000"/>
                </a:lnSpc>
                <a:buNone/>
              </a:pPr>
              <a:r>
                <a:rPr lang="en-US" sz="1700" b="1">
                  <a:solidFill>
                    <a:srgbClr val="78A2F9"/>
                  </a:solidFill>
                  <a:latin typeface="Courier New" pitchFamily="34" charset="0"/>
                  <a:ea typeface="Courier New" pitchFamily="34" charset="-122"/>
                  <a:cs typeface="Courier New" pitchFamily="34" charset="-120"/>
                </a:rPr>
                <a:t>932</a:t>
              </a:r>
              <a:endParaRPr lang="en-US" sz="1700">
                <a:solidFill>
                  <a:srgbClr val="78A2F9"/>
                </a:solidFill>
              </a:endParaRPr>
            </a:p>
          </p:txBody>
        </p:sp>
      </p:grpSp>
      <p:graphicFrame>
        <p:nvGraphicFramePr>
          <p:cNvPr id="34" name="Tabelle 33">
            <a:extLst>
              <a:ext uri="{FF2B5EF4-FFF2-40B4-BE49-F238E27FC236}">
                <a16:creationId xmlns:a16="http://schemas.microsoft.com/office/drawing/2014/main" id="{E7176041-190C-FA1B-1488-71AC7A54F4D2}"/>
              </a:ext>
            </a:extLst>
          </p:cNvPr>
          <p:cNvGraphicFramePr>
            <a:graphicFrameLocks noGrp="1"/>
          </p:cNvGraphicFramePr>
          <p:nvPr>
            <p:extLst>
              <p:ext uri="{D42A27DB-BD31-4B8C-83A1-F6EECF244321}">
                <p14:modId xmlns:p14="http://schemas.microsoft.com/office/powerpoint/2010/main" val="4237828810"/>
              </p:ext>
            </p:extLst>
          </p:nvPr>
        </p:nvGraphicFramePr>
        <p:xfrm>
          <a:off x="654695" y="2501799"/>
          <a:ext cx="5158640" cy="2781401"/>
        </p:xfrm>
        <a:graphic>
          <a:graphicData uri="http://schemas.openxmlformats.org/drawingml/2006/table">
            <a:tbl>
              <a:tblPr>
                <a:tableStyleId>{5C22544A-7EE6-4342-B048-85BDC9FD1C3A}</a:tableStyleId>
              </a:tblPr>
              <a:tblGrid>
                <a:gridCol w="2494905">
                  <a:extLst>
                    <a:ext uri="{9D8B030D-6E8A-4147-A177-3AD203B41FA5}">
                      <a16:colId xmlns:a16="http://schemas.microsoft.com/office/drawing/2014/main" val="614156983"/>
                    </a:ext>
                  </a:extLst>
                </a:gridCol>
                <a:gridCol w="939800">
                  <a:extLst>
                    <a:ext uri="{9D8B030D-6E8A-4147-A177-3AD203B41FA5}">
                      <a16:colId xmlns:a16="http://schemas.microsoft.com/office/drawing/2014/main" val="200872870"/>
                    </a:ext>
                  </a:extLst>
                </a:gridCol>
                <a:gridCol w="838200">
                  <a:extLst>
                    <a:ext uri="{9D8B030D-6E8A-4147-A177-3AD203B41FA5}">
                      <a16:colId xmlns:a16="http://schemas.microsoft.com/office/drawing/2014/main" val="2618023021"/>
                    </a:ext>
                  </a:extLst>
                </a:gridCol>
                <a:gridCol w="885735">
                  <a:extLst>
                    <a:ext uri="{9D8B030D-6E8A-4147-A177-3AD203B41FA5}">
                      <a16:colId xmlns:a16="http://schemas.microsoft.com/office/drawing/2014/main" val="681434799"/>
                    </a:ext>
                  </a:extLst>
                </a:gridCol>
              </a:tblGrid>
              <a:tr h="397343">
                <a:tc>
                  <a:txBody>
                    <a:bodyPr/>
                    <a:lstStyle/>
                    <a:p>
                      <a:pPr marL="19050" algn="ctr">
                        <a:lnSpc>
                          <a:spcPct val="130000"/>
                        </a:lnSpc>
                        <a:spcBef>
                          <a:spcPts val="600"/>
                        </a:spcBef>
                        <a:buNone/>
                      </a:pPr>
                      <a:r>
                        <a:rPr lang="nb-NO" sz="1200" kern="1200">
                          <a:solidFill>
                            <a:srgbClr val="B3BC9A"/>
                          </a:solidFill>
                          <a:latin typeface="Arial" pitchFamily="34" charset="0"/>
                          <a:cs typeface="Arial" pitchFamily="34" charset="-120"/>
                        </a:rPr>
                        <a:t>Sektor-Filter</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5.871</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883</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4.988</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475832156"/>
                  </a:ext>
                </a:extLst>
              </a:tr>
              <a:tr h="397343">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ADR-Filter</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4.988</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646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4.342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35776230"/>
                  </a:ext>
                </a:extLst>
              </a:tr>
              <a:tr h="397343">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Vollständigkeitsfilter (100 Quartale)</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4.342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3.366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976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362203985"/>
                  </a:ext>
                </a:extLst>
              </a:tr>
              <a:tr h="397343">
                <a:tc>
                  <a:txBody>
                    <a:bodyPr/>
                    <a:lstStyle/>
                    <a:p>
                      <a:pPr marL="19050" algn="ctr">
                        <a:lnSpc>
                          <a:spcPct val="130000"/>
                        </a:lnSpc>
                        <a:spcBef>
                          <a:spcPts val="600"/>
                        </a:spcBef>
                        <a:buNone/>
                      </a:pPr>
                      <a:r>
                        <a:rPr lang="de-DE" sz="1200" kern="1200" err="1">
                          <a:solidFill>
                            <a:srgbClr val="B3BC9A"/>
                          </a:solidFill>
                          <a:latin typeface="Arial" pitchFamily="34" charset="0"/>
                          <a:cs typeface="Arial" pitchFamily="34" charset="-120"/>
                        </a:rPr>
                        <a:t>Outlier-Detection</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976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976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2056506140"/>
                  </a:ext>
                </a:extLst>
              </a:tr>
              <a:tr h="397343">
                <a:tc>
                  <a:txBody>
                    <a:bodyPr/>
                    <a:lstStyle/>
                    <a:p>
                      <a:pPr marL="19050" algn="ctr">
                        <a:lnSpc>
                          <a:spcPct val="130000"/>
                        </a:lnSpc>
                        <a:spcBef>
                          <a:spcPts val="600"/>
                        </a:spcBef>
                        <a:buNone/>
                      </a:pPr>
                      <a:r>
                        <a:rPr lang="de-DE" sz="1200" kern="1200" err="1">
                          <a:solidFill>
                            <a:srgbClr val="B3BC9A"/>
                          </a:solidFill>
                          <a:latin typeface="Arial" pitchFamily="34" charset="0"/>
                          <a:cs typeface="Arial" pitchFamily="34" charset="-120"/>
                        </a:rPr>
                        <a:t>NaN</a:t>
                      </a:r>
                      <a:r>
                        <a:rPr lang="de-DE" sz="1200" kern="1200">
                          <a:solidFill>
                            <a:srgbClr val="B3BC9A"/>
                          </a:solidFill>
                          <a:latin typeface="Arial" pitchFamily="34" charset="0"/>
                          <a:cs typeface="Arial" pitchFamily="34" charset="-120"/>
                        </a:rPr>
                        <a:t>-/Qualitätsfilter</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976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44</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932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1269198846"/>
                  </a:ext>
                </a:extLst>
              </a:tr>
              <a:tr h="397343">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Kennzahlenberechnung</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932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932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1765662456"/>
                  </a:ext>
                </a:extLst>
              </a:tr>
              <a:tr h="397343">
                <a:tc>
                  <a:txBody>
                    <a:bodyPr/>
                    <a:lstStyle/>
                    <a:p>
                      <a:pPr marL="19050" algn="ctr">
                        <a:lnSpc>
                          <a:spcPct val="130000"/>
                        </a:lnSpc>
                        <a:spcBef>
                          <a:spcPts val="600"/>
                        </a:spcBef>
                        <a:buNone/>
                      </a:pPr>
                      <a:r>
                        <a:rPr lang="de-DE" sz="1200" kern="1200" err="1">
                          <a:solidFill>
                            <a:srgbClr val="B3BC9A"/>
                          </a:solidFill>
                          <a:latin typeface="Arial" pitchFamily="34" charset="0"/>
                          <a:cs typeface="Arial" pitchFamily="34" charset="-120"/>
                        </a:rPr>
                        <a:t>Winsorisierung</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932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932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3719891346"/>
                  </a:ext>
                </a:extLst>
              </a:tr>
            </a:tbl>
          </a:graphicData>
        </a:graphic>
      </p:graphicFrame>
      <p:sp>
        <p:nvSpPr>
          <p:cNvPr id="36" name="Textfeld 35">
            <a:extLst>
              <a:ext uri="{FF2B5EF4-FFF2-40B4-BE49-F238E27FC236}">
                <a16:creationId xmlns:a16="http://schemas.microsoft.com/office/drawing/2014/main" id="{FE34ABDE-D9D2-8B5B-C910-E70B69B7F15E}"/>
              </a:ext>
            </a:extLst>
          </p:cNvPr>
          <p:cNvSpPr txBox="1"/>
          <p:nvPr/>
        </p:nvSpPr>
        <p:spPr>
          <a:xfrm>
            <a:off x="6216120" y="5530986"/>
            <a:ext cx="277640" cy="307777"/>
          </a:xfrm>
          <a:prstGeom prst="rect">
            <a:avLst/>
          </a:prstGeom>
          <a:noFill/>
        </p:spPr>
        <p:txBody>
          <a:bodyPr wrap="none" rtlCol="0">
            <a:spAutoFit/>
          </a:bodyPr>
          <a:lstStyle/>
          <a:p>
            <a:r>
              <a:rPr lang="de-DE" sz="1400">
                <a:solidFill>
                  <a:srgbClr val="F3EFDA"/>
                </a:solidFill>
              </a:rPr>
              <a:t>X</a:t>
            </a:r>
          </a:p>
        </p:txBody>
      </p:sp>
      <p:sp>
        <p:nvSpPr>
          <p:cNvPr id="38" name="Textfeld 37">
            <a:extLst>
              <a:ext uri="{FF2B5EF4-FFF2-40B4-BE49-F238E27FC236}">
                <a16:creationId xmlns:a16="http://schemas.microsoft.com/office/drawing/2014/main" id="{C27E94C8-1375-3175-68CA-8D6233FDD11C}"/>
              </a:ext>
            </a:extLst>
          </p:cNvPr>
          <p:cNvSpPr txBox="1"/>
          <p:nvPr/>
        </p:nvSpPr>
        <p:spPr>
          <a:xfrm>
            <a:off x="8838317" y="5609009"/>
            <a:ext cx="274434" cy="307777"/>
          </a:xfrm>
          <a:prstGeom prst="rect">
            <a:avLst/>
          </a:prstGeom>
          <a:noFill/>
        </p:spPr>
        <p:txBody>
          <a:bodyPr wrap="none" rtlCol="0">
            <a:spAutoFit/>
          </a:bodyPr>
          <a:lstStyle/>
          <a:p>
            <a:r>
              <a:rPr lang="de-DE" sz="1400">
                <a:solidFill>
                  <a:srgbClr val="F3EFDA"/>
                </a:solidFill>
              </a:rPr>
              <a:t>=</a:t>
            </a:r>
          </a:p>
        </p:txBody>
      </p:sp>
      <p:pic>
        <p:nvPicPr>
          <p:cNvPr id="40" name="Grafik 39">
            <a:extLst>
              <a:ext uri="{FF2B5EF4-FFF2-40B4-BE49-F238E27FC236}">
                <a16:creationId xmlns:a16="http://schemas.microsoft.com/office/drawing/2014/main" id="{D066B4EF-CF18-91A1-7017-A86AE285C374}"/>
              </a:ext>
            </a:extLst>
          </p:cNvPr>
          <p:cNvPicPr>
            <a:picLocks noChangeAspect="1"/>
          </p:cNvPicPr>
          <p:nvPr/>
        </p:nvPicPr>
        <p:blipFill>
          <a:blip r:embed="rId3"/>
          <a:srcRect l="9912" t="11882" r="47705" b="43348"/>
          <a:stretch>
            <a:fillRect/>
          </a:stretch>
        </p:blipFill>
        <p:spPr>
          <a:xfrm>
            <a:off x="6742971" y="2007110"/>
            <a:ext cx="4757738" cy="2570722"/>
          </a:xfrm>
          <a:prstGeom prst="rect">
            <a:avLst/>
          </a:prstGeom>
          <a:ln>
            <a:noFill/>
          </a:ln>
          <a:effectLst>
            <a:outerShdw blurRad="292100" dist="139700" dir="2700000" algn="tl" rotWithShape="0">
              <a:srgbClr val="333333">
                <a:alpha val="65000"/>
              </a:srgbClr>
            </a:outerShdw>
          </a:effectLst>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anim calcmode="lin" valueType="num">
                                      <p:cBhvr>
                                        <p:cTn id="8" dur="1000" fill="hold"/>
                                        <p:tgtEl>
                                          <p:spTgt spid="21"/>
                                        </p:tgtEl>
                                        <p:attrNameLst>
                                          <p:attrName>ppt_x</p:attrName>
                                        </p:attrNameLst>
                                      </p:cBhvr>
                                      <p:tavLst>
                                        <p:tav tm="0">
                                          <p:val>
                                            <p:strVal val="#ppt_x"/>
                                          </p:val>
                                        </p:tav>
                                        <p:tav tm="100000">
                                          <p:val>
                                            <p:strVal val="#ppt_x"/>
                                          </p:val>
                                        </p:tav>
                                      </p:tavLst>
                                    </p:anim>
                                    <p:anim calcmode="lin" valueType="num">
                                      <p:cBhvr>
                                        <p:cTn id="9" dur="1000" fill="hold"/>
                                        <p:tgtEl>
                                          <p:spTgt spid="2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1000"/>
                                        <p:tgtEl>
                                          <p:spTgt spid="22"/>
                                        </p:tgtEl>
                                      </p:cBhvr>
                                    </p:animEffect>
                                    <p:anim calcmode="lin" valueType="num">
                                      <p:cBhvr>
                                        <p:cTn id="13" dur="1000" fill="hold"/>
                                        <p:tgtEl>
                                          <p:spTgt spid="22"/>
                                        </p:tgtEl>
                                        <p:attrNameLst>
                                          <p:attrName>ppt_x</p:attrName>
                                        </p:attrNameLst>
                                      </p:cBhvr>
                                      <p:tavLst>
                                        <p:tav tm="0">
                                          <p:val>
                                            <p:strVal val="#ppt_x"/>
                                          </p:val>
                                        </p:tav>
                                        <p:tav tm="100000">
                                          <p:val>
                                            <p:strVal val="#ppt_x"/>
                                          </p:val>
                                        </p:tav>
                                      </p:tavLst>
                                    </p:anim>
                                    <p:anim calcmode="lin" valueType="num">
                                      <p:cBhvr>
                                        <p:cTn id="14" dur="1000" fill="hold"/>
                                        <p:tgtEl>
                                          <p:spTgt spid="2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1000"/>
                                        <p:tgtEl>
                                          <p:spTgt spid="23"/>
                                        </p:tgtEl>
                                      </p:cBhvr>
                                    </p:animEffect>
                                    <p:anim calcmode="lin" valueType="num">
                                      <p:cBhvr>
                                        <p:cTn id="18" dur="1000" fill="hold"/>
                                        <p:tgtEl>
                                          <p:spTgt spid="23"/>
                                        </p:tgtEl>
                                        <p:attrNameLst>
                                          <p:attrName>ppt_x</p:attrName>
                                        </p:attrNameLst>
                                      </p:cBhvr>
                                      <p:tavLst>
                                        <p:tav tm="0">
                                          <p:val>
                                            <p:strVal val="#ppt_x"/>
                                          </p:val>
                                        </p:tav>
                                        <p:tav tm="100000">
                                          <p:val>
                                            <p:strVal val="#ppt_x"/>
                                          </p:val>
                                        </p:tav>
                                      </p:tavLst>
                                    </p:anim>
                                    <p:anim calcmode="lin" valueType="num">
                                      <p:cBhvr>
                                        <p:cTn id="19" dur="1000" fill="hold"/>
                                        <p:tgtEl>
                                          <p:spTgt spid="23"/>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1000"/>
                                        <p:tgtEl>
                                          <p:spTgt spid="36"/>
                                        </p:tgtEl>
                                      </p:cBhvr>
                                    </p:animEffect>
                                    <p:anim calcmode="lin" valueType="num">
                                      <p:cBhvr>
                                        <p:cTn id="23" dur="1000" fill="hold"/>
                                        <p:tgtEl>
                                          <p:spTgt spid="36"/>
                                        </p:tgtEl>
                                        <p:attrNameLst>
                                          <p:attrName>ppt_x</p:attrName>
                                        </p:attrNameLst>
                                      </p:cBhvr>
                                      <p:tavLst>
                                        <p:tav tm="0">
                                          <p:val>
                                            <p:strVal val="#ppt_x"/>
                                          </p:val>
                                        </p:tav>
                                        <p:tav tm="100000">
                                          <p:val>
                                            <p:strVal val="#ppt_x"/>
                                          </p:val>
                                        </p:tav>
                                      </p:tavLst>
                                    </p:anim>
                                    <p:anim calcmode="lin" valueType="num">
                                      <p:cBhvr>
                                        <p:cTn id="24" dur="1000" fill="hold"/>
                                        <p:tgtEl>
                                          <p:spTgt spid="36"/>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fade">
                                      <p:cBhvr>
                                        <p:cTn id="27" dur="1000"/>
                                        <p:tgtEl>
                                          <p:spTgt spid="38"/>
                                        </p:tgtEl>
                                      </p:cBhvr>
                                    </p:animEffect>
                                    <p:anim calcmode="lin" valueType="num">
                                      <p:cBhvr>
                                        <p:cTn id="28" dur="1000" fill="hold"/>
                                        <p:tgtEl>
                                          <p:spTgt spid="38"/>
                                        </p:tgtEl>
                                        <p:attrNameLst>
                                          <p:attrName>ppt_x</p:attrName>
                                        </p:attrNameLst>
                                      </p:cBhvr>
                                      <p:tavLst>
                                        <p:tav tm="0">
                                          <p:val>
                                            <p:strVal val="#ppt_x"/>
                                          </p:val>
                                        </p:tav>
                                        <p:tav tm="100000">
                                          <p:val>
                                            <p:strVal val="#ppt_x"/>
                                          </p:val>
                                        </p:tav>
                                      </p:tavLst>
                                    </p:anim>
                                    <p:anim calcmode="lin" valueType="num">
                                      <p:cBhvr>
                                        <p:cTn id="29"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fade">
                                      <p:cBhvr>
                                        <p:cTn id="34" dur="1000"/>
                                        <p:tgtEl>
                                          <p:spTgt spid="40"/>
                                        </p:tgtEl>
                                      </p:cBhvr>
                                    </p:animEffect>
                                    <p:anim calcmode="lin" valueType="num">
                                      <p:cBhvr>
                                        <p:cTn id="35" dur="1000" fill="hold"/>
                                        <p:tgtEl>
                                          <p:spTgt spid="40"/>
                                        </p:tgtEl>
                                        <p:attrNameLst>
                                          <p:attrName>ppt_x</p:attrName>
                                        </p:attrNameLst>
                                      </p:cBhvr>
                                      <p:tavLst>
                                        <p:tav tm="0">
                                          <p:val>
                                            <p:strVal val="#ppt_x"/>
                                          </p:val>
                                        </p:tav>
                                        <p:tav tm="100000">
                                          <p:val>
                                            <p:strVal val="#ppt_x"/>
                                          </p:val>
                                        </p:tav>
                                      </p:tavLst>
                                    </p:anim>
                                    <p:anim calcmode="lin" valueType="num">
                                      <p:cBhvr>
                                        <p:cTn id="36" dur="1000" fill="hold"/>
                                        <p:tgtEl>
                                          <p:spTgt spid="40"/>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1000"/>
                                        <p:tgtEl>
                                          <p:spTgt spid="18"/>
                                        </p:tgtEl>
                                      </p:cBhvr>
                                    </p:animEffect>
                                    <p:anim calcmode="lin" valueType="num">
                                      <p:cBhvr>
                                        <p:cTn id="40" dur="1000" fill="hold"/>
                                        <p:tgtEl>
                                          <p:spTgt spid="18"/>
                                        </p:tgtEl>
                                        <p:attrNameLst>
                                          <p:attrName>ppt_x</p:attrName>
                                        </p:attrNameLst>
                                      </p:cBhvr>
                                      <p:tavLst>
                                        <p:tav tm="0">
                                          <p:val>
                                            <p:strVal val="#ppt_x"/>
                                          </p:val>
                                        </p:tav>
                                        <p:tav tm="100000">
                                          <p:val>
                                            <p:strVal val="#ppt_x"/>
                                          </p:val>
                                        </p:tav>
                                      </p:tavLst>
                                    </p:anim>
                                    <p:anim calcmode="lin" valueType="num">
                                      <p:cBhvr>
                                        <p:cTn id="41"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1" grpId="0" animBg="1"/>
      <p:bldP spid="22" grpId="0" animBg="1"/>
      <p:bldP spid="23" grpId="0" animBg="1"/>
      <p:bldP spid="36" grpId="0"/>
      <p:bldP spid="38"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082E1C"/>
        </a:solidFill>
        <a:effectLst/>
      </p:bgPr>
    </p:bg>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04 / 13</a:t>
            </a:r>
            <a:endParaRPr lang="en-US" sz="1200"/>
          </a:p>
        </p:txBody>
      </p:sp>
      <p:sp>
        <p:nvSpPr>
          <p:cNvPr id="6" name="Text 3"/>
          <p:cNvSpPr/>
          <p:nvPr/>
        </p:nvSpPr>
        <p:spPr>
          <a:xfrm>
            <a:off x="634594" y="761695"/>
            <a:ext cx="10921594" cy="399593"/>
          </a:xfrm>
          <a:prstGeom prst="rect">
            <a:avLst/>
          </a:prstGeom>
          <a:noFill/>
          <a:ln/>
        </p:spPr>
        <p:txBody>
          <a:bodyPr wrap="square" rtlCol="0" anchor="t"/>
          <a:lstStyle/>
          <a:p>
            <a:pPr marL="0" indent="0">
              <a:lnSpc>
                <a:spcPct val="100000"/>
              </a:lnSpc>
              <a:buNone/>
            </a:pPr>
            <a:r>
              <a:rPr lang="en-US" sz="2100" b="1" kern="0" spc="-50" dirty="0">
                <a:solidFill>
                  <a:srgbClr val="F2EFDA"/>
                </a:solidFill>
                <a:latin typeface="Arial" pitchFamily="34" charset="0"/>
                <a:ea typeface="Arial" pitchFamily="34" charset="-122"/>
                <a:cs typeface="Arial" pitchFamily="34" charset="-120"/>
              </a:rPr>
              <a:t>AR (1) auf </a:t>
            </a:r>
            <a:r>
              <a:rPr lang="en-US" sz="2100" b="1" kern="0" spc="-50" dirty="0" err="1">
                <a:solidFill>
                  <a:srgbClr val="F2EFDA"/>
                </a:solidFill>
                <a:latin typeface="Arial" pitchFamily="34" charset="0"/>
                <a:ea typeface="Arial" pitchFamily="34" charset="-122"/>
                <a:cs typeface="Arial" pitchFamily="34" charset="-120"/>
              </a:rPr>
              <a:t>ersten</a:t>
            </a:r>
            <a:r>
              <a:rPr lang="en-US" sz="2100" b="1" kern="0" spc="-50" dirty="0">
                <a:solidFill>
                  <a:srgbClr val="F2EFDA"/>
                </a:solidFill>
                <a:latin typeface="Arial" pitchFamily="34" charset="0"/>
                <a:ea typeface="Arial" pitchFamily="34" charset="-122"/>
                <a:cs typeface="Arial" pitchFamily="34" charset="-120"/>
              </a:rPr>
              <a:t> </a:t>
            </a:r>
            <a:r>
              <a:rPr lang="en-US" sz="2100" b="1" kern="0" spc="-50" dirty="0" err="1">
                <a:solidFill>
                  <a:srgbClr val="F2EFDA"/>
                </a:solidFill>
                <a:latin typeface="Arial" pitchFamily="34" charset="0"/>
                <a:ea typeface="Arial" pitchFamily="34" charset="-122"/>
                <a:cs typeface="Arial" pitchFamily="34" charset="-120"/>
              </a:rPr>
              <a:t>Differenzen</a:t>
            </a:r>
            <a:endParaRPr lang="en-US" sz="2100" dirty="0"/>
          </a:p>
        </p:txBody>
      </p:sp>
      <p:sp>
        <p:nvSpPr>
          <p:cNvPr id="7" name="Shape 4"/>
          <p:cNvSpPr/>
          <p:nvPr/>
        </p:nvSpPr>
        <p:spPr>
          <a:xfrm>
            <a:off x="4315744" y="5522510"/>
            <a:ext cx="4355418" cy="761695"/>
          </a:xfrm>
          <a:prstGeom prst="roundRect">
            <a:avLst>
              <a:gd name="adj" fmla="val 13325"/>
            </a:avLst>
          </a:prstGeom>
          <a:solidFill>
            <a:srgbClr val="1E402E"/>
          </a:solidFill>
          <a:ln w="12700">
            <a:solidFill>
              <a:srgbClr val="4A6D56"/>
            </a:solidFill>
            <a:prstDash val="solid"/>
          </a:ln>
        </p:spPr>
        <p:txBody>
          <a:bodyPr/>
          <a:lstStyle/>
          <a:p>
            <a:endParaRPr lang="de-DE"/>
          </a:p>
        </p:txBody>
      </p:sp>
      <p:sp>
        <p:nvSpPr>
          <p:cNvPr id="8" name="Text 5"/>
          <p:cNvSpPr/>
          <p:nvPr/>
        </p:nvSpPr>
        <p:spPr>
          <a:xfrm>
            <a:off x="4561935" y="5525986"/>
            <a:ext cx="3863036" cy="761695"/>
          </a:xfrm>
          <a:prstGeom prst="rect">
            <a:avLst/>
          </a:prstGeom>
          <a:noFill/>
          <a:ln/>
        </p:spPr>
        <p:txBody>
          <a:bodyPr wrap="square" rtlCol="0" anchor="ctr"/>
          <a:lstStyle/>
          <a:p>
            <a:pPr marL="0" indent="0" algn="l">
              <a:lnSpc>
                <a:spcPct val="105000"/>
              </a:lnSpc>
              <a:buNone/>
            </a:pPr>
            <a:r>
              <a:rPr lang="en-US" sz="2000" dirty="0" err="1">
                <a:solidFill>
                  <a:srgbClr val="F2EFDA"/>
                </a:solidFill>
                <a:latin typeface="Courier New" pitchFamily="34" charset="0"/>
                <a:ea typeface="Courier New" pitchFamily="34" charset="-122"/>
                <a:cs typeface="Courier New" pitchFamily="34" charset="-120"/>
              </a:rPr>
              <a:t>ΔYt</a:t>
            </a:r>
            <a:r>
              <a:rPr lang="en-US" sz="2000" dirty="0">
                <a:solidFill>
                  <a:srgbClr val="F2EFDA"/>
                </a:solidFill>
                <a:latin typeface="Courier New" pitchFamily="34" charset="0"/>
                <a:ea typeface="Courier New" pitchFamily="34" charset="-122"/>
                <a:cs typeface="Courier New" pitchFamily="34" charset="-120"/>
              </a:rPr>
              <a:t> = c + </a:t>
            </a:r>
            <a:r>
              <a:rPr lang="en-US" sz="2000" b="1" dirty="0" err="1">
                <a:solidFill>
                  <a:srgbClr val="78A2F9"/>
                </a:solidFill>
                <a:latin typeface="Courier New" pitchFamily="34" charset="0"/>
                <a:ea typeface="Courier New" pitchFamily="34" charset="-122"/>
                <a:cs typeface="Courier New" pitchFamily="34" charset="-120"/>
              </a:rPr>
              <a:t>φ</a:t>
            </a:r>
            <a:r>
              <a:rPr lang="en-US" sz="2000" dirty="0">
                <a:solidFill>
                  <a:srgbClr val="F2EFDA"/>
                </a:solidFill>
                <a:latin typeface="Courier New" pitchFamily="34" charset="0"/>
                <a:ea typeface="Courier New" pitchFamily="34" charset="-122"/>
                <a:cs typeface="Courier New" pitchFamily="34" charset="-120"/>
              </a:rPr>
              <a:t> · ΔYt−1 + </a:t>
            </a:r>
            <a:r>
              <a:rPr lang="en-US" sz="2000" dirty="0" err="1">
                <a:solidFill>
                  <a:srgbClr val="F2EFDA"/>
                </a:solidFill>
                <a:latin typeface="Courier New" pitchFamily="34" charset="0"/>
                <a:cs typeface="Courier New" pitchFamily="34" charset="-120"/>
              </a:rPr>
              <a:t>εt</a:t>
            </a:r>
            <a:endParaRPr lang="en-US" sz="2000" dirty="0">
              <a:solidFill>
                <a:srgbClr val="F2EFDA"/>
              </a:solidFill>
              <a:latin typeface="Courier New" pitchFamily="34" charset="0"/>
              <a:cs typeface="Courier New" pitchFamily="34" charset="-120"/>
            </a:endParaRPr>
          </a:p>
        </p:txBody>
      </p:sp>
      <p:sp>
        <p:nvSpPr>
          <p:cNvPr id="3" name="Text 1">
            <a:extLst>
              <a:ext uri="{FF2B5EF4-FFF2-40B4-BE49-F238E27FC236}">
                <a16:creationId xmlns:a16="http://schemas.microsoft.com/office/drawing/2014/main" id="{DEFC72AC-EA13-A164-ED3B-4ABCE5A94802}"/>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METHODIK</a:t>
            </a:r>
          </a:p>
        </p:txBody>
      </p:sp>
      <p:graphicFrame>
        <p:nvGraphicFramePr>
          <p:cNvPr id="501" name="Zeitreihen-Chart"/>
          <p:cNvGraphicFramePr/>
          <p:nvPr>
            <p:extLst>
              <p:ext uri="{D42A27DB-BD31-4B8C-83A1-F6EECF244321}">
                <p14:modId xmlns:p14="http://schemas.microsoft.com/office/powerpoint/2010/main" val="2505003258"/>
              </p:ext>
            </p:extLst>
          </p:nvPr>
        </p:nvGraphicFramePr>
        <p:xfrm>
          <a:off x="634187" y="2024974"/>
          <a:ext cx="10922000" cy="2921000"/>
        </p:xfrm>
        <a:graphic>
          <a:graphicData uri="http://schemas.openxmlformats.org/drawingml/2006/chart">
            <c:chart xmlns:c="http://schemas.openxmlformats.org/drawingml/2006/chart" xmlns:r="http://schemas.openxmlformats.org/officeDocument/2006/relationships" r:id="rId3"/>
          </a:graphicData>
        </a:graphic>
      </p:graphicFrame>
      <p:cxnSp>
        <p:nvCxnSpPr>
          <p:cNvPr id="601" name="Linie_Mittelwert_Phi"/>
          <p:cNvCxnSpPr/>
          <p:nvPr/>
        </p:nvCxnSpPr>
        <p:spPr>
          <a:xfrm>
            <a:off x="1142187" y="3612474"/>
            <a:ext cx="10033000" cy="0"/>
          </a:xfrm>
          <a:prstGeom prst="line">
            <a:avLst/>
          </a:prstGeom>
          <a:ln w="12700" cap="rnd">
            <a:solidFill>
              <a:srgbClr val="E6D34F"/>
            </a:solidFill>
            <a:prstDash val="dash"/>
          </a:ln>
        </p:spPr>
      </p:cxnSp>
      <p:sp>
        <p:nvSpPr>
          <p:cNvPr id="602" name="Label_Mittelwert_Phi"/>
          <p:cNvSpPr txBox="1"/>
          <p:nvPr/>
        </p:nvSpPr>
        <p:spPr>
          <a:xfrm>
            <a:off x="2331271" y="4247561"/>
            <a:ext cx="211116" cy="228600"/>
          </a:xfrm>
          <a:prstGeom prst="rect">
            <a:avLst/>
          </a:prstGeom>
          <a:noFill/>
        </p:spPr>
        <p:txBody>
          <a:bodyPr wrap="none" lIns="0" tIns="0" rIns="0" bIns="0" anchor="ctr"/>
          <a:lstStyle/>
          <a:p>
            <a:pPr algn="r"/>
            <a:r>
              <a:rPr lang="el-GR" sz="1400" b="1" dirty="0">
                <a:solidFill>
                  <a:srgbClr val="E6D34F"/>
                </a:solidFill>
              </a:rPr>
              <a:t>φ </a:t>
            </a:r>
            <a:endParaRPr lang="de-DE" sz="1400" b="1" dirty="0">
              <a:solidFill>
                <a:srgbClr val="E6D34F"/>
              </a:solidFill>
            </a:endParaRPr>
          </a:p>
        </p:txBody>
      </p:sp>
      <p:sp>
        <p:nvSpPr>
          <p:cNvPr id="603" name="Pfeil_MeanReversion_Peak_Phi"/>
          <p:cNvSpPr/>
          <p:nvPr/>
        </p:nvSpPr>
        <p:spPr>
          <a:xfrm rot="16200000">
            <a:off x="6652964" y="2937229"/>
            <a:ext cx="569300" cy="317502"/>
          </a:xfrm>
          <a:custGeom>
            <a:avLst/>
            <a:gdLst/>
            <a:ahLst/>
            <a:cxnLst/>
            <a:rect l="0" t="0" r="0" b="0"/>
            <a:pathLst>
              <a:path w="333756" h="698500">
                <a:moveTo>
                  <a:pt x="25400" y="25400"/>
                </a:moveTo>
                <a:cubicBezTo>
                  <a:pt x="252222" y="195199"/>
                  <a:pt x="308356" y="415417"/>
                  <a:pt x="190500" y="673100"/>
                </a:cubicBezTo>
              </a:path>
            </a:pathLst>
          </a:custGeom>
          <a:noFill/>
          <a:ln w="19050" cap="rnd">
            <a:solidFill>
              <a:srgbClr val="E6D34F"/>
            </a:solidFill>
            <a:tailEnd type="triangle" w="med" len="med"/>
          </a:ln>
        </p:spPr>
        <p:txBody>
          <a:bodyPr/>
          <a:lstStyle/>
          <a:p>
            <a:endParaRPr lang="de-DE"/>
          </a:p>
        </p:txBody>
      </p:sp>
      <p:sp>
        <p:nvSpPr>
          <p:cNvPr id="604" name="Pfeil_MeanReversion_Trough_Phi"/>
          <p:cNvSpPr/>
          <p:nvPr/>
        </p:nvSpPr>
        <p:spPr>
          <a:xfrm rot="17287761" flipV="1">
            <a:off x="1928475" y="4159454"/>
            <a:ext cx="533271" cy="334087"/>
          </a:xfrm>
          <a:custGeom>
            <a:avLst/>
            <a:gdLst/>
            <a:ahLst/>
            <a:cxnLst/>
            <a:rect l="0" t="0" r="0" b="0"/>
            <a:pathLst>
              <a:path w="336550" h="1016000">
                <a:moveTo>
                  <a:pt x="146050" y="990600"/>
                </a:moveTo>
                <a:cubicBezTo>
                  <a:pt x="25273" y="642112"/>
                  <a:pt x="81407" y="313944"/>
                  <a:pt x="311150" y="25400"/>
                </a:cubicBezTo>
              </a:path>
            </a:pathLst>
          </a:custGeom>
          <a:noFill/>
          <a:ln w="19050" cap="rnd">
            <a:solidFill>
              <a:srgbClr val="E6D34F"/>
            </a:solidFill>
            <a:tailEnd type="triangle" w="med" len="med"/>
          </a:ln>
        </p:spPr>
        <p:txBody>
          <a:bodyPr/>
          <a:lstStyle/>
          <a:p>
            <a:endParaRPr lang="de-DE"/>
          </a:p>
        </p:txBody>
      </p:sp>
      <p:sp>
        <p:nvSpPr>
          <p:cNvPr id="10" name="Label_Mittelwert_Phi">
            <a:extLst>
              <a:ext uri="{FF2B5EF4-FFF2-40B4-BE49-F238E27FC236}">
                <a16:creationId xmlns:a16="http://schemas.microsoft.com/office/drawing/2014/main" id="{BCE3EBD0-AD79-50B7-7404-5515ADA9196A}"/>
              </a:ext>
            </a:extLst>
          </p:cNvPr>
          <p:cNvSpPr txBox="1"/>
          <p:nvPr/>
        </p:nvSpPr>
        <p:spPr>
          <a:xfrm>
            <a:off x="11187657" y="3499764"/>
            <a:ext cx="211116" cy="228600"/>
          </a:xfrm>
          <a:prstGeom prst="rect">
            <a:avLst/>
          </a:prstGeom>
          <a:noFill/>
        </p:spPr>
        <p:txBody>
          <a:bodyPr wrap="none" lIns="0" tIns="0" rIns="0" bIns="0" anchor="ctr"/>
          <a:lstStyle/>
          <a:p>
            <a:pPr algn="r"/>
            <a:r>
              <a:rPr lang="de-DE" sz="1400" b="1" dirty="0">
                <a:solidFill>
                  <a:srgbClr val="E6D34F"/>
                </a:solidFill>
              </a:rPr>
              <a:t>c</a:t>
            </a:r>
            <a:r>
              <a:rPr lang="el-GR" sz="1400" b="1" dirty="0">
                <a:solidFill>
                  <a:srgbClr val="E6D34F"/>
                </a:solidFill>
              </a:rPr>
              <a:t> </a:t>
            </a:r>
            <a:endParaRPr lang="de-DE" sz="1400" b="1" dirty="0">
              <a:solidFill>
                <a:srgbClr val="E6D34F"/>
              </a:solidFill>
            </a:endParaRPr>
          </a:p>
        </p:txBody>
      </p:sp>
      <p:grpSp>
        <p:nvGrpSpPr>
          <p:cNvPr id="14" name="Gruppieren 13">
            <a:extLst>
              <a:ext uri="{FF2B5EF4-FFF2-40B4-BE49-F238E27FC236}">
                <a16:creationId xmlns:a16="http://schemas.microsoft.com/office/drawing/2014/main" id="{495AFE09-C7B8-A0EF-8763-C41569A99F8E}"/>
              </a:ext>
            </a:extLst>
          </p:cNvPr>
          <p:cNvGrpSpPr/>
          <p:nvPr/>
        </p:nvGrpSpPr>
        <p:grpSpPr>
          <a:xfrm>
            <a:off x="9090308" y="858620"/>
            <a:ext cx="2701936" cy="1166354"/>
            <a:chOff x="9090308" y="858620"/>
            <a:chExt cx="2701936" cy="1166354"/>
          </a:xfrm>
        </p:grpSpPr>
        <p:sp>
          <p:nvSpPr>
            <p:cNvPr id="4" name="Shape 21">
              <a:extLst>
                <a:ext uri="{FF2B5EF4-FFF2-40B4-BE49-F238E27FC236}">
                  <a16:creationId xmlns:a16="http://schemas.microsoft.com/office/drawing/2014/main" id="{76AA765B-779C-1C63-0FB2-DCC63FCF45A6}"/>
                </a:ext>
              </a:extLst>
            </p:cNvPr>
            <p:cNvSpPr/>
            <p:nvPr/>
          </p:nvSpPr>
          <p:spPr>
            <a:xfrm>
              <a:off x="9090308" y="858620"/>
              <a:ext cx="2701936" cy="1166354"/>
            </a:xfrm>
            <a:prstGeom prst="roundRect">
              <a:avLst>
                <a:gd name="adj" fmla="val 11100"/>
              </a:avLst>
            </a:prstGeom>
            <a:solidFill>
              <a:srgbClr val="1E402E"/>
            </a:solidFill>
            <a:ln w="12700">
              <a:solidFill>
                <a:srgbClr val="4A6D56"/>
              </a:solidFill>
              <a:prstDash val="solid"/>
            </a:ln>
          </p:spPr>
          <p:txBody>
            <a:bodyPr/>
            <a:lstStyle/>
            <a:p>
              <a:endParaRPr lang="de-DE"/>
            </a:p>
          </p:txBody>
        </p:sp>
        <p:sp>
          <p:nvSpPr>
            <p:cNvPr id="9" name="Text 22">
              <a:extLst>
                <a:ext uri="{FF2B5EF4-FFF2-40B4-BE49-F238E27FC236}">
                  <a16:creationId xmlns:a16="http://schemas.microsoft.com/office/drawing/2014/main" id="{6531892E-E5F6-2C35-CACB-992F5F84BFCF}"/>
                </a:ext>
              </a:extLst>
            </p:cNvPr>
            <p:cNvSpPr/>
            <p:nvPr/>
          </p:nvSpPr>
          <p:spPr>
            <a:xfrm>
              <a:off x="9355958" y="1011324"/>
              <a:ext cx="2267238" cy="845066"/>
            </a:xfrm>
            <a:prstGeom prst="rect">
              <a:avLst/>
            </a:prstGeom>
            <a:noFill/>
            <a:ln/>
          </p:spPr>
          <p:txBody>
            <a:bodyPr wrap="square" rtlCol="0" anchor="t"/>
            <a:lstStyle/>
            <a:p>
              <a:pPr marL="0" indent="0" algn="ctr">
                <a:lnSpc>
                  <a:spcPct val="105000"/>
                </a:lnSpc>
                <a:buNone/>
              </a:pPr>
              <a:r>
                <a:rPr lang="en-US" sz="2600" b="1" dirty="0">
                  <a:solidFill>
                    <a:srgbClr val="79A2F9"/>
                  </a:solidFill>
                  <a:latin typeface="Courier New" pitchFamily="34" charset="0"/>
                  <a:ea typeface="Courier New" pitchFamily="34" charset="-122"/>
                  <a:cs typeface="Courier New" pitchFamily="34" charset="-120"/>
                </a:rPr>
                <a:t>6.521</a:t>
              </a:r>
              <a:endParaRPr lang="en-US" sz="2600" dirty="0"/>
            </a:p>
          </p:txBody>
        </p:sp>
        <p:sp>
          <p:nvSpPr>
            <p:cNvPr id="11" name="Text 23">
              <a:extLst>
                <a:ext uri="{FF2B5EF4-FFF2-40B4-BE49-F238E27FC236}">
                  <a16:creationId xmlns:a16="http://schemas.microsoft.com/office/drawing/2014/main" id="{60D3C51D-A5EE-2DF4-1AF8-A036A56DBC43}"/>
                </a:ext>
              </a:extLst>
            </p:cNvPr>
            <p:cNvSpPr/>
            <p:nvPr/>
          </p:nvSpPr>
          <p:spPr>
            <a:xfrm>
              <a:off x="9355958" y="1494128"/>
              <a:ext cx="2267237" cy="488154"/>
            </a:xfrm>
            <a:prstGeom prst="rect">
              <a:avLst/>
            </a:prstGeom>
            <a:noFill/>
            <a:ln/>
          </p:spPr>
          <p:txBody>
            <a:bodyPr wrap="square" rtlCol="0" anchor="t"/>
            <a:lstStyle/>
            <a:p>
              <a:pPr marL="0" indent="0" algn="ctr">
                <a:lnSpc>
                  <a:spcPct val="105000"/>
                </a:lnSpc>
                <a:buNone/>
              </a:pPr>
              <a:r>
                <a:rPr lang="en-US" sz="1200" dirty="0" err="1">
                  <a:solidFill>
                    <a:srgbClr val="B3BC9A"/>
                  </a:solidFill>
                  <a:latin typeface="Arial" pitchFamily="34" charset="0"/>
                  <a:ea typeface="Arial" pitchFamily="34" charset="-122"/>
                  <a:cs typeface="Arial" pitchFamily="34" charset="-120"/>
                </a:rPr>
                <a:t>Unternehmen-Kennzahl-Kombinationen</a:t>
              </a:r>
              <a:endParaRPr lang="en-US" sz="1200" dirty="0"/>
            </a:p>
          </p:txBody>
        </p:sp>
      </p:grpSp>
      <p:sp>
        <p:nvSpPr>
          <p:cNvPr id="12" name="Label_Mittelwert_Phi">
            <a:extLst>
              <a:ext uri="{FF2B5EF4-FFF2-40B4-BE49-F238E27FC236}">
                <a16:creationId xmlns:a16="http://schemas.microsoft.com/office/drawing/2014/main" id="{8D70BE7B-0330-0FEC-2C6D-55A52B1DE595}"/>
              </a:ext>
            </a:extLst>
          </p:cNvPr>
          <p:cNvSpPr txBox="1"/>
          <p:nvPr/>
        </p:nvSpPr>
        <p:spPr>
          <a:xfrm>
            <a:off x="6721269" y="2803862"/>
            <a:ext cx="211116" cy="228600"/>
          </a:xfrm>
          <a:prstGeom prst="rect">
            <a:avLst/>
          </a:prstGeom>
          <a:noFill/>
        </p:spPr>
        <p:txBody>
          <a:bodyPr wrap="none" lIns="0" tIns="0" rIns="0" bIns="0" anchor="ctr"/>
          <a:lstStyle/>
          <a:p>
            <a:pPr algn="r"/>
            <a:r>
              <a:rPr lang="el-GR" sz="1400" b="1" dirty="0">
                <a:solidFill>
                  <a:srgbClr val="E6D34F"/>
                </a:solidFill>
              </a:rPr>
              <a:t>φ </a:t>
            </a:r>
            <a:endParaRPr lang="de-DE" sz="1400" b="1" dirty="0">
              <a:solidFill>
                <a:srgbClr val="E6D34F"/>
              </a:solidFill>
            </a:endParaRPr>
          </a:p>
        </p:txBody>
      </p:sp>
      <p:sp>
        <p:nvSpPr>
          <p:cNvPr id="16" name="Textfeld 15">
            <a:extLst>
              <a:ext uri="{FF2B5EF4-FFF2-40B4-BE49-F238E27FC236}">
                <a16:creationId xmlns:a16="http://schemas.microsoft.com/office/drawing/2014/main" id="{B5B9AD8C-CC39-FD93-8562-4DFC67983212}"/>
              </a:ext>
            </a:extLst>
          </p:cNvPr>
          <p:cNvSpPr txBox="1"/>
          <p:nvPr/>
        </p:nvSpPr>
        <p:spPr>
          <a:xfrm>
            <a:off x="1895517" y="758743"/>
            <a:ext cx="6094070" cy="415498"/>
          </a:xfrm>
          <a:prstGeom prst="rect">
            <a:avLst/>
          </a:prstGeom>
          <a:noFill/>
        </p:spPr>
        <p:txBody>
          <a:bodyPr wrap="square">
            <a:spAutoFit/>
          </a:bodyPr>
          <a:lstStyle/>
          <a:p>
            <a:r>
              <a:rPr lang="en-US" sz="2100" b="1" kern="0" spc="-50" dirty="0" err="1">
                <a:solidFill>
                  <a:srgbClr val="F2EFDA"/>
                </a:solidFill>
                <a:latin typeface="Arial" pitchFamily="34" charset="0"/>
                <a:ea typeface="Arial" pitchFamily="34" charset="-122"/>
                <a:cs typeface="Arial" pitchFamily="34" charset="-120"/>
              </a:rPr>
              <a:t>ersten</a:t>
            </a:r>
            <a:r>
              <a:rPr lang="en-US" sz="2100" b="1" kern="0" spc="-50" dirty="0">
                <a:solidFill>
                  <a:srgbClr val="F2EFDA"/>
                </a:solidFill>
                <a:latin typeface="Arial" pitchFamily="34" charset="0"/>
                <a:ea typeface="Arial" pitchFamily="34" charset="-122"/>
                <a:cs typeface="Arial" pitchFamily="34" charset="-120"/>
              </a:rPr>
              <a:t> </a:t>
            </a:r>
            <a:r>
              <a:rPr lang="en-US" sz="2100" b="1" kern="0" spc="-50" dirty="0" err="1">
                <a:solidFill>
                  <a:srgbClr val="F2EFDA"/>
                </a:solidFill>
                <a:latin typeface="Arial" pitchFamily="34" charset="0"/>
                <a:ea typeface="Arial" pitchFamily="34" charset="-122"/>
                <a:cs typeface="Arial" pitchFamily="34" charset="-120"/>
              </a:rPr>
              <a:t>Differenzen</a:t>
            </a:r>
            <a:endParaRPr lang="de-DE" sz="2100" dirty="0"/>
          </a:p>
        </p:txBody>
      </p:sp>
      <p:sp>
        <p:nvSpPr>
          <p:cNvPr id="15" name="Textfeld 14">
            <a:extLst>
              <a:ext uri="{FF2B5EF4-FFF2-40B4-BE49-F238E27FC236}">
                <a16:creationId xmlns:a16="http://schemas.microsoft.com/office/drawing/2014/main" id="{C1FEEA0A-C4FF-ED6F-8259-166B5980C00C}"/>
              </a:ext>
            </a:extLst>
          </p:cNvPr>
          <p:cNvSpPr txBox="1"/>
          <p:nvPr/>
        </p:nvSpPr>
        <p:spPr>
          <a:xfrm rot="16200000">
            <a:off x="70944" y="3385295"/>
            <a:ext cx="957378" cy="338554"/>
          </a:xfrm>
          <a:prstGeom prst="rect">
            <a:avLst/>
          </a:prstGeom>
          <a:noFill/>
        </p:spPr>
        <p:txBody>
          <a:bodyPr wrap="none" rtlCol="0">
            <a:spAutoFit/>
          </a:bodyPr>
          <a:lstStyle/>
          <a:p>
            <a:r>
              <a:rPr lang="de-DE" sz="1600" b="1" dirty="0">
                <a:solidFill>
                  <a:srgbClr val="F2EFDA"/>
                </a:solidFill>
              </a:rPr>
              <a:t>Kennzahl</a:t>
            </a:r>
          </a:p>
        </p:txBody>
      </p:sp>
    </p:spTree>
    <p:extLst>
      <p:ext uri="{BB962C8B-B14F-4D97-AF65-F5344CB8AC3E}">
        <p14:creationId xmlns:p14="http://schemas.microsoft.com/office/powerpoint/2010/main" val="71906975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grpId="0" nodeType="clickEffect">
                                  <p:stCondLst>
                                    <p:cond delay="0"/>
                                  </p:stCondLst>
                                  <p:iterate type="lt">
                                    <p:tmPct val="4000"/>
                                  </p:iterate>
                                  <p:childTnLst>
                                    <p:set>
                                      <p:cBhvr override="childStyle">
                                        <p:cTn id="6" dur="500" fill="hold"/>
                                        <p:tgtEl>
                                          <p:spTgt spid="16"/>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2E1C"/>
        </a:solidFill>
        <a:effectLst/>
      </p:bgPr>
    </p:bg>
    <p:spTree>
      <p:nvGrpSpPr>
        <p:cNvPr id="1" name="">
          <a:extLst>
            <a:ext uri="{FF2B5EF4-FFF2-40B4-BE49-F238E27FC236}">
              <a16:creationId xmlns:a16="http://schemas.microsoft.com/office/drawing/2014/main" id="{F61C2813-B6F1-74E0-8964-CD5A11E36EA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1CFB2FB-190A-67A0-C860-53C641DDAC82}"/>
              </a:ext>
            </a:extLst>
          </p:cNvPr>
          <p:cNvSpPr/>
          <p:nvPr/>
        </p:nvSpPr>
        <p:spPr>
          <a:xfrm>
            <a:off x="0" y="0"/>
            <a:ext cx="12191695" cy="38405"/>
          </a:xfrm>
          <a:prstGeom prst="rect">
            <a:avLst/>
          </a:prstGeom>
          <a:solidFill>
            <a:srgbClr val="DBDEE2"/>
          </a:solidFill>
          <a:ln/>
        </p:spPr>
        <p:txBody>
          <a:bodyPr/>
          <a:lstStyle/>
          <a:p>
            <a:endParaRPr lang="de-DE"/>
          </a:p>
        </p:txBody>
      </p:sp>
      <p:sp>
        <p:nvSpPr>
          <p:cNvPr id="5" name="Text 2">
            <a:extLst>
              <a:ext uri="{FF2B5EF4-FFF2-40B4-BE49-F238E27FC236}">
                <a16:creationId xmlns:a16="http://schemas.microsoft.com/office/drawing/2014/main" id="{3C451C1A-8AF3-EDB6-3BCE-11B7F76C7686}"/>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04 / 13</a:t>
            </a:r>
            <a:endParaRPr lang="en-US" sz="1200"/>
          </a:p>
        </p:txBody>
      </p:sp>
      <p:sp>
        <p:nvSpPr>
          <p:cNvPr id="6" name="Text 3">
            <a:extLst>
              <a:ext uri="{FF2B5EF4-FFF2-40B4-BE49-F238E27FC236}">
                <a16:creationId xmlns:a16="http://schemas.microsoft.com/office/drawing/2014/main" id="{62D9103C-85D0-1A3D-22ED-3A2D8CBC7FCB}"/>
              </a:ext>
            </a:extLst>
          </p:cNvPr>
          <p:cNvSpPr/>
          <p:nvPr/>
        </p:nvSpPr>
        <p:spPr>
          <a:xfrm>
            <a:off x="634594" y="761695"/>
            <a:ext cx="10921594" cy="399593"/>
          </a:xfrm>
          <a:prstGeom prst="rect">
            <a:avLst/>
          </a:prstGeom>
          <a:noFill/>
          <a:ln/>
        </p:spPr>
        <p:txBody>
          <a:bodyPr wrap="square" rtlCol="0" anchor="t"/>
          <a:lstStyle/>
          <a:p>
            <a:r>
              <a:rPr lang="en-US" sz="2100" b="1" kern="0" spc="-50" dirty="0" err="1">
                <a:solidFill>
                  <a:srgbClr val="F2EFDA"/>
                </a:solidFill>
                <a:latin typeface="Arial" pitchFamily="34" charset="0"/>
                <a:ea typeface="Arial" pitchFamily="34" charset="-122"/>
                <a:cs typeface="Arial" pitchFamily="34" charset="-120"/>
              </a:rPr>
              <a:t>Veränderungsvolatilität</a:t>
            </a:r>
            <a:endParaRPr lang="en-US" sz="2100" dirty="0"/>
          </a:p>
        </p:txBody>
      </p:sp>
      <p:sp>
        <p:nvSpPr>
          <p:cNvPr id="3" name="Text 1">
            <a:extLst>
              <a:ext uri="{FF2B5EF4-FFF2-40B4-BE49-F238E27FC236}">
                <a16:creationId xmlns:a16="http://schemas.microsoft.com/office/drawing/2014/main" id="{C883CA9D-A844-9A22-C4E5-69D6BCD2D212}"/>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METHODIK</a:t>
            </a:r>
          </a:p>
        </p:txBody>
      </p:sp>
      <p:graphicFrame>
        <p:nvGraphicFramePr>
          <p:cNvPr id="501" name="Zeitreihen-Chart">
            <a:extLst>
              <a:ext uri="{FF2B5EF4-FFF2-40B4-BE49-F238E27FC236}">
                <a16:creationId xmlns:a16="http://schemas.microsoft.com/office/drawing/2014/main" id="{0DB63EAD-7534-C947-73C8-21E9ED7ECC05}"/>
              </a:ext>
            </a:extLst>
          </p:cNvPr>
          <p:cNvGraphicFramePr/>
          <p:nvPr/>
        </p:nvGraphicFramePr>
        <p:xfrm>
          <a:off x="634187" y="2024974"/>
          <a:ext cx="10922000" cy="2921000"/>
        </p:xfrm>
        <a:graphic>
          <a:graphicData uri="http://schemas.openxmlformats.org/drawingml/2006/chart">
            <c:chart xmlns:c="http://schemas.openxmlformats.org/drawingml/2006/chart" xmlns:r="http://schemas.openxmlformats.org/officeDocument/2006/relationships" r:id="rId3"/>
          </a:graphicData>
        </a:graphic>
      </p:graphicFrame>
      <p:cxnSp>
        <p:nvCxnSpPr>
          <p:cNvPr id="601" name="Linie_Mittelwert_Phi">
            <a:extLst>
              <a:ext uri="{FF2B5EF4-FFF2-40B4-BE49-F238E27FC236}">
                <a16:creationId xmlns:a16="http://schemas.microsoft.com/office/drawing/2014/main" id="{83F66AAD-09A2-1A17-F313-5CF3F3B7EF12}"/>
              </a:ext>
            </a:extLst>
          </p:cNvPr>
          <p:cNvCxnSpPr/>
          <p:nvPr/>
        </p:nvCxnSpPr>
        <p:spPr>
          <a:xfrm>
            <a:off x="1142187" y="3612474"/>
            <a:ext cx="10033000" cy="0"/>
          </a:xfrm>
          <a:prstGeom prst="line">
            <a:avLst/>
          </a:prstGeom>
          <a:ln w="12700" cap="rnd">
            <a:solidFill>
              <a:srgbClr val="E6D34F"/>
            </a:solidFill>
            <a:prstDash val="dash"/>
          </a:ln>
        </p:spPr>
      </p:cxnSp>
      <p:sp>
        <p:nvSpPr>
          <p:cNvPr id="10" name="Label_Mittelwert_Phi">
            <a:extLst>
              <a:ext uri="{FF2B5EF4-FFF2-40B4-BE49-F238E27FC236}">
                <a16:creationId xmlns:a16="http://schemas.microsoft.com/office/drawing/2014/main" id="{1C4BD6DF-0E74-E353-88FB-94DD8C069095}"/>
              </a:ext>
            </a:extLst>
          </p:cNvPr>
          <p:cNvSpPr txBox="1"/>
          <p:nvPr/>
        </p:nvSpPr>
        <p:spPr>
          <a:xfrm>
            <a:off x="11187657" y="3499764"/>
            <a:ext cx="211116" cy="228600"/>
          </a:xfrm>
          <a:prstGeom prst="rect">
            <a:avLst/>
          </a:prstGeom>
          <a:noFill/>
        </p:spPr>
        <p:txBody>
          <a:bodyPr wrap="none" lIns="0" tIns="0" rIns="0" bIns="0" anchor="ctr"/>
          <a:lstStyle/>
          <a:p>
            <a:pPr algn="r"/>
            <a:r>
              <a:rPr lang="de-DE" sz="1400" b="1" dirty="0">
                <a:solidFill>
                  <a:srgbClr val="E6D34F"/>
                </a:solidFill>
              </a:rPr>
              <a:t>c</a:t>
            </a:r>
            <a:r>
              <a:rPr lang="el-GR" sz="1400" b="1" dirty="0">
                <a:solidFill>
                  <a:srgbClr val="E6D34F"/>
                </a:solidFill>
              </a:rPr>
              <a:t> </a:t>
            </a:r>
            <a:endParaRPr lang="de-DE" sz="1400" b="1" dirty="0">
              <a:solidFill>
                <a:srgbClr val="E6D34F"/>
              </a:solidFill>
            </a:endParaRPr>
          </a:p>
        </p:txBody>
      </p:sp>
      <p:grpSp>
        <p:nvGrpSpPr>
          <p:cNvPr id="14" name="Gruppieren 13">
            <a:extLst>
              <a:ext uri="{FF2B5EF4-FFF2-40B4-BE49-F238E27FC236}">
                <a16:creationId xmlns:a16="http://schemas.microsoft.com/office/drawing/2014/main" id="{59E07578-278C-FD13-C011-F445DCAA18B2}"/>
              </a:ext>
            </a:extLst>
          </p:cNvPr>
          <p:cNvGrpSpPr/>
          <p:nvPr/>
        </p:nvGrpSpPr>
        <p:grpSpPr>
          <a:xfrm>
            <a:off x="9090308" y="858620"/>
            <a:ext cx="2701936" cy="1166354"/>
            <a:chOff x="9090308" y="858620"/>
            <a:chExt cx="2701936" cy="1166354"/>
          </a:xfrm>
        </p:grpSpPr>
        <p:sp>
          <p:nvSpPr>
            <p:cNvPr id="4" name="Shape 21">
              <a:extLst>
                <a:ext uri="{FF2B5EF4-FFF2-40B4-BE49-F238E27FC236}">
                  <a16:creationId xmlns:a16="http://schemas.microsoft.com/office/drawing/2014/main" id="{500A11CE-91DA-DFF1-1D94-5BE8DE7161EA}"/>
                </a:ext>
              </a:extLst>
            </p:cNvPr>
            <p:cNvSpPr/>
            <p:nvPr/>
          </p:nvSpPr>
          <p:spPr>
            <a:xfrm>
              <a:off x="9090308" y="858620"/>
              <a:ext cx="2701936" cy="1166354"/>
            </a:xfrm>
            <a:prstGeom prst="roundRect">
              <a:avLst>
                <a:gd name="adj" fmla="val 11100"/>
              </a:avLst>
            </a:prstGeom>
            <a:solidFill>
              <a:srgbClr val="1E402E"/>
            </a:solidFill>
            <a:ln w="12700">
              <a:solidFill>
                <a:srgbClr val="4A6D56"/>
              </a:solidFill>
              <a:prstDash val="solid"/>
            </a:ln>
          </p:spPr>
          <p:txBody>
            <a:bodyPr/>
            <a:lstStyle/>
            <a:p>
              <a:endParaRPr lang="de-DE"/>
            </a:p>
          </p:txBody>
        </p:sp>
        <p:sp>
          <p:nvSpPr>
            <p:cNvPr id="9" name="Text 22">
              <a:extLst>
                <a:ext uri="{FF2B5EF4-FFF2-40B4-BE49-F238E27FC236}">
                  <a16:creationId xmlns:a16="http://schemas.microsoft.com/office/drawing/2014/main" id="{B83BD454-504E-8A3C-6C31-C8417DA5D7B7}"/>
                </a:ext>
              </a:extLst>
            </p:cNvPr>
            <p:cNvSpPr/>
            <p:nvPr/>
          </p:nvSpPr>
          <p:spPr>
            <a:xfrm>
              <a:off x="9355958" y="1011324"/>
              <a:ext cx="2267238" cy="845066"/>
            </a:xfrm>
            <a:prstGeom prst="rect">
              <a:avLst/>
            </a:prstGeom>
            <a:noFill/>
            <a:ln/>
          </p:spPr>
          <p:txBody>
            <a:bodyPr wrap="square" rtlCol="0" anchor="t"/>
            <a:lstStyle/>
            <a:p>
              <a:pPr marL="0" indent="0" algn="ctr">
                <a:lnSpc>
                  <a:spcPct val="105000"/>
                </a:lnSpc>
                <a:buNone/>
              </a:pPr>
              <a:r>
                <a:rPr lang="en-US" sz="2600" b="1" dirty="0">
                  <a:solidFill>
                    <a:srgbClr val="79A2F9"/>
                  </a:solidFill>
                  <a:latin typeface="Courier New" pitchFamily="34" charset="0"/>
                  <a:ea typeface="Courier New" pitchFamily="34" charset="-122"/>
                  <a:cs typeface="Courier New" pitchFamily="34" charset="-120"/>
                </a:rPr>
                <a:t>6.521</a:t>
              </a:r>
              <a:endParaRPr lang="en-US" sz="2600" dirty="0"/>
            </a:p>
          </p:txBody>
        </p:sp>
        <p:sp>
          <p:nvSpPr>
            <p:cNvPr id="11" name="Text 23">
              <a:extLst>
                <a:ext uri="{FF2B5EF4-FFF2-40B4-BE49-F238E27FC236}">
                  <a16:creationId xmlns:a16="http://schemas.microsoft.com/office/drawing/2014/main" id="{1A6FD065-913F-1F27-5BD3-B40236E90CED}"/>
                </a:ext>
              </a:extLst>
            </p:cNvPr>
            <p:cNvSpPr/>
            <p:nvPr/>
          </p:nvSpPr>
          <p:spPr>
            <a:xfrm>
              <a:off x="9355958" y="1494128"/>
              <a:ext cx="2267237" cy="488154"/>
            </a:xfrm>
            <a:prstGeom prst="rect">
              <a:avLst/>
            </a:prstGeom>
            <a:noFill/>
            <a:ln/>
          </p:spPr>
          <p:txBody>
            <a:bodyPr wrap="square" rtlCol="0" anchor="t"/>
            <a:lstStyle/>
            <a:p>
              <a:pPr marL="0" indent="0" algn="ctr">
                <a:lnSpc>
                  <a:spcPct val="105000"/>
                </a:lnSpc>
                <a:buNone/>
              </a:pPr>
              <a:r>
                <a:rPr lang="en-US" sz="1200" dirty="0" err="1">
                  <a:solidFill>
                    <a:srgbClr val="B3BC9A"/>
                  </a:solidFill>
                  <a:latin typeface="Arial" pitchFamily="34" charset="0"/>
                  <a:ea typeface="Arial" pitchFamily="34" charset="-122"/>
                  <a:cs typeface="Arial" pitchFamily="34" charset="-120"/>
                </a:rPr>
                <a:t>Unternehmen-Kennzahl-Kombinationen</a:t>
              </a:r>
              <a:endParaRPr lang="en-US" sz="1200" dirty="0"/>
            </a:p>
          </p:txBody>
        </p:sp>
      </p:grpSp>
      <p:sp>
        <p:nvSpPr>
          <p:cNvPr id="13" name="Shape 4">
            <a:extLst>
              <a:ext uri="{FF2B5EF4-FFF2-40B4-BE49-F238E27FC236}">
                <a16:creationId xmlns:a16="http://schemas.microsoft.com/office/drawing/2014/main" id="{AD42079C-DA00-E929-46EC-33148230D956}"/>
              </a:ext>
            </a:extLst>
          </p:cNvPr>
          <p:cNvSpPr/>
          <p:nvPr/>
        </p:nvSpPr>
        <p:spPr>
          <a:xfrm>
            <a:off x="4286402" y="5199975"/>
            <a:ext cx="3619196" cy="1285646"/>
          </a:xfrm>
          <a:prstGeom prst="roundRect">
            <a:avLst>
              <a:gd name="adj" fmla="val 13325"/>
            </a:avLst>
          </a:prstGeom>
          <a:solidFill>
            <a:srgbClr val="1E402E"/>
          </a:solidFill>
          <a:ln w="12700">
            <a:solidFill>
              <a:srgbClr val="4A6D56"/>
            </a:solidFill>
            <a:prstDash val="solid"/>
          </a:ln>
        </p:spPr>
        <p:txBody>
          <a:bodyPr/>
          <a:lstStyle/>
          <a:p>
            <a:endParaRPr lang="de-DE"/>
          </a:p>
        </p:txBody>
      </p:sp>
      <mc:AlternateContent xmlns:mc="http://schemas.openxmlformats.org/markup-compatibility/2006" xmlns:a14="http://schemas.microsoft.com/office/drawing/2010/main">
        <mc:Choice Requires="a14">
          <p:sp>
            <p:nvSpPr>
              <p:cNvPr id="15" name="Text 5">
                <a:extLst>
                  <a:ext uri="{FF2B5EF4-FFF2-40B4-BE49-F238E27FC236}">
                    <a16:creationId xmlns:a16="http://schemas.microsoft.com/office/drawing/2014/main" id="{46A8EF8F-C624-FA76-5BD4-923FC1C4789A}"/>
                  </a:ext>
                </a:extLst>
              </p:cNvPr>
              <p:cNvSpPr/>
              <p:nvPr/>
            </p:nvSpPr>
            <p:spPr>
              <a:xfrm>
                <a:off x="4286402" y="5459517"/>
                <a:ext cx="3619196" cy="761695"/>
              </a:xfrm>
              <a:prstGeom prst="rect">
                <a:avLst/>
              </a:prstGeom>
              <a:noFill/>
              <a:ln/>
            </p:spPr>
            <p:txBody>
              <a:bodyPr wrap="square" rtlCol="0" anchor="ctr"/>
              <a:lstStyle/>
              <a:p>
                <a:pPr/>
                <a14:m>
                  <m:oMathPara xmlns:m="http://schemas.openxmlformats.org/officeDocument/2006/math">
                    <m:oMathParaPr>
                      <m:jc m:val="centerGroup"/>
                    </m:oMathParaPr>
                    <m:oMath xmlns:m="http://schemas.openxmlformats.org/officeDocument/2006/math">
                      <m:r>
                        <m:rPr>
                          <m:nor/>
                        </m:rPr>
                        <a:rPr lang="de-DE" sz="2000" b="0" i="0" dirty="0">
                          <a:solidFill>
                            <a:srgbClr val="78A2F9"/>
                          </a:solidFill>
                          <a:latin typeface="Courier New" pitchFamily="34" charset="0"/>
                          <a:ea typeface="Courier New" pitchFamily="34" charset="-122"/>
                          <a:cs typeface="Courier New" pitchFamily="34" charset="-120"/>
                        </a:rPr>
                        <m:t>𝜎</m:t>
                      </m:r>
                      <m:r>
                        <a:rPr lang="de-DE" sz="2000" b="1" smtClean="0">
                          <a:solidFill>
                            <a:srgbClr val="F3EFDA"/>
                          </a:solidFill>
                          <a:latin typeface="Cambria Math" panose="02040503050406030204" pitchFamily="18" charset="0"/>
                          <a:ea typeface="Courier New" pitchFamily="34" charset="-122"/>
                          <a:cs typeface="Courier New" pitchFamily="34" charset="-120"/>
                        </a:rPr>
                        <m:t>=</m:t>
                      </m:r>
                      <m:rad>
                        <m:radPr>
                          <m:degHide m:val="on"/>
                          <m:ctrlPr>
                            <a:rPr lang="de-DE" sz="2000" b="1" i="1" smtClean="0">
                              <a:solidFill>
                                <a:srgbClr val="F3EFDA"/>
                              </a:solidFill>
                              <a:latin typeface="Cambria Math" panose="02040503050406030204" pitchFamily="18" charset="0"/>
                              <a:ea typeface="Courier New" pitchFamily="34" charset="-122"/>
                              <a:cs typeface="Courier New" pitchFamily="34" charset="-120"/>
                            </a:rPr>
                          </m:ctrlPr>
                        </m:radPr>
                        <m:deg/>
                        <m:e>
                          <m:f>
                            <m:fPr>
                              <m:ctrlPr>
                                <a:rPr lang="de-DE" sz="2000" b="1" i="1">
                                  <a:solidFill>
                                    <a:srgbClr val="F3EFDA"/>
                                  </a:solidFill>
                                  <a:latin typeface="Cambria Math" panose="02040503050406030204" pitchFamily="18" charset="0"/>
                                  <a:ea typeface="Courier New" pitchFamily="34" charset="-122"/>
                                  <a:cs typeface="Courier New" pitchFamily="34" charset="-120"/>
                                </a:rPr>
                              </m:ctrlPr>
                            </m:fPr>
                            <m:num>
                              <m:r>
                                <a:rPr lang="de-DE" sz="2000" b="1">
                                  <a:solidFill>
                                    <a:srgbClr val="F3EFDA"/>
                                  </a:solidFill>
                                  <a:latin typeface="Cambria Math" panose="02040503050406030204" pitchFamily="18" charset="0"/>
                                  <a:ea typeface="Courier New" pitchFamily="34" charset="-122"/>
                                  <a:cs typeface="Courier New" pitchFamily="34" charset="-120"/>
                                </a:rPr>
                                <m:t>1</m:t>
                              </m:r>
                            </m:num>
                            <m:den>
                              <m:r>
                                <a:rPr lang="de-DE" sz="2000" b="1">
                                  <a:solidFill>
                                    <a:srgbClr val="F3EFDA"/>
                                  </a:solidFill>
                                  <a:latin typeface="Cambria Math" panose="02040503050406030204" pitchFamily="18" charset="0"/>
                                  <a:ea typeface="Courier New" pitchFamily="34" charset="-122"/>
                                  <a:cs typeface="Courier New" pitchFamily="34" charset="-120"/>
                                </a:rPr>
                                <m:t>𝑛</m:t>
                              </m:r>
                              <m:r>
                                <a:rPr lang="de-DE" sz="2000" b="1">
                                  <a:solidFill>
                                    <a:srgbClr val="F3EFDA"/>
                                  </a:solidFill>
                                  <a:latin typeface="Cambria Math" panose="02040503050406030204" pitchFamily="18" charset="0"/>
                                  <a:ea typeface="Courier New" pitchFamily="34" charset="-122"/>
                                  <a:cs typeface="Courier New" pitchFamily="34" charset="-120"/>
                                </a:rPr>
                                <m:t>−1</m:t>
                              </m:r>
                            </m:den>
                          </m:f>
                          <m:nary>
                            <m:naryPr>
                              <m:chr m:val="∑"/>
                              <m:grow m:val="on"/>
                              <m:ctrlPr>
                                <a:rPr lang="de-DE" sz="2000" b="1" i="1">
                                  <a:solidFill>
                                    <a:srgbClr val="F3EFDA"/>
                                  </a:solidFill>
                                  <a:latin typeface="Cambria Math" panose="02040503050406030204" pitchFamily="18" charset="0"/>
                                  <a:ea typeface="Courier New" pitchFamily="34" charset="-122"/>
                                  <a:cs typeface="Courier New" pitchFamily="34" charset="-120"/>
                                </a:rPr>
                              </m:ctrlPr>
                            </m:naryPr>
                            <m:sub>
                              <m:r>
                                <a:rPr lang="de-DE" sz="2000" b="1">
                                  <a:solidFill>
                                    <a:srgbClr val="F3EFDA"/>
                                  </a:solidFill>
                                  <a:latin typeface="Cambria Math" panose="02040503050406030204" pitchFamily="18" charset="0"/>
                                  <a:ea typeface="Courier New" pitchFamily="34" charset="-122"/>
                                  <a:cs typeface="Courier New" pitchFamily="34" charset="-120"/>
                                </a:rPr>
                                <m:t>𝑡</m:t>
                              </m:r>
                              <m:r>
                                <a:rPr lang="de-DE" sz="2000" b="1">
                                  <a:solidFill>
                                    <a:srgbClr val="F3EFDA"/>
                                  </a:solidFill>
                                  <a:latin typeface="Cambria Math" panose="02040503050406030204" pitchFamily="18" charset="0"/>
                                  <a:ea typeface="Courier New" pitchFamily="34" charset="-122"/>
                                  <a:cs typeface="Courier New" pitchFamily="34" charset="-120"/>
                                </a:rPr>
                                <m:t>=2</m:t>
                              </m:r>
                            </m:sub>
                            <m:sup>
                              <m:r>
                                <a:rPr lang="de-DE" sz="2000" b="1">
                                  <a:solidFill>
                                    <a:srgbClr val="F3EFDA"/>
                                  </a:solidFill>
                                  <a:latin typeface="Cambria Math" panose="02040503050406030204" pitchFamily="18" charset="0"/>
                                  <a:ea typeface="Courier New" pitchFamily="34" charset="-122"/>
                                  <a:cs typeface="Courier New" pitchFamily="34" charset="-120"/>
                                </a:rPr>
                                <m:t>𝑛</m:t>
                              </m:r>
                            </m:sup>
                            <m:e>
                              <m:r>
                                <a:rPr lang="de-DE" sz="2000" b="1">
                                  <a:solidFill>
                                    <a:srgbClr val="F3EFDA"/>
                                  </a:solidFill>
                                  <a:latin typeface="Cambria Math" panose="02040503050406030204" pitchFamily="18" charset="0"/>
                                  <a:ea typeface="Courier New" pitchFamily="34" charset="-122"/>
                                  <a:cs typeface="Courier New" pitchFamily="34" charset="-120"/>
                                </a:rPr>
                                <m:t>(</m:t>
                              </m:r>
                            </m:e>
                          </m:nary>
                          <m:d>
                            <m:dPr>
                              <m:begChr m:val=""/>
                              <m:endChr m:val=""/>
                              <m:ctrlPr>
                                <a:rPr lang="de-DE" sz="2000" b="1" i="1">
                                  <a:solidFill>
                                    <a:srgbClr val="F3EFDA"/>
                                  </a:solidFill>
                                  <a:latin typeface="Cambria Math" panose="02040503050406030204" pitchFamily="18" charset="0"/>
                                  <a:ea typeface="Courier New" pitchFamily="34" charset="-122"/>
                                  <a:cs typeface="Courier New" pitchFamily="34" charset="-120"/>
                                </a:rPr>
                              </m:ctrlPr>
                            </m:dPr>
                            <m:e>
                              <m:r>
                                <a:rPr lang="de-DE" sz="2000" b="1">
                                  <a:solidFill>
                                    <a:srgbClr val="F3EFDA"/>
                                  </a:solidFill>
                                  <a:latin typeface="Cambria Math" panose="02040503050406030204" pitchFamily="18" charset="0"/>
                                  <a:ea typeface="Courier New" pitchFamily="34" charset="-122"/>
                                  <a:cs typeface="Courier New" pitchFamily="34" charset="-120"/>
                                </a:rPr>
                                <m:t>𝛥</m:t>
                              </m:r>
                              <m:sSub>
                                <m:sSubPr>
                                  <m:ctrlPr>
                                    <a:rPr lang="de-DE" sz="2000" b="1" i="1">
                                      <a:solidFill>
                                        <a:srgbClr val="F3EFDA"/>
                                      </a:solidFill>
                                      <a:latin typeface="Cambria Math" panose="02040503050406030204" pitchFamily="18" charset="0"/>
                                      <a:ea typeface="Courier New" pitchFamily="34" charset="-122"/>
                                      <a:cs typeface="Courier New" pitchFamily="34" charset="-120"/>
                                    </a:rPr>
                                  </m:ctrlPr>
                                </m:sSubPr>
                                <m:e>
                                  <m:r>
                                    <a:rPr lang="de-DE" sz="2000" b="1">
                                      <a:solidFill>
                                        <a:srgbClr val="F3EFDA"/>
                                      </a:solidFill>
                                      <a:latin typeface="Cambria Math" panose="02040503050406030204" pitchFamily="18" charset="0"/>
                                      <a:ea typeface="Courier New" pitchFamily="34" charset="-122"/>
                                      <a:cs typeface="Courier New" pitchFamily="34" charset="-120"/>
                                    </a:rPr>
                                    <m:t>𝑦</m:t>
                                  </m:r>
                                </m:e>
                                <m:sub>
                                  <m:r>
                                    <a:rPr lang="de-DE" sz="2000" b="1">
                                      <a:solidFill>
                                        <a:srgbClr val="F3EFDA"/>
                                      </a:solidFill>
                                      <a:latin typeface="Cambria Math" panose="02040503050406030204" pitchFamily="18" charset="0"/>
                                      <a:ea typeface="Courier New" pitchFamily="34" charset="-122"/>
                                      <a:cs typeface="Courier New" pitchFamily="34" charset="-120"/>
                                    </a:rPr>
                                    <m:t>𝑡</m:t>
                                  </m:r>
                                </m:sub>
                              </m:sSub>
                              <m:r>
                                <a:rPr lang="de-DE" sz="2000" b="1">
                                  <a:solidFill>
                                    <a:srgbClr val="F3EFDA"/>
                                  </a:solidFill>
                                  <a:latin typeface="Cambria Math" panose="02040503050406030204" pitchFamily="18" charset="0"/>
                                  <a:ea typeface="Courier New" pitchFamily="34" charset="-122"/>
                                  <a:cs typeface="Courier New" pitchFamily="34" charset="-120"/>
                                </a:rPr>
                                <m:t>−</m:t>
                              </m:r>
                              <m:acc>
                                <m:accPr>
                                  <m:chr m:val="̄"/>
                                  <m:ctrlPr>
                                    <a:rPr lang="de-DE" sz="2000" b="1" i="1">
                                      <a:solidFill>
                                        <a:srgbClr val="F3EFDA"/>
                                      </a:solidFill>
                                      <a:latin typeface="Cambria Math" panose="02040503050406030204" pitchFamily="18" charset="0"/>
                                      <a:ea typeface="Courier New" pitchFamily="34" charset="-122"/>
                                      <a:cs typeface="Courier New" pitchFamily="34" charset="-120"/>
                                    </a:rPr>
                                  </m:ctrlPr>
                                </m:accPr>
                                <m:e>
                                  <m:r>
                                    <a:rPr lang="de-DE" sz="2000" b="1">
                                      <a:solidFill>
                                        <a:srgbClr val="F3EFDA"/>
                                      </a:solidFill>
                                      <a:latin typeface="Cambria Math" panose="02040503050406030204" pitchFamily="18" charset="0"/>
                                      <a:ea typeface="Courier New" pitchFamily="34" charset="-122"/>
                                      <a:cs typeface="Courier New" pitchFamily="34" charset="-120"/>
                                    </a:rPr>
                                    <m:t>𝛥</m:t>
                                  </m:r>
                                  <m:r>
                                    <a:rPr lang="de-DE" sz="2000" b="1">
                                      <a:solidFill>
                                        <a:srgbClr val="F3EFDA"/>
                                      </a:solidFill>
                                      <a:latin typeface="Cambria Math" panose="02040503050406030204" pitchFamily="18" charset="0"/>
                                      <a:ea typeface="Courier New" pitchFamily="34" charset="-122"/>
                                      <a:cs typeface="Courier New" pitchFamily="34" charset="-120"/>
                                    </a:rPr>
                                    <m:t>𝑦</m:t>
                                  </m:r>
                                </m:e>
                              </m:acc>
                              <m:sSup>
                                <m:sSupPr>
                                  <m:ctrlPr>
                                    <a:rPr lang="de-DE" sz="2000" b="1" i="1">
                                      <a:solidFill>
                                        <a:srgbClr val="F3EFDA"/>
                                      </a:solidFill>
                                      <a:latin typeface="Cambria Math" panose="02040503050406030204" pitchFamily="18" charset="0"/>
                                      <a:ea typeface="Courier New" pitchFamily="34" charset="-122"/>
                                      <a:cs typeface="Courier New" pitchFamily="34" charset="-120"/>
                                    </a:rPr>
                                  </m:ctrlPr>
                                </m:sSupPr>
                                <m:e>
                                  <m:d>
                                    <m:dPr>
                                      <m:begChr m:val=""/>
                                      <m:endChr m:val=""/>
                                      <m:ctrlPr>
                                        <a:rPr lang="de-DE" sz="2000" b="1" i="1">
                                          <a:solidFill>
                                            <a:srgbClr val="F3EFDA"/>
                                          </a:solidFill>
                                          <a:latin typeface="Cambria Math" panose="02040503050406030204" pitchFamily="18" charset="0"/>
                                          <a:ea typeface="Courier New" pitchFamily="34" charset="-122"/>
                                          <a:cs typeface="Courier New" pitchFamily="34" charset="-120"/>
                                        </a:rPr>
                                      </m:ctrlPr>
                                    </m:dPr>
                                    <m:e>
                                      <m:r>
                                        <a:rPr lang="de-DE" sz="2000" b="1">
                                          <a:solidFill>
                                            <a:srgbClr val="F3EFDA"/>
                                          </a:solidFill>
                                          <a:latin typeface="Cambria Math" panose="02040503050406030204" pitchFamily="18" charset="0"/>
                                          <a:ea typeface="Courier New" pitchFamily="34" charset="-122"/>
                                          <a:cs typeface="Courier New" pitchFamily="34" charset="-120"/>
                                        </a:rPr>
                                        <m:t>)</m:t>
                                      </m:r>
                                    </m:e>
                                  </m:d>
                                </m:e>
                                <m:sup>
                                  <m:r>
                                    <a:rPr lang="de-DE" sz="2000" b="1">
                                      <a:solidFill>
                                        <a:srgbClr val="F3EFDA"/>
                                      </a:solidFill>
                                      <a:latin typeface="Cambria Math" panose="02040503050406030204" pitchFamily="18" charset="0"/>
                                      <a:ea typeface="Courier New" pitchFamily="34" charset="-122"/>
                                      <a:cs typeface="Courier New" pitchFamily="34" charset="-120"/>
                                    </a:rPr>
                                    <m:t>2</m:t>
                                  </m:r>
                                </m:sup>
                              </m:sSup>
                            </m:e>
                          </m:d>
                        </m:e>
                      </m:rad>
                    </m:oMath>
                  </m:oMathPara>
                </a14:m>
                <a:endParaRPr lang="en-US" sz="2000" b="1" dirty="0">
                  <a:solidFill>
                    <a:srgbClr val="78A2F9"/>
                  </a:solidFill>
                  <a:latin typeface="Courier New" pitchFamily="34" charset="0"/>
                  <a:ea typeface="Courier New" pitchFamily="34" charset="-122"/>
                  <a:cs typeface="Courier New" pitchFamily="34" charset="-120"/>
                </a:endParaRPr>
              </a:p>
            </p:txBody>
          </p:sp>
        </mc:Choice>
        <mc:Fallback xmlns="">
          <p:sp>
            <p:nvSpPr>
              <p:cNvPr id="15" name="Text 5">
                <a:extLst>
                  <a:ext uri="{FF2B5EF4-FFF2-40B4-BE49-F238E27FC236}">
                    <a16:creationId xmlns:a16="http://schemas.microsoft.com/office/drawing/2014/main" id="{46A8EF8F-C624-FA76-5BD4-923FC1C4789A}"/>
                  </a:ext>
                </a:extLst>
              </p:cNvPr>
              <p:cNvSpPr>
                <a:spLocks noRot="1" noChangeAspect="1" noMove="1" noResize="1" noEditPoints="1" noAdjustHandles="1" noChangeArrowheads="1" noChangeShapeType="1" noTextEdit="1"/>
              </p:cNvSpPr>
              <p:nvPr/>
            </p:nvSpPr>
            <p:spPr>
              <a:xfrm>
                <a:off x="4286402" y="5459517"/>
                <a:ext cx="3619196" cy="761695"/>
              </a:xfrm>
              <a:prstGeom prst="rect">
                <a:avLst/>
              </a:prstGeom>
              <a:blipFill>
                <a:blip r:embed="rId4"/>
                <a:stretch>
                  <a:fillRect t="-134426" b="-204918"/>
                </a:stretch>
              </a:blipFill>
              <a:ln/>
            </p:spPr>
            <p:txBody>
              <a:bodyPr/>
              <a:lstStyle/>
              <a:p>
                <a:r>
                  <a:rPr lang="de-DE">
                    <a:noFill/>
                  </a:rPr>
                  <a:t> </a:t>
                </a:r>
              </a:p>
            </p:txBody>
          </p:sp>
        </mc:Fallback>
      </mc:AlternateContent>
      <p:cxnSp>
        <p:nvCxnSpPr>
          <p:cNvPr id="16" name="Pfeil_Sigma_Amplitude">
            <a:extLst>
              <a:ext uri="{FF2B5EF4-FFF2-40B4-BE49-F238E27FC236}">
                <a16:creationId xmlns:a16="http://schemas.microsoft.com/office/drawing/2014/main" id="{19101B1A-E308-A2C5-34CE-D8F7277FBFD2}"/>
              </a:ext>
            </a:extLst>
          </p:cNvPr>
          <p:cNvCxnSpPr>
            <a:cxnSpLocks/>
          </p:cNvCxnSpPr>
          <p:nvPr/>
        </p:nvCxnSpPr>
        <p:spPr>
          <a:xfrm>
            <a:off x="11669349" y="2954114"/>
            <a:ext cx="0" cy="1455615"/>
          </a:xfrm>
          <a:prstGeom prst="line">
            <a:avLst/>
          </a:prstGeom>
          <a:ln w="19050" cap="rnd">
            <a:solidFill>
              <a:srgbClr val="E6D34F"/>
            </a:solidFill>
            <a:headEnd type="triangle" w="med" len="med"/>
            <a:tailEnd type="triangle" w="med" len="med"/>
          </a:ln>
        </p:spPr>
      </p:cxnSp>
      <p:cxnSp>
        <p:nvCxnSpPr>
          <p:cNvPr id="17" name="Hilfslinie_Sigma_Oben">
            <a:extLst>
              <a:ext uri="{FF2B5EF4-FFF2-40B4-BE49-F238E27FC236}">
                <a16:creationId xmlns:a16="http://schemas.microsoft.com/office/drawing/2014/main" id="{67A37EF3-08E4-E1E5-41B2-52BC693105B2}"/>
              </a:ext>
            </a:extLst>
          </p:cNvPr>
          <p:cNvCxnSpPr/>
          <p:nvPr/>
        </p:nvCxnSpPr>
        <p:spPr>
          <a:xfrm>
            <a:off x="11351849" y="2974628"/>
            <a:ext cx="317500" cy="0"/>
          </a:xfrm>
          <a:prstGeom prst="line">
            <a:avLst/>
          </a:prstGeom>
          <a:ln w="9525" cap="rnd">
            <a:solidFill>
              <a:srgbClr val="E6D34F"/>
            </a:solidFill>
            <a:prstDash val="dash"/>
          </a:ln>
        </p:spPr>
      </p:cxnSp>
      <p:cxnSp>
        <p:nvCxnSpPr>
          <p:cNvPr id="18" name="Hilfslinie_Sigma_Unten">
            <a:extLst>
              <a:ext uri="{FF2B5EF4-FFF2-40B4-BE49-F238E27FC236}">
                <a16:creationId xmlns:a16="http://schemas.microsoft.com/office/drawing/2014/main" id="{F6C1F759-4EBC-BA94-1F4B-B635FAAFCE8C}"/>
              </a:ext>
            </a:extLst>
          </p:cNvPr>
          <p:cNvCxnSpPr/>
          <p:nvPr/>
        </p:nvCxnSpPr>
        <p:spPr>
          <a:xfrm>
            <a:off x="11351849" y="4367723"/>
            <a:ext cx="317500" cy="0"/>
          </a:xfrm>
          <a:prstGeom prst="line">
            <a:avLst/>
          </a:prstGeom>
          <a:ln w="9525" cap="rnd">
            <a:solidFill>
              <a:srgbClr val="E6D34F"/>
            </a:solidFill>
            <a:prstDash val="dash"/>
          </a:ln>
        </p:spPr>
      </p:cxnSp>
      <p:sp>
        <p:nvSpPr>
          <p:cNvPr id="19" name="Label_Sigma">
            <a:extLst>
              <a:ext uri="{FF2B5EF4-FFF2-40B4-BE49-F238E27FC236}">
                <a16:creationId xmlns:a16="http://schemas.microsoft.com/office/drawing/2014/main" id="{9942469C-DB05-C1D8-5F99-0568CBCE3C33}"/>
              </a:ext>
            </a:extLst>
          </p:cNvPr>
          <p:cNvSpPr txBox="1"/>
          <p:nvPr/>
        </p:nvSpPr>
        <p:spPr>
          <a:xfrm>
            <a:off x="11758249" y="3462114"/>
            <a:ext cx="431800" cy="304800"/>
          </a:xfrm>
          <a:prstGeom prst="rect">
            <a:avLst/>
          </a:prstGeom>
          <a:noFill/>
        </p:spPr>
        <p:txBody>
          <a:bodyPr wrap="none" lIns="0" tIns="0" rIns="0" bIns="0" anchor="ctr"/>
          <a:lstStyle/>
          <a:p>
            <a:pPr algn="ctr"/>
            <a:r>
              <a:rPr lang="de-DE" sz="1800" b="1" dirty="0" err="1">
                <a:solidFill>
                  <a:srgbClr val="E6D34F"/>
                </a:solidFill>
              </a:rPr>
              <a:t>σ</a:t>
            </a:r>
            <a:endParaRPr lang="de-DE" sz="1800" b="1" dirty="0">
              <a:solidFill>
                <a:srgbClr val="E6D34F"/>
              </a:solidFill>
            </a:endParaRPr>
          </a:p>
        </p:txBody>
      </p:sp>
      <p:cxnSp>
        <p:nvCxnSpPr>
          <p:cNvPr id="20" name="Pfeil_Sigma_Amplitude">
            <a:extLst>
              <a:ext uri="{FF2B5EF4-FFF2-40B4-BE49-F238E27FC236}">
                <a16:creationId xmlns:a16="http://schemas.microsoft.com/office/drawing/2014/main" id="{8E0D388A-CBE1-9C2D-34B8-9286DBBAA726}"/>
              </a:ext>
            </a:extLst>
          </p:cNvPr>
          <p:cNvCxnSpPr>
            <a:cxnSpLocks/>
          </p:cNvCxnSpPr>
          <p:nvPr/>
        </p:nvCxnSpPr>
        <p:spPr>
          <a:xfrm>
            <a:off x="3393844" y="3281583"/>
            <a:ext cx="0" cy="709190"/>
          </a:xfrm>
          <a:prstGeom prst="line">
            <a:avLst/>
          </a:prstGeom>
          <a:ln w="19050" cap="rnd">
            <a:solidFill>
              <a:srgbClr val="E6D34F"/>
            </a:solidFill>
            <a:headEnd type="triangle" w="med" len="med"/>
            <a:tailEnd type="triangle" w="med" len="med"/>
          </a:ln>
        </p:spPr>
      </p:cxnSp>
      <p:cxnSp>
        <p:nvCxnSpPr>
          <p:cNvPr id="21" name="Hilfslinie_Sigma_Oben">
            <a:extLst>
              <a:ext uri="{FF2B5EF4-FFF2-40B4-BE49-F238E27FC236}">
                <a16:creationId xmlns:a16="http://schemas.microsoft.com/office/drawing/2014/main" id="{7BCCC8BC-B819-BDD5-BBA1-C1BDD7635CA8}"/>
              </a:ext>
            </a:extLst>
          </p:cNvPr>
          <p:cNvCxnSpPr/>
          <p:nvPr/>
        </p:nvCxnSpPr>
        <p:spPr>
          <a:xfrm>
            <a:off x="3241599" y="3281583"/>
            <a:ext cx="317500" cy="0"/>
          </a:xfrm>
          <a:prstGeom prst="line">
            <a:avLst/>
          </a:prstGeom>
          <a:ln w="9525" cap="rnd">
            <a:solidFill>
              <a:srgbClr val="E6D34F"/>
            </a:solidFill>
            <a:prstDash val="dash"/>
          </a:ln>
        </p:spPr>
      </p:cxnSp>
      <p:cxnSp>
        <p:nvCxnSpPr>
          <p:cNvPr id="22" name="Hilfslinie_Sigma_Oben">
            <a:extLst>
              <a:ext uri="{FF2B5EF4-FFF2-40B4-BE49-F238E27FC236}">
                <a16:creationId xmlns:a16="http://schemas.microsoft.com/office/drawing/2014/main" id="{77CA50E0-7F4F-750A-F3A1-267108A9FBEA}"/>
              </a:ext>
            </a:extLst>
          </p:cNvPr>
          <p:cNvCxnSpPr/>
          <p:nvPr/>
        </p:nvCxnSpPr>
        <p:spPr>
          <a:xfrm>
            <a:off x="3052473" y="3995844"/>
            <a:ext cx="317500" cy="0"/>
          </a:xfrm>
          <a:prstGeom prst="line">
            <a:avLst/>
          </a:prstGeom>
          <a:ln w="9525" cap="rnd">
            <a:solidFill>
              <a:srgbClr val="E6D34F"/>
            </a:solidFill>
            <a:prstDash val="dash"/>
          </a:ln>
        </p:spPr>
      </p:cxnSp>
      <mc:AlternateContent xmlns:mc="http://schemas.openxmlformats.org/markup-compatibility/2006" xmlns:a14="http://schemas.microsoft.com/office/drawing/2010/main">
        <mc:Choice Requires="a14">
          <p:sp>
            <p:nvSpPr>
              <p:cNvPr id="23" name="Textfeld 22">
                <a:extLst>
                  <a:ext uri="{FF2B5EF4-FFF2-40B4-BE49-F238E27FC236}">
                    <a16:creationId xmlns:a16="http://schemas.microsoft.com/office/drawing/2014/main" id="{C87BF89A-9103-67D6-1DF8-54636BA18E65}"/>
                  </a:ext>
                </a:extLst>
              </p:cNvPr>
              <p:cNvSpPr txBox="1"/>
              <p:nvPr/>
            </p:nvSpPr>
            <p:spPr>
              <a:xfrm>
                <a:off x="2760988" y="4150871"/>
                <a:ext cx="961221" cy="371064"/>
              </a:xfrm>
              <a:prstGeom prst="rect">
                <a:avLst/>
              </a:prstGeom>
              <a:noFill/>
            </p:spPr>
            <p:txBody>
              <a:bodyPr wrap="none" lIns="0" tIns="0" rIns="0" bIns="0" anchor="ctr"/>
              <a:lstStyle>
                <a:lvl1pPr algn="ctr">
                  <a:defRPr b="1">
                    <a:solidFill>
                      <a:srgbClr val="E6D34F"/>
                    </a:solidFill>
                  </a:defRPr>
                </a:lvl1pPr>
              </a:lstStyle>
              <a:p>
                <a:pPr/>
                <a14:m>
                  <m:oMathPara xmlns:m="http://schemas.openxmlformats.org/officeDocument/2006/math">
                    <m:oMathParaPr>
                      <m:jc m:val="centerGroup"/>
                    </m:oMathParaPr>
                    <m:oMath xmlns:m="http://schemas.openxmlformats.org/officeDocument/2006/math">
                      <m:r>
                        <a:rPr lang="de-DE">
                          <a:latin typeface="Cambria Math" panose="02040503050406030204" pitchFamily="18" charset="0"/>
                        </a:rPr>
                        <m:t>𝛥</m:t>
                      </m:r>
                      <m:sSub>
                        <m:sSubPr>
                          <m:ctrlPr>
                            <a:rPr lang="de-DE" i="1">
                              <a:latin typeface="Cambria Math" panose="02040503050406030204" pitchFamily="18" charset="0"/>
                            </a:rPr>
                          </m:ctrlPr>
                        </m:sSubPr>
                        <m:e>
                          <m:r>
                            <a:rPr lang="de-DE">
                              <a:latin typeface="Cambria Math" panose="02040503050406030204" pitchFamily="18" charset="0"/>
                            </a:rPr>
                            <m:t>𝑦</m:t>
                          </m:r>
                        </m:e>
                        <m:sub>
                          <m:r>
                            <a:rPr lang="de-DE">
                              <a:latin typeface="Cambria Math" panose="02040503050406030204" pitchFamily="18" charset="0"/>
                            </a:rPr>
                            <m:t>𝑡</m:t>
                          </m:r>
                        </m:sub>
                      </m:sSub>
                      <m:r>
                        <a:rPr lang="de-DE">
                          <a:latin typeface="Cambria Math" panose="02040503050406030204" pitchFamily="18" charset="0"/>
                        </a:rPr>
                        <m:t>−</m:t>
                      </m:r>
                      <m:acc>
                        <m:accPr>
                          <m:chr m:val="̄"/>
                          <m:ctrlPr>
                            <a:rPr lang="de-DE" i="1">
                              <a:latin typeface="Cambria Math" panose="02040503050406030204" pitchFamily="18" charset="0"/>
                            </a:rPr>
                          </m:ctrlPr>
                        </m:accPr>
                        <m:e>
                          <m:r>
                            <a:rPr lang="de-DE">
                              <a:latin typeface="Cambria Math" panose="02040503050406030204" pitchFamily="18" charset="0"/>
                            </a:rPr>
                            <m:t>𝛥</m:t>
                          </m:r>
                          <m:r>
                            <a:rPr lang="de-DE">
                              <a:latin typeface="Cambria Math" panose="02040503050406030204" pitchFamily="18" charset="0"/>
                            </a:rPr>
                            <m:t>𝑦</m:t>
                          </m:r>
                        </m:e>
                      </m:acc>
                    </m:oMath>
                  </m:oMathPara>
                </a14:m>
                <a:endParaRPr lang="de-DE" dirty="0"/>
              </a:p>
            </p:txBody>
          </p:sp>
        </mc:Choice>
        <mc:Fallback xmlns="">
          <p:sp>
            <p:nvSpPr>
              <p:cNvPr id="23" name="Textfeld 22">
                <a:extLst>
                  <a:ext uri="{FF2B5EF4-FFF2-40B4-BE49-F238E27FC236}">
                    <a16:creationId xmlns:a16="http://schemas.microsoft.com/office/drawing/2014/main" id="{C87BF89A-9103-67D6-1DF8-54636BA18E65}"/>
                  </a:ext>
                </a:extLst>
              </p:cNvPr>
              <p:cNvSpPr txBox="1">
                <a:spLocks noRot="1" noChangeAspect="1" noMove="1" noResize="1" noEditPoints="1" noAdjustHandles="1" noChangeArrowheads="1" noChangeShapeType="1" noTextEdit="1"/>
              </p:cNvSpPr>
              <p:nvPr/>
            </p:nvSpPr>
            <p:spPr>
              <a:xfrm>
                <a:off x="2760988" y="4150871"/>
                <a:ext cx="961221" cy="371064"/>
              </a:xfrm>
              <a:prstGeom prst="rect">
                <a:avLst/>
              </a:prstGeom>
              <a:blipFill>
                <a:blip r:embed="rId5"/>
                <a:stretch>
                  <a:fillRect l="-6494" r="-3896" b="-9677"/>
                </a:stretch>
              </a:blipFill>
            </p:spPr>
            <p:txBody>
              <a:bodyPr/>
              <a:lstStyle/>
              <a:p>
                <a:r>
                  <a:rPr lang="de-DE">
                    <a:noFill/>
                  </a:rPr>
                  <a:t> </a:t>
                </a:r>
              </a:p>
            </p:txBody>
          </p:sp>
        </mc:Fallback>
      </mc:AlternateContent>
      <p:sp>
        <p:nvSpPr>
          <p:cNvPr id="7" name="Textfeld 6">
            <a:extLst>
              <a:ext uri="{FF2B5EF4-FFF2-40B4-BE49-F238E27FC236}">
                <a16:creationId xmlns:a16="http://schemas.microsoft.com/office/drawing/2014/main" id="{B3D616A4-3FEE-AFC8-543C-2E0F455E7B2B}"/>
              </a:ext>
            </a:extLst>
          </p:cNvPr>
          <p:cNvSpPr txBox="1"/>
          <p:nvPr/>
        </p:nvSpPr>
        <p:spPr>
          <a:xfrm rot="16200000">
            <a:off x="70944" y="3385295"/>
            <a:ext cx="957378" cy="338554"/>
          </a:xfrm>
          <a:prstGeom prst="rect">
            <a:avLst/>
          </a:prstGeom>
          <a:noFill/>
        </p:spPr>
        <p:txBody>
          <a:bodyPr wrap="none" rtlCol="0">
            <a:spAutoFit/>
          </a:bodyPr>
          <a:lstStyle/>
          <a:p>
            <a:r>
              <a:rPr lang="de-DE" sz="1600" b="1" dirty="0">
                <a:solidFill>
                  <a:srgbClr val="F2EFDA"/>
                </a:solidFill>
              </a:rPr>
              <a:t>Kennzahl</a:t>
            </a:r>
          </a:p>
        </p:txBody>
      </p:sp>
    </p:spTree>
    <p:extLst>
      <p:ext uri="{BB962C8B-B14F-4D97-AF65-F5344CB8AC3E}">
        <p14:creationId xmlns:p14="http://schemas.microsoft.com/office/powerpoint/2010/main" val="37392423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3" name="Shape 16">
            <a:extLst>
              <a:ext uri="{FF2B5EF4-FFF2-40B4-BE49-F238E27FC236}">
                <a16:creationId xmlns:a16="http://schemas.microsoft.com/office/drawing/2014/main" id="{0EDC59D2-A420-643C-D8EA-9C0E9711EF60}"/>
              </a:ext>
            </a:extLst>
          </p:cNvPr>
          <p:cNvSpPr/>
          <p:nvPr/>
        </p:nvSpPr>
        <p:spPr>
          <a:xfrm>
            <a:off x="341036" y="1619701"/>
            <a:ext cx="5779249" cy="4584004"/>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05 / 13</a:t>
            </a:r>
            <a:endParaRPr lang="en-US" sz="1200"/>
          </a:p>
        </p:txBody>
      </p:sp>
      <p:sp>
        <p:nvSpPr>
          <p:cNvPr id="6" name="Text 3"/>
          <p:cNvSpPr/>
          <p:nvPr/>
        </p:nvSpPr>
        <p:spPr>
          <a:xfrm>
            <a:off x="634594" y="761695"/>
            <a:ext cx="10921594" cy="437998"/>
          </a:xfrm>
          <a:prstGeom prst="rect">
            <a:avLst/>
          </a:prstGeom>
          <a:noFill/>
          <a:ln/>
        </p:spPr>
        <p:txBody>
          <a:bodyPr wrap="square" rtlCol="0" anchor="t"/>
          <a:lstStyle/>
          <a:p>
            <a:pPr marL="0" indent="0">
              <a:lnSpc>
                <a:spcPct val="100000"/>
              </a:lnSpc>
              <a:buNone/>
            </a:pPr>
            <a:r>
              <a:rPr lang="en-US" sz="2300" b="1" kern="0" spc="-50" dirty="0">
                <a:solidFill>
                  <a:srgbClr val="F2EFDA"/>
                </a:solidFill>
                <a:latin typeface="Arial" pitchFamily="34" charset="0"/>
                <a:ea typeface="Arial" pitchFamily="34" charset="-122"/>
                <a:cs typeface="Arial" pitchFamily="34" charset="-120"/>
              </a:rPr>
              <a:t>Vier </a:t>
            </a:r>
            <a:r>
              <a:rPr lang="en-US" sz="2300" b="1" kern="0" spc="-50" dirty="0" err="1">
                <a:solidFill>
                  <a:srgbClr val="F2EFDA"/>
                </a:solidFill>
                <a:latin typeface="Arial" pitchFamily="34" charset="0"/>
                <a:ea typeface="Arial" pitchFamily="34" charset="-122"/>
                <a:cs typeface="Arial" pitchFamily="34" charset="-120"/>
              </a:rPr>
              <a:t>Quadranten</a:t>
            </a:r>
            <a:endParaRPr lang="en-US" sz="2300" dirty="0"/>
          </a:p>
        </p:txBody>
      </p:sp>
      <p:sp>
        <p:nvSpPr>
          <p:cNvPr id="3" name="Text 1">
            <a:extLst>
              <a:ext uri="{FF2B5EF4-FFF2-40B4-BE49-F238E27FC236}">
                <a16:creationId xmlns:a16="http://schemas.microsoft.com/office/drawing/2014/main" id="{7FA366E6-5637-CF1A-3985-22992DB97CCA}"/>
              </a:ext>
            </a:extLst>
          </p:cNvPr>
          <p:cNvSpPr/>
          <p:nvPr/>
        </p:nvSpPr>
        <p:spPr>
          <a:xfrm>
            <a:off x="415959" y="291694"/>
            <a:ext cx="8255203" cy="215798"/>
          </a:xfrm>
          <a:prstGeom prst="rect">
            <a:avLst/>
          </a:prstGeom>
          <a:noFill/>
          <a:ln/>
        </p:spPr>
        <p:txBody>
          <a:bodyPr wrap="square" rtlCol="0" anchor="ctr"/>
          <a:lstStyle/>
          <a:p>
            <a:r>
              <a:rPr lang="en-US" sz="1200" b="1" kern="0" spc="400">
                <a:solidFill>
                  <a:srgbClr val="E6D34F"/>
                </a:solidFill>
                <a:latin typeface="Courier New" pitchFamily="34" charset="0"/>
                <a:cs typeface="Courier New" pitchFamily="34" charset="-120"/>
              </a:rPr>
              <a:t>METHODIK</a:t>
            </a:r>
          </a:p>
        </p:txBody>
      </p:sp>
      <p:sp>
        <p:nvSpPr>
          <p:cNvPr id="34" name="Shape 12">
            <a:extLst>
              <a:ext uri="{FF2B5EF4-FFF2-40B4-BE49-F238E27FC236}">
                <a16:creationId xmlns:a16="http://schemas.microsoft.com/office/drawing/2014/main" id="{24307684-3263-A01D-89DE-A5FB50BAB70B}"/>
              </a:ext>
            </a:extLst>
          </p:cNvPr>
          <p:cNvSpPr/>
          <p:nvPr/>
        </p:nvSpPr>
        <p:spPr>
          <a:xfrm>
            <a:off x="6465620" y="1368140"/>
            <a:ext cx="5090567" cy="1563047"/>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5" name="Text 13">
            <a:extLst>
              <a:ext uri="{FF2B5EF4-FFF2-40B4-BE49-F238E27FC236}">
                <a16:creationId xmlns:a16="http://schemas.microsoft.com/office/drawing/2014/main" id="{7758B25B-3AB3-7352-18FD-624509E04F2F}"/>
              </a:ext>
            </a:extLst>
          </p:cNvPr>
          <p:cNvSpPr/>
          <p:nvPr/>
        </p:nvSpPr>
        <p:spPr>
          <a:xfrm>
            <a:off x="6500651" y="1586046"/>
            <a:ext cx="802254" cy="297620"/>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1</a:t>
            </a:r>
            <a:endParaRPr lang="en-US" sz="1400"/>
          </a:p>
        </p:txBody>
      </p:sp>
      <p:sp>
        <p:nvSpPr>
          <p:cNvPr id="37" name="Text 15">
            <a:extLst>
              <a:ext uri="{FF2B5EF4-FFF2-40B4-BE49-F238E27FC236}">
                <a16:creationId xmlns:a16="http://schemas.microsoft.com/office/drawing/2014/main" id="{0F6E75AC-BC04-351D-2E4F-F498A1E3A861}"/>
              </a:ext>
            </a:extLst>
          </p:cNvPr>
          <p:cNvSpPr/>
          <p:nvPr/>
        </p:nvSpPr>
        <p:spPr>
          <a:xfrm>
            <a:off x="6599840" y="1619701"/>
            <a:ext cx="4780680" cy="1196579"/>
          </a:xfrm>
          <a:prstGeom prst="rect">
            <a:avLst/>
          </a:prstGeom>
          <a:noFill/>
          <a:ln/>
        </p:spPr>
        <p:txBody>
          <a:bodyPr wrap="square" rtlCol="0" anchor="ctr"/>
          <a:lstStyle/>
          <a:p>
            <a:pPr>
              <a:lnSpc>
                <a:spcPct val="130000"/>
              </a:lnSpc>
            </a:pPr>
            <a:r>
              <a:rPr lang="en-US" sz="1400" dirty="0" err="1">
                <a:solidFill>
                  <a:srgbClr val="F2EFDA"/>
                </a:solidFill>
                <a:latin typeface="Arial" pitchFamily="34" charset="0"/>
                <a:ea typeface="Arial" pitchFamily="34" charset="-122"/>
                <a:cs typeface="Arial" pitchFamily="34" charset="-120"/>
              </a:rPr>
              <a:t>Jedes</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Unternehmen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wird</a:t>
            </a:r>
            <a:r>
              <a:rPr lang="en-US" sz="1400" dirty="0">
                <a:solidFill>
                  <a:srgbClr val="F2EFDA"/>
                </a:solidFill>
                <a:latin typeface="Arial" pitchFamily="34" charset="0"/>
                <a:ea typeface="Arial" pitchFamily="34" charset="-122"/>
                <a:cs typeface="Arial" pitchFamily="34" charset="-120"/>
              </a:rPr>
              <a:t> pro </a:t>
            </a:r>
            <a:r>
              <a:rPr lang="en-US" sz="1400" dirty="0" err="1">
                <a:solidFill>
                  <a:srgbClr val="F2EFDA"/>
                </a:solidFill>
                <a:latin typeface="Arial" pitchFamily="34" charset="0"/>
                <a:ea typeface="Arial" pitchFamily="34" charset="-122"/>
                <a:cs typeface="Arial" pitchFamily="34" charset="-120"/>
              </a:rPr>
              <a:t>Kennzahl</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zu</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einem</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Punkt</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mit</a:t>
            </a:r>
            <a:r>
              <a:rPr lang="en-US" sz="1400" dirty="0">
                <a:solidFill>
                  <a:srgbClr val="F2EFDA"/>
                </a:solidFill>
                <a:latin typeface="Arial" pitchFamily="34" charset="0"/>
                <a:ea typeface="Arial" pitchFamily="34" charset="-122"/>
                <a:cs typeface="Arial" pitchFamily="34" charset="-120"/>
              </a:rPr>
              <a:t> x- und y- </a:t>
            </a:r>
            <a:r>
              <a:rPr lang="en-US" sz="1400" dirty="0" err="1">
                <a:solidFill>
                  <a:srgbClr val="F2EFDA"/>
                </a:solidFill>
                <a:latin typeface="Arial" pitchFamily="34" charset="0"/>
                <a:ea typeface="Arial" pitchFamily="34" charset="-122"/>
                <a:cs typeface="Arial" pitchFamily="34" charset="-120"/>
              </a:rPr>
              <a:t>Koordinate</a:t>
            </a:r>
            <a:endParaRPr lang="en-US" sz="1400" dirty="0"/>
          </a:p>
        </p:txBody>
      </p:sp>
      <p:sp>
        <p:nvSpPr>
          <p:cNvPr id="38" name="Shape 12">
            <a:extLst>
              <a:ext uri="{FF2B5EF4-FFF2-40B4-BE49-F238E27FC236}">
                <a16:creationId xmlns:a16="http://schemas.microsoft.com/office/drawing/2014/main" id="{31129902-BCD6-B619-20CD-FF71DC28C58D}"/>
              </a:ext>
            </a:extLst>
          </p:cNvPr>
          <p:cNvSpPr/>
          <p:nvPr/>
        </p:nvSpPr>
        <p:spPr>
          <a:xfrm>
            <a:off x="6464959" y="3145836"/>
            <a:ext cx="5090567" cy="155835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9" name="Text 13">
            <a:extLst>
              <a:ext uri="{FF2B5EF4-FFF2-40B4-BE49-F238E27FC236}">
                <a16:creationId xmlns:a16="http://schemas.microsoft.com/office/drawing/2014/main" id="{D333D71B-7735-4E3B-E0A9-25B8FC061182}"/>
              </a:ext>
            </a:extLst>
          </p:cNvPr>
          <p:cNvSpPr/>
          <p:nvPr/>
        </p:nvSpPr>
        <p:spPr>
          <a:xfrm>
            <a:off x="6499990" y="3363741"/>
            <a:ext cx="802254" cy="296726"/>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cs typeface="Courier New" pitchFamily="34" charset="-120"/>
              </a:rPr>
              <a:t>2</a:t>
            </a:r>
            <a:endParaRPr lang="en-US" sz="1400"/>
          </a:p>
        </p:txBody>
      </p:sp>
      <p:sp>
        <p:nvSpPr>
          <p:cNvPr id="41" name="Text 15">
            <a:extLst>
              <a:ext uri="{FF2B5EF4-FFF2-40B4-BE49-F238E27FC236}">
                <a16:creationId xmlns:a16="http://schemas.microsoft.com/office/drawing/2014/main" id="{F9C655DB-7830-A7FF-D5A2-0E4F3ABB8791}"/>
              </a:ext>
            </a:extLst>
          </p:cNvPr>
          <p:cNvSpPr/>
          <p:nvPr/>
        </p:nvSpPr>
        <p:spPr>
          <a:xfrm>
            <a:off x="6524469" y="3397396"/>
            <a:ext cx="4448474" cy="1192985"/>
          </a:xfrm>
          <a:prstGeom prst="rect">
            <a:avLst/>
          </a:prstGeom>
          <a:noFill/>
          <a:ln/>
        </p:spPr>
        <p:txBody>
          <a:bodyPr wrap="square" rtlCol="0" anchor="ctr"/>
          <a:lstStyle/>
          <a:p>
            <a:pPr>
              <a:lnSpc>
                <a:spcPct val="130000"/>
              </a:lnSpc>
            </a:pPr>
            <a:r>
              <a:rPr lang="en-US" sz="1400" dirty="0" err="1">
                <a:solidFill>
                  <a:srgbClr val="F2EFDA"/>
                </a:solidFill>
                <a:latin typeface="Arial" pitchFamily="34" charset="0"/>
                <a:ea typeface="Arial" pitchFamily="34" charset="-122"/>
                <a:cs typeface="Arial" pitchFamily="34" charset="-120"/>
              </a:rPr>
              <a:t>Unterteilung</a:t>
            </a:r>
            <a:r>
              <a:rPr lang="en-US" sz="1400" dirty="0">
                <a:solidFill>
                  <a:srgbClr val="F2EFDA"/>
                </a:solidFill>
                <a:latin typeface="Arial" pitchFamily="34" charset="0"/>
                <a:ea typeface="Arial" pitchFamily="34" charset="-122"/>
                <a:cs typeface="Arial" pitchFamily="34" charset="-120"/>
              </a:rPr>
              <a:t> für </a:t>
            </a:r>
            <a:r>
              <a:rPr lang="en-US" sz="1400" dirty="0" err="1">
                <a:solidFill>
                  <a:srgbClr val="F2EFDA"/>
                </a:solidFill>
                <a:latin typeface="Arial" pitchFamily="34" charset="0"/>
                <a:ea typeface="Arial" pitchFamily="34" charset="-122"/>
                <a:cs typeface="Arial" pitchFamily="34" charset="-120"/>
              </a:rPr>
              <a:t>jede</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Kennzahl</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nach</a:t>
            </a:r>
            <a:r>
              <a:rPr lang="en-US" sz="1400" dirty="0">
                <a:solidFill>
                  <a:srgbClr val="F2EFDA"/>
                </a:solidFill>
                <a:latin typeface="Arial" pitchFamily="34" charset="0"/>
                <a:ea typeface="Arial" pitchFamily="34" charset="-122"/>
                <a:cs typeface="Arial" pitchFamily="34" charset="-120"/>
              </a:rPr>
              <a:t> Median-Split</a:t>
            </a:r>
            <a:endParaRPr lang="en-US" sz="1400" dirty="0"/>
          </a:p>
        </p:txBody>
      </p:sp>
      <p:sp>
        <p:nvSpPr>
          <p:cNvPr id="43" name="Shape 12">
            <a:extLst>
              <a:ext uri="{FF2B5EF4-FFF2-40B4-BE49-F238E27FC236}">
                <a16:creationId xmlns:a16="http://schemas.microsoft.com/office/drawing/2014/main" id="{ADD21BA8-B013-6439-1669-2B1DAF584939}"/>
              </a:ext>
            </a:extLst>
          </p:cNvPr>
          <p:cNvSpPr/>
          <p:nvPr/>
        </p:nvSpPr>
        <p:spPr>
          <a:xfrm>
            <a:off x="6464959" y="4955748"/>
            <a:ext cx="5090567" cy="155835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44" name="Text 13">
            <a:extLst>
              <a:ext uri="{FF2B5EF4-FFF2-40B4-BE49-F238E27FC236}">
                <a16:creationId xmlns:a16="http://schemas.microsoft.com/office/drawing/2014/main" id="{BC43F0F2-B75D-F18B-705B-F8E91A32425B}"/>
              </a:ext>
            </a:extLst>
          </p:cNvPr>
          <p:cNvSpPr/>
          <p:nvPr/>
        </p:nvSpPr>
        <p:spPr>
          <a:xfrm>
            <a:off x="6499990" y="5173653"/>
            <a:ext cx="802254" cy="296726"/>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cs typeface="Courier New" pitchFamily="34" charset="-120"/>
              </a:rPr>
              <a:t>3</a:t>
            </a:r>
            <a:endParaRPr lang="en-US" sz="1400"/>
          </a:p>
        </p:txBody>
      </p:sp>
      <p:sp>
        <p:nvSpPr>
          <p:cNvPr id="46" name="Text 15">
            <a:extLst>
              <a:ext uri="{FF2B5EF4-FFF2-40B4-BE49-F238E27FC236}">
                <a16:creationId xmlns:a16="http://schemas.microsoft.com/office/drawing/2014/main" id="{2F9779FA-E5BC-D265-7BD6-B12B84E76E69}"/>
              </a:ext>
            </a:extLst>
          </p:cNvPr>
          <p:cNvSpPr/>
          <p:nvPr/>
        </p:nvSpPr>
        <p:spPr>
          <a:xfrm>
            <a:off x="6524469" y="5207308"/>
            <a:ext cx="4448474" cy="1192985"/>
          </a:xfrm>
          <a:prstGeom prst="rect">
            <a:avLst/>
          </a:prstGeom>
          <a:noFill/>
          <a:ln/>
        </p:spPr>
        <p:txBody>
          <a:bodyPr wrap="square" rtlCol="0" anchor="ctr"/>
          <a:lstStyle/>
          <a:p>
            <a:pPr>
              <a:lnSpc>
                <a:spcPct val="130000"/>
              </a:lnSpc>
            </a:pPr>
            <a:r>
              <a:rPr lang="en-US" sz="1400" dirty="0" err="1">
                <a:solidFill>
                  <a:srgbClr val="F2EFDA"/>
                </a:solidFill>
                <a:latin typeface="Arial" pitchFamily="34" charset="0"/>
                <a:ea typeface="Arial" pitchFamily="34" charset="-122"/>
                <a:cs typeface="Arial" pitchFamily="34" charset="-120"/>
              </a:rPr>
              <a:t>Achsen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unabhängig</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gemeinsame</a:t>
            </a:r>
            <a:r>
              <a:rPr lang="en-US" sz="1400" dirty="0">
                <a:solidFill>
                  <a:srgbClr val="F2EFDA"/>
                </a:solidFill>
                <a:latin typeface="Arial" pitchFamily="34" charset="0"/>
                <a:ea typeface="Arial" pitchFamily="34" charset="-122"/>
                <a:cs typeface="Arial" pitchFamily="34" charset="-120"/>
              </a:rPr>
              <a:t> Variation ρ² ≤ 6 %</a:t>
            </a:r>
            <a:endParaRPr lang="en-US" sz="1400" dirty="0"/>
          </a:p>
        </p:txBody>
      </p:sp>
      <p:sp>
        <p:nvSpPr>
          <p:cNvPr id="47" name="Shape 14">
            <a:extLst>
              <a:ext uri="{FF2B5EF4-FFF2-40B4-BE49-F238E27FC236}">
                <a16:creationId xmlns:a16="http://schemas.microsoft.com/office/drawing/2014/main" id="{97DFBAE3-357A-F11D-FA76-D410C78576F2}"/>
              </a:ext>
            </a:extLst>
          </p:cNvPr>
          <p:cNvSpPr/>
          <p:nvPr/>
        </p:nvSpPr>
        <p:spPr>
          <a:xfrm>
            <a:off x="6891119" y="1721315"/>
            <a:ext cx="4427756" cy="18000"/>
          </a:xfrm>
          <a:prstGeom prst="rect">
            <a:avLst/>
          </a:prstGeom>
          <a:solidFill>
            <a:srgbClr val="DBDEE2"/>
          </a:solidFill>
          <a:ln/>
        </p:spPr>
        <p:txBody>
          <a:bodyPr/>
          <a:lstStyle/>
          <a:p>
            <a:endParaRPr lang="de-DE"/>
          </a:p>
        </p:txBody>
      </p:sp>
      <p:sp>
        <p:nvSpPr>
          <p:cNvPr id="48" name="Shape 14">
            <a:extLst>
              <a:ext uri="{FF2B5EF4-FFF2-40B4-BE49-F238E27FC236}">
                <a16:creationId xmlns:a16="http://schemas.microsoft.com/office/drawing/2014/main" id="{A9F28197-AC8F-5CCA-E246-4FC83BBCC1F3}"/>
              </a:ext>
            </a:extLst>
          </p:cNvPr>
          <p:cNvSpPr/>
          <p:nvPr/>
        </p:nvSpPr>
        <p:spPr>
          <a:xfrm>
            <a:off x="6889861" y="3512104"/>
            <a:ext cx="4427756" cy="18000"/>
          </a:xfrm>
          <a:prstGeom prst="rect">
            <a:avLst/>
          </a:prstGeom>
          <a:solidFill>
            <a:srgbClr val="DBDEE2"/>
          </a:solidFill>
          <a:ln/>
        </p:spPr>
        <p:txBody>
          <a:bodyPr/>
          <a:lstStyle/>
          <a:p>
            <a:endParaRPr lang="de-DE"/>
          </a:p>
        </p:txBody>
      </p:sp>
      <p:sp>
        <p:nvSpPr>
          <p:cNvPr id="49" name="Shape 14">
            <a:extLst>
              <a:ext uri="{FF2B5EF4-FFF2-40B4-BE49-F238E27FC236}">
                <a16:creationId xmlns:a16="http://schemas.microsoft.com/office/drawing/2014/main" id="{788F02BE-EE59-0DFB-3743-D055F98990BB}"/>
              </a:ext>
            </a:extLst>
          </p:cNvPr>
          <p:cNvSpPr/>
          <p:nvPr/>
        </p:nvSpPr>
        <p:spPr>
          <a:xfrm>
            <a:off x="6889861" y="5322016"/>
            <a:ext cx="4427756" cy="18000"/>
          </a:xfrm>
          <a:prstGeom prst="rect">
            <a:avLst/>
          </a:prstGeom>
          <a:solidFill>
            <a:srgbClr val="DBDEE2"/>
          </a:solidFill>
          <a:ln/>
        </p:spPr>
        <p:txBody>
          <a:bodyPr/>
          <a:lstStyle/>
          <a:p>
            <a:endParaRPr lang="de-DE"/>
          </a:p>
        </p:txBody>
      </p:sp>
      <p:grpSp>
        <p:nvGrpSpPr>
          <p:cNvPr id="4" name="Gruppieren 3">
            <a:extLst>
              <a:ext uri="{FF2B5EF4-FFF2-40B4-BE49-F238E27FC236}">
                <a16:creationId xmlns:a16="http://schemas.microsoft.com/office/drawing/2014/main" id="{F55B37CB-C036-7061-87B0-8835DD0E9D0B}"/>
              </a:ext>
            </a:extLst>
          </p:cNvPr>
          <p:cNvGrpSpPr>
            <a:grpSpLocks noChangeAspect="1"/>
          </p:cNvGrpSpPr>
          <p:nvPr/>
        </p:nvGrpSpPr>
        <p:grpSpPr>
          <a:xfrm>
            <a:off x="725364" y="1509315"/>
            <a:ext cx="4291933" cy="4474141"/>
            <a:chOff x="1310081" y="1802745"/>
            <a:chExt cx="3314157" cy="3454855"/>
          </a:xfrm>
        </p:grpSpPr>
        <p:sp>
          <p:nvSpPr>
            <p:cNvPr id="50" name="Shape 20">
              <a:extLst>
                <a:ext uri="{FF2B5EF4-FFF2-40B4-BE49-F238E27FC236}">
                  <a16:creationId xmlns:a16="http://schemas.microsoft.com/office/drawing/2014/main" id="{43D0FA38-5B66-D1EB-7410-D66597F45441}"/>
                </a:ext>
              </a:extLst>
            </p:cNvPr>
            <p:cNvSpPr/>
            <p:nvPr/>
          </p:nvSpPr>
          <p:spPr>
            <a:xfrm>
              <a:off x="1726794" y="2325431"/>
              <a:ext cx="1384402" cy="1384402"/>
            </a:xfrm>
            <a:prstGeom prst="roundRect">
              <a:avLst>
                <a:gd name="adj" fmla="val 3699"/>
              </a:avLst>
            </a:prstGeom>
            <a:solidFill>
              <a:srgbClr val="6AA7F4">
                <a:alpha val="12000"/>
              </a:srgbClr>
            </a:solidFill>
            <a:ln w="12700">
              <a:solidFill>
                <a:srgbClr val="6AA7F4"/>
              </a:solidFill>
              <a:prstDash val="solid"/>
            </a:ln>
          </p:spPr>
          <p:txBody>
            <a:bodyPr/>
            <a:lstStyle/>
            <a:p>
              <a:endParaRPr lang="de-DE"/>
            </a:p>
          </p:txBody>
        </p:sp>
        <p:sp>
          <p:nvSpPr>
            <p:cNvPr id="51" name="Text 21">
              <a:extLst>
                <a:ext uri="{FF2B5EF4-FFF2-40B4-BE49-F238E27FC236}">
                  <a16:creationId xmlns:a16="http://schemas.microsoft.com/office/drawing/2014/main" id="{D68C807F-9DB3-C586-A8D5-A55B9B248FE3}"/>
                </a:ext>
              </a:extLst>
            </p:cNvPr>
            <p:cNvSpPr/>
            <p:nvPr/>
          </p:nvSpPr>
          <p:spPr>
            <a:xfrm>
              <a:off x="1726794" y="2544122"/>
              <a:ext cx="1384402" cy="437080"/>
            </a:xfrm>
            <a:prstGeom prst="rect">
              <a:avLst/>
            </a:prstGeom>
            <a:noFill/>
            <a:ln/>
          </p:spPr>
          <p:txBody>
            <a:bodyPr wrap="square" rtlCol="0" anchor="t"/>
            <a:lstStyle/>
            <a:p>
              <a:pPr marL="0" indent="0" algn="ctr">
                <a:lnSpc>
                  <a:spcPct val="105000"/>
                </a:lnSpc>
                <a:buNone/>
              </a:pPr>
              <a:r>
                <a:rPr lang="en-US" sz="1200" b="1" kern="0" spc="100" dirty="0">
                  <a:solidFill>
                    <a:srgbClr val="6AA7F4"/>
                  </a:solidFill>
                  <a:latin typeface="Courier New" pitchFamily="34" charset="0"/>
                  <a:ea typeface="Courier New" pitchFamily="34" charset="-122"/>
                  <a:cs typeface="Courier New" pitchFamily="34" charset="-120"/>
                </a:rPr>
                <a:t>KORREKTIV-VOLATIL</a:t>
              </a:r>
              <a:endParaRPr lang="en-US" sz="1200" dirty="0"/>
            </a:p>
          </p:txBody>
        </p:sp>
        <p:sp>
          <p:nvSpPr>
            <p:cNvPr id="52" name="Text 22">
              <a:extLst>
                <a:ext uri="{FF2B5EF4-FFF2-40B4-BE49-F238E27FC236}">
                  <a16:creationId xmlns:a16="http://schemas.microsoft.com/office/drawing/2014/main" id="{4F4D47BB-1E6E-389D-B9D7-BADF3844ECBC}"/>
                </a:ext>
              </a:extLst>
            </p:cNvPr>
            <p:cNvSpPr/>
            <p:nvPr/>
          </p:nvSpPr>
          <p:spPr>
            <a:xfrm>
              <a:off x="1726793" y="3057845"/>
              <a:ext cx="1379722" cy="320159"/>
            </a:xfrm>
            <a:prstGeom prst="rect">
              <a:avLst/>
            </a:prstGeom>
            <a:noFill/>
            <a:ln/>
          </p:spPr>
          <p:txBody>
            <a:bodyPr wrap="square" rtlCol="0" anchor="t"/>
            <a:lstStyle/>
            <a:p>
              <a:pPr marL="0" indent="0" algn="ctr">
                <a:lnSpc>
                  <a:spcPct val="105000"/>
                </a:lnSpc>
                <a:buNone/>
              </a:pPr>
              <a:r>
                <a:rPr lang="en-US" sz="1050" dirty="0" err="1">
                  <a:solidFill>
                    <a:srgbClr val="B3BC9A"/>
                  </a:solidFill>
                  <a:latin typeface="Arial" pitchFamily="34" charset="0"/>
                  <a:ea typeface="Arial" pitchFamily="34" charset="-122"/>
                  <a:cs typeface="Arial" pitchFamily="34" charset="-120"/>
                </a:rPr>
                <a:t>Große</a:t>
              </a:r>
              <a:r>
                <a:rPr lang="en-US" sz="1050" dirty="0">
                  <a:solidFill>
                    <a:srgbClr val="B3BC9A"/>
                  </a:solidFill>
                  <a:latin typeface="Arial" pitchFamily="34" charset="0"/>
                  <a:ea typeface="Arial" pitchFamily="34" charset="-122"/>
                  <a:cs typeface="Arial" pitchFamily="34" charset="-120"/>
                </a:rPr>
                <a:t> </a:t>
              </a:r>
              <a:r>
                <a:rPr lang="en-US" sz="1050" dirty="0" err="1">
                  <a:solidFill>
                    <a:srgbClr val="B3BC9A"/>
                  </a:solidFill>
                  <a:latin typeface="Arial" pitchFamily="34" charset="0"/>
                  <a:ea typeface="Arial" pitchFamily="34" charset="-122"/>
                  <a:cs typeface="Arial" pitchFamily="34" charset="-120"/>
                </a:rPr>
                <a:t>Ausschläge</a:t>
              </a:r>
              <a:r>
                <a:rPr lang="en-US" sz="1050" dirty="0">
                  <a:solidFill>
                    <a:srgbClr val="B3BC9A"/>
                  </a:solidFill>
                  <a:latin typeface="Arial" pitchFamily="34" charset="0"/>
                  <a:ea typeface="Arial" pitchFamily="34" charset="-122"/>
                  <a:cs typeface="Arial" pitchFamily="34" charset="-120"/>
                </a:rPr>
                <a:t>, </a:t>
              </a:r>
              <a:r>
                <a:rPr lang="en-US" sz="1050" dirty="0" err="1">
                  <a:solidFill>
                    <a:srgbClr val="B3BC9A"/>
                  </a:solidFill>
                  <a:latin typeface="Arial" pitchFamily="34" charset="0"/>
                  <a:ea typeface="Arial" pitchFamily="34" charset="-122"/>
                  <a:cs typeface="Arial" pitchFamily="34" charset="-120"/>
                </a:rPr>
                <a:t>schnelle</a:t>
              </a:r>
              <a:r>
                <a:rPr lang="en-US" sz="1050" dirty="0">
                  <a:solidFill>
                    <a:srgbClr val="B3BC9A"/>
                  </a:solidFill>
                  <a:latin typeface="Arial" pitchFamily="34" charset="0"/>
                  <a:ea typeface="Arial" pitchFamily="34" charset="-122"/>
                  <a:cs typeface="Arial" pitchFamily="34" charset="-120"/>
                </a:rPr>
                <a:t> </a:t>
              </a:r>
              <a:r>
                <a:rPr lang="en-US" sz="1050" dirty="0" err="1">
                  <a:solidFill>
                    <a:srgbClr val="B3BC9A"/>
                  </a:solidFill>
                  <a:latin typeface="Arial" pitchFamily="34" charset="0"/>
                  <a:ea typeface="Arial" pitchFamily="34" charset="-122"/>
                  <a:cs typeface="Arial" pitchFamily="34" charset="-120"/>
                </a:rPr>
                <a:t>Korrektur</a:t>
              </a:r>
              <a:endParaRPr lang="en-US" sz="1050" dirty="0"/>
            </a:p>
          </p:txBody>
        </p:sp>
        <p:sp>
          <p:nvSpPr>
            <p:cNvPr id="53" name="Shape 23">
              <a:extLst>
                <a:ext uri="{FF2B5EF4-FFF2-40B4-BE49-F238E27FC236}">
                  <a16:creationId xmlns:a16="http://schemas.microsoft.com/office/drawing/2014/main" id="{5C0E9600-EE8E-D8BE-0A4D-5EF6760D0953}"/>
                </a:ext>
              </a:extLst>
            </p:cNvPr>
            <p:cNvSpPr/>
            <p:nvPr/>
          </p:nvSpPr>
          <p:spPr>
            <a:xfrm>
              <a:off x="3212694" y="2325431"/>
              <a:ext cx="1384402" cy="1384402"/>
            </a:xfrm>
            <a:prstGeom prst="roundRect">
              <a:avLst>
                <a:gd name="adj" fmla="val 3699"/>
              </a:avLst>
            </a:prstGeom>
            <a:solidFill>
              <a:srgbClr val="F36451">
                <a:alpha val="12000"/>
              </a:srgbClr>
            </a:solidFill>
            <a:ln w="12700">
              <a:solidFill>
                <a:srgbClr val="F36451"/>
              </a:solidFill>
              <a:prstDash val="solid"/>
            </a:ln>
          </p:spPr>
          <p:txBody>
            <a:bodyPr/>
            <a:lstStyle/>
            <a:p>
              <a:endParaRPr lang="de-DE"/>
            </a:p>
          </p:txBody>
        </p:sp>
        <p:sp>
          <p:nvSpPr>
            <p:cNvPr id="54" name="Text 24">
              <a:extLst>
                <a:ext uri="{FF2B5EF4-FFF2-40B4-BE49-F238E27FC236}">
                  <a16:creationId xmlns:a16="http://schemas.microsoft.com/office/drawing/2014/main" id="{8B12939C-1556-5600-C571-E191A5A263CA}"/>
                </a:ext>
              </a:extLst>
            </p:cNvPr>
            <p:cNvSpPr/>
            <p:nvPr/>
          </p:nvSpPr>
          <p:spPr>
            <a:xfrm>
              <a:off x="3219814" y="2549639"/>
              <a:ext cx="1384402" cy="455113"/>
            </a:xfrm>
            <a:prstGeom prst="rect">
              <a:avLst/>
            </a:prstGeom>
            <a:noFill/>
            <a:ln/>
          </p:spPr>
          <p:txBody>
            <a:bodyPr wrap="square" rtlCol="0" anchor="t"/>
            <a:lstStyle/>
            <a:p>
              <a:pPr marL="0" indent="0" algn="ctr">
                <a:lnSpc>
                  <a:spcPct val="105000"/>
                </a:lnSpc>
                <a:buNone/>
              </a:pPr>
              <a:r>
                <a:rPr lang="en-US" sz="1200" b="1" kern="0" spc="100" dirty="0">
                  <a:solidFill>
                    <a:srgbClr val="F36451"/>
                  </a:solidFill>
                  <a:latin typeface="Courier New" pitchFamily="34" charset="0"/>
                  <a:ea typeface="Courier New" pitchFamily="34" charset="-122"/>
                  <a:cs typeface="Courier New" pitchFamily="34" charset="-120"/>
                </a:rPr>
                <a:t>PERSISTENT-VOLATIL</a:t>
              </a:r>
              <a:endParaRPr lang="en-US" sz="1200" dirty="0"/>
            </a:p>
          </p:txBody>
        </p:sp>
        <p:sp>
          <p:nvSpPr>
            <p:cNvPr id="55" name="Text 25">
              <a:extLst>
                <a:ext uri="{FF2B5EF4-FFF2-40B4-BE49-F238E27FC236}">
                  <a16:creationId xmlns:a16="http://schemas.microsoft.com/office/drawing/2014/main" id="{CD27CF29-98B7-ED80-4C33-9FD1BD39A197}"/>
                </a:ext>
              </a:extLst>
            </p:cNvPr>
            <p:cNvSpPr/>
            <p:nvPr/>
          </p:nvSpPr>
          <p:spPr>
            <a:xfrm>
              <a:off x="3212694" y="3044687"/>
              <a:ext cx="1384402" cy="395849"/>
            </a:xfrm>
            <a:prstGeom prst="rect">
              <a:avLst/>
            </a:prstGeom>
            <a:noFill/>
            <a:ln/>
          </p:spPr>
          <p:txBody>
            <a:bodyPr wrap="square" rtlCol="0" anchor="t"/>
            <a:lstStyle/>
            <a:p>
              <a:pPr marL="0" indent="0" algn="ctr">
                <a:lnSpc>
                  <a:spcPct val="105000"/>
                </a:lnSpc>
                <a:buNone/>
              </a:pPr>
              <a:r>
                <a:rPr lang="en-US" sz="1050" dirty="0" err="1">
                  <a:solidFill>
                    <a:srgbClr val="B3BC9A"/>
                  </a:solidFill>
                  <a:latin typeface="Arial" pitchFamily="34" charset="0"/>
                  <a:ea typeface="Arial" pitchFamily="34" charset="-122"/>
                  <a:cs typeface="Arial" pitchFamily="34" charset="-120"/>
                </a:rPr>
                <a:t>Große</a:t>
              </a:r>
              <a:r>
                <a:rPr lang="en-US" sz="1050" dirty="0">
                  <a:solidFill>
                    <a:srgbClr val="B3BC9A"/>
                  </a:solidFill>
                  <a:latin typeface="Arial" pitchFamily="34" charset="0"/>
                  <a:ea typeface="Arial" pitchFamily="34" charset="-122"/>
                  <a:cs typeface="Arial" pitchFamily="34" charset="-120"/>
                </a:rPr>
                <a:t> </a:t>
              </a:r>
              <a:r>
                <a:rPr lang="en-US" sz="1050" dirty="0" err="1">
                  <a:solidFill>
                    <a:srgbClr val="B3BC9A"/>
                  </a:solidFill>
                  <a:latin typeface="Arial" pitchFamily="34" charset="0"/>
                  <a:ea typeface="Arial" pitchFamily="34" charset="-122"/>
                  <a:cs typeface="Arial" pitchFamily="34" charset="-120"/>
                </a:rPr>
                <a:t>Ausschläge</a:t>
              </a:r>
              <a:r>
                <a:rPr lang="en-US" sz="1050" dirty="0">
                  <a:solidFill>
                    <a:srgbClr val="B3BC9A"/>
                  </a:solidFill>
                  <a:latin typeface="Arial" pitchFamily="34" charset="0"/>
                  <a:ea typeface="Arial" pitchFamily="34" charset="-122"/>
                  <a:cs typeface="Arial" pitchFamily="34" charset="-120"/>
                </a:rPr>
                <a:t>,</a:t>
              </a:r>
              <a:br>
                <a:rPr lang="en-US" sz="1050" dirty="0">
                  <a:solidFill>
                    <a:srgbClr val="B3BC9A"/>
                  </a:solidFill>
                  <a:latin typeface="Arial" pitchFamily="34" charset="0"/>
                  <a:ea typeface="Arial" pitchFamily="34" charset="-122"/>
                  <a:cs typeface="Arial" pitchFamily="34" charset="-120"/>
                </a:rPr>
              </a:br>
              <a:r>
                <a:rPr lang="en-US" sz="1050" dirty="0" err="1">
                  <a:solidFill>
                    <a:srgbClr val="B3BC9A"/>
                  </a:solidFill>
                  <a:latin typeface="Arial" pitchFamily="34" charset="0"/>
                  <a:ea typeface="Arial" pitchFamily="34" charset="-122"/>
                  <a:cs typeface="Arial" pitchFamily="34" charset="-120"/>
                </a:rPr>
                <a:t>langsame</a:t>
              </a:r>
              <a:r>
                <a:rPr lang="en-US" sz="1050" dirty="0">
                  <a:solidFill>
                    <a:srgbClr val="B3BC9A"/>
                  </a:solidFill>
                  <a:latin typeface="Arial" pitchFamily="34" charset="0"/>
                  <a:ea typeface="Arial" pitchFamily="34" charset="-122"/>
                  <a:cs typeface="Arial" pitchFamily="34" charset="-120"/>
                </a:rPr>
                <a:t> </a:t>
              </a:r>
              <a:r>
                <a:rPr lang="en-US" sz="1050" dirty="0" err="1">
                  <a:solidFill>
                    <a:srgbClr val="B3BC9A"/>
                  </a:solidFill>
                  <a:latin typeface="Arial" pitchFamily="34" charset="0"/>
                  <a:ea typeface="Arial" pitchFamily="34" charset="-122"/>
                  <a:cs typeface="Arial" pitchFamily="34" charset="-120"/>
                </a:rPr>
                <a:t>Korrektur</a:t>
              </a:r>
              <a:endParaRPr lang="en-US" sz="1050" dirty="0"/>
            </a:p>
          </p:txBody>
        </p:sp>
        <p:sp>
          <p:nvSpPr>
            <p:cNvPr id="56" name="Shape 26">
              <a:extLst>
                <a:ext uri="{FF2B5EF4-FFF2-40B4-BE49-F238E27FC236}">
                  <a16:creationId xmlns:a16="http://schemas.microsoft.com/office/drawing/2014/main" id="{3B6F4360-4D96-FB1C-EF59-95A25FC882A4}"/>
                </a:ext>
              </a:extLst>
            </p:cNvPr>
            <p:cNvSpPr/>
            <p:nvPr/>
          </p:nvSpPr>
          <p:spPr>
            <a:xfrm>
              <a:off x="1726794" y="3822906"/>
              <a:ext cx="1384402" cy="1384402"/>
            </a:xfrm>
            <a:prstGeom prst="roundRect">
              <a:avLst>
                <a:gd name="adj" fmla="val 3699"/>
              </a:avLst>
            </a:prstGeom>
            <a:solidFill>
              <a:srgbClr val="3EB977">
                <a:alpha val="12000"/>
              </a:srgbClr>
            </a:solidFill>
            <a:ln w="12700">
              <a:solidFill>
                <a:srgbClr val="3EB977"/>
              </a:solidFill>
              <a:prstDash val="solid"/>
            </a:ln>
          </p:spPr>
          <p:txBody>
            <a:bodyPr/>
            <a:lstStyle/>
            <a:p>
              <a:endParaRPr lang="de-DE"/>
            </a:p>
          </p:txBody>
        </p:sp>
        <p:sp>
          <p:nvSpPr>
            <p:cNvPr id="57" name="Text 27">
              <a:extLst>
                <a:ext uri="{FF2B5EF4-FFF2-40B4-BE49-F238E27FC236}">
                  <a16:creationId xmlns:a16="http://schemas.microsoft.com/office/drawing/2014/main" id="{A5ACDA0C-E803-8DF9-11F1-6860DE609810}"/>
                </a:ext>
              </a:extLst>
            </p:cNvPr>
            <p:cNvSpPr/>
            <p:nvPr/>
          </p:nvSpPr>
          <p:spPr>
            <a:xfrm>
              <a:off x="1733194" y="4030011"/>
              <a:ext cx="1371601" cy="382304"/>
            </a:xfrm>
            <a:prstGeom prst="rect">
              <a:avLst/>
            </a:prstGeom>
            <a:noFill/>
            <a:ln/>
          </p:spPr>
          <p:txBody>
            <a:bodyPr wrap="square" rtlCol="0" anchor="t"/>
            <a:lstStyle/>
            <a:p>
              <a:pPr marL="0" indent="0" algn="ctr">
                <a:lnSpc>
                  <a:spcPct val="105000"/>
                </a:lnSpc>
                <a:buNone/>
              </a:pPr>
              <a:r>
                <a:rPr lang="en-US" sz="1200" b="1" kern="0" spc="100" dirty="0">
                  <a:solidFill>
                    <a:srgbClr val="3EB977"/>
                  </a:solidFill>
                  <a:latin typeface="Courier New" pitchFamily="34" charset="0"/>
                  <a:ea typeface="Courier New" pitchFamily="34" charset="-122"/>
                  <a:cs typeface="Courier New" pitchFamily="34" charset="-120"/>
                </a:rPr>
                <a:t>KORREKTIV-</a:t>
              </a:r>
              <a:br>
                <a:rPr lang="en-US" sz="1200" b="1" kern="0" spc="100" dirty="0">
                  <a:solidFill>
                    <a:srgbClr val="3EB977"/>
                  </a:solidFill>
                  <a:latin typeface="Courier New" pitchFamily="34" charset="0"/>
                  <a:ea typeface="Courier New" pitchFamily="34" charset="-122"/>
                  <a:cs typeface="Courier New" pitchFamily="34" charset="-120"/>
                </a:rPr>
              </a:br>
              <a:r>
                <a:rPr lang="en-US" sz="1200" b="1" kern="0" spc="100" dirty="0">
                  <a:solidFill>
                    <a:srgbClr val="3EB977"/>
                  </a:solidFill>
                  <a:latin typeface="Courier New" pitchFamily="34" charset="0"/>
                  <a:ea typeface="Courier New" pitchFamily="34" charset="-122"/>
                  <a:cs typeface="Courier New" pitchFamily="34" charset="-120"/>
                </a:rPr>
                <a:t>STABIL</a:t>
              </a:r>
              <a:endParaRPr lang="en-US" sz="1200" dirty="0"/>
            </a:p>
          </p:txBody>
        </p:sp>
        <p:sp>
          <p:nvSpPr>
            <p:cNvPr id="58" name="Text 28">
              <a:extLst>
                <a:ext uri="{FF2B5EF4-FFF2-40B4-BE49-F238E27FC236}">
                  <a16:creationId xmlns:a16="http://schemas.microsoft.com/office/drawing/2014/main" id="{B2A24319-FA2F-99B4-BAC3-141988FD0074}"/>
                </a:ext>
              </a:extLst>
            </p:cNvPr>
            <p:cNvSpPr/>
            <p:nvPr/>
          </p:nvSpPr>
          <p:spPr>
            <a:xfrm>
              <a:off x="1726793" y="4613919"/>
              <a:ext cx="1371601" cy="165506"/>
            </a:xfrm>
            <a:prstGeom prst="rect">
              <a:avLst/>
            </a:prstGeom>
            <a:noFill/>
            <a:ln/>
          </p:spPr>
          <p:txBody>
            <a:bodyPr wrap="square" rtlCol="0" anchor="t"/>
            <a:lstStyle/>
            <a:p>
              <a:pPr marL="0" indent="0" algn="ctr">
                <a:lnSpc>
                  <a:spcPct val="105000"/>
                </a:lnSpc>
                <a:buNone/>
              </a:pPr>
              <a:r>
                <a:rPr lang="en-US" sz="1050" dirty="0">
                  <a:solidFill>
                    <a:srgbClr val="B3BC9A"/>
                  </a:solidFill>
                  <a:latin typeface="Arial" pitchFamily="34" charset="0"/>
                  <a:ea typeface="Arial" pitchFamily="34" charset="-122"/>
                  <a:cs typeface="Arial" pitchFamily="34" charset="-120"/>
                </a:rPr>
                <a:t>Kleine </a:t>
              </a:r>
              <a:r>
                <a:rPr lang="en-US" sz="1050" dirty="0" err="1">
                  <a:solidFill>
                    <a:srgbClr val="B3BC9A"/>
                  </a:solidFill>
                  <a:latin typeface="Arial" pitchFamily="34" charset="0"/>
                  <a:ea typeface="Arial" pitchFamily="34" charset="-122"/>
                  <a:cs typeface="Arial" pitchFamily="34" charset="-120"/>
                </a:rPr>
                <a:t>Ausschläge</a:t>
              </a:r>
              <a:r>
                <a:rPr lang="en-US" sz="1050" dirty="0">
                  <a:solidFill>
                    <a:srgbClr val="B3BC9A"/>
                  </a:solidFill>
                  <a:latin typeface="Arial" pitchFamily="34" charset="0"/>
                  <a:ea typeface="Arial" pitchFamily="34" charset="-122"/>
                  <a:cs typeface="Arial" pitchFamily="34" charset="-120"/>
                </a:rPr>
                <a:t>, </a:t>
              </a:r>
              <a:r>
                <a:rPr lang="en-US" sz="1050" dirty="0" err="1">
                  <a:solidFill>
                    <a:srgbClr val="B3BC9A"/>
                  </a:solidFill>
                  <a:latin typeface="Arial" pitchFamily="34" charset="0"/>
                  <a:ea typeface="Arial" pitchFamily="34" charset="-122"/>
                  <a:cs typeface="Arial" pitchFamily="34" charset="-120"/>
                </a:rPr>
                <a:t>schnelle</a:t>
              </a:r>
              <a:r>
                <a:rPr lang="en-US" sz="1050" dirty="0">
                  <a:solidFill>
                    <a:srgbClr val="B3BC9A"/>
                  </a:solidFill>
                  <a:latin typeface="Arial" pitchFamily="34" charset="0"/>
                  <a:ea typeface="Arial" pitchFamily="34" charset="-122"/>
                  <a:cs typeface="Arial" pitchFamily="34" charset="-120"/>
                </a:rPr>
                <a:t> </a:t>
              </a:r>
              <a:r>
                <a:rPr lang="en-US" sz="1050" dirty="0" err="1">
                  <a:solidFill>
                    <a:srgbClr val="B3BC9A"/>
                  </a:solidFill>
                  <a:latin typeface="Arial" pitchFamily="34" charset="0"/>
                  <a:ea typeface="Arial" pitchFamily="34" charset="-122"/>
                  <a:cs typeface="Arial" pitchFamily="34" charset="-120"/>
                </a:rPr>
                <a:t>Korrektur</a:t>
              </a:r>
              <a:endParaRPr lang="en-US" sz="1050" dirty="0"/>
            </a:p>
          </p:txBody>
        </p:sp>
        <p:sp>
          <p:nvSpPr>
            <p:cNvPr id="59" name="Shape 29">
              <a:extLst>
                <a:ext uri="{FF2B5EF4-FFF2-40B4-BE49-F238E27FC236}">
                  <a16:creationId xmlns:a16="http://schemas.microsoft.com/office/drawing/2014/main" id="{49DD4501-F484-83BB-84D6-BA1B6D836013}"/>
                </a:ext>
              </a:extLst>
            </p:cNvPr>
            <p:cNvSpPr/>
            <p:nvPr/>
          </p:nvSpPr>
          <p:spPr>
            <a:xfrm>
              <a:off x="3212694" y="3822906"/>
              <a:ext cx="1384402" cy="1384402"/>
            </a:xfrm>
            <a:prstGeom prst="roundRect">
              <a:avLst>
                <a:gd name="adj" fmla="val 3699"/>
              </a:avLst>
            </a:prstGeom>
            <a:solidFill>
              <a:srgbClr val="E4CA5F">
                <a:alpha val="12000"/>
              </a:srgbClr>
            </a:solidFill>
            <a:ln w="12700">
              <a:solidFill>
                <a:srgbClr val="E4CA5F"/>
              </a:solidFill>
              <a:prstDash val="solid"/>
            </a:ln>
          </p:spPr>
          <p:txBody>
            <a:bodyPr/>
            <a:lstStyle/>
            <a:p>
              <a:endParaRPr lang="de-DE"/>
            </a:p>
          </p:txBody>
        </p:sp>
        <p:sp>
          <p:nvSpPr>
            <p:cNvPr id="60" name="Text 30">
              <a:extLst>
                <a:ext uri="{FF2B5EF4-FFF2-40B4-BE49-F238E27FC236}">
                  <a16:creationId xmlns:a16="http://schemas.microsoft.com/office/drawing/2014/main" id="{1EC9A50B-FAFF-4700-7EAF-1E0AE6B1C685}"/>
                </a:ext>
              </a:extLst>
            </p:cNvPr>
            <p:cNvSpPr/>
            <p:nvPr/>
          </p:nvSpPr>
          <p:spPr>
            <a:xfrm>
              <a:off x="3230660" y="4039282"/>
              <a:ext cx="1359531" cy="382304"/>
            </a:xfrm>
            <a:prstGeom prst="rect">
              <a:avLst/>
            </a:prstGeom>
            <a:noFill/>
            <a:ln/>
          </p:spPr>
          <p:txBody>
            <a:bodyPr wrap="square" rtlCol="0" anchor="t"/>
            <a:lstStyle/>
            <a:p>
              <a:pPr marL="0" indent="0" algn="ctr">
                <a:lnSpc>
                  <a:spcPct val="105000"/>
                </a:lnSpc>
                <a:buNone/>
              </a:pPr>
              <a:r>
                <a:rPr lang="en-US" sz="1200" b="1" kern="0" spc="100" dirty="0">
                  <a:solidFill>
                    <a:srgbClr val="E4CA5F"/>
                  </a:solidFill>
                  <a:latin typeface="Courier New" pitchFamily="34" charset="0"/>
                  <a:ea typeface="Courier New" pitchFamily="34" charset="-122"/>
                  <a:cs typeface="Courier New" pitchFamily="34" charset="-120"/>
                </a:rPr>
                <a:t>PERSISTENT-STABIL</a:t>
              </a:r>
              <a:endParaRPr lang="en-US" sz="1200" dirty="0"/>
            </a:p>
          </p:txBody>
        </p:sp>
        <p:sp>
          <p:nvSpPr>
            <p:cNvPr id="61" name="Text 31">
              <a:extLst>
                <a:ext uri="{FF2B5EF4-FFF2-40B4-BE49-F238E27FC236}">
                  <a16:creationId xmlns:a16="http://schemas.microsoft.com/office/drawing/2014/main" id="{F55F4CEE-18D1-F87C-8A60-84B1455C5904}"/>
                </a:ext>
              </a:extLst>
            </p:cNvPr>
            <p:cNvSpPr/>
            <p:nvPr/>
          </p:nvSpPr>
          <p:spPr>
            <a:xfrm>
              <a:off x="3219814" y="4621036"/>
              <a:ext cx="1371602" cy="165506"/>
            </a:xfrm>
            <a:prstGeom prst="rect">
              <a:avLst/>
            </a:prstGeom>
            <a:noFill/>
            <a:ln/>
          </p:spPr>
          <p:txBody>
            <a:bodyPr wrap="square" rtlCol="0" anchor="t"/>
            <a:lstStyle/>
            <a:p>
              <a:pPr marL="0" indent="0" algn="ctr">
                <a:lnSpc>
                  <a:spcPct val="105000"/>
                </a:lnSpc>
                <a:buNone/>
              </a:pPr>
              <a:r>
                <a:rPr lang="en-US" sz="1050" dirty="0">
                  <a:solidFill>
                    <a:srgbClr val="B3BC9A"/>
                  </a:solidFill>
                  <a:latin typeface="Arial" pitchFamily="34" charset="0"/>
                  <a:ea typeface="Arial" pitchFamily="34" charset="-122"/>
                  <a:cs typeface="Arial" pitchFamily="34" charset="-120"/>
                </a:rPr>
                <a:t>Kleine </a:t>
              </a:r>
              <a:r>
                <a:rPr lang="en-US" sz="1050" dirty="0" err="1">
                  <a:solidFill>
                    <a:srgbClr val="B3BC9A"/>
                  </a:solidFill>
                  <a:latin typeface="Arial" pitchFamily="34" charset="0"/>
                  <a:ea typeface="Arial" pitchFamily="34" charset="-122"/>
                  <a:cs typeface="Arial" pitchFamily="34" charset="-120"/>
                </a:rPr>
                <a:t>Ausschläge</a:t>
              </a:r>
              <a:r>
                <a:rPr lang="en-US" sz="1050" dirty="0">
                  <a:solidFill>
                    <a:srgbClr val="B3BC9A"/>
                  </a:solidFill>
                  <a:latin typeface="Arial" pitchFamily="34" charset="0"/>
                  <a:ea typeface="Arial" pitchFamily="34" charset="-122"/>
                  <a:cs typeface="Arial" pitchFamily="34" charset="-120"/>
                </a:rPr>
                <a:t>, </a:t>
              </a:r>
              <a:r>
                <a:rPr lang="en-US" sz="1050" dirty="0" err="1">
                  <a:solidFill>
                    <a:srgbClr val="B3BC9A"/>
                  </a:solidFill>
                  <a:latin typeface="Arial" pitchFamily="34" charset="0"/>
                  <a:ea typeface="Arial" pitchFamily="34" charset="-122"/>
                  <a:cs typeface="Arial" pitchFamily="34" charset="-120"/>
                </a:rPr>
                <a:t>langsame</a:t>
              </a:r>
              <a:r>
                <a:rPr lang="en-US" sz="1050" dirty="0">
                  <a:solidFill>
                    <a:srgbClr val="B3BC9A"/>
                  </a:solidFill>
                  <a:latin typeface="Arial" pitchFamily="34" charset="0"/>
                  <a:ea typeface="Arial" pitchFamily="34" charset="-122"/>
                  <a:cs typeface="Arial" pitchFamily="34" charset="-120"/>
                </a:rPr>
                <a:t> </a:t>
              </a:r>
              <a:r>
                <a:rPr lang="en-US" sz="1050" dirty="0" err="1">
                  <a:solidFill>
                    <a:srgbClr val="B3BC9A"/>
                  </a:solidFill>
                  <a:latin typeface="Arial" pitchFamily="34" charset="0"/>
                  <a:ea typeface="Arial" pitchFamily="34" charset="-122"/>
                  <a:cs typeface="Arial" pitchFamily="34" charset="-120"/>
                </a:rPr>
                <a:t>Korrektur</a:t>
              </a:r>
              <a:endParaRPr lang="en-US" sz="1050" dirty="0"/>
            </a:p>
          </p:txBody>
        </p:sp>
        <p:sp>
          <p:nvSpPr>
            <p:cNvPr id="62" name="Shape 32">
              <a:extLst>
                <a:ext uri="{FF2B5EF4-FFF2-40B4-BE49-F238E27FC236}">
                  <a16:creationId xmlns:a16="http://schemas.microsoft.com/office/drawing/2014/main" id="{69683159-F678-5F61-F286-5344430851B2}"/>
                </a:ext>
              </a:extLst>
            </p:cNvPr>
            <p:cNvSpPr/>
            <p:nvPr/>
          </p:nvSpPr>
          <p:spPr>
            <a:xfrm>
              <a:off x="3158378" y="2337006"/>
              <a:ext cx="25603" cy="2920594"/>
            </a:xfrm>
            <a:prstGeom prst="rect">
              <a:avLst/>
            </a:prstGeom>
            <a:solidFill>
              <a:srgbClr val="DBDEE2"/>
            </a:solidFill>
            <a:ln/>
          </p:spPr>
          <p:txBody>
            <a:bodyPr/>
            <a:lstStyle/>
            <a:p>
              <a:endParaRPr lang="de-DE"/>
            </a:p>
          </p:txBody>
        </p:sp>
        <p:sp>
          <p:nvSpPr>
            <p:cNvPr id="63" name="Shape 33">
              <a:extLst>
                <a:ext uri="{FF2B5EF4-FFF2-40B4-BE49-F238E27FC236}">
                  <a16:creationId xmlns:a16="http://schemas.microsoft.com/office/drawing/2014/main" id="{B86CF289-76D7-CE78-EAD0-7D42DFC1F768}"/>
                </a:ext>
              </a:extLst>
            </p:cNvPr>
            <p:cNvSpPr/>
            <p:nvPr/>
          </p:nvSpPr>
          <p:spPr>
            <a:xfrm>
              <a:off x="1703644" y="3762266"/>
              <a:ext cx="2920594" cy="25603"/>
            </a:xfrm>
            <a:prstGeom prst="rect">
              <a:avLst/>
            </a:prstGeom>
            <a:solidFill>
              <a:srgbClr val="DBDEE2"/>
            </a:solidFill>
            <a:ln/>
          </p:spPr>
          <p:txBody>
            <a:bodyPr/>
            <a:lstStyle/>
            <a:p>
              <a:endParaRPr lang="de-DE"/>
            </a:p>
          </p:txBody>
        </p:sp>
        <p:sp>
          <p:nvSpPr>
            <p:cNvPr id="64" name="Shape 34">
              <a:extLst>
                <a:ext uri="{FF2B5EF4-FFF2-40B4-BE49-F238E27FC236}">
                  <a16:creationId xmlns:a16="http://schemas.microsoft.com/office/drawing/2014/main" id="{DD24F446-4365-620B-1939-07059F9CBEBB}"/>
                </a:ext>
              </a:extLst>
            </p:cNvPr>
            <p:cNvSpPr/>
            <p:nvPr/>
          </p:nvSpPr>
          <p:spPr>
            <a:xfrm>
              <a:off x="1782789" y="3877686"/>
              <a:ext cx="107899" cy="107899"/>
            </a:xfrm>
            <a:prstGeom prst="ellipse">
              <a:avLst/>
            </a:prstGeom>
            <a:solidFill>
              <a:srgbClr val="3EB977"/>
            </a:solidFill>
            <a:ln/>
          </p:spPr>
          <p:txBody>
            <a:bodyPr/>
            <a:lstStyle/>
            <a:p>
              <a:endParaRPr lang="de-DE"/>
            </a:p>
          </p:txBody>
        </p:sp>
        <p:sp>
          <p:nvSpPr>
            <p:cNvPr id="65" name="Shape 35">
              <a:extLst>
                <a:ext uri="{FF2B5EF4-FFF2-40B4-BE49-F238E27FC236}">
                  <a16:creationId xmlns:a16="http://schemas.microsoft.com/office/drawing/2014/main" id="{53FBED0A-AD80-DF02-DF7A-7521358B3738}"/>
                </a:ext>
              </a:extLst>
            </p:cNvPr>
            <p:cNvSpPr/>
            <p:nvPr/>
          </p:nvSpPr>
          <p:spPr>
            <a:xfrm>
              <a:off x="1782790" y="2378722"/>
              <a:ext cx="107899" cy="107899"/>
            </a:xfrm>
            <a:prstGeom prst="ellipse">
              <a:avLst/>
            </a:prstGeom>
            <a:solidFill>
              <a:srgbClr val="6AA7F4"/>
            </a:solidFill>
            <a:ln/>
          </p:spPr>
          <p:txBody>
            <a:bodyPr/>
            <a:lstStyle/>
            <a:p>
              <a:endParaRPr lang="de-DE"/>
            </a:p>
          </p:txBody>
        </p:sp>
        <p:sp>
          <p:nvSpPr>
            <p:cNvPr id="66" name="Shape 36">
              <a:extLst>
                <a:ext uri="{FF2B5EF4-FFF2-40B4-BE49-F238E27FC236}">
                  <a16:creationId xmlns:a16="http://schemas.microsoft.com/office/drawing/2014/main" id="{4EA99839-0C4B-6EF0-A602-7B8E466501D8}"/>
                </a:ext>
              </a:extLst>
            </p:cNvPr>
            <p:cNvSpPr/>
            <p:nvPr/>
          </p:nvSpPr>
          <p:spPr>
            <a:xfrm>
              <a:off x="3268690" y="3882021"/>
              <a:ext cx="107899" cy="107899"/>
            </a:xfrm>
            <a:prstGeom prst="ellipse">
              <a:avLst/>
            </a:prstGeom>
            <a:solidFill>
              <a:srgbClr val="E4CA5F"/>
            </a:solidFill>
            <a:ln/>
          </p:spPr>
          <p:txBody>
            <a:bodyPr/>
            <a:lstStyle/>
            <a:p>
              <a:endParaRPr lang="de-DE"/>
            </a:p>
          </p:txBody>
        </p:sp>
        <p:sp>
          <p:nvSpPr>
            <p:cNvPr id="67" name="Shape 37">
              <a:extLst>
                <a:ext uri="{FF2B5EF4-FFF2-40B4-BE49-F238E27FC236}">
                  <a16:creationId xmlns:a16="http://schemas.microsoft.com/office/drawing/2014/main" id="{43EC3E95-2106-E459-36A8-4A8A57F460BF}"/>
                </a:ext>
              </a:extLst>
            </p:cNvPr>
            <p:cNvSpPr/>
            <p:nvPr/>
          </p:nvSpPr>
          <p:spPr>
            <a:xfrm>
              <a:off x="3264336" y="2376169"/>
              <a:ext cx="107899" cy="107899"/>
            </a:xfrm>
            <a:prstGeom prst="ellipse">
              <a:avLst/>
            </a:prstGeom>
            <a:solidFill>
              <a:srgbClr val="F36451"/>
            </a:solidFill>
            <a:ln/>
          </p:spPr>
          <p:txBody>
            <a:bodyPr/>
            <a:lstStyle/>
            <a:p>
              <a:endParaRPr lang="de-DE"/>
            </a:p>
          </p:txBody>
        </p:sp>
        <p:sp>
          <p:nvSpPr>
            <p:cNvPr id="68" name="Text 9">
              <a:extLst>
                <a:ext uri="{FF2B5EF4-FFF2-40B4-BE49-F238E27FC236}">
                  <a16:creationId xmlns:a16="http://schemas.microsoft.com/office/drawing/2014/main" id="{C98A64F0-A3AF-9C66-F182-C22FD0857B7B}"/>
                </a:ext>
              </a:extLst>
            </p:cNvPr>
            <p:cNvSpPr/>
            <p:nvPr/>
          </p:nvSpPr>
          <p:spPr>
            <a:xfrm>
              <a:off x="3005334" y="1802745"/>
              <a:ext cx="571500" cy="622706"/>
            </a:xfrm>
            <a:prstGeom prst="rect">
              <a:avLst/>
            </a:prstGeom>
            <a:noFill/>
            <a:ln/>
          </p:spPr>
          <p:txBody>
            <a:bodyPr wrap="square" rtlCol="0" anchor="ctr"/>
            <a:lstStyle/>
            <a:p>
              <a:pPr marL="0" indent="0" algn="l">
                <a:lnSpc>
                  <a:spcPct val="105000"/>
                </a:lnSpc>
                <a:buNone/>
              </a:pPr>
              <a:r>
                <a:rPr lang="en-US" sz="3200" b="1" dirty="0" err="1">
                  <a:solidFill>
                    <a:srgbClr val="79A2F9"/>
                  </a:solidFill>
                  <a:latin typeface="Courier New" pitchFamily="34" charset="0"/>
                  <a:ea typeface="Courier New" pitchFamily="34" charset="-122"/>
                  <a:cs typeface="Courier New" pitchFamily="34" charset="-120"/>
                </a:rPr>
                <a:t>σ</a:t>
              </a:r>
              <a:endParaRPr lang="en-US" sz="3200" dirty="0"/>
            </a:p>
          </p:txBody>
        </p:sp>
        <p:sp>
          <p:nvSpPr>
            <p:cNvPr id="69" name="Text 5">
              <a:extLst>
                <a:ext uri="{FF2B5EF4-FFF2-40B4-BE49-F238E27FC236}">
                  <a16:creationId xmlns:a16="http://schemas.microsoft.com/office/drawing/2014/main" id="{76ED3E53-D4F2-91DE-D1AB-EC86E59ECB23}"/>
                </a:ext>
              </a:extLst>
            </p:cNvPr>
            <p:cNvSpPr/>
            <p:nvPr/>
          </p:nvSpPr>
          <p:spPr>
            <a:xfrm>
              <a:off x="1310081" y="3423630"/>
              <a:ext cx="571500" cy="558698"/>
            </a:xfrm>
            <a:prstGeom prst="rect">
              <a:avLst/>
            </a:prstGeom>
            <a:noFill/>
            <a:ln/>
          </p:spPr>
          <p:txBody>
            <a:bodyPr wrap="square" rtlCol="0" anchor="ctr"/>
            <a:lstStyle/>
            <a:p>
              <a:pPr marL="0" indent="0" algn="l">
                <a:lnSpc>
                  <a:spcPct val="105000"/>
                </a:lnSpc>
                <a:buNone/>
              </a:pPr>
              <a:r>
                <a:rPr lang="en-US" sz="3200" b="1" dirty="0" err="1">
                  <a:solidFill>
                    <a:srgbClr val="78A2F9"/>
                  </a:solidFill>
                  <a:latin typeface="Courier New" pitchFamily="34" charset="0"/>
                  <a:ea typeface="Courier New" pitchFamily="34" charset="-122"/>
                  <a:cs typeface="Courier New" pitchFamily="34" charset="-120"/>
                </a:rPr>
                <a:t>φ</a:t>
              </a:r>
              <a:endParaRPr lang="en-US" sz="3200" dirty="0">
                <a:solidFill>
                  <a:srgbClr val="78A2F9"/>
                </a:solidFill>
              </a:endParaRPr>
            </a:p>
          </p:txBody>
        </p:sp>
      </p:gr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86AE3-2958-86C4-EA4B-A7C133CF00E9}"/>
            </a:ext>
          </a:extLst>
        </p:cNvPr>
        <p:cNvGrpSpPr/>
        <p:nvPr/>
      </p:nvGrpSpPr>
      <p:grpSpPr>
        <a:xfrm>
          <a:off x="0" y="0"/>
          <a:ext cx="0" cy="0"/>
          <a:chOff x="0" y="0"/>
          <a:chExt cx="0" cy="0"/>
        </a:xfrm>
      </p:grpSpPr>
      <p:sp>
        <p:nvSpPr>
          <p:cNvPr id="33" name="Shape 16">
            <a:extLst>
              <a:ext uri="{FF2B5EF4-FFF2-40B4-BE49-F238E27FC236}">
                <a16:creationId xmlns:a16="http://schemas.microsoft.com/office/drawing/2014/main" id="{D6B3AFD3-278C-CC88-CC82-21CD99B1B7D9}"/>
              </a:ext>
            </a:extLst>
          </p:cNvPr>
          <p:cNvSpPr/>
          <p:nvPr/>
        </p:nvSpPr>
        <p:spPr>
          <a:xfrm>
            <a:off x="341036" y="1874345"/>
            <a:ext cx="5779249" cy="3770421"/>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 name="Shape 0">
            <a:extLst>
              <a:ext uri="{FF2B5EF4-FFF2-40B4-BE49-F238E27FC236}">
                <a16:creationId xmlns:a16="http://schemas.microsoft.com/office/drawing/2014/main" id="{78F76EE4-7095-C527-A9B1-59C2C33C6A69}"/>
              </a:ext>
            </a:extLst>
          </p:cNvPr>
          <p:cNvSpPr/>
          <p:nvPr/>
        </p:nvSpPr>
        <p:spPr>
          <a:xfrm>
            <a:off x="0" y="0"/>
            <a:ext cx="12191695" cy="38405"/>
          </a:xfrm>
          <a:prstGeom prst="rect">
            <a:avLst/>
          </a:prstGeom>
          <a:solidFill>
            <a:srgbClr val="DBDEE2"/>
          </a:solidFill>
          <a:ln/>
        </p:spPr>
        <p:txBody>
          <a:bodyPr/>
          <a:lstStyle/>
          <a:p>
            <a:endParaRPr lang="de-DE"/>
          </a:p>
        </p:txBody>
      </p:sp>
      <p:sp>
        <p:nvSpPr>
          <p:cNvPr id="6" name="Text 3">
            <a:extLst>
              <a:ext uri="{FF2B5EF4-FFF2-40B4-BE49-F238E27FC236}">
                <a16:creationId xmlns:a16="http://schemas.microsoft.com/office/drawing/2014/main" id="{4E43CEA6-40CF-97DB-8DE7-86C1F98B36E0}"/>
              </a:ext>
            </a:extLst>
          </p:cNvPr>
          <p:cNvSpPr/>
          <p:nvPr/>
        </p:nvSpPr>
        <p:spPr>
          <a:xfrm>
            <a:off x="634594" y="761695"/>
            <a:ext cx="10921594" cy="437998"/>
          </a:xfrm>
          <a:prstGeom prst="rect">
            <a:avLst/>
          </a:prstGeom>
          <a:noFill/>
          <a:ln/>
        </p:spPr>
        <p:txBody>
          <a:bodyPr wrap="square" rtlCol="0" anchor="t"/>
          <a:lstStyle/>
          <a:p>
            <a:pPr marL="0" indent="0">
              <a:lnSpc>
                <a:spcPct val="100000"/>
              </a:lnSpc>
              <a:buNone/>
            </a:pPr>
            <a:r>
              <a:rPr lang="en-US" sz="2300" b="1" kern="0" spc="-50" dirty="0" err="1">
                <a:solidFill>
                  <a:srgbClr val="F2EFDA"/>
                </a:solidFill>
                <a:latin typeface="Arial" pitchFamily="34" charset="0"/>
                <a:ea typeface="Arial" pitchFamily="34" charset="-122"/>
                <a:cs typeface="Arial" pitchFamily="34" charset="-120"/>
              </a:rPr>
              <a:t>Volatilität</a:t>
            </a:r>
            <a:r>
              <a:rPr lang="en-US" sz="2300" b="1" kern="0" spc="-50" dirty="0">
                <a:solidFill>
                  <a:srgbClr val="F2EFDA"/>
                </a:solidFill>
                <a:latin typeface="Arial" pitchFamily="34" charset="0"/>
                <a:ea typeface="Arial" pitchFamily="34" charset="-122"/>
                <a:cs typeface="Arial" pitchFamily="34" charset="-120"/>
              </a:rPr>
              <a:t> der </a:t>
            </a:r>
            <a:r>
              <a:rPr lang="en-US" sz="2300" b="1" kern="0" spc="-50" dirty="0" err="1">
                <a:solidFill>
                  <a:srgbClr val="F2EFDA"/>
                </a:solidFill>
                <a:latin typeface="Arial" pitchFamily="34" charset="0"/>
                <a:ea typeface="Arial" pitchFamily="34" charset="-122"/>
                <a:cs typeface="Arial" pitchFamily="34" charset="-120"/>
              </a:rPr>
              <a:t>Kennzahlen</a:t>
            </a:r>
            <a:endParaRPr lang="en-US" sz="2300" dirty="0"/>
          </a:p>
        </p:txBody>
      </p:sp>
      <p:sp>
        <p:nvSpPr>
          <p:cNvPr id="34" name="Shape 12">
            <a:extLst>
              <a:ext uri="{FF2B5EF4-FFF2-40B4-BE49-F238E27FC236}">
                <a16:creationId xmlns:a16="http://schemas.microsoft.com/office/drawing/2014/main" id="{7FCD2A1A-87C8-6BF7-50C6-EFC387BDF27D}"/>
              </a:ext>
            </a:extLst>
          </p:cNvPr>
          <p:cNvSpPr/>
          <p:nvPr/>
        </p:nvSpPr>
        <p:spPr>
          <a:xfrm>
            <a:off x="6465620" y="1634840"/>
            <a:ext cx="5090567" cy="1563047"/>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5" name="Text 13">
            <a:extLst>
              <a:ext uri="{FF2B5EF4-FFF2-40B4-BE49-F238E27FC236}">
                <a16:creationId xmlns:a16="http://schemas.microsoft.com/office/drawing/2014/main" id="{80D7BD54-8536-2ECC-3528-A5C162FD261F}"/>
              </a:ext>
            </a:extLst>
          </p:cNvPr>
          <p:cNvSpPr/>
          <p:nvPr/>
        </p:nvSpPr>
        <p:spPr>
          <a:xfrm>
            <a:off x="6500651" y="1852746"/>
            <a:ext cx="802254" cy="297620"/>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1</a:t>
            </a:r>
            <a:endParaRPr lang="en-US" sz="1400"/>
          </a:p>
        </p:txBody>
      </p:sp>
      <p:sp>
        <p:nvSpPr>
          <p:cNvPr id="37" name="Text 15">
            <a:extLst>
              <a:ext uri="{FF2B5EF4-FFF2-40B4-BE49-F238E27FC236}">
                <a16:creationId xmlns:a16="http://schemas.microsoft.com/office/drawing/2014/main" id="{F354A542-B7E2-5DF2-61C2-A7E76B40FB54}"/>
              </a:ext>
            </a:extLst>
          </p:cNvPr>
          <p:cNvSpPr/>
          <p:nvPr/>
        </p:nvSpPr>
        <p:spPr>
          <a:xfrm>
            <a:off x="6599840" y="1886401"/>
            <a:ext cx="4780680" cy="1196579"/>
          </a:xfrm>
          <a:prstGeom prst="rect">
            <a:avLst/>
          </a:prstGeom>
          <a:noFill/>
          <a:ln/>
        </p:spPr>
        <p:txBody>
          <a:bodyPr wrap="square" rtlCol="0" anchor="ctr"/>
          <a:lstStyle/>
          <a:p>
            <a:pPr>
              <a:lnSpc>
                <a:spcPct val="130000"/>
              </a:lnSpc>
            </a:pPr>
            <a:r>
              <a:rPr lang="en-US" sz="1400" dirty="0" err="1">
                <a:solidFill>
                  <a:srgbClr val="F2EFDA"/>
                </a:solidFill>
                <a:latin typeface="Arial" pitchFamily="34" charset="0"/>
                <a:ea typeface="Arial" pitchFamily="34" charset="-122"/>
                <a:cs typeface="Arial" pitchFamily="34" charset="-120"/>
              </a:rPr>
              <a:t>Volatilität</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sollte</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wegen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unterschiedlicher</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Verhältnisse</a:t>
            </a:r>
            <a:r>
              <a:rPr lang="en-US" sz="1400" dirty="0">
                <a:solidFill>
                  <a:srgbClr val="F2EFDA"/>
                </a:solidFill>
                <a:latin typeface="Arial" pitchFamily="34" charset="0"/>
                <a:ea typeface="Arial" pitchFamily="34" charset="-122"/>
                <a:cs typeface="Arial" pitchFamily="34" charset="-120"/>
              </a:rPr>
              <a:t> der </a:t>
            </a:r>
            <a:r>
              <a:rPr lang="en-US" sz="1400" dirty="0" err="1">
                <a:solidFill>
                  <a:srgbClr val="F2EFDA"/>
                </a:solidFill>
                <a:latin typeface="Arial" pitchFamily="34" charset="0"/>
                <a:ea typeface="Arial" pitchFamily="34" charset="-122"/>
                <a:cs typeface="Arial" pitchFamily="34" charset="-120"/>
              </a:rPr>
              <a:t>Kennzahlen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nur</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innerhalb</a:t>
            </a:r>
            <a:r>
              <a:rPr lang="en-US" sz="1400" dirty="0">
                <a:solidFill>
                  <a:srgbClr val="F2EFDA"/>
                </a:solidFill>
                <a:latin typeface="Arial" pitchFamily="34" charset="0"/>
                <a:ea typeface="Arial" pitchFamily="34" charset="-122"/>
                <a:cs typeface="Arial" pitchFamily="34" charset="-120"/>
              </a:rPr>
              <a:t> der </a:t>
            </a:r>
            <a:r>
              <a:rPr lang="en-US" sz="1400" dirty="0" err="1">
                <a:solidFill>
                  <a:srgbClr val="F2EFDA"/>
                </a:solidFill>
                <a:latin typeface="Arial" pitchFamily="34" charset="0"/>
                <a:ea typeface="Arial" pitchFamily="34" charset="-122"/>
                <a:cs typeface="Arial" pitchFamily="34" charset="-120"/>
              </a:rPr>
              <a:t>Kennzahlen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betrachtet</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werden</a:t>
            </a:r>
            <a:endParaRPr lang="en-US" sz="1400" dirty="0"/>
          </a:p>
        </p:txBody>
      </p:sp>
      <p:sp>
        <p:nvSpPr>
          <p:cNvPr id="38" name="Shape 12">
            <a:extLst>
              <a:ext uri="{FF2B5EF4-FFF2-40B4-BE49-F238E27FC236}">
                <a16:creationId xmlns:a16="http://schemas.microsoft.com/office/drawing/2014/main" id="{98BFFF3D-6319-AE59-D613-2D58068531D2}"/>
              </a:ext>
            </a:extLst>
          </p:cNvPr>
          <p:cNvSpPr/>
          <p:nvPr/>
        </p:nvSpPr>
        <p:spPr>
          <a:xfrm>
            <a:off x="6464959" y="4326936"/>
            <a:ext cx="5090567" cy="155835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9" name="Text 13">
            <a:extLst>
              <a:ext uri="{FF2B5EF4-FFF2-40B4-BE49-F238E27FC236}">
                <a16:creationId xmlns:a16="http://schemas.microsoft.com/office/drawing/2014/main" id="{19A4CB85-CA88-B4AD-7961-DCBB8546D8A5}"/>
              </a:ext>
            </a:extLst>
          </p:cNvPr>
          <p:cNvSpPr/>
          <p:nvPr/>
        </p:nvSpPr>
        <p:spPr>
          <a:xfrm>
            <a:off x="6499990" y="4544841"/>
            <a:ext cx="802254" cy="296726"/>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cs typeface="Courier New" pitchFamily="34" charset="-120"/>
              </a:rPr>
              <a:t>2</a:t>
            </a:r>
            <a:endParaRPr lang="en-US" sz="1400"/>
          </a:p>
        </p:txBody>
      </p:sp>
      <p:sp>
        <p:nvSpPr>
          <p:cNvPr id="41" name="Text 15">
            <a:extLst>
              <a:ext uri="{FF2B5EF4-FFF2-40B4-BE49-F238E27FC236}">
                <a16:creationId xmlns:a16="http://schemas.microsoft.com/office/drawing/2014/main" id="{002A0DB6-A72F-2501-1C81-9205EEE528A6}"/>
              </a:ext>
            </a:extLst>
          </p:cNvPr>
          <p:cNvSpPr/>
          <p:nvPr/>
        </p:nvSpPr>
        <p:spPr>
          <a:xfrm>
            <a:off x="6524469" y="4578496"/>
            <a:ext cx="4448474" cy="1192985"/>
          </a:xfrm>
          <a:prstGeom prst="rect">
            <a:avLst/>
          </a:prstGeom>
          <a:noFill/>
          <a:ln/>
        </p:spPr>
        <p:txBody>
          <a:bodyPr wrap="square" rtlCol="0" anchor="ctr"/>
          <a:lstStyle/>
          <a:p>
            <a:pPr>
              <a:lnSpc>
                <a:spcPct val="130000"/>
              </a:lnSpc>
            </a:pPr>
            <a:r>
              <a:rPr lang="en-US" sz="1400" dirty="0" err="1">
                <a:solidFill>
                  <a:srgbClr val="F2EFDA"/>
                </a:solidFill>
                <a:latin typeface="Arial" pitchFamily="34" charset="0"/>
                <a:ea typeface="Arial" pitchFamily="34" charset="-122"/>
                <a:cs typeface="Arial" pitchFamily="34" charset="-120"/>
              </a:rPr>
              <a:t>Steigende</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Volatilität</a:t>
            </a:r>
            <a:r>
              <a:rPr lang="en-US" sz="1400" dirty="0">
                <a:solidFill>
                  <a:srgbClr val="F2EFDA"/>
                </a:solidFill>
                <a:latin typeface="Arial" pitchFamily="34" charset="0"/>
                <a:ea typeface="Arial" pitchFamily="34" charset="-122"/>
                <a:cs typeface="Arial" pitchFamily="34" charset="-120"/>
              </a:rPr>
              <a:t> je </a:t>
            </a:r>
            <a:r>
              <a:rPr lang="en-US" sz="1400" dirty="0" err="1">
                <a:solidFill>
                  <a:srgbClr val="F2EFDA"/>
                </a:solidFill>
                <a:latin typeface="Arial" pitchFamily="34" charset="0"/>
                <a:ea typeface="Arial" pitchFamily="34" charset="-122"/>
                <a:cs typeface="Arial" pitchFamily="34" charset="-120"/>
              </a:rPr>
              <a:t>nach</a:t>
            </a:r>
            <a:r>
              <a:rPr lang="en-US" sz="1400" dirty="0">
                <a:solidFill>
                  <a:srgbClr val="F2EFDA"/>
                </a:solidFill>
                <a:latin typeface="Arial" pitchFamily="34" charset="0"/>
                <a:ea typeface="Arial" pitchFamily="34" charset="-122"/>
                <a:cs typeface="Arial" pitchFamily="34" charset="-120"/>
              </a:rPr>
              <a:t> Art des </a:t>
            </a:r>
            <a:r>
              <a:rPr lang="en-US" sz="1400" dirty="0" err="1">
                <a:solidFill>
                  <a:srgbClr val="F2EFDA"/>
                </a:solidFill>
                <a:latin typeface="Arial" pitchFamily="34" charset="0"/>
                <a:ea typeface="Arial" pitchFamily="34" charset="-122"/>
                <a:cs typeface="Arial" pitchFamily="34" charset="-120"/>
              </a:rPr>
              <a:t>Nenners</a:t>
            </a:r>
            <a:endParaRPr lang="en-US" sz="1400" dirty="0"/>
          </a:p>
        </p:txBody>
      </p:sp>
      <p:sp>
        <p:nvSpPr>
          <p:cNvPr id="47" name="Shape 14">
            <a:extLst>
              <a:ext uri="{FF2B5EF4-FFF2-40B4-BE49-F238E27FC236}">
                <a16:creationId xmlns:a16="http://schemas.microsoft.com/office/drawing/2014/main" id="{DDC8FF6E-86DF-59FE-6395-C6EDF8FA85BF}"/>
              </a:ext>
            </a:extLst>
          </p:cNvPr>
          <p:cNvSpPr/>
          <p:nvPr/>
        </p:nvSpPr>
        <p:spPr>
          <a:xfrm>
            <a:off x="6891119" y="1988015"/>
            <a:ext cx="4427756" cy="18000"/>
          </a:xfrm>
          <a:prstGeom prst="rect">
            <a:avLst/>
          </a:prstGeom>
          <a:solidFill>
            <a:srgbClr val="DBDEE2"/>
          </a:solidFill>
          <a:ln/>
        </p:spPr>
        <p:txBody>
          <a:bodyPr/>
          <a:lstStyle/>
          <a:p>
            <a:endParaRPr lang="de-DE"/>
          </a:p>
        </p:txBody>
      </p:sp>
      <p:sp>
        <p:nvSpPr>
          <p:cNvPr id="48" name="Shape 14">
            <a:extLst>
              <a:ext uri="{FF2B5EF4-FFF2-40B4-BE49-F238E27FC236}">
                <a16:creationId xmlns:a16="http://schemas.microsoft.com/office/drawing/2014/main" id="{D1649496-72AC-50AA-1388-3D47B135039A}"/>
              </a:ext>
            </a:extLst>
          </p:cNvPr>
          <p:cNvSpPr/>
          <p:nvPr/>
        </p:nvSpPr>
        <p:spPr>
          <a:xfrm>
            <a:off x="6889861" y="4693204"/>
            <a:ext cx="4427756" cy="18000"/>
          </a:xfrm>
          <a:prstGeom prst="rect">
            <a:avLst/>
          </a:prstGeom>
          <a:solidFill>
            <a:srgbClr val="DBDEE2"/>
          </a:solidFill>
          <a:ln/>
        </p:spPr>
        <p:txBody>
          <a:bodyPr/>
          <a:lstStyle/>
          <a:p>
            <a:endParaRPr lang="de-DE"/>
          </a:p>
        </p:txBody>
      </p:sp>
      <p:sp>
        <p:nvSpPr>
          <p:cNvPr id="4" name="Text 2">
            <a:extLst>
              <a:ext uri="{FF2B5EF4-FFF2-40B4-BE49-F238E27FC236}">
                <a16:creationId xmlns:a16="http://schemas.microsoft.com/office/drawing/2014/main" id="{D893F2EE-AFBA-49F1-248F-B0D0F2C404FE}"/>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06 / 13</a:t>
            </a:r>
            <a:endParaRPr lang="en-US" sz="1200"/>
          </a:p>
        </p:txBody>
      </p:sp>
      <p:sp>
        <p:nvSpPr>
          <p:cNvPr id="7" name="Text 1">
            <a:extLst>
              <a:ext uri="{FF2B5EF4-FFF2-40B4-BE49-F238E27FC236}">
                <a16:creationId xmlns:a16="http://schemas.microsoft.com/office/drawing/2014/main" id="{365483DB-4C52-B652-C386-83796DFDCDE4}"/>
              </a:ext>
            </a:extLst>
          </p:cNvPr>
          <p:cNvSpPr/>
          <p:nvPr/>
        </p:nvSpPr>
        <p:spPr>
          <a:xfrm>
            <a:off x="415959" y="291694"/>
            <a:ext cx="8255203" cy="215798"/>
          </a:xfrm>
          <a:prstGeom prst="rect">
            <a:avLst/>
          </a:prstGeom>
          <a:noFill/>
          <a:ln/>
        </p:spPr>
        <p:txBody>
          <a:bodyPr wrap="square" rtlCol="0" anchor="ctr"/>
          <a:lstStyle/>
          <a:p>
            <a:r>
              <a:rPr lang="en-US" sz="1200" b="1" kern="0" spc="400">
                <a:solidFill>
                  <a:srgbClr val="E6D34F"/>
                </a:solidFill>
                <a:latin typeface="Courier New" pitchFamily="34" charset="0"/>
                <a:cs typeface="Courier New" pitchFamily="34" charset="-120"/>
              </a:rPr>
              <a:t>FORSCHUNGSFRAGE 1</a:t>
            </a:r>
          </a:p>
        </p:txBody>
      </p:sp>
      <p:pic>
        <p:nvPicPr>
          <p:cNvPr id="8" name="Grafik 7">
            <a:extLst>
              <a:ext uri="{FF2B5EF4-FFF2-40B4-BE49-F238E27FC236}">
                <a16:creationId xmlns:a16="http://schemas.microsoft.com/office/drawing/2014/main" id="{AA156F4D-08B3-1179-BFD0-011F980800FF}"/>
              </a:ext>
            </a:extLst>
          </p:cNvPr>
          <p:cNvPicPr>
            <a:picLocks noChangeAspect="1"/>
          </p:cNvPicPr>
          <p:nvPr/>
        </p:nvPicPr>
        <p:blipFill>
          <a:blip r:embed="rId3"/>
          <a:srcRect t="25674" b="858"/>
          <a:stretch>
            <a:fillRect/>
          </a:stretch>
        </p:blipFill>
        <p:spPr>
          <a:xfrm>
            <a:off x="503968" y="2062297"/>
            <a:ext cx="5479312" cy="3430646"/>
          </a:xfrm>
          <a:prstGeom prst="rect">
            <a:avLst/>
          </a:prstGeom>
        </p:spPr>
      </p:pic>
    </p:spTree>
    <p:extLst>
      <p:ext uri="{BB962C8B-B14F-4D97-AF65-F5344CB8AC3E}">
        <p14:creationId xmlns:p14="http://schemas.microsoft.com/office/powerpoint/2010/main" val="18983701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154E2-93E6-548D-DCAF-2312C9FED33D}"/>
            </a:ext>
          </a:extLst>
        </p:cNvPr>
        <p:cNvGrpSpPr/>
        <p:nvPr/>
      </p:nvGrpSpPr>
      <p:grpSpPr>
        <a:xfrm>
          <a:off x="0" y="0"/>
          <a:ext cx="0" cy="0"/>
          <a:chOff x="0" y="0"/>
          <a:chExt cx="0" cy="0"/>
        </a:xfrm>
      </p:grpSpPr>
      <p:sp>
        <p:nvSpPr>
          <p:cNvPr id="33" name="Shape 16">
            <a:extLst>
              <a:ext uri="{FF2B5EF4-FFF2-40B4-BE49-F238E27FC236}">
                <a16:creationId xmlns:a16="http://schemas.microsoft.com/office/drawing/2014/main" id="{58751C72-77DA-2661-918E-370AF53AC66A}"/>
              </a:ext>
            </a:extLst>
          </p:cNvPr>
          <p:cNvSpPr/>
          <p:nvPr/>
        </p:nvSpPr>
        <p:spPr>
          <a:xfrm>
            <a:off x="341036" y="1396324"/>
            <a:ext cx="5779249" cy="5131577"/>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 name="Shape 0">
            <a:extLst>
              <a:ext uri="{FF2B5EF4-FFF2-40B4-BE49-F238E27FC236}">
                <a16:creationId xmlns:a16="http://schemas.microsoft.com/office/drawing/2014/main" id="{60C96A02-5AF6-056C-F8EE-45FE34958FB3}"/>
              </a:ext>
            </a:extLst>
          </p:cNvPr>
          <p:cNvSpPr/>
          <p:nvPr/>
        </p:nvSpPr>
        <p:spPr>
          <a:xfrm>
            <a:off x="0" y="0"/>
            <a:ext cx="12191695" cy="38405"/>
          </a:xfrm>
          <a:prstGeom prst="rect">
            <a:avLst/>
          </a:prstGeom>
          <a:solidFill>
            <a:srgbClr val="DBDEE2"/>
          </a:solidFill>
          <a:ln/>
        </p:spPr>
        <p:txBody>
          <a:bodyPr/>
          <a:lstStyle/>
          <a:p>
            <a:endParaRPr lang="de-DE"/>
          </a:p>
        </p:txBody>
      </p:sp>
      <p:sp>
        <p:nvSpPr>
          <p:cNvPr id="6" name="Text 3">
            <a:extLst>
              <a:ext uri="{FF2B5EF4-FFF2-40B4-BE49-F238E27FC236}">
                <a16:creationId xmlns:a16="http://schemas.microsoft.com/office/drawing/2014/main" id="{5452EF61-7228-88E4-1CDC-81F7E8B57524}"/>
              </a:ext>
            </a:extLst>
          </p:cNvPr>
          <p:cNvSpPr/>
          <p:nvPr/>
        </p:nvSpPr>
        <p:spPr>
          <a:xfrm>
            <a:off x="634594" y="761695"/>
            <a:ext cx="10921594" cy="437998"/>
          </a:xfrm>
          <a:prstGeom prst="rect">
            <a:avLst/>
          </a:prstGeom>
          <a:noFill/>
          <a:ln/>
        </p:spPr>
        <p:txBody>
          <a:bodyPr wrap="square" rtlCol="0" anchor="t"/>
          <a:lstStyle/>
          <a:p>
            <a:r>
              <a:rPr lang="en-US" sz="2400" b="1" kern="0" spc="-50" dirty="0">
                <a:solidFill>
                  <a:srgbClr val="F2EFDA"/>
                </a:solidFill>
                <a:latin typeface="Arial" pitchFamily="34" charset="0"/>
                <a:ea typeface="Arial" pitchFamily="34" charset="-122"/>
                <a:cs typeface="Arial" pitchFamily="34" charset="-120"/>
              </a:rPr>
              <a:t>Mean Reversion der </a:t>
            </a:r>
            <a:r>
              <a:rPr lang="en-US" sz="2400" b="1" kern="0" spc="-50" dirty="0" err="1">
                <a:solidFill>
                  <a:srgbClr val="F2EFDA"/>
                </a:solidFill>
                <a:latin typeface="Arial" pitchFamily="34" charset="0"/>
                <a:ea typeface="Arial" pitchFamily="34" charset="-122"/>
                <a:cs typeface="Arial" pitchFamily="34" charset="-120"/>
              </a:rPr>
              <a:t>Kennzahlen</a:t>
            </a:r>
            <a:endParaRPr lang="en-US" sz="2400" dirty="0"/>
          </a:p>
        </p:txBody>
      </p:sp>
      <p:sp>
        <p:nvSpPr>
          <p:cNvPr id="34" name="Shape 12">
            <a:extLst>
              <a:ext uri="{FF2B5EF4-FFF2-40B4-BE49-F238E27FC236}">
                <a16:creationId xmlns:a16="http://schemas.microsoft.com/office/drawing/2014/main" id="{C19EA1B0-54A6-14E5-42BC-E7B8DD39F9D3}"/>
              </a:ext>
            </a:extLst>
          </p:cNvPr>
          <p:cNvSpPr/>
          <p:nvPr/>
        </p:nvSpPr>
        <p:spPr>
          <a:xfrm>
            <a:off x="6465620" y="1634840"/>
            <a:ext cx="5090567" cy="1563047"/>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5" name="Text 13">
            <a:extLst>
              <a:ext uri="{FF2B5EF4-FFF2-40B4-BE49-F238E27FC236}">
                <a16:creationId xmlns:a16="http://schemas.microsoft.com/office/drawing/2014/main" id="{7A45F53D-63DC-BB00-0160-D4C871CE9D61}"/>
              </a:ext>
            </a:extLst>
          </p:cNvPr>
          <p:cNvSpPr/>
          <p:nvPr/>
        </p:nvSpPr>
        <p:spPr>
          <a:xfrm>
            <a:off x="6500651" y="1852746"/>
            <a:ext cx="802254" cy="297620"/>
          </a:xfrm>
          <a:prstGeom prst="rect">
            <a:avLst/>
          </a:prstGeom>
          <a:noFill/>
          <a:ln/>
        </p:spPr>
        <p:txBody>
          <a:bodyPr wrap="square" rtlCol="0" anchor="t"/>
          <a:lstStyle/>
          <a:p>
            <a:pPr marL="0" indent="0" algn="l">
              <a:lnSpc>
                <a:spcPct val="105000"/>
              </a:lnSpc>
              <a:buNone/>
            </a:pPr>
            <a:r>
              <a:rPr lang="en-US" sz="1400" b="1" dirty="0">
                <a:solidFill>
                  <a:srgbClr val="E6D34F"/>
                </a:solidFill>
                <a:latin typeface="Courier New" pitchFamily="34" charset="0"/>
                <a:ea typeface="Courier New" pitchFamily="34" charset="-122"/>
                <a:cs typeface="Courier New" pitchFamily="34" charset="-120"/>
              </a:rPr>
              <a:t>1</a:t>
            </a:r>
            <a:endParaRPr lang="en-US" sz="1400" dirty="0"/>
          </a:p>
        </p:txBody>
      </p:sp>
      <p:sp>
        <p:nvSpPr>
          <p:cNvPr id="38" name="Shape 12">
            <a:extLst>
              <a:ext uri="{FF2B5EF4-FFF2-40B4-BE49-F238E27FC236}">
                <a16:creationId xmlns:a16="http://schemas.microsoft.com/office/drawing/2014/main" id="{E1E571B4-D8B2-A905-6516-72E327A6E420}"/>
              </a:ext>
            </a:extLst>
          </p:cNvPr>
          <p:cNvSpPr/>
          <p:nvPr/>
        </p:nvSpPr>
        <p:spPr>
          <a:xfrm>
            <a:off x="6464959" y="3333156"/>
            <a:ext cx="5090567" cy="155835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9" name="Text 13">
            <a:extLst>
              <a:ext uri="{FF2B5EF4-FFF2-40B4-BE49-F238E27FC236}">
                <a16:creationId xmlns:a16="http://schemas.microsoft.com/office/drawing/2014/main" id="{23ADAB6F-9E07-5994-D0C0-8357BB4BF905}"/>
              </a:ext>
            </a:extLst>
          </p:cNvPr>
          <p:cNvSpPr/>
          <p:nvPr/>
        </p:nvSpPr>
        <p:spPr>
          <a:xfrm>
            <a:off x="6499990" y="3551061"/>
            <a:ext cx="802254" cy="296726"/>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cs typeface="Courier New" pitchFamily="34" charset="-120"/>
              </a:rPr>
              <a:t>2</a:t>
            </a:r>
            <a:endParaRPr lang="en-US" sz="1400"/>
          </a:p>
        </p:txBody>
      </p:sp>
      <p:sp>
        <p:nvSpPr>
          <p:cNvPr id="47" name="Shape 14">
            <a:extLst>
              <a:ext uri="{FF2B5EF4-FFF2-40B4-BE49-F238E27FC236}">
                <a16:creationId xmlns:a16="http://schemas.microsoft.com/office/drawing/2014/main" id="{552B462C-569E-D8B3-230C-01ADF26AEC5A}"/>
              </a:ext>
            </a:extLst>
          </p:cNvPr>
          <p:cNvSpPr/>
          <p:nvPr/>
        </p:nvSpPr>
        <p:spPr>
          <a:xfrm>
            <a:off x="6891119" y="1988015"/>
            <a:ext cx="4427756" cy="18000"/>
          </a:xfrm>
          <a:prstGeom prst="rect">
            <a:avLst/>
          </a:prstGeom>
          <a:solidFill>
            <a:srgbClr val="DBDEE2"/>
          </a:solidFill>
          <a:ln/>
        </p:spPr>
        <p:txBody>
          <a:bodyPr/>
          <a:lstStyle/>
          <a:p>
            <a:endParaRPr lang="de-DE"/>
          </a:p>
        </p:txBody>
      </p:sp>
      <p:sp>
        <p:nvSpPr>
          <p:cNvPr id="48" name="Shape 14">
            <a:extLst>
              <a:ext uri="{FF2B5EF4-FFF2-40B4-BE49-F238E27FC236}">
                <a16:creationId xmlns:a16="http://schemas.microsoft.com/office/drawing/2014/main" id="{D08D3D67-C324-1AD4-FF07-C204106BAE63}"/>
              </a:ext>
            </a:extLst>
          </p:cNvPr>
          <p:cNvSpPr/>
          <p:nvPr/>
        </p:nvSpPr>
        <p:spPr>
          <a:xfrm>
            <a:off x="6889861" y="3699424"/>
            <a:ext cx="4427756" cy="18000"/>
          </a:xfrm>
          <a:prstGeom prst="rect">
            <a:avLst/>
          </a:prstGeom>
          <a:solidFill>
            <a:srgbClr val="DBDEE2"/>
          </a:solidFill>
          <a:ln/>
        </p:spPr>
        <p:txBody>
          <a:bodyPr/>
          <a:lstStyle/>
          <a:p>
            <a:endParaRPr lang="de-DE"/>
          </a:p>
        </p:txBody>
      </p:sp>
      <p:sp>
        <p:nvSpPr>
          <p:cNvPr id="4" name="Text 2">
            <a:extLst>
              <a:ext uri="{FF2B5EF4-FFF2-40B4-BE49-F238E27FC236}">
                <a16:creationId xmlns:a16="http://schemas.microsoft.com/office/drawing/2014/main" id="{C9E04798-A04A-F7FC-5E10-B109D502408C}"/>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06 / 13</a:t>
            </a:r>
            <a:endParaRPr lang="en-US" sz="1200"/>
          </a:p>
        </p:txBody>
      </p:sp>
      <p:sp>
        <p:nvSpPr>
          <p:cNvPr id="7" name="Text 1">
            <a:extLst>
              <a:ext uri="{FF2B5EF4-FFF2-40B4-BE49-F238E27FC236}">
                <a16:creationId xmlns:a16="http://schemas.microsoft.com/office/drawing/2014/main" id="{89772CBA-18B2-136A-524C-6208AEEBB287}"/>
              </a:ext>
            </a:extLst>
          </p:cNvPr>
          <p:cNvSpPr/>
          <p:nvPr/>
        </p:nvSpPr>
        <p:spPr>
          <a:xfrm>
            <a:off x="415959" y="291694"/>
            <a:ext cx="8255203" cy="215798"/>
          </a:xfrm>
          <a:prstGeom prst="rect">
            <a:avLst/>
          </a:prstGeom>
          <a:noFill/>
          <a:ln/>
        </p:spPr>
        <p:txBody>
          <a:bodyPr wrap="square" rtlCol="0" anchor="ctr"/>
          <a:lstStyle/>
          <a:p>
            <a:r>
              <a:rPr lang="en-US" sz="1200" b="1" kern="0" spc="400">
                <a:solidFill>
                  <a:srgbClr val="E6D34F"/>
                </a:solidFill>
                <a:latin typeface="Courier New" pitchFamily="34" charset="0"/>
                <a:cs typeface="Courier New" pitchFamily="34" charset="-120"/>
              </a:rPr>
              <a:t>FORSCHUNGSFRAGE 1</a:t>
            </a:r>
          </a:p>
        </p:txBody>
      </p:sp>
      <p:pic>
        <p:nvPicPr>
          <p:cNvPr id="8" name="Grafik 7">
            <a:extLst>
              <a:ext uri="{FF2B5EF4-FFF2-40B4-BE49-F238E27FC236}">
                <a16:creationId xmlns:a16="http://schemas.microsoft.com/office/drawing/2014/main" id="{AE0D2427-7208-F751-19D8-19B3738F0262}"/>
              </a:ext>
            </a:extLst>
          </p:cNvPr>
          <p:cNvPicPr>
            <a:picLocks noChangeAspect="1"/>
          </p:cNvPicPr>
          <p:nvPr/>
        </p:nvPicPr>
        <p:blipFill>
          <a:blip r:embed="rId3"/>
          <a:srcRect t="9502" r="16758"/>
          <a:stretch>
            <a:fillRect/>
          </a:stretch>
        </p:blipFill>
        <p:spPr>
          <a:xfrm>
            <a:off x="540969" y="1583059"/>
            <a:ext cx="5364557" cy="4786570"/>
          </a:xfrm>
          <a:prstGeom prst="rect">
            <a:avLst/>
          </a:prstGeom>
        </p:spPr>
      </p:pic>
      <p:sp>
        <p:nvSpPr>
          <p:cNvPr id="9" name="Text 6">
            <a:extLst>
              <a:ext uri="{FF2B5EF4-FFF2-40B4-BE49-F238E27FC236}">
                <a16:creationId xmlns:a16="http://schemas.microsoft.com/office/drawing/2014/main" id="{AA2DFECD-AA68-5F59-BDD2-CF82AE6CDE12}"/>
              </a:ext>
            </a:extLst>
          </p:cNvPr>
          <p:cNvSpPr/>
          <p:nvPr/>
        </p:nvSpPr>
        <p:spPr>
          <a:xfrm>
            <a:off x="6889861" y="2168607"/>
            <a:ext cx="4427756" cy="822810"/>
          </a:xfrm>
          <a:prstGeom prst="rect">
            <a:avLst/>
          </a:prstGeom>
          <a:noFill/>
          <a:ln/>
        </p:spPr>
        <p:txBody>
          <a:bodyPr wrap="square" rtlCol="0" anchor="t"/>
          <a:lstStyle/>
          <a:p>
            <a:pPr marL="0" indent="0" algn="l">
              <a:lnSpc>
                <a:spcPct val="105000"/>
              </a:lnSpc>
              <a:buNone/>
            </a:pPr>
            <a:r>
              <a:rPr lang="en-US" sz="1600" b="1" dirty="0" err="1">
                <a:solidFill>
                  <a:srgbClr val="F2EFDA"/>
                </a:solidFill>
                <a:latin typeface="Arial" pitchFamily="34" charset="0"/>
                <a:ea typeface="Arial" pitchFamily="34" charset="-122"/>
                <a:cs typeface="Arial" pitchFamily="34" charset="-120"/>
              </a:rPr>
              <a:t>Profitabilität</a:t>
            </a:r>
            <a:endParaRPr lang="en-US" sz="1400" b="1" dirty="0">
              <a:solidFill>
                <a:srgbClr val="F2EFDA"/>
              </a:solidFill>
              <a:latin typeface="Arial" pitchFamily="34" charset="0"/>
              <a:ea typeface="Arial" pitchFamily="34" charset="-122"/>
              <a:cs typeface="Arial" pitchFamily="34" charset="-120"/>
            </a:endParaRPr>
          </a:p>
          <a:p>
            <a:pPr marL="0" indent="0" algn="l">
              <a:lnSpc>
                <a:spcPct val="105000"/>
              </a:lnSpc>
              <a:buNone/>
            </a:pPr>
            <a:endParaRPr lang="en-US" sz="1400" b="1" dirty="0">
              <a:solidFill>
                <a:srgbClr val="F2EFDA"/>
              </a:solidFill>
              <a:latin typeface="Arial" pitchFamily="34" charset="0"/>
              <a:ea typeface="Arial" pitchFamily="34" charset="-122"/>
              <a:cs typeface="Arial" pitchFamily="34" charset="-120"/>
            </a:endParaRPr>
          </a:p>
          <a:p>
            <a:pPr>
              <a:lnSpc>
                <a:spcPct val="105000"/>
              </a:lnSpc>
            </a:pPr>
            <a:r>
              <a:rPr lang="en-US" sz="1400" dirty="0">
                <a:solidFill>
                  <a:srgbClr val="B3BC9A"/>
                </a:solidFill>
                <a:latin typeface="Arial" pitchFamily="34" charset="0"/>
                <a:ea typeface="Arial" pitchFamily="34" charset="-122"/>
                <a:cs typeface="Arial" pitchFamily="34" charset="-120"/>
              </a:rPr>
              <a:t>&gt; 90 % </a:t>
            </a:r>
            <a:r>
              <a:rPr lang="en-US" sz="1400" dirty="0" err="1">
                <a:solidFill>
                  <a:srgbClr val="B3BC9A"/>
                </a:solidFill>
                <a:latin typeface="Arial" pitchFamily="34" charset="0"/>
                <a:ea typeface="Arial" pitchFamily="34" charset="-122"/>
                <a:cs typeface="Arial" pitchFamily="34" charset="-120"/>
              </a:rPr>
              <a:t>signifikant</a:t>
            </a:r>
            <a:endParaRPr lang="en-US" sz="1400" dirty="0"/>
          </a:p>
        </p:txBody>
      </p:sp>
      <p:sp>
        <p:nvSpPr>
          <p:cNvPr id="11" name="Text 8">
            <a:extLst>
              <a:ext uri="{FF2B5EF4-FFF2-40B4-BE49-F238E27FC236}">
                <a16:creationId xmlns:a16="http://schemas.microsoft.com/office/drawing/2014/main" id="{BCB1E86C-7183-E1FF-3E95-0C701BD3C690}"/>
              </a:ext>
            </a:extLst>
          </p:cNvPr>
          <p:cNvSpPr/>
          <p:nvPr/>
        </p:nvSpPr>
        <p:spPr>
          <a:xfrm>
            <a:off x="9095148" y="2168606"/>
            <a:ext cx="2222469" cy="822810"/>
          </a:xfrm>
          <a:prstGeom prst="rect">
            <a:avLst/>
          </a:prstGeom>
          <a:noFill/>
          <a:ln/>
        </p:spPr>
        <p:txBody>
          <a:bodyPr wrap="square" rtlCol="0" anchor="ctr"/>
          <a:lstStyle/>
          <a:p>
            <a:pPr marL="0" indent="0" algn="r">
              <a:lnSpc>
                <a:spcPct val="105000"/>
              </a:lnSpc>
              <a:buNone/>
            </a:pPr>
            <a:r>
              <a:rPr lang="en-US" sz="2000" b="1" dirty="0">
                <a:solidFill>
                  <a:srgbClr val="79A2F9"/>
                </a:solidFill>
                <a:latin typeface="Courier New" pitchFamily="34" charset="0"/>
                <a:ea typeface="Courier New" pitchFamily="34" charset="-122"/>
                <a:cs typeface="Courier New" pitchFamily="34" charset="-120"/>
              </a:rPr>
              <a:t>−0,43 − 0,46</a:t>
            </a:r>
            <a:endParaRPr lang="en-US" sz="2000" dirty="0"/>
          </a:p>
        </p:txBody>
      </p:sp>
      <p:pic>
        <p:nvPicPr>
          <p:cNvPr id="14" name="Grafik 13">
            <a:extLst>
              <a:ext uri="{FF2B5EF4-FFF2-40B4-BE49-F238E27FC236}">
                <a16:creationId xmlns:a16="http://schemas.microsoft.com/office/drawing/2014/main" id="{CFC1FD7B-A352-DD42-F8E6-AFF897202966}"/>
              </a:ext>
            </a:extLst>
          </p:cNvPr>
          <p:cNvPicPr>
            <a:picLocks noChangeAspect="1"/>
          </p:cNvPicPr>
          <p:nvPr/>
        </p:nvPicPr>
        <p:blipFill>
          <a:blip r:embed="rId4"/>
          <a:srcRect t="7867" r="17739" b="858"/>
          <a:stretch>
            <a:fillRect/>
          </a:stretch>
        </p:blipFill>
        <p:spPr>
          <a:xfrm>
            <a:off x="592719" y="1498893"/>
            <a:ext cx="5252498" cy="4966784"/>
          </a:xfrm>
          <a:prstGeom prst="rect">
            <a:avLst/>
          </a:prstGeom>
        </p:spPr>
      </p:pic>
      <p:sp>
        <p:nvSpPr>
          <p:cNvPr id="25" name="Text 6">
            <a:extLst>
              <a:ext uri="{FF2B5EF4-FFF2-40B4-BE49-F238E27FC236}">
                <a16:creationId xmlns:a16="http://schemas.microsoft.com/office/drawing/2014/main" id="{C3ED8DB7-B607-4EE4-09B2-8C239F6172C9}"/>
              </a:ext>
            </a:extLst>
          </p:cNvPr>
          <p:cNvSpPr/>
          <p:nvPr/>
        </p:nvSpPr>
        <p:spPr>
          <a:xfrm>
            <a:off x="6889864" y="3866781"/>
            <a:ext cx="4427756" cy="822810"/>
          </a:xfrm>
          <a:prstGeom prst="rect">
            <a:avLst/>
          </a:prstGeom>
          <a:noFill/>
          <a:ln/>
        </p:spPr>
        <p:txBody>
          <a:bodyPr wrap="square" rtlCol="0" anchor="t"/>
          <a:lstStyle/>
          <a:p>
            <a:pPr marL="0" indent="0" algn="l">
              <a:lnSpc>
                <a:spcPct val="105000"/>
              </a:lnSpc>
              <a:buNone/>
            </a:pPr>
            <a:r>
              <a:rPr lang="en-US" sz="1600" b="1" dirty="0" err="1">
                <a:solidFill>
                  <a:srgbClr val="F2EFDA"/>
                </a:solidFill>
                <a:latin typeface="Arial" pitchFamily="34" charset="0"/>
                <a:ea typeface="Arial" pitchFamily="34" charset="-122"/>
                <a:cs typeface="Arial" pitchFamily="34" charset="-120"/>
              </a:rPr>
              <a:t>Liquidität</a:t>
            </a:r>
            <a:r>
              <a:rPr lang="en-US" sz="1600" b="1" dirty="0">
                <a:solidFill>
                  <a:srgbClr val="F2EFDA"/>
                </a:solidFill>
                <a:latin typeface="Arial" pitchFamily="34" charset="0"/>
                <a:ea typeface="Arial" pitchFamily="34" charset="-122"/>
                <a:cs typeface="Arial" pitchFamily="34" charset="-120"/>
              </a:rPr>
              <a:t> </a:t>
            </a:r>
            <a:endParaRPr lang="en-US" sz="1400" b="1" dirty="0">
              <a:solidFill>
                <a:srgbClr val="F2EFDA"/>
              </a:solidFill>
              <a:latin typeface="Arial" pitchFamily="34" charset="0"/>
              <a:ea typeface="Arial" pitchFamily="34" charset="-122"/>
              <a:cs typeface="Arial" pitchFamily="34" charset="-120"/>
            </a:endParaRPr>
          </a:p>
          <a:p>
            <a:pPr marL="0" indent="0" algn="l">
              <a:lnSpc>
                <a:spcPct val="105000"/>
              </a:lnSpc>
              <a:buNone/>
            </a:pPr>
            <a:endParaRPr lang="en-US" sz="1400" b="1" dirty="0">
              <a:solidFill>
                <a:srgbClr val="F2EFDA"/>
              </a:solidFill>
              <a:latin typeface="Arial" pitchFamily="34" charset="0"/>
              <a:ea typeface="Arial" pitchFamily="34" charset="-122"/>
              <a:cs typeface="Arial" pitchFamily="34" charset="-120"/>
            </a:endParaRPr>
          </a:p>
          <a:p>
            <a:pPr>
              <a:lnSpc>
                <a:spcPct val="105000"/>
              </a:lnSpc>
            </a:pPr>
            <a:r>
              <a:rPr lang="en-US" sz="1400" dirty="0">
                <a:solidFill>
                  <a:srgbClr val="B3BC9A"/>
                </a:solidFill>
                <a:latin typeface="Arial" pitchFamily="34" charset="0"/>
                <a:ea typeface="Arial" pitchFamily="34" charset="-122"/>
                <a:cs typeface="Arial" pitchFamily="34" charset="-120"/>
              </a:rPr>
              <a:t>moderate </a:t>
            </a:r>
            <a:r>
              <a:rPr lang="en-US" sz="1400" dirty="0" err="1">
                <a:solidFill>
                  <a:srgbClr val="B3BC9A"/>
                </a:solidFill>
                <a:latin typeface="Arial" pitchFamily="34" charset="0"/>
                <a:ea typeface="Arial" pitchFamily="34" charset="-122"/>
                <a:cs typeface="Arial" pitchFamily="34" charset="-120"/>
              </a:rPr>
              <a:t>Korrektur</a:t>
            </a:r>
            <a:r>
              <a:rPr lang="en-US" sz="1400" dirty="0">
                <a:solidFill>
                  <a:srgbClr val="B3BC9A"/>
                </a:solidFill>
                <a:latin typeface="Arial" pitchFamily="34" charset="0"/>
                <a:ea typeface="Arial" pitchFamily="34" charset="-122"/>
                <a:cs typeface="Arial" pitchFamily="34" charset="-120"/>
              </a:rPr>
              <a:t>, </a:t>
            </a:r>
            <a:r>
              <a:rPr lang="en-US" sz="1400" dirty="0" err="1">
                <a:solidFill>
                  <a:srgbClr val="B3BC9A"/>
                </a:solidFill>
                <a:latin typeface="Arial" pitchFamily="34" charset="0"/>
                <a:ea typeface="Arial" pitchFamily="34" charset="-122"/>
                <a:cs typeface="Arial" pitchFamily="34" charset="-120"/>
              </a:rPr>
              <a:t>höchste</a:t>
            </a:r>
            <a:r>
              <a:rPr lang="en-US" sz="1400" dirty="0">
                <a:solidFill>
                  <a:srgbClr val="B3BC9A"/>
                </a:solidFill>
                <a:latin typeface="Arial" pitchFamily="34" charset="0"/>
                <a:ea typeface="Arial" pitchFamily="34" charset="-122"/>
                <a:cs typeface="Arial" pitchFamily="34" charset="-120"/>
              </a:rPr>
              <a:t> </a:t>
            </a:r>
            <a:r>
              <a:rPr lang="en-US" sz="1400" dirty="0" err="1">
                <a:solidFill>
                  <a:srgbClr val="B3BC9A"/>
                </a:solidFill>
                <a:latin typeface="Arial" pitchFamily="34" charset="0"/>
                <a:ea typeface="Arial" pitchFamily="34" charset="-122"/>
                <a:cs typeface="Arial" pitchFamily="34" charset="-120"/>
              </a:rPr>
              <a:t>Volatilität</a:t>
            </a:r>
            <a:endParaRPr lang="en-US" sz="1400" dirty="0"/>
          </a:p>
        </p:txBody>
      </p:sp>
      <p:sp>
        <p:nvSpPr>
          <p:cNvPr id="26" name="Text 8">
            <a:extLst>
              <a:ext uri="{FF2B5EF4-FFF2-40B4-BE49-F238E27FC236}">
                <a16:creationId xmlns:a16="http://schemas.microsoft.com/office/drawing/2014/main" id="{94D32090-1D22-A805-3E19-49641D99EB9F}"/>
              </a:ext>
            </a:extLst>
          </p:cNvPr>
          <p:cNvSpPr/>
          <p:nvPr/>
        </p:nvSpPr>
        <p:spPr>
          <a:xfrm>
            <a:off x="9010242" y="3866781"/>
            <a:ext cx="2222469" cy="822810"/>
          </a:xfrm>
          <a:prstGeom prst="rect">
            <a:avLst/>
          </a:prstGeom>
          <a:noFill/>
          <a:ln/>
        </p:spPr>
        <p:txBody>
          <a:bodyPr wrap="square" rtlCol="0" anchor="ctr"/>
          <a:lstStyle/>
          <a:p>
            <a:pPr marL="0" indent="0" algn="r">
              <a:lnSpc>
                <a:spcPct val="105000"/>
              </a:lnSpc>
              <a:buNone/>
            </a:pPr>
            <a:r>
              <a:rPr lang="en-US" sz="2000" b="1" dirty="0">
                <a:solidFill>
                  <a:srgbClr val="79A2F9"/>
                </a:solidFill>
                <a:latin typeface="Courier New" pitchFamily="34" charset="0"/>
                <a:ea typeface="Courier New" pitchFamily="34" charset="-122"/>
                <a:cs typeface="Courier New" pitchFamily="34" charset="-120"/>
              </a:rPr>
              <a:t>−0,17</a:t>
            </a:r>
            <a:endParaRPr lang="en-US" sz="2000" dirty="0"/>
          </a:p>
        </p:txBody>
      </p:sp>
      <p:sp>
        <p:nvSpPr>
          <p:cNvPr id="27" name="Shape 12">
            <a:extLst>
              <a:ext uri="{FF2B5EF4-FFF2-40B4-BE49-F238E27FC236}">
                <a16:creationId xmlns:a16="http://schemas.microsoft.com/office/drawing/2014/main" id="{B895259A-79D7-6C58-E7EA-DB8CE637087F}"/>
              </a:ext>
            </a:extLst>
          </p:cNvPr>
          <p:cNvSpPr/>
          <p:nvPr/>
        </p:nvSpPr>
        <p:spPr>
          <a:xfrm>
            <a:off x="6464958" y="5026777"/>
            <a:ext cx="5090567" cy="155835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8" name="Text 13">
            <a:extLst>
              <a:ext uri="{FF2B5EF4-FFF2-40B4-BE49-F238E27FC236}">
                <a16:creationId xmlns:a16="http://schemas.microsoft.com/office/drawing/2014/main" id="{4F4B6BB6-3647-3D37-CEB0-FEC11A051900}"/>
              </a:ext>
            </a:extLst>
          </p:cNvPr>
          <p:cNvSpPr/>
          <p:nvPr/>
        </p:nvSpPr>
        <p:spPr>
          <a:xfrm>
            <a:off x="6499989" y="5244682"/>
            <a:ext cx="802254" cy="296726"/>
          </a:xfrm>
          <a:prstGeom prst="rect">
            <a:avLst/>
          </a:prstGeom>
          <a:noFill/>
          <a:ln/>
        </p:spPr>
        <p:txBody>
          <a:bodyPr wrap="square" rtlCol="0" anchor="t"/>
          <a:lstStyle/>
          <a:p>
            <a:pPr marL="0" indent="0" algn="l">
              <a:lnSpc>
                <a:spcPct val="105000"/>
              </a:lnSpc>
              <a:buNone/>
            </a:pPr>
            <a:r>
              <a:rPr lang="en-US" sz="1400" b="1" dirty="0">
                <a:solidFill>
                  <a:srgbClr val="E6D34F"/>
                </a:solidFill>
                <a:latin typeface="Courier New" pitchFamily="34" charset="0"/>
                <a:cs typeface="Courier New" pitchFamily="34" charset="-120"/>
              </a:rPr>
              <a:t>3</a:t>
            </a:r>
            <a:endParaRPr lang="en-US" sz="1400" dirty="0"/>
          </a:p>
        </p:txBody>
      </p:sp>
      <p:sp>
        <p:nvSpPr>
          <p:cNvPr id="29" name="Shape 14">
            <a:extLst>
              <a:ext uri="{FF2B5EF4-FFF2-40B4-BE49-F238E27FC236}">
                <a16:creationId xmlns:a16="http://schemas.microsoft.com/office/drawing/2014/main" id="{B095499C-5AD6-CA93-B65B-0091B9708F60}"/>
              </a:ext>
            </a:extLst>
          </p:cNvPr>
          <p:cNvSpPr/>
          <p:nvPr/>
        </p:nvSpPr>
        <p:spPr>
          <a:xfrm>
            <a:off x="6889860" y="5393045"/>
            <a:ext cx="4427756" cy="18000"/>
          </a:xfrm>
          <a:prstGeom prst="rect">
            <a:avLst/>
          </a:prstGeom>
          <a:solidFill>
            <a:srgbClr val="DBDEE2"/>
          </a:solidFill>
          <a:ln/>
        </p:spPr>
        <p:txBody>
          <a:bodyPr/>
          <a:lstStyle/>
          <a:p>
            <a:endParaRPr lang="de-DE"/>
          </a:p>
        </p:txBody>
      </p:sp>
      <p:sp>
        <p:nvSpPr>
          <p:cNvPr id="30" name="Text 6">
            <a:extLst>
              <a:ext uri="{FF2B5EF4-FFF2-40B4-BE49-F238E27FC236}">
                <a16:creationId xmlns:a16="http://schemas.microsoft.com/office/drawing/2014/main" id="{ED875D25-9F7F-7D76-39F4-9A1DEB15AC44}"/>
              </a:ext>
            </a:extLst>
          </p:cNvPr>
          <p:cNvSpPr/>
          <p:nvPr/>
        </p:nvSpPr>
        <p:spPr>
          <a:xfrm>
            <a:off x="6889863" y="5560402"/>
            <a:ext cx="4427756" cy="822810"/>
          </a:xfrm>
          <a:prstGeom prst="rect">
            <a:avLst/>
          </a:prstGeom>
          <a:noFill/>
          <a:ln/>
        </p:spPr>
        <p:txBody>
          <a:bodyPr wrap="square" rtlCol="0" anchor="t"/>
          <a:lstStyle/>
          <a:p>
            <a:pPr>
              <a:lnSpc>
                <a:spcPct val="105000"/>
              </a:lnSpc>
            </a:pPr>
            <a:r>
              <a:rPr lang="en-US" sz="1600" b="1" dirty="0" err="1">
                <a:solidFill>
                  <a:srgbClr val="F2EFDA"/>
                </a:solidFill>
                <a:latin typeface="Arial" pitchFamily="34" charset="0"/>
                <a:ea typeface="Arial" pitchFamily="34" charset="-122"/>
                <a:cs typeface="Arial" pitchFamily="34" charset="-120"/>
              </a:rPr>
              <a:t>Kapitalstruktur</a:t>
            </a:r>
            <a:r>
              <a:rPr lang="en-US" sz="1600" b="1" dirty="0">
                <a:solidFill>
                  <a:srgbClr val="F2EFDA"/>
                </a:solidFill>
                <a:latin typeface="Arial" pitchFamily="34" charset="0"/>
                <a:ea typeface="Arial" pitchFamily="34" charset="-122"/>
                <a:cs typeface="Arial" pitchFamily="34" charset="-120"/>
              </a:rPr>
              <a:t> </a:t>
            </a:r>
            <a:endParaRPr lang="en-US" sz="1400" b="1" dirty="0">
              <a:solidFill>
                <a:srgbClr val="F2EFDA"/>
              </a:solidFill>
              <a:latin typeface="Arial" pitchFamily="34" charset="0"/>
              <a:ea typeface="Arial" pitchFamily="34" charset="-122"/>
              <a:cs typeface="Arial" pitchFamily="34" charset="-120"/>
            </a:endParaRPr>
          </a:p>
          <a:p>
            <a:pPr marL="0" indent="0" algn="l">
              <a:lnSpc>
                <a:spcPct val="105000"/>
              </a:lnSpc>
              <a:buNone/>
            </a:pPr>
            <a:endParaRPr lang="en-US" sz="1400" b="1" dirty="0">
              <a:solidFill>
                <a:srgbClr val="F2EFDA"/>
              </a:solidFill>
              <a:latin typeface="Arial" pitchFamily="34" charset="0"/>
              <a:ea typeface="Arial" pitchFamily="34" charset="-122"/>
              <a:cs typeface="Arial" pitchFamily="34" charset="-120"/>
            </a:endParaRPr>
          </a:p>
          <a:p>
            <a:pPr>
              <a:lnSpc>
                <a:spcPct val="105000"/>
              </a:lnSpc>
            </a:pPr>
            <a:r>
              <a:rPr lang="en-US" sz="1400" dirty="0" err="1">
                <a:solidFill>
                  <a:srgbClr val="B3BC9A"/>
                </a:solidFill>
                <a:latin typeface="Arial" pitchFamily="34" charset="0"/>
                <a:ea typeface="Arial" pitchFamily="34" charset="-122"/>
                <a:cs typeface="Arial" pitchFamily="34" charset="-120"/>
              </a:rPr>
              <a:t>kaum</a:t>
            </a:r>
            <a:r>
              <a:rPr lang="en-US" sz="1400" dirty="0">
                <a:solidFill>
                  <a:srgbClr val="B3BC9A"/>
                </a:solidFill>
                <a:latin typeface="Arial" pitchFamily="34" charset="0"/>
                <a:ea typeface="Arial" pitchFamily="34" charset="-122"/>
                <a:cs typeface="Arial" pitchFamily="34" charset="-120"/>
              </a:rPr>
              <a:t> </a:t>
            </a:r>
            <a:r>
              <a:rPr lang="en-US" sz="1400" dirty="0" err="1">
                <a:solidFill>
                  <a:srgbClr val="B3BC9A"/>
                </a:solidFill>
                <a:latin typeface="Arial" pitchFamily="34" charset="0"/>
                <a:ea typeface="Arial" pitchFamily="34" charset="-122"/>
                <a:cs typeface="Arial" pitchFamily="34" charset="-120"/>
              </a:rPr>
              <a:t>Korrektur</a:t>
            </a:r>
            <a:r>
              <a:rPr lang="en-US" sz="1400" dirty="0">
                <a:solidFill>
                  <a:srgbClr val="B3BC9A"/>
                </a:solidFill>
                <a:latin typeface="Arial" pitchFamily="34" charset="0"/>
                <a:ea typeface="Arial" pitchFamily="34" charset="-122"/>
                <a:cs typeface="Arial" pitchFamily="34" charset="-120"/>
              </a:rPr>
              <a:t>, </a:t>
            </a:r>
            <a:r>
              <a:rPr lang="en-US" sz="1400" dirty="0" err="1">
                <a:solidFill>
                  <a:srgbClr val="B3BC9A"/>
                </a:solidFill>
                <a:latin typeface="Arial" pitchFamily="34" charset="0"/>
                <a:ea typeface="Arial" pitchFamily="34" charset="-122"/>
                <a:cs typeface="Arial" pitchFamily="34" charset="-120"/>
              </a:rPr>
              <a:t>geringster</a:t>
            </a:r>
            <a:r>
              <a:rPr lang="en-US" sz="1400" dirty="0">
                <a:solidFill>
                  <a:srgbClr val="B3BC9A"/>
                </a:solidFill>
                <a:latin typeface="Arial" pitchFamily="34" charset="0"/>
                <a:ea typeface="Arial" pitchFamily="34" charset="-122"/>
                <a:cs typeface="Arial" pitchFamily="34" charset="-120"/>
              </a:rPr>
              <a:t> </a:t>
            </a:r>
            <a:r>
              <a:rPr lang="en-US" sz="1400" dirty="0" err="1">
                <a:solidFill>
                  <a:srgbClr val="B3BC9A"/>
                </a:solidFill>
                <a:latin typeface="Arial" pitchFamily="34" charset="0"/>
                <a:ea typeface="Arial" pitchFamily="34" charset="-122"/>
                <a:cs typeface="Arial" pitchFamily="34" charset="-120"/>
              </a:rPr>
              <a:t>Anteil</a:t>
            </a:r>
            <a:r>
              <a:rPr lang="en-US" sz="1400" dirty="0">
                <a:solidFill>
                  <a:srgbClr val="B3BC9A"/>
                </a:solidFill>
                <a:latin typeface="Arial" pitchFamily="34" charset="0"/>
                <a:ea typeface="Arial" pitchFamily="34" charset="-122"/>
                <a:cs typeface="Arial" pitchFamily="34" charset="-120"/>
              </a:rPr>
              <a:t>  Mean-Reversion</a:t>
            </a:r>
            <a:endParaRPr lang="en-US" sz="1400" dirty="0"/>
          </a:p>
        </p:txBody>
      </p:sp>
      <p:sp>
        <p:nvSpPr>
          <p:cNvPr id="31" name="Text 8">
            <a:extLst>
              <a:ext uri="{FF2B5EF4-FFF2-40B4-BE49-F238E27FC236}">
                <a16:creationId xmlns:a16="http://schemas.microsoft.com/office/drawing/2014/main" id="{6C2C07BB-DE35-7F58-9558-44C77C5F5317}"/>
              </a:ext>
            </a:extLst>
          </p:cNvPr>
          <p:cNvSpPr/>
          <p:nvPr/>
        </p:nvSpPr>
        <p:spPr>
          <a:xfrm>
            <a:off x="9010241" y="5560402"/>
            <a:ext cx="2222469" cy="822810"/>
          </a:xfrm>
          <a:prstGeom prst="rect">
            <a:avLst/>
          </a:prstGeom>
          <a:noFill/>
          <a:ln/>
        </p:spPr>
        <p:txBody>
          <a:bodyPr wrap="square" rtlCol="0" anchor="ctr"/>
          <a:lstStyle/>
          <a:p>
            <a:pPr marL="0" indent="0" algn="r">
              <a:lnSpc>
                <a:spcPct val="105000"/>
              </a:lnSpc>
              <a:buNone/>
            </a:pPr>
            <a:r>
              <a:rPr lang="en-US" sz="2000" b="1" dirty="0">
                <a:solidFill>
                  <a:srgbClr val="79A2F9"/>
                </a:solidFill>
                <a:latin typeface="Courier New" pitchFamily="34" charset="0"/>
                <a:ea typeface="Courier New" pitchFamily="34" charset="-122"/>
                <a:cs typeface="Courier New" pitchFamily="34" charset="-120"/>
              </a:rPr>
              <a:t>−0,07</a:t>
            </a:r>
            <a:endParaRPr lang="en-US" sz="2000" dirty="0"/>
          </a:p>
        </p:txBody>
      </p:sp>
    </p:spTree>
    <p:extLst>
      <p:ext uri="{BB962C8B-B14F-4D97-AF65-F5344CB8AC3E}">
        <p14:creationId xmlns:p14="http://schemas.microsoft.com/office/powerpoint/2010/main" val="141687402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nodeType="clickEffect">
                                  <p:stCondLst>
                                    <p:cond delay="0"/>
                                  </p:stCondLst>
                                  <p:childTnLst>
                                    <p:animEffect transition="out" filter="dissolv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A2FA4-E81D-2E0B-1436-78CE73643038}"/>
            </a:ext>
          </a:extLst>
        </p:cNvPr>
        <p:cNvGrpSpPr/>
        <p:nvPr/>
      </p:nvGrpSpPr>
      <p:grpSpPr>
        <a:xfrm>
          <a:off x="0" y="0"/>
          <a:ext cx="0" cy="0"/>
          <a:chOff x="0" y="0"/>
          <a:chExt cx="0" cy="0"/>
        </a:xfrm>
      </p:grpSpPr>
      <p:sp>
        <p:nvSpPr>
          <p:cNvPr id="33" name="Shape 16">
            <a:extLst>
              <a:ext uri="{FF2B5EF4-FFF2-40B4-BE49-F238E27FC236}">
                <a16:creationId xmlns:a16="http://schemas.microsoft.com/office/drawing/2014/main" id="{745353F1-3BFC-ADE4-DF5E-AA2A8B06C8A4}"/>
              </a:ext>
            </a:extLst>
          </p:cNvPr>
          <p:cNvSpPr/>
          <p:nvPr/>
        </p:nvSpPr>
        <p:spPr>
          <a:xfrm>
            <a:off x="341036" y="469561"/>
            <a:ext cx="5779249" cy="5131577"/>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 name="Shape 0">
            <a:extLst>
              <a:ext uri="{FF2B5EF4-FFF2-40B4-BE49-F238E27FC236}">
                <a16:creationId xmlns:a16="http://schemas.microsoft.com/office/drawing/2014/main" id="{75E81087-646C-F7A5-AA29-DFCB382C97CF}"/>
              </a:ext>
            </a:extLst>
          </p:cNvPr>
          <p:cNvSpPr/>
          <p:nvPr/>
        </p:nvSpPr>
        <p:spPr>
          <a:xfrm>
            <a:off x="0" y="0"/>
            <a:ext cx="12191695" cy="38405"/>
          </a:xfrm>
          <a:prstGeom prst="rect">
            <a:avLst/>
          </a:prstGeom>
          <a:solidFill>
            <a:srgbClr val="DBDEE2"/>
          </a:solidFill>
          <a:ln/>
        </p:spPr>
        <p:txBody>
          <a:bodyPr/>
          <a:lstStyle/>
          <a:p>
            <a:endParaRPr lang="de-DE"/>
          </a:p>
        </p:txBody>
      </p:sp>
      <p:sp>
        <p:nvSpPr>
          <p:cNvPr id="34" name="Shape 12">
            <a:extLst>
              <a:ext uri="{FF2B5EF4-FFF2-40B4-BE49-F238E27FC236}">
                <a16:creationId xmlns:a16="http://schemas.microsoft.com/office/drawing/2014/main" id="{3DB06677-B161-1A88-729A-E6EDA0D14C13}"/>
              </a:ext>
            </a:extLst>
          </p:cNvPr>
          <p:cNvSpPr/>
          <p:nvPr/>
        </p:nvSpPr>
        <p:spPr>
          <a:xfrm>
            <a:off x="6465620" y="708077"/>
            <a:ext cx="5090567" cy="1563047"/>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5" name="Text 13">
            <a:extLst>
              <a:ext uri="{FF2B5EF4-FFF2-40B4-BE49-F238E27FC236}">
                <a16:creationId xmlns:a16="http://schemas.microsoft.com/office/drawing/2014/main" id="{54C07E23-0124-C4BC-0EA2-71246CA8078E}"/>
              </a:ext>
            </a:extLst>
          </p:cNvPr>
          <p:cNvSpPr/>
          <p:nvPr/>
        </p:nvSpPr>
        <p:spPr>
          <a:xfrm>
            <a:off x="6500651" y="925983"/>
            <a:ext cx="802254" cy="297620"/>
          </a:xfrm>
          <a:prstGeom prst="rect">
            <a:avLst/>
          </a:prstGeom>
          <a:noFill/>
          <a:ln/>
        </p:spPr>
        <p:txBody>
          <a:bodyPr wrap="square" rtlCol="0" anchor="t"/>
          <a:lstStyle/>
          <a:p>
            <a:pPr marL="0" indent="0" algn="l">
              <a:lnSpc>
                <a:spcPct val="105000"/>
              </a:lnSpc>
              <a:buNone/>
            </a:pPr>
            <a:r>
              <a:rPr lang="en-US" sz="1400" b="1" dirty="0">
                <a:solidFill>
                  <a:srgbClr val="E6D34F"/>
                </a:solidFill>
                <a:latin typeface="Courier New" pitchFamily="34" charset="0"/>
                <a:ea typeface="Courier New" pitchFamily="34" charset="-122"/>
                <a:cs typeface="Courier New" pitchFamily="34" charset="-120"/>
              </a:rPr>
              <a:t>1</a:t>
            </a:r>
            <a:endParaRPr lang="en-US" sz="1400" dirty="0"/>
          </a:p>
        </p:txBody>
      </p:sp>
      <p:sp>
        <p:nvSpPr>
          <p:cNvPr id="38" name="Shape 12">
            <a:extLst>
              <a:ext uri="{FF2B5EF4-FFF2-40B4-BE49-F238E27FC236}">
                <a16:creationId xmlns:a16="http://schemas.microsoft.com/office/drawing/2014/main" id="{212F8A23-05AF-6F36-B230-54A50F7E85A3}"/>
              </a:ext>
            </a:extLst>
          </p:cNvPr>
          <p:cNvSpPr/>
          <p:nvPr/>
        </p:nvSpPr>
        <p:spPr>
          <a:xfrm>
            <a:off x="6464959" y="2406393"/>
            <a:ext cx="5090567" cy="155835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9" name="Text 13">
            <a:extLst>
              <a:ext uri="{FF2B5EF4-FFF2-40B4-BE49-F238E27FC236}">
                <a16:creationId xmlns:a16="http://schemas.microsoft.com/office/drawing/2014/main" id="{9489B989-8E37-213D-0994-D657F2BFB481}"/>
              </a:ext>
            </a:extLst>
          </p:cNvPr>
          <p:cNvSpPr/>
          <p:nvPr/>
        </p:nvSpPr>
        <p:spPr>
          <a:xfrm>
            <a:off x="6499990" y="2624298"/>
            <a:ext cx="802254" cy="296726"/>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cs typeface="Courier New" pitchFamily="34" charset="-120"/>
              </a:rPr>
              <a:t>2</a:t>
            </a:r>
            <a:endParaRPr lang="en-US" sz="1400"/>
          </a:p>
        </p:txBody>
      </p:sp>
      <p:sp>
        <p:nvSpPr>
          <p:cNvPr id="47" name="Shape 14">
            <a:extLst>
              <a:ext uri="{FF2B5EF4-FFF2-40B4-BE49-F238E27FC236}">
                <a16:creationId xmlns:a16="http://schemas.microsoft.com/office/drawing/2014/main" id="{03237D3B-2012-DEF7-0A54-BC56B4C3F82E}"/>
              </a:ext>
            </a:extLst>
          </p:cNvPr>
          <p:cNvSpPr/>
          <p:nvPr/>
        </p:nvSpPr>
        <p:spPr>
          <a:xfrm>
            <a:off x="6891119" y="1061252"/>
            <a:ext cx="4427756" cy="18000"/>
          </a:xfrm>
          <a:prstGeom prst="rect">
            <a:avLst/>
          </a:prstGeom>
          <a:solidFill>
            <a:srgbClr val="DBDEE2"/>
          </a:solidFill>
          <a:ln/>
        </p:spPr>
        <p:txBody>
          <a:bodyPr/>
          <a:lstStyle/>
          <a:p>
            <a:endParaRPr lang="de-DE"/>
          </a:p>
        </p:txBody>
      </p:sp>
      <p:sp>
        <p:nvSpPr>
          <p:cNvPr id="48" name="Shape 14">
            <a:extLst>
              <a:ext uri="{FF2B5EF4-FFF2-40B4-BE49-F238E27FC236}">
                <a16:creationId xmlns:a16="http://schemas.microsoft.com/office/drawing/2014/main" id="{052CE9AB-7A15-6BF7-BA06-22248A89F170}"/>
              </a:ext>
            </a:extLst>
          </p:cNvPr>
          <p:cNvSpPr/>
          <p:nvPr/>
        </p:nvSpPr>
        <p:spPr>
          <a:xfrm>
            <a:off x="6889861" y="2772661"/>
            <a:ext cx="4427756" cy="18000"/>
          </a:xfrm>
          <a:prstGeom prst="rect">
            <a:avLst/>
          </a:prstGeom>
          <a:solidFill>
            <a:srgbClr val="DBDEE2"/>
          </a:solidFill>
          <a:ln/>
        </p:spPr>
        <p:txBody>
          <a:bodyPr/>
          <a:lstStyle/>
          <a:p>
            <a:endParaRPr lang="de-DE"/>
          </a:p>
        </p:txBody>
      </p:sp>
      <p:sp>
        <p:nvSpPr>
          <p:cNvPr id="4" name="Text 2">
            <a:extLst>
              <a:ext uri="{FF2B5EF4-FFF2-40B4-BE49-F238E27FC236}">
                <a16:creationId xmlns:a16="http://schemas.microsoft.com/office/drawing/2014/main" id="{A034BBF4-9E68-F529-8FFA-83E48B2FB0DE}"/>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06 / 13</a:t>
            </a:r>
            <a:endParaRPr lang="en-US" sz="1200"/>
          </a:p>
        </p:txBody>
      </p:sp>
      <p:sp>
        <p:nvSpPr>
          <p:cNvPr id="7" name="Text 1">
            <a:extLst>
              <a:ext uri="{FF2B5EF4-FFF2-40B4-BE49-F238E27FC236}">
                <a16:creationId xmlns:a16="http://schemas.microsoft.com/office/drawing/2014/main" id="{84AB2A51-FD77-D7B4-E0C0-E213C3A239B7}"/>
              </a:ext>
            </a:extLst>
          </p:cNvPr>
          <p:cNvSpPr/>
          <p:nvPr/>
        </p:nvSpPr>
        <p:spPr>
          <a:xfrm>
            <a:off x="415959" y="291694"/>
            <a:ext cx="8255203" cy="215798"/>
          </a:xfrm>
          <a:prstGeom prst="rect">
            <a:avLst/>
          </a:prstGeom>
          <a:noFill/>
          <a:ln/>
        </p:spPr>
        <p:txBody>
          <a:bodyPr wrap="square" rtlCol="0" anchor="ctr"/>
          <a:lstStyle/>
          <a:p>
            <a:r>
              <a:rPr lang="en-US" sz="1200" b="1" kern="0" spc="400">
                <a:solidFill>
                  <a:srgbClr val="E6D34F"/>
                </a:solidFill>
                <a:latin typeface="Courier New" pitchFamily="34" charset="0"/>
                <a:cs typeface="Courier New" pitchFamily="34" charset="-120"/>
              </a:rPr>
              <a:t>FORSCHUNGSFRAGE 1</a:t>
            </a:r>
          </a:p>
        </p:txBody>
      </p:sp>
      <p:pic>
        <p:nvPicPr>
          <p:cNvPr id="8" name="Grafik 7">
            <a:extLst>
              <a:ext uri="{FF2B5EF4-FFF2-40B4-BE49-F238E27FC236}">
                <a16:creationId xmlns:a16="http://schemas.microsoft.com/office/drawing/2014/main" id="{09264BA6-61D7-B3F6-BC59-4A3203D4F112}"/>
              </a:ext>
            </a:extLst>
          </p:cNvPr>
          <p:cNvPicPr>
            <a:picLocks noChangeAspect="1"/>
          </p:cNvPicPr>
          <p:nvPr/>
        </p:nvPicPr>
        <p:blipFill>
          <a:blip r:embed="rId3"/>
          <a:srcRect t="9502" r="16758"/>
          <a:stretch>
            <a:fillRect/>
          </a:stretch>
        </p:blipFill>
        <p:spPr>
          <a:xfrm>
            <a:off x="540969" y="656296"/>
            <a:ext cx="5364557" cy="4786570"/>
          </a:xfrm>
          <a:prstGeom prst="rect">
            <a:avLst/>
          </a:prstGeom>
        </p:spPr>
      </p:pic>
      <p:sp>
        <p:nvSpPr>
          <p:cNvPr id="9" name="Text 6">
            <a:extLst>
              <a:ext uri="{FF2B5EF4-FFF2-40B4-BE49-F238E27FC236}">
                <a16:creationId xmlns:a16="http://schemas.microsoft.com/office/drawing/2014/main" id="{2DD747AF-6C50-1B52-B0BA-D38D5D57D04A}"/>
              </a:ext>
            </a:extLst>
          </p:cNvPr>
          <p:cNvSpPr/>
          <p:nvPr/>
        </p:nvSpPr>
        <p:spPr>
          <a:xfrm>
            <a:off x="6889861" y="1241844"/>
            <a:ext cx="4427756" cy="822810"/>
          </a:xfrm>
          <a:prstGeom prst="rect">
            <a:avLst/>
          </a:prstGeom>
          <a:noFill/>
          <a:ln/>
        </p:spPr>
        <p:txBody>
          <a:bodyPr wrap="square" rtlCol="0" anchor="t"/>
          <a:lstStyle/>
          <a:p>
            <a:pPr marL="0" indent="0" algn="l">
              <a:lnSpc>
                <a:spcPct val="105000"/>
              </a:lnSpc>
              <a:buNone/>
            </a:pPr>
            <a:r>
              <a:rPr lang="en-US" sz="1600" b="1" dirty="0" err="1">
                <a:solidFill>
                  <a:srgbClr val="F2EFDA"/>
                </a:solidFill>
                <a:latin typeface="Arial" pitchFamily="34" charset="0"/>
                <a:ea typeface="Arial" pitchFamily="34" charset="-122"/>
                <a:cs typeface="Arial" pitchFamily="34" charset="-120"/>
              </a:rPr>
              <a:t>Profitabilität</a:t>
            </a:r>
            <a:endParaRPr lang="en-US" sz="1400" b="1" dirty="0">
              <a:solidFill>
                <a:srgbClr val="F2EFDA"/>
              </a:solidFill>
              <a:latin typeface="Arial" pitchFamily="34" charset="0"/>
              <a:ea typeface="Arial" pitchFamily="34" charset="-122"/>
              <a:cs typeface="Arial" pitchFamily="34" charset="-120"/>
            </a:endParaRPr>
          </a:p>
          <a:p>
            <a:pPr marL="0" indent="0" algn="l">
              <a:lnSpc>
                <a:spcPct val="105000"/>
              </a:lnSpc>
              <a:buNone/>
            </a:pPr>
            <a:endParaRPr lang="en-US" sz="1400" b="1" dirty="0">
              <a:solidFill>
                <a:srgbClr val="F2EFDA"/>
              </a:solidFill>
              <a:latin typeface="Arial" pitchFamily="34" charset="0"/>
              <a:ea typeface="Arial" pitchFamily="34" charset="-122"/>
              <a:cs typeface="Arial" pitchFamily="34" charset="-120"/>
            </a:endParaRPr>
          </a:p>
          <a:p>
            <a:pPr>
              <a:lnSpc>
                <a:spcPct val="105000"/>
              </a:lnSpc>
            </a:pPr>
            <a:r>
              <a:rPr lang="en-US" sz="1400" dirty="0">
                <a:solidFill>
                  <a:srgbClr val="B3BC9A"/>
                </a:solidFill>
                <a:latin typeface="Arial" pitchFamily="34" charset="0"/>
                <a:ea typeface="Arial" pitchFamily="34" charset="-122"/>
                <a:cs typeface="Arial" pitchFamily="34" charset="-120"/>
              </a:rPr>
              <a:t>&gt; 90 % </a:t>
            </a:r>
            <a:r>
              <a:rPr lang="en-US" sz="1400" dirty="0" err="1">
                <a:solidFill>
                  <a:srgbClr val="B3BC9A"/>
                </a:solidFill>
                <a:latin typeface="Arial" pitchFamily="34" charset="0"/>
                <a:ea typeface="Arial" pitchFamily="34" charset="-122"/>
                <a:cs typeface="Arial" pitchFamily="34" charset="-120"/>
              </a:rPr>
              <a:t>signifikant</a:t>
            </a:r>
            <a:endParaRPr lang="en-US" sz="1400" dirty="0"/>
          </a:p>
        </p:txBody>
      </p:sp>
      <p:sp>
        <p:nvSpPr>
          <p:cNvPr id="11" name="Text 8">
            <a:extLst>
              <a:ext uri="{FF2B5EF4-FFF2-40B4-BE49-F238E27FC236}">
                <a16:creationId xmlns:a16="http://schemas.microsoft.com/office/drawing/2014/main" id="{FDF0A116-617C-56BC-A5D6-771A6EF445BD}"/>
              </a:ext>
            </a:extLst>
          </p:cNvPr>
          <p:cNvSpPr/>
          <p:nvPr/>
        </p:nvSpPr>
        <p:spPr>
          <a:xfrm>
            <a:off x="9095148" y="1241843"/>
            <a:ext cx="2222469" cy="822810"/>
          </a:xfrm>
          <a:prstGeom prst="rect">
            <a:avLst/>
          </a:prstGeom>
          <a:noFill/>
          <a:ln/>
        </p:spPr>
        <p:txBody>
          <a:bodyPr wrap="square" rtlCol="0" anchor="ctr"/>
          <a:lstStyle/>
          <a:p>
            <a:pPr marL="0" indent="0" algn="r">
              <a:lnSpc>
                <a:spcPct val="105000"/>
              </a:lnSpc>
              <a:buNone/>
            </a:pPr>
            <a:r>
              <a:rPr lang="en-US" sz="2000" b="1" dirty="0">
                <a:solidFill>
                  <a:srgbClr val="79A2F9"/>
                </a:solidFill>
                <a:latin typeface="Courier New" pitchFamily="34" charset="0"/>
                <a:ea typeface="Courier New" pitchFamily="34" charset="-122"/>
                <a:cs typeface="Courier New" pitchFamily="34" charset="-120"/>
              </a:rPr>
              <a:t>−0,43 − 0,46</a:t>
            </a:r>
            <a:endParaRPr lang="en-US" sz="2000" dirty="0"/>
          </a:p>
        </p:txBody>
      </p:sp>
      <p:sp>
        <p:nvSpPr>
          <p:cNvPr id="25" name="Text 6">
            <a:extLst>
              <a:ext uri="{FF2B5EF4-FFF2-40B4-BE49-F238E27FC236}">
                <a16:creationId xmlns:a16="http://schemas.microsoft.com/office/drawing/2014/main" id="{07C09C03-039C-EAAC-9D95-63ECA4205ED7}"/>
              </a:ext>
            </a:extLst>
          </p:cNvPr>
          <p:cNvSpPr/>
          <p:nvPr/>
        </p:nvSpPr>
        <p:spPr>
          <a:xfrm>
            <a:off x="6889864" y="2940018"/>
            <a:ext cx="4427756" cy="822810"/>
          </a:xfrm>
          <a:prstGeom prst="rect">
            <a:avLst/>
          </a:prstGeom>
          <a:noFill/>
          <a:ln/>
        </p:spPr>
        <p:txBody>
          <a:bodyPr wrap="square" rtlCol="0" anchor="t"/>
          <a:lstStyle/>
          <a:p>
            <a:pPr marL="0" indent="0" algn="l">
              <a:lnSpc>
                <a:spcPct val="105000"/>
              </a:lnSpc>
              <a:buNone/>
            </a:pPr>
            <a:r>
              <a:rPr lang="en-US" sz="1600" b="1" dirty="0" err="1">
                <a:solidFill>
                  <a:srgbClr val="F2EFDA"/>
                </a:solidFill>
                <a:latin typeface="Arial" pitchFamily="34" charset="0"/>
                <a:ea typeface="Arial" pitchFamily="34" charset="-122"/>
                <a:cs typeface="Arial" pitchFamily="34" charset="-120"/>
              </a:rPr>
              <a:t>Liquidität</a:t>
            </a:r>
            <a:r>
              <a:rPr lang="en-US" sz="1600" b="1" dirty="0">
                <a:solidFill>
                  <a:srgbClr val="F2EFDA"/>
                </a:solidFill>
                <a:latin typeface="Arial" pitchFamily="34" charset="0"/>
                <a:ea typeface="Arial" pitchFamily="34" charset="-122"/>
                <a:cs typeface="Arial" pitchFamily="34" charset="-120"/>
              </a:rPr>
              <a:t> </a:t>
            </a:r>
            <a:endParaRPr lang="en-US" sz="1400" b="1" dirty="0">
              <a:solidFill>
                <a:srgbClr val="F2EFDA"/>
              </a:solidFill>
              <a:latin typeface="Arial" pitchFamily="34" charset="0"/>
              <a:ea typeface="Arial" pitchFamily="34" charset="-122"/>
              <a:cs typeface="Arial" pitchFamily="34" charset="-120"/>
            </a:endParaRPr>
          </a:p>
          <a:p>
            <a:pPr marL="0" indent="0" algn="l">
              <a:lnSpc>
                <a:spcPct val="105000"/>
              </a:lnSpc>
              <a:buNone/>
            </a:pPr>
            <a:endParaRPr lang="en-US" sz="1400" b="1" dirty="0">
              <a:solidFill>
                <a:srgbClr val="F2EFDA"/>
              </a:solidFill>
              <a:latin typeface="Arial" pitchFamily="34" charset="0"/>
              <a:ea typeface="Arial" pitchFamily="34" charset="-122"/>
              <a:cs typeface="Arial" pitchFamily="34" charset="-120"/>
            </a:endParaRPr>
          </a:p>
          <a:p>
            <a:pPr>
              <a:lnSpc>
                <a:spcPct val="105000"/>
              </a:lnSpc>
            </a:pPr>
            <a:r>
              <a:rPr lang="en-US" sz="1400" dirty="0">
                <a:solidFill>
                  <a:srgbClr val="B3BC9A"/>
                </a:solidFill>
                <a:latin typeface="Arial" pitchFamily="34" charset="0"/>
                <a:ea typeface="Arial" pitchFamily="34" charset="-122"/>
                <a:cs typeface="Arial" pitchFamily="34" charset="-120"/>
              </a:rPr>
              <a:t>moderate </a:t>
            </a:r>
            <a:r>
              <a:rPr lang="en-US" sz="1400" dirty="0" err="1">
                <a:solidFill>
                  <a:srgbClr val="B3BC9A"/>
                </a:solidFill>
                <a:latin typeface="Arial" pitchFamily="34" charset="0"/>
                <a:ea typeface="Arial" pitchFamily="34" charset="-122"/>
                <a:cs typeface="Arial" pitchFamily="34" charset="-120"/>
              </a:rPr>
              <a:t>Korrektur</a:t>
            </a:r>
            <a:r>
              <a:rPr lang="en-US" sz="1400" dirty="0">
                <a:solidFill>
                  <a:srgbClr val="B3BC9A"/>
                </a:solidFill>
                <a:latin typeface="Arial" pitchFamily="34" charset="0"/>
                <a:ea typeface="Arial" pitchFamily="34" charset="-122"/>
                <a:cs typeface="Arial" pitchFamily="34" charset="-120"/>
              </a:rPr>
              <a:t>, </a:t>
            </a:r>
            <a:r>
              <a:rPr lang="en-US" sz="1400" dirty="0" err="1">
                <a:solidFill>
                  <a:srgbClr val="B3BC9A"/>
                </a:solidFill>
                <a:latin typeface="Arial" pitchFamily="34" charset="0"/>
                <a:ea typeface="Arial" pitchFamily="34" charset="-122"/>
                <a:cs typeface="Arial" pitchFamily="34" charset="-120"/>
              </a:rPr>
              <a:t>höchste</a:t>
            </a:r>
            <a:r>
              <a:rPr lang="en-US" sz="1400" dirty="0">
                <a:solidFill>
                  <a:srgbClr val="B3BC9A"/>
                </a:solidFill>
                <a:latin typeface="Arial" pitchFamily="34" charset="0"/>
                <a:ea typeface="Arial" pitchFamily="34" charset="-122"/>
                <a:cs typeface="Arial" pitchFamily="34" charset="-120"/>
              </a:rPr>
              <a:t> </a:t>
            </a:r>
            <a:r>
              <a:rPr lang="en-US" sz="1400" dirty="0" err="1">
                <a:solidFill>
                  <a:srgbClr val="B3BC9A"/>
                </a:solidFill>
                <a:latin typeface="Arial" pitchFamily="34" charset="0"/>
                <a:ea typeface="Arial" pitchFamily="34" charset="-122"/>
                <a:cs typeface="Arial" pitchFamily="34" charset="-120"/>
              </a:rPr>
              <a:t>Volatilität</a:t>
            </a:r>
            <a:endParaRPr lang="en-US" sz="1400" dirty="0"/>
          </a:p>
        </p:txBody>
      </p:sp>
      <p:sp>
        <p:nvSpPr>
          <p:cNvPr id="26" name="Text 8">
            <a:extLst>
              <a:ext uri="{FF2B5EF4-FFF2-40B4-BE49-F238E27FC236}">
                <a16:creationId xmlns:a16="http://schemas.microsoft.com/office/drawing/2014/main" id="{A97B506E-8AF6-85DE-2ABB-EE5DA0B15FF1}"/>
              </a:ext>
            </a:extLst>
          </p:cNvPr>
          <p:cNvSpPr/>
          <p:nvPr/>
        </p:nvSpPr>
        <p:spPr>
          <a:xfrm>
            <a:off x="9010242" y="2940018"/>
            <a:ext cx="2222469" cy="822810"/>
          </a:xfrm>
          <a:prstGeom prst="rect">
            <a:avLst/>
          </a:prstGeom>
          <a:noFill/>
          <a:ln/>
        </p:spPr>
        <p:txBody>
          <a:bodyPr wrap="square" rtlCol="0" anchor="ctr"/>
          <a:lstStyle/>
          <a:p>
            <a:pPr marL="0" indent="0" algn="r">
              <a:lnSpc>
                <a:spcPct val="105000"/>
              </a:lnSpc>
              <a:buNone/>
            </a:pPr>
            <a:r>
              <a:rPr lang="en-US" sz="2000" b="1" dirty="0">
                <a:solidFill>
                  <a:srgbClr val="79A2F9"/>
                </a:solidFill>
                <a:latin typeface="Courier New" pitchFamily="34" charset="0"/>
                <a:ea typeface="Courier New" pitchFamily="34" charset="-122"/>
                <a:cs typeface="Courier New" pitchFamily="34" charset="-120"/>
              </a:rPr>
              <a:t>−0,17</a:t>
            </a:r>
            <a:endParaRPr lang="en-US" sz="2000" dirty="0"/>
          </a:p>
        </p:txBody>
      </p:sp>
      <p:sp>
        <p:nvSpPr>
          <p:cNvPr id="27" name="Shape 12">
            <a:extLst>
              <a:ext uri="{FF2B5EF4-FFF2-40B4-BE49-F238E27FC236}">
                <a16:creationId xmlns:a16="http://schemas.microsoft.com/office/drawing/2014/main" id="{E6F6CC6D-334E-6CDF-D99A-24637F0CF1C2}"/>
              </a:ext>
            </a:extLst>
          </p:cNvPr>
          <p:cNvSpPr/>
          <p:nvPr/>
        </p:nvSpPr>
        <p:spPr>
          <a:xfrm>
            <a:off x="6464958" y="4100014"/>
            <a:ext cx="5090567" cy="155835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8" name="Text 13">
            <a:extLst>
              <a:ext uri="{FF2B5EF4-FFF2-40B4-BE49-F238E27FC236}">
                <a16:creationId xmlns:a16="http://schemas.microsoft.com/office/drawing/2014/main" id="{26380E20-0DC4-1EEC-785D-D8AAA5F18DC8}"/>
              </a:ext>
            </a:extLst>
          </p:cNvPr>
          <p:cNvSpPr/>
          <p:nvPr/>
        </p:nvSpPr>
        <p:spPr>
          <a:xfrm>
            <a:off x="6499989" y="4317919"/>
            <a:ext cx="802254" cy="296726"/>
          </a:xfrm>
          <a:prstGeom prst="rect">
            <a:avLst/>
          </a:prstGeom>
          <a:noFill/>
          <a:ln/>
        </p:spPr>
        <p:txBody>
          <a:bodyPr wrap="square" rtlCol="0" anchor="t"/>
          <a:lstStyle/>
          <a:p>
            <a:pPr marL="0" indent="0" algn="l">
              <a:lnSpc>
                <a:spcPct val="105000"/>
              </a:lnSpc>
              <a:buNone/>
            </a:pPr>
            <a:r>
              <a:rPr lang="en-US" sz="1400" b="1" dirty="0">
                <a:solidFill>
                  <a:srgbClr val="E6D34F"/>
                </a:solidFill>
                <a:latin typeface="Courier New" pitchFamily="34" charset="0"/>
                <a:cs typeface="Courier New" pitchFamily="34" charset="-120"/>
              </a:rPr>
              <a:t>3</a:t>
            </a:r>
            <a:endParaRPr lang="en-US" sz="1400" dirty="0"/>
          </a:p>
        </p:txBody>
      </p:sp>
      <p:sp>
        <p:nvSpPr>
          <p:cNvPr id="29" name="Shape 14">
            <a:extLst>
              <a:ext uri="{FF2B5EF4-FFF2-40B4-BE49-F238E27FC236}">
                <a16:creationId xmlns:a16="http://schemas.microsoft.com/office/drawing/2014/main" id="{434B39D1-3FEA-6F58-40BD-D60B74C34D61}"/>
              </a:ext>
            </a:extLst>
          </p:cNvPr>
          <p:cNvSpPr/>
          <p:nvPr/>
        </p:nvSpPr>
        <p:spPr>
          <a:xfrm>
            <a:off x="6889860" y="4466282"/>
            <a:ext cx="4427756" cy="18000"/>
          </a:xfrm>
          <a:prstGeom prst="rect">
            <a:avLst/>
          </a:prstGeom>
          <a:solidFill>
            <a:srgbClr val="DBDEE2"/>
          </a:solidFill>
          <a:ln/>
        </p:spPr>
        <p:txBody>
          <a:bodyPr/>
          <a:lstStyle/>
          <a:p>
            <a:endParaRPr lang="de-DE"/>
          </a:p>
        </p:txBody>
      </p:sp>
      <p:sp>
        <p:nvSpPr>
          <p:cNvPr id="30" name="Text 6">
            <a:extLst>
              <a:ext uri="{FF2B5EF4-FFF2-40B4-BE49-F238E27FC236}">
                <a16:creationId xmlns:a16="http://schemas.microsoft.com/office/drawing/2014/main" id="{1F0D1679-B120-1F49-57BA-090DF53030FF}"/>
              </a:ext>
            </a:extLst>
          </p:cNvPr>
          <p:cNvSpPr/>
          <p:nvPr/>
        </p:nvSpPr>
        <p:spPr>
          <a:xfrm>
            <a:off x="6889863" y="4633639"/>
            <a:ext cx="4427756" cy="822810"/>
          </a:xfrm>
          <a:prstGeom prst="rect">
            <a:avLst/>
          </a:prstGeom>
          <a:noFill/>
          <a:ln/>
        </p:spPr>
        <p:txBody>
          <a:bodyPr wrap="square" rtlCol="0" anchor="t"/>
          <a:lstStyle/>
          <a:p>
            <a:pPr>
              <a:lnSpc>
                <a:spcPct val="105000"/>
              </a:lnSpc>
            </a:pPr>
            <a:r>
              <a:rPr lang="en-US" sz="1600" b="1" dirty="0" err="1">
                <a:solidFill>
                  <a:srgbClr val="F2EFDA"/>
                </a:solidFill>
                <a:latin typeface="Arial" pitchFamily="34" charset="0"/>
                <a:ea typeface="Arial" pitchFamily="34" charset="-122"/>
                <a:cs typeface="Arial" pitchFamily="34" charset="-120"/>
              </a:rPr>
              <a:t>Kapitalstruktur</a:t>
            </a:r>
            <a:r>
              <a:rPr lang="en-US" sz="1600" b="1" dirty="0">
                <a:solidFill>
                  <a:srgbClr val="F2EFDA"/>
                </a:solidFill>
                <a:latin typeface="Arial" pitchFamily="34" charset="0"/>
                <a:ea typeface="Arial" pitchFamily="34" charset="-122"/>
                <a:cs typeface="Arial" pitchFamily="34" charset="-120"/>
              </a:rPr>
              <a:t> </a:t>
            </a:r>
            <a:endParaRPr lang="en-US" sz="1400" b="1" dirty="0">
              <a:solidFill>
                <a:srgbClr val="F2EFDA"/>
              </a:solidFill>
              <a:latin typeface="Arial" pitchFamily="34" charset="0"/>
              <a:ea typeface="Arial" pitchFamily="34" charset="-122"/>
              <a:cs typeface="Arial" pitchFamily="34" charset="-120"/>
            </a:endParaRPr>
          </a:p>
          <a:p>
            <a:pPr marL="0" indent="0" algn="l">
              <a:lnSpc>
                <a:spcPct val="105000"/>
              </a:lnSpc>
              <a:buNone/>
            </a:pPr>
            <a:endParaRPr lang="en-US" sz="1400" b="1" dirty="0">
              <a:solidFill>
                <a:srgbClr val="F2EFDA"/>
              </a:solidFill>
              <a:latin typeface="Arial" pitchFamily="34" charset="0"/>
              <a:ea typeface="Arial" pitchFamily="34" charset="-122"/>
              <a:cs typeface="Arial" pitchFamily="34" charset="-120"/>
            </a:endParaRPr>
          </a:p>
          <a:p>
            <a:pPr>
              <a:lnSpc>
                <a:spcPct val="105000"/>
              </a:lnSpc>
            </a:pPr>
            <a:r>
              <a:rPr lang="en-US" sz="1400" dirty="0" err="1">
                <a:solidFill>
                  <a:srgbClr val="B3BC9A"/>
                </a:solidFill>
                <a:latin typeface="Arial" pitchFamily="34" charset="0"/>
                <a:ea typeface="Arial" pitchFamily="34" charset="-122"/>
                <a:cs typeface="Arial" pitchFamily="34" charset="-120"/>
              </a:rPr>
              <a:t>kaum</a:t>
            </a:r>
            <a:r>
              <a:rPr lang="en-US" sz="1400" dirty="0">
                <a:solidFill>
                  <a:srgbClr val="B3BC9A"/>
                </a:solidFill>
                <a:latin typeface="Arial" pitchFamily="34" charset="0"/>
                <a:ea typeface="Arial" pitchFamily="34" charset="-122"/>
                <a:cs typeface="Arial" pitchFamily="34" charset="-120"/>
              </a:rPr>
              <a:t> </a:t>
            </a:r>
            <a:r>
              <a:rPr lang="en-US" sz="1400" dirty="0" err="1">
                <a:solidFill>
                  <a:srgbClr val="B3BC9A"/>
                </a:solidFill>
                <a:latin typeface="Arial" pitchFamily="34" charset="0"/>
                <a:ea typeface="Arial" pitchFamily="34" charset="-122"/>
                <a:cs typeface="Arial" pitchFamily="34" charset="-120"/>
              </a:rPr>
              <a:t>Korrektur</a:t>
            </a:r>
            <a:r>
              <a:rPr lang="en-US" sz="1400" dirty="0">
                <a:solidFill>
                  <a:srgbClr val="B3BC9A"/>
                </a:solidFill>
                <a:latin typeface="Arial" pitchFamily="34" charset="0"/>
                <a:ea typeface="Arial" pitchFamily="34" charset="-122"/>
                <a:cs typeface="Arial" pitchFamily="34" charset="-120"/>
              </a:rPr>
              <a:t>, </a:t>
            </a:r>
            <a:r>
              <a:rPr lang="en-US" sz="1400" dirty="0" err="1">
                <a:solidFill>
                  <a:srgbClr val="B3BC9A"/>
                </a:solidFill>
                <a:latin typeface="Arial" pitchFamily="34" charset="0"/>
                <a:ea typeface="Arial" pitchFamily="34" charset="-122"/>
                <a:cs typeface="Arial" pitchFamily="34" charset="-120"/>
              </a:rPr>
              <a:t>geringster</a:t>
            </a:r>
            <a:r>
              <a:rPr lang="en-US" sz="1400" dirty="0">
                <a:solidFill>
                  <a:srgbClr val="B3BC9A"/>
                </a:solidFill>
                <a:latin typeface="Arial" pitchFamily="34" charset="0"/>
                <a:ea typeface="Arial" pitchFamily="34" charset="-122"/>
                <a:cs typeface="Arial" pitchFamily="34" charset="-120"/>
              </a:rPr>
              <a:t> </a:t>
            </a:r>
            <a:r>
              <a:rPr lang="en-US" sz="1400" dirty="0" err="1">
                <a:solidFill>
                  <a:srgbClr val="B3BC9A"/>
                </a:solidFill>
                <a:latin typeface="Arial" pitchFamily="34" charset="0"/>
                <a:ea typeface="Arial" pitchFamily="34" charset="-122"/>
                <a:cs typeface="Arial" pitchFamily="34" charset="-120"/>
              </a:rPr>
              <a:t>Anteil</a:t>
            </a:r>
            <a:r>
              <a:rPr lang="en-US" sz="1400" dirty="0">
                <a:solidFill>
                  <a:srgbClr val="B3BC9A"/>
                </a:solidFill>
                <a:latin typeface="Arial" pitchFamily="34" charset="0"/>
                <a:ea typeface="Arial" pitchFamily="34" charset="-122"/>
                <a:cs typeface="Arial" pitchFamily="34" charset="-120"/>
              </a:rPr>
              <a:t>  Mean-Reversion</a:t>
            </a:r>
            <a:endParaRPr lang="en-US" sz="1400" dirty="0"/>
          </a:p>
        </p:txBody>
      </p:sp>
      <p:sp>
        <p:nvSpPr>
          <p:cNvPr id="31" name="Text 8">
            <a:extLst>
              <a:ext uri="{FF2B5EF4-FFF2-40B4-BE49-F238E27FC236}">
                <a16:creationId xmlns:a16="http://schemas.microsoft.com/office/drawing/2014/main" id="{2447E42B-9813-60B5-2A8B-9AB04AD1DF63}"/>
              </a:ext>
            </a:extLst>
          </p:cNvPr>
          <p:cNvSpPr/>
          <p:nvPr/>
        </p:nvSpPr>
        <p:spPr>
          <a:xfrm>
            <a:off x="9010241" y="4633639"/>
            <a:ext cx="2222469" cy="822810"/>
          </a:xfrm>
          <a:prstGeom prst="rect">
            <a:avLst/>
          </a:prstGeom>
          <a:noFill/>
          <a:ln/>
        </p:spPr>
        <p:txBody>
          <a:bodyPr wrap="square" rtlCol="0" anchor="ctr"/>
          <a:lstStyle/>
          <a:p>
            <a:pPr marL="0" indent="0" algn="r">
              <a:lnSpc>
                <a:spcPct val="105000"/>
              </a:lnSpc>
              <a:buNone/>
            </a:pPr>
            <a:r>
              <a:rPr lang="en-US" sz="2000" b="1" dirty="0">
                <a:solidFill>
                  <a:srgbClr val="79A2F9"/>
                </a:solidFill>
                <a:latin typeface="Courier New" pitchFamily="34" charset="0"/>
                <a:ea typeface="Courier New" pitchFamily="34" charset="-122"/>
                <a:cs typeface="Courier New" pitchFamily="34" charset="-120"/>
              </a:rPr>
              <a:t>−0,07</a:t>
            </a:r>
            <a:endParaRPr lang="en-US" sz="2000" dirty="0"/>
          </a:p>
        </p:txBody>
      </p:sp>
      <p:sp>
        <p:nvSpPr>
          <p:cNvPr id="3" name="!!K_Q1">
            <a:extLst>
              <a:ext uri="{FF2B5EF4-FFF2-40B4-BE49-F238E27FC236}">
                <a16:creationId xmlns:a16="http://schemas.microsoft.com/office/drawing/2014/main" id="{702B3D6D-0D82-C280-8AFD-C34D0DD12AC5}"/>
              </a:ext>
            </a:extLst>
          </p:cNvPr>
          <p:cNvSpPr/>
          <p:nvPr/>
        </p:nvSpPr>
        <p:spPr>
          <a:xfrm>
            <a:off x="495633" y="5754879"/>
            <a:ext cx="3507198" cy="95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5" name="!!L_Q1">
            <a:extLst>
              <a:ext uri="{FF2B5EF4-FFF2-40B4-BE49-F238E27FC236}">
                <a16:creationId xmlns:a16="http://schemas.microsoft.com/office/drawing/2014/main" id="{29130253-F7D9-5E0D-67D2-5A9DA87F2792}"/>
              </a:ext>
            </a:extLst>
          </p:cNvPr>
          <p:cNvSpPr/>
          <p:nvPr/>
        </p:nvSpPr>
        <p:spPr>
          <a:xfrm>
            <a:off x="749836" y="5864879"/>
            <a:ext cx="2998792" cy="230000"/>
          </a:xfrm>
          <a:prstGeom prst="rect">
            <a:avLst/>
          </a:prstGeom>
          <a:noFill/>
          <a:ln/>
        </p:spPr>
        <p:txBody>
          <a:bodyPr wrap="square" rtlCol="0" anchor="t"/>
          <a:lstStyle/>
          <a:p>
            <a:pPr marL="0" indent="0" algn="l">
              <a:lnSpc>
                <a:spcPct val="105000"/>
              </a:lnSpc>
              <a:buNone/>
            </a:pPr>
            <a:r>
              <a:rPr lang="en-US" sz="1000" b="1" kern="0" dirty="0">
                <a:solidFill>
                  <a:srgbClr val="B3BC9A"/>
                </a:solidFill>
                <a:latin typeface="Courier New" pitchFamily="34" charset="0"/>
                <a:ea typeface="Courier New" pitchFamily="34" charset="-122"/>
                <a:cs typeface="Courier New" pitchFamily="34" charset="-120"/>
              </a:rPr>
              <a:t>SIGNIFIKANZRATEN</a:t>
            </a:r>
            <a:endParaRPr lang="en-US" sz="1000" dirty="0"/>
          </a:p>
        </p:txBody>
      </p:sp>
      <p:sp>
        <p:nvSpPr>
          <p:cNvPr id="10" name="!!T_Q1">
            <a:extLst>
              <a:ext uri="{FF2B5EF4-FFF2-40B4-BE49-F238E27FC236}">
                <a16:creationId xmlns:a16="http://schemas.microsoft.com/office/drawing/2014/main" id="{A9DB90E9-468B-57E5-79B7-AB5CF2298323}"/>
              </a:ext>
            </a:extLst>
          </p:cNvPr>
          <p:cNvSpPr/>
          <p:nvPr/>
        </p:nvSpPr>
        <p:spPr>
          <a:xfrm>
            <a:off x="749836" y="6204879"/>
            <a:ext cx="2998792" cy="230000"/>
          </a:xfrm>
          <a:prstGeom prst="rect">
            <a:avLst/>
          </a:prstGeom>
          <a:noFill/>
          <a:ln/>
        </p:spPr>
        <p:txBody>
          <a:bodyPr wrap="square" rtlCol="0" anchor="t"/>
          <a:lstStyle/>
          <a:p>
            <a:pPr marL="0" indent="0" algn="l">
              <a:lnSpc>
                <a:spcPct val="100000"/>
              </a:lnSpc>
              <a:buNone/>
            </a:pPr>
            <a:r>
              <a:rPr lang="en-US" sz="1250" b="1" kern="0" dirty="0">
                <a:solidFill>
                  <a:srgbClr val="78A2F9"/>
                </a:solidFill>
                <a:latin typeface="Courier New" pitchFamily="34" charset="0"/>
                <a:ea typeface="Courier New" pitchFamily="34" charset="-122"/>
                <a:cs typeface="Courier New" pitchFamily="34" charset="-120"/>
              </a:rPr>
              <a:t>&gt; 90 % </a:t>
            </a:r>
            <a:r>
              <a:rPr lang="en-US" sz="1250" b="1" kern="0" dirty="0">
                <a:solidFill>
                  <a:srgbClr val="F2EFDA"/>
                </a:solidFill>
                <a:latin typeface="Courier New" pitchFamily="34" charset="0"/>
                <a:ea typeface="Courier New" pitchFamily="34" charset="-122"/>
                <a:cs typeface="Courier New" pitchFamily="34" charset="-120"/>
              </a:rPr>
              <a:t>· </a:t>
            </a:r>
            <a:r>
              <a:rPr lang="en-US" sz="1250" b="1" kern="0" dirty="0">
                <a:solidFill>
                  <a:srgbClr val="3CBA77"/>
                </a:solidFill>
                <a:latin typeface="Courier New" pitchFamily="34" charset="0"/>
                <a:ea typeface="Courier New" pitchFamily="34" charset="-122"/>
                <a:cs typeface="Courier New" pitchFamily="34" charset="-120"/>
              </a:rPr>
              <a:t>46 %</a:t>
            </a:r>
            <a:r>
              <a:rPr lang="en-US" sz="1250" b="1" kern="0" dirty="0">
                <a:solidFill>
                  <a:srgbClr val="F2EFDA"/>
                </a:solidFill>
                <a:latin typeface="Courier New" pitchFamily="34" charset="0"/>
                <a:ea typeface="Courier New" pitchFamily="34" charset="-122"/>
                <a:cs typeface="Courier New" pitchFamily="34" charset="-120"/>
              </a:rPr>
              <a:t> · </a:t>
            </a:r>
            <a:r>
              <a:rPr lang="en-US" sz="1250" b="1" kern="0" dirty="0">
                <a:solidFill>
                  <a:srgbClr val="F46451"/>
                </a:solidFill>
                <a:latin typeface="Courier New" pitchFamily="34" charset="0"/>
                <a:cs typeface="Courier New" pitchFamily="34" charset="-120"/>
              </a:rPr>
              <a:t>≈ 25 %</a:t>
            </a:r>
          </a:p>
        </p:txBody>
      </p:sp>
      <p:sp>
        <p:nvSpPr>
          <p:cNvPr id="12" name="!!K_Q2">
            <a:extLst>
              <a:ext uri="{FF2B5EF4-FFF2-40B4-BE49-F238E27FC236}">
                <a16:creationId xmlns:a16="http://schemas.microsoft.com/office/drawing/2014/main" id="{76958959-4238-A617-8B72-2C231878D7D0}"/>
              </a:ext>
            </a:extLst>
          </p:cNvPr>
          <p:cNvSpPr/>
          <p:nvPr/>
        </p:nvSpPr>
        <p:spPr>
          <a:xfrm>
            <a:off x="4202831" y="5754879"/>
            <a:ext cx="3507198" cy="95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13" name="!!L_Q2">
            <a:extLst>
              <a:ext uri="{FF2B5EF4-FFF2-40B4-BE49-F238E27FC236}">
                <a16:creationId xmlns:a16="http://schemas.microsoft.com/office/drawing/2014/main" id="{83137080-A3EB-B927-7A40-B7CF9AA56611}"/>
              </a:ext>
            </a:extLst>
          </p:cNvPr>
          <p:cNvSpPr/>
          <p:nvPr/>
        </p:nvSpPr>
        <p:spPr>
          <a:xfrm>
            <a:off x="4457034" y="5864879"/>
            <a:ext cx="2998792" cy="230000"/>
          </a:xfrm>
          <a:prstGeom prst="rect">
            <a:avLst/>
          </a:prstGeom>
          <a:noFill/>
          <a:ln/>
        </p:spPr>
        <p:txBody>
          <a:bodyPr wrap="square" rtlCol="0" anchor="t"/>
          <a:lstStyle/>
          <a:p>
            <a:pPr marL="0" indent="0" algn="l">
              <a:lnSpc>
                <a:spcPct val="105000"/>
              </a:lnSpc>
              <a:buNone/>
            </a:pPr>
            <a:r>
              <a:rPr lang="en-US" sz="1000" b="1" kern="0">
                <a:solidFill>
                  <a:srgbClr val="B3BC9A"/>
                </a:solidFill>
                <a:latin typeface="Courier New" pitchFamily="34" charset="0"/>
                <a:ea typeface="Courier New" pitchFamily="34" charset="-122"/>
                <a:cs typeface="Courier New" pitchFamily="34" charset="-120"/>
              </a:rPr>
              <a:t>MODELLARTEFAKTE</a:t>
            </a:r>
            <a:endParaRPr lang="en-US" sz="1000"/>
          </a:p>
        </p:txBody>
      </p:sp>
      <p:sp>
        <p:nvSpPr>
          <p:cNvPr id="15" name="!!T_Q2">
            <a:extLst>
              <a:ext uri="{FF2B5EF4-FFF2-40B4-BE49-F238E27FC236}">
                <a16:creationId xmlns:a16="http://schemas.microsoft.com/office/drawing/2014/main" id="{DA4278AB-3367-6269-9062-606637343188}"/>
              </a:ext>
            </a:extLst>
          </p:cNvPr>
          <p:cNvSpPr/>
          <p:nvPr/>
        </p:nvSpPr>
        <p:spPr>
          <a:xfrm>
            <a:off x="4457034" y="6124879"/>
            <a:ext cx="2998792" cy="520000"/>
          </a:xfrm>
          <a:prstGeom prst="rect">
            <a:avLst/>
          </a:prstGeom>
          <a:noFill/>
          <a:ln/>
        </p:spPr>
        <p:txBody>
          <a:bodyPr wrap="square" rtlCol="0" anchor="t"/>
          <a:lstStyle/>
          <a:p>
            <a:pPr marL="0" indent="0" algn="l">
              <a:lnSpc>
                <a:spcPct val="100000"/>
              </a:lnSpc>
              <a:buNone/>
            </a:pPr>
            <a:r>
              <a:rPr lang="en-US" sz="1250" b="1" kern="0" dirty="0">
                <a:solidFill>
                  <a:srgbClr val="F2EFDA"/>
                </a:solidFill>
                <a:latin typeface="Courier New" pitchFamily="34" charset="0"/>
                <a:ea typeface="Courier New" pitchFamily="34" charset="-122"/>
                <a:cs typeface="Courier New" pitchFamily="34" charset="-120"/>
              </a:rPr>
              <a:t>11,3 %</a:t>
            </a:r>
            <a:endParaRPr lang="en-US" sz="1250" dirty="0"/>
          </a:p>
        </p:txBody>
      </p:sp>
      <p:sp>
        <p:nvSpPr>
          <p:cNvPr id="16" name="!!K_Q3">
            <a:extLst>
              <a:ext uri="{FF2B5EF4-FFF2-40B4-BE49-F238E27FC236}">
                <a16:creationId xmlns:a16="http://schemas.microsoft.com/office/drawing/2014/main" id="{B0563130-96DE-424D-4161-E920AD40A73C}"/>
              </a:ext>
            </a:extLst>
          </p:cNvPr>
          <p:cNvSpPr/>
          <p:nvPr/>
        </p:nvSpPr>
        <p:spPr>
          <a:xfrm>
            <a:off x="7910029" y="5754879"/>
            <a:ext cx="3507198" cy="95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17" name="!!L_Q3">
            <a:extLst>
              <a:ext uri="{FF2B5EF4-FFF2-40B4-BE49-F238E27FC236}">
                <a16:creationId xmlns:a16="http://schemas.microsoft.com/office/drawing/2014/main" id="{66ADFB0A-14A9-A6EB-9742-187480BB9643}"/>
              </a:ext>
            </a:extLst>
          </p:cNvPr>
          <p:cNvSpPr/>
          <p:nvPr/>
        </p:nvSpPr>
        <p:spPr>
          <a:xfrm>
            <a:off x="8164232" y="5864879"/>
            <a:ext cx="2998792" cy="230000"/>
          </a:xfrm>
          <a:prstGeom prst="rect">
            <a:avLst/>
          </a:prstGeom>
          <a:noFill/>
          <a:ln/>
        </p:spPr>
        <p:txBody>
          <a:bodyPr wrap="square" rtlCol="0" anchor="t"/>
          <a:lstStyle/>
          <a:p>
            <a:pPr marL="0" indent="0" algn="l">
              <a:lnSpc>
                <a:spcPct val="105000"/>
              </a:lnSpc>
              <a:buNone/>
            </a:pPr>
            <a:r>
              <a:rPr lang="en-US" sz="1000" b="1" kern="0" dirty="0">
                <a:solidFill>
                  <a:srgbClr val="B3BC9A"/>
                </a:solidFill>
                <a:latin typeface="Courier New" pitchFamily="34" charset="0"/>
                <a:ea typeface="Courier New" pitchFamily="34" charset="-122"/>
                <a:cs typeface="Courier New" pitchFamily="34" charset="-120"/>
              </a:rPr>
              <a:t>VOLATILE FIRMEN</a:t>
            </a:r>
            <a:endParaRPr lang="en-US" sz="1000" dirty="0"/>
          </a:p>
        </p:txBody>
      </p:sp>
      <p:sp>
        <p:nvSpPr>
          <p:cNvPr id="18" name="!!T_Q3">
            <a:extLst>
              <a:ext uri="{FF2B5EF4-FFF2-40B4-BE49-F238E27FC236}">
                <a16:creationId xmlns:a16="http://schemas.microsoft.com/office/drawing/2014/main" id="{7C4E4A49-A0F3-379D-FF5D-A51153E2E020}"/>
              </a:ext>
            </a:extLst>
          </p:cNvPr>
          <p:cNvSpPr/>
          <p:nvPr/>
        </p:nvSpPr>
        <p:spPr>
          <a:xfrm>
            <a:off x="8164232" y="6124879"/>
            <a:ext cx="2998792" cy="520000"/>
          </a:xfrm>
          <a:prstGeom prst="rect">
            <a:avLst/>
          </a:prstGeom>
          <a:noFill/>
          <a:ln/>
        </p:spPr>
        <p:txBody>
          <a:bodyPr wrap="square" rtlCol="0" anchor="t"/>
          <a:lstStyle/>
          <a:p>
            <a:pPr marL="0" indent="0" algn="l">
              <a:lnSpc>
                <a:spcPct val="100000"/>
              </a:lnSpc>
              <a:buNone/>
            </a:pPr>
            <a:r>
              <a:rPr lang="en-US" sz="1250" b="1" kern="0" dirty="0" err="1">
                <a:solidFill>
                  <a:srgbClr val="F2EFDA"/>
                </a:solidFill>
                <a:latin typeface="Courier New" pitchFamily="34" charset="0"/>
                <a:ea typeface="Courier New" pitchFamily="34" charset="-122"/>
                <a:cs typeface="Courier New" pitchFamily="34" charset="-120"/>
              </a:rPr>
              <a:t>σ</a:t>
            </a:r>
            <a:r>
              <a:rPr lang="en-US" sz="1250" b="1" kern="0" dirty="0">
                <a:solidFill>
                  <a:srgbClr val="F2EFDA"/>
                </a:solidFill>
                <a:latin typeface="Courier New" pitchFamily="34" charset="0"/>
                <a:ea typeface="Courier New" pitchFamily="34" charset="-122"/>
                <a:cs typeface="Courier New" pitchFamily="34" charset="-120"/>
              </a:rPr>
              <a:t> &gt; 2:  </a:t>
            </a:r>
            <a:r>
              <a:rPr lang="en-US" sz="1250" b="1" kern="0" dirty="0" err="1">
                <a:solidFill>
                  <a:srgbClr val="F2EFDA"/>
                </a:solidFill>
                <a:latin typeface="Courier New" pitchFamily="34" charset="0"/>
                <a:ea typeface="Courier New" pitchFamily="34" charset="-122"/>
                <a:cs typeface="Courier New" pitchFamily="34" charset="-120"/>
              </a:rPr>
              <a:t>φ</a:t>
            </a:r>
            <a:r>
              <a:rPr lang="en-US" sz="1250" b="1" kern="0" dirty="0">
                <a:solidFill>
                  <a:srgbClr val="F2EFDA"/>
                </a:solidFill>
                <a:latin typeface="Courier New" pitchFamily="34" charset="0"/>
                <a:ea typeface="Courier New" pitchFamily="34" charset="-122"/>
                <a:cs typeface="Courier New" pitchFamily="34" charset="-120"/>
              </a:rPr>
              <a:t> −0,34</a:t>
            </a:r>
            <a:endParaRPr lang="en-US" sz="1250" dirty="0"/>
          </a:p>
          <a:p>
            <a:pPr marL="0" indent="0" algn="l">
              <a:lnSpc>
                <a:spcPct val="102000"/>
              </a:lnSpc>
              <a:buNone/>
            </a:pPr>
            <a:r>
              <a:rPr lang="en-US" sz="950" kern="0" dirty="0">
                <a:solidFill>
                  <a:srgbClr val="B3BC9A"/>
                </a:solidFill>
                <a:latin typeface="Arial" pitchFamily="34" charset="0"/>
                <a:ea typeface="Arial" pitchFamily="34" charset="-122"/>
                <a:cs typeface="Arial" pitchFamily="34" charset="-120"/>
              </a:rPr>
              <a:t>Bonferroni 37 % </a:t>
            </a:r>
            <a:r>
              <a:rPr lang="en-US" sz="950" kern="0" dirty="0" err="1">
                <a:solidFill>
                  <a:srgbClr val="B3BC9A"/>
                </a:solidFill>
                <a:latin typeface="Arial" pitchFamily="34" charset="0"/>
                <a:ea typeface="Arial" pitchFamily="34" charset="-122"/>
                <a:cs typeface="Arial" pitchFamily="34" charset="-120"/>
              </a:rPr>
              <a:t>statt</a:t>
            </a:r>
            <a:r>
              <a:rPr lang="en-US" sz="950" kern="0" dirty="0">
                <a:solidFill>
                  <a:srgbClr val="B3BC9A"/>
                </a:solidFill>
                <a:latin typeface="Arial" pitchFamily="34" charset="0"/>
                <a:ea typeface="Arial" pitchFamily="34" charset="-122"/>
                <a:cs typeface="Arial" pitchFamily="34" charset="-120"/>
              </a:rPr>
              <a:t> 10 % (Current Ratio) — </a:t>
            </a:r>
            <a:r>
              <a:rPr lang="en-US" sz="950" b="1" kern="0" dirty="0" err="1">
                <a:solidFill>
                  <a:srgbClr val="F2EFDA"/>
                </a:solidFill>
                <a:latin typeface="Arial" pitchFamily="34" charset="0"/>
                <a:ea typeface="Arial" pitchFamily="34" charset="-122"/>
                <a:cs typeface="Arial" pitchFamily="34" charset="-120"/>
              </a:rPr>
              <a:t>mehr</a:t>
            </a:r>
            <a:r>
              <a:rPr lang="en-US" sz="950" b="1" kern="0" dirty="0">
                <a:solidFill>
                  <a:srgbClr val="F2EFDA"/>
                </a:solidFill>
                <a:latin typeface="Arial" pitchFamily="34" charset="0"/>
                <a:ea typeface="Arial" pitchFamily="34" charset="-122"/>
                <a:cs typeface="Arial" pitchFamily="34" charset="-120"/>
              </a:rPr>
              <a:t> </a:t>
            </a:r>
            <a:r>
              <a:rPr lang="en-US" sz="950" b="1" kern="0" dirty="0" err="1">
                <a:solidFill>
                  <a:srgbClr val="F2EFDA"/>
                </a:solidFill>
                <a:latin typeface="Arial" pitchFamily="34" charset="0"/>
                <a:ea typeface="Arial" pitchFamily="34" charset="-122"/>
                <a:cs typeface="Arial" pitchFamily="34" charset="-120"/>
              </a:rPr>
              <a:t>Bewegung</a:t>
            </a:r>
            <a:r>
              <a:rPr lang="en-US" sz="950" b="1" kern="0" dirty="0">
                <a:solidFill>
                  <a:srgbClr val="F2EFDA"/>
                </a:solidFill>
                <a:latin typeface="Arial" pitchFamily="34" charset="0"/>
                <a:ea typeface="Arial" pitchFamily="34" charset="-122"/>
                <a:cs typeface="Arial" pitchFamily="34" charset="-120"/>
              </a:rPr>
              <a:t>, </a:t>
            </a:r>
            <a:r>
              <a:rPr lang="en-US" sz="950" b="1" kern="0" dirty="0" err="1">
                <a:solidFill>
                  <a:srgbClr val="F2EFDA"/>
                </a:solidFill>
                <a:latin typeface="Arial" pitchFamily="34" charset="0"/>
                <a:ea typeface="Arial" pitchFamily="34" charset="-122"/>
                <a:cs typeface="Arial" pitchFamily="34" charset="-120"/>
              </a:rPr>
              <a:t>mehr</a:t>
            </a:r>
            <a:r>
              <a:rPr lang="en-US" sz="950" b="1" kern="0" dirty="0">
                <a:solidFill>
                  <a:srgbClr val="F2EFDA"/>
                </a:solidFill>
                <a:latin typeface="Arial" pitchFamily="34" charset="0"/>
                <a:ea typeface="Arial" pitchFamily="34" charset="-122"/>
                <a:cs typeface="Arial" pitchFamily="34" charset="-120"/>
              </a:rPr>
              <a:t> Signal</a:t>
            </a:r>
            <a:r>
              <a:rPr lang="en-US" sz="950" kern="0" dirty="0">
                <a:solidFill>
                  <a:srgbClr val="B3BC9A"/>
                </a:solidFill>
                <a:latin typeface="Arial" pitchFamily="34" charset="0"/>
                <a:ea typeface="Arial" pitchFamily="34" charset="-122"/>
                <a:cs typeface="Arial" pitchFamily="34" charset="-120"/>
              </a:rPr>
              <a:t>.</a:t>
            </a:r>
            <a:endParaRPr lang="en-US" sz="950" dirty="0"/>
          </a:p>
        </p:txBody>
      </p:sp>
    </p:spTree>
    <p:extLst>
      <p:ext uri="{BB962C8B-B14F-4D97-AF65-F5344CB8AC3E}">
        <p14:creationId xmlns:p14="http://schemas.microsoft.com/office/powerpoint/2010/main" val="2782539884"/>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1</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07 / 15</a:t>
            </a:r>
            <a:endParaRPr lang="en-US" sz="120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a:solidFill>
                  <a:srgbClr val="F2EFDA"/>
                </a:solidFill>
                <a:latin typeface="Arial" pitchFamily="34" charset="0"/>
                <a:ea typeface="Arial" pitchFamily="34" charset="-122"/>
                <a:cs typeface="Arial" pitchFamily="34" charset="-120"/>
              </a:rPr>
              <a:t>Die Kennzahl prägt die Dynamik stärker als der Sektor</a:t>
            </a:r>
            <a:endParaRPr lang="en-US" sz="2000"/>
          </a:p>
        </p:txBody>
      </p:sp>
      <p:sp>
        <p:nvSpPr>
          <p:cNvPr id="41" name="!!K_ProfSekt"/>
          <p:cNvSpPr/>
          <p:nvPr/>
        </p:nvSpPr>
        <p:spPr>
          <a:xfrm>
            <a:off x="6235294" y="1904695"/>
            <a:ext cx="5320894" cy="991599"/>
          </a:xfrm>
          <a:prstGeom prst="roundRect">
            <a:avLst>
              <a:gd name="adj" fmla="val 3197"/>
            </a:avLst>
          </a:prstGeom>
          <a:solidFill>
            <a:srgbClr val="1E402E"/>
          </a:solidFill>
          <a:ln w="12700">
            <a:solidFill>
              <a:srgbClr val="79A2F9"/>
            </a:solidFill>
            <a:prstDash val="solid"/>
          </a:ln>
        </p:spPr>
        <p:txBody>
          <a:bodyPr/>
          <a:lstStyle/>
          <a:p>
            <a:endParaRPr lang="de-DE"/>
          </a:p>
        </p:txBody>
      </p:sp>
      <p:sp>
        <p:nvSpPr>
          <p:cNvPr id="42" name="!!L_ProfSekt"/>
          <p:cNvSpPr/>
          <p:nvPr/>
        </p:nvSpPr>
        <p:spPr>
          <a:xfrm>
            <a:off x="6489497" y="2034695"/>
            <a:ext cx="4812488" cy="230000"/>
          </a:xfrm>
          <a:prstGeom prst="rect">
            <a:avLst/>
          </a:prstGeom>
          <a:noFill/>
          <a:ln/>
        </p:spPr>
        <p:txBody>
          <a:bodyPr wrap="square" rtlCol="0" anchor="t"/>
          <a:lstStyle/>
          <a:p>
            <a:pPr marL="0" indent="0" algn="l">
              <a:lnSpc>
                <a:spcPct val="105000"/>
              </a:lnSpc>
              <a:buNone/>
            </a:pPr>
            <a:r>
              <a:rPr lang="en-US" sz="1050" b="1" kern="0">
                <a:solidFill>
                  <a:srgbClr val="79A2F9"/>
                </a:solidFill>
                <a:latin typeface="Courier New" pitchFamily="34" charset="0"/>
                <a:ea typeface="Courier New" pitchFamily="34" charset="-122"/>
                <a:cs typeface="Courier New" pitchFamily="34" charset="-120"/>
              </a:rPr>
              <a:t>PROFITABILITÄT</a:t>
            </a:r>
            <a:endParaRPr lang="en-US" sz="1050"/>
          </a:p>
        </p:txBody>
      </p:sp>
      <p:sp>
        <p:nvSpPr>
          <p:cNvPr id="43" name="!!T_ProfSekt"/>
          <p:cNvSpPr/>
          <p:nvPr/>
        </p:nvSpPr>
        <p:spPr>
          <a:xfrm>
            <a:off x="6489497" y="2304695"/>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φ-Spannweite 0,12</a:t>
            </a:r>
            <a:endParaRPr lang="en-US" sz="1500"/>
          </a:p>
          <a:p>
            <a:pPr marL="0" indent="0" algn="l">
              <a:lnSpc>
                <a:spcPct val="104000"/>
              </a:lnSpc>
              <a:buNone/>
            </a:pPr>
            <a:r>
              <a:rPr lang="en-US" sz="950" kern="0">
                <a:solidFill>
                  <a:srgbClr val="B3BC9A"/>
                </a:solidFill>
                <a:latin typeface="Arial" pitchFamily="34" charset="0"/>
                <a:ea typeface="Arial" pitchFamily="34" charset="-122"/>
                <a:cs typeface="Arial" pitchFamily="34" charset="-120"/>
              </a:rPr>
              <a:t>Sektor-Mediane −0,37 … −0,50, alle revertieren stark. Vorn: Kommunikation −0,49 · Immobilien −0,47; hinten: </a:t>
            </a:r>
            <a:r>
              <a:rPr lang="en-US" sz="950" b="1" kern="0">
                <a:solidFill>
                  <a:srgbClr val="F2EFDA"/>
                </a:solidFill>
                <a:latin typeface="Arial" pitchFamily="34" charset="0"/>
                <a:ea typeface="Arial" pitchFamily="34" charset="-122"/>
                <a:cs typeface="Arial" pitchFamily="34" charset="-120"/>
              </a:rPr>
              <a:t>Technologie und Grundstoffe</a:t>
            </a:r>
            <a:r>
              <a:rPr lang="en-US" sz="950" kern="0">
                <a:solidFill>
                  <a:srgbClr val="B3BC9A"/>
                </a:solidFill>
                <a:latin typeface="Arial" pitchFamily="34" charset="0"/>
                <a:ea typeface="Arial" pitchFamily="34" charset="-122"/>
                <a:cs typeface="Arial" pitchFamily="34" charset="-120"/>
              </a:rPr>
              <a:t>.</a:t>
            </a:r>
            <a:endParaRPr lang="en-US" sz="1000"/>
          </a:p>
        </p:txBody>
      </p:sp>
      <p:sp>
        <p:nvSpPr>
          <p:cNvPr id="44" name="!!K_LiqSekt"/>
          <p:cNvSpPr/>
          <p:nvPr/>
        </p:nvSpPr>
        <p:spPr>
          <a:xfrm>
            <a:off x="6235294" y="2996294"/>
            <a:ext cx="5320894" cy="991599"/>
          </a:xfrm>
          <a:prstGeom prst="roundRect">
            <a:avLst>
              <a:gd name="adj" fmla="val 3197"/>
            </a:avLst>
          </a:prstGeom>
          <a:solidFill>
            <a:srgbClr val="153B29"/>
          </a:solidFill>
          <a:ln w="12700">
            <a:solidFill>
              <a:srgbClr val="E6D34F"/>
            </a:solidFill>
            <a:prstDash val="solid"/>
          </a:ln>
        </p:spPr>
        <p:txBody>
          <a:bodyPr/>
          <a:lstStyle/>
          <a:p>
            <a:endParaRPr lang="de-DE"/>
          </a:p>
        </p:txBody>
      </p:sp>
      <p:sp>
        <p:nvSpPr>
          <p:cNvPr id="45" name="!!L_LiqSekt"/>
          <p:cNvSpPr/>
          <p:nvPr/>
        </p:nvSpPr>
        <p:spPr>
          <a:xfrm>
            <a:off x="6489497" y="3126294"/>
            <a:ext cx="4812488" cy="230000"/>
          </a:xfrm>
          <a:prstGeom prst="rect">
            <a:avLst/>
          </a:prstGeom>
          <a:noFill/>
          <a:ln/>
        </p:spPr>
        <p:txBody>
          <a:bodyPr wrap="square" rtlCol="0" anchor="t"/>
          <a:lstStyle/>
          <a:p>
            <a:pPr marL="0" indent="0" algn="l">
              <a:lnSpc>
                <a:spcPct val="105000"/>
              </a:lnSpc>
              <a:buNone/>
            </a:pPr>
            <a:r>
              <a:rPr lang="en-US" sz="1050" b="1" kern="0">
                <a:solidFill>
                  <a:srgbClr val="E6D34F"/>
                </a:solidFill>
                <a:latin typeface="Courier New" pitchFamily="34" charset="0"/>
                <a:ea typeface="Courier New" pitchFamily="34" charset="-122"/>
                <a:cs typeface="Courier New" pitchFamily="34" charset="-120"/>
              </a:rPr>
              <a:t>LIQUIDITÄT</a:t>
            </a:r>
            <a:endParaRPr lang="en-US" sz="1050"/>
          </a:p>
        </p:txBody>
      </p:sp>
      <p:sp>
        <p:nvSpPr>
          <p:cNvPr id="46" name="!!T_LiqSekt"/>
          <p:cNvSpPr/>
          <p:nvPr/>
        </p:nvSpPr>
        <p:spPr>
          <a:xfrm>
            <a:off x="6489497" y="3396294"/>
            <a:ext cx="4812488" cy="511599"/>
          </a:xfrm>
          <a:prstGeom prst="rect">
            <a:avLst/>
          </a:prstGeom>
          <a:noFill/>
          <a:ln/>
        </p:spPr>
        <p:txBody>
          <a:bodyPr wrap="square" rtlCol="0" anchor="t"/>
          <a:lstStyle/>
          <a:p>
            <a:pPr marL="0" indent="0" algn="l">
              <a:lnSpc>
                <a:spcPct val="100000"/>
              </a:lnSpc>
              <a:buNone/>
            </a:pPr>
            <a:r>
              <a:rPr lang="en-US" sz="1400" b="1" kern="0">
                <a:solidFill>
                  <a:srgbClr val="F2EFDA"/>
                </a:solidFill>
                <a:latin typeface="Courier New" pitchFamily="34" charset="0"/>
                <a:ea typeface="Courier New" pitchFamily="34" charset="-122"/>
                <a:cs typeface="Courier New" pitchFamily="34" charset="-120"/>
              </a:rPr>
              <a:t>Spannweite 0,24 — doppelt so breit</a:t>
            </a:r>
            <a:endParaRPr lang="en-US" sz="1500"/>
          </a:p>
          <a:p>
            <a:pPr marL="0" indent="0" algn="l">
              <a:lnSpc>
                <a:spcPct val="104000"/>
              </a:lnSpc>
              <a:buNone/>
            </a:pPr>
            <a:r>
              <a:rPr lang="en-US" sz="950" kern="0">
                <a:solidFill>
                  <a:srgbClr val="B3BC9A"/>
                </a:solidFill>
                <a:latin typeface="Arial" pitchFamily="34" charset="0"/>
                <a:ea typeface="Arial" pitchFamily="34" charset="-122"/>
                <a:cs typeface="Arial" pitchFamily="34" charset="-120"/>
              </a:rPr>
              <a:t>Technologie −0,10 bis Immobilien −0,34 — dort </a:t>
            </a:r>
            <a:r>
              <a:rPr lang="en-US" sz="950" b="1" kern="0">
                <a:solidFill>
                  <a:srgbClr val="F2EFDA"/>
                </a:solidFill>
                <a:latin typeface="Arial" pitchFamily="34" charset="0"/>
                <a:ea typeface="Arial" pitchFamily="34" charset="-122"/>
                <a:cs typeface="Arial" pitchFamily="34" charset="-120"/>
              </a:rPr>
              <a:t>σ 2,6-fach (REIT-Refinanzierungen)</a:t>
            </a:r>
            <a:r>
              <a:rPr lang="en-US" sz="950" kern="0">
                <a:solidFill>
                  <a:srgbClr val="B3BC9A"/>
                </a:solidFill>
                <a:latin typeface="Arial" pitchFamily="34" charset="0"/>
                <a:ea typeface="Arial" pitchFamily="34" charset="-122"/>
                <a:cs typeface="Arial" pitchFamily="34" charset="-120"/>
              </a:rPr>
              <a:t>, Signifikanz 82 %.</a:t>
            </a:r>
            <a:endParaRPr lang="en-US" sz="1000"/>
          </a:p>
        </p:txBody>
      </p:sp>
      <p:sp>
        <p:nvSpPr>
          <p:cNvPr id="47" name="!!K_KapSekt"/>
          <p:cNvSpPr/>
          <p:nvPr/>
        </p:nvSpPr>
        <p:spPr>
          <a:xfrm>
            <a:off x="6235294" y="4087893"/>
            <a:ext cx="5320894" cy="991599"/>
          </a:xfrm>
          <a:prstGeom prst="roundRect">
            <a:avLst>
              <a:gd name="adj" fmla="val 3197"/>
            </a:avLst>
          </a:prstGeom>
          <a:solidFill>
            <a:srgbClr val="153B29"/>
          </a:solidFill>
          <a:ln w="12700">
            <a:solidFill>
              <a:srgbClr val="F36451"/>
            </a:solidFill>
            <a:prstDash val="solid"/>
          </a:ln>
        </p:spPr>
        <p:txBody>
          <a:bodyPr/>
          <a:lstStyle/>
          <a:p>
            <a:endParaRPr lang="de-DE"/>
          </a:p>
        </p:txBody>
      </p:sp>
      <p:sp>
        <p:nvSpPr>
          <p:cNvPr id="48" name="!!L_KapSekt"/>
          <p:cNvSpPr/>
          <p:nvPr/>
        </p:nvSpPr>
        <p:spPr>
          <a:xfrm>
            <a:off x="6489497" y="4217893"/>
            <a:ext cx="4812488" cy="230000"/>
          </a:xfrm>
          <a:prstGeom prst="rect">
            <a:avLst/>
          </a:prstGeom>
          <a:noFill/>
          <a:ln/>
        </p:spPr>
        <p:txBody>
          <a:bodyPr wrap="square" rtlCol="0" anchor="t"/>
          <a:lstStyle/>
          <a:p>
            <a:pPr marL="0" indent="0" algn="l">
              <a:lnSpc>
                <a:spcPct val="105000"/>
              </a:lnSpc>
              <a:buNone/>
            </a:pPr>
            <a:r>
              <a:rPr lang="en-US" sz="1050" b="1" kern="0">
                <a:solidFill>
                  <a:srgbClr val="F36451"/>
                </a:solidFill>
                <a:latin typeface="Courier New" pitchFamily="34" charset="0"/>
                <a:ea typeface="Courier New" pitchFamily="34" charset="-122"/>
                <a:cs typeface="Courier New" pitchFamily="34" charset="-120"/>
              </a:rPr>
              <a:t>KAPITALSTRUKTUR</a:t>
            </a:r>
            <a:endParaRPr lang="en-US" sz="1050"/>
          </a:p>
        </p:txBody>
      </p:sp>
      <p:sp>
        <p:nvSpPr>
          <p:cNvPr id="49" name="!!T_KapSekt"/>
          <p:cNvSpPr/>
          <p:nvPr/>
        </p:nvSpPr>
        <p:spPr>
          <a:xfrm>
            <a:off x="6489497" y="4487893"/>
            <a:ext cx="4812488" cy="511599"/>
          </a:xfrm>
          <a:prstGeom prst="rect">
            <a:avLst/>
          </a:prstGeom>
          <a:noFill/>
          <a:ln/>
        </p:spPr>
        <p:txBody>
          <a:bodyPr wrap="square" rtlCol="0" anchor="t"/>
          <a:lstStyle/>
          <a:p>
            <a:pPr marL="0" indent="0" algn="l">
              <a:lnSpc>
                <a:spcPct val="100000"/>
              </a:lnSpc>
              <a:buNone/>
            </a:pPr>
            <a:r>
              <a:rPr lang="en-US" sz="1400" b="1" kern="0">
                <a:solidFill>
                  <a:srgbClr val="F2EFDA"/>
                </a:solidFill>
                <a:latin typeface="Courier New" pitchFamily="34" charset="0"/>
                <a:ea typeface="Courier New" pitchFamily="34" charset="-122"/>
                <a:cs typeface="Courier New" pitchFamily="34" charset="-120"/>
              </a:rPr>
              <a:t>Versorger: die Ausnahme</a:t>
            </a:r>
            <a:endParaRPr lang="en-US" sz="1500"/>
          </a:p>
          <a:p>
            <a:pPr marL="0" indent="0" algn="l">
              <a:lnSpc>
                <a:spcPct val="104000"/>
              </a:lnSpc>
              <a:buNone/>
            </a:pPr>
            <a:r>
              <a:rPr lang="en-US" sz="950" kern="0">
                <a:solidFill>
                  <a:srgbClr val="B3BC9A"/>
                </a:solidFill>
                <a:latin typeface="Arial" pitchFamily="34" charset="0"/>
                <a:ea typeface="Arial" pitchFamily="34" charset="-122"/>
                <a:cs typeface="Arial" pitchFamily="34" charset="-120"/>
              </a:rPr>
              <a:t>stärkste Korrektur (−0,17 · −0,14) bei niedrigster Volatilität — </a:t>
            </a:r>
            <a:r>
              <a:rPr lang="en-US" sz="950" b="1" kern="0">
                <a:solidFill>
                  <a:srgbClr val="F2EFDA"/>
                </a:solidFill>
                <a:latin typeface="Arial" pitchFamily="34" charset="0"/>
                <a:ea typeface="Arial" pitchFamily="34" charset="-122"/>
                <a:cs typeface="Arial" pitchFamily="34" charset="-120"/>
              </a:rPr>
              <a:t>Regulierung erzwingt Anpassung</a:t>
            </a:r>
            <a:r>
              <a:rPr lang="en-US" sz="950" kern="0">
                <a:solidFill>
                  <a:srgbClr val="B3BC9A"/>
                </a:solidFill>
                <a:latin typeface="Arial" pitchFamily="34" charset="0"/>
                <a:ea typeface="Arial" pitchFamily="34" charset="-122"/>
                <a:cs typeface="Arial" pitchFamily="34" charset="-120"/>
              </a:rPr>
              <a:t>.</a:t>
            </a:r>
            <a:endParaRPr lang="en-US" sz="1000"/>
          </a:p>
        </p:txBody>
      </p:sp>
      <p:sp>
        <p:nvSpPr>
          <p:cNvPr id="91" name="!!K_P1"/>
          <p:cNvSpPr/>
          <p:nvPr/>
        </p:nvSpPr>
        <p:spPr>
          <a:xfrm>
            <a:off x="634594" y="5590000"/>
            <a:ext cx="35071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2" name="!!L_P1"/>
          <p:cNvSpPr/>
          <p:nvPr/>
        </p:nvSpPr>
        <p:spPr>
          <a:xfrm>
            <a:off x="888797" y="5670000"/>
            <a:ext cx="2998792" cy="220000"/>
          </a:xfrm>
          <a:prstGeom prst="rect">
            <a:avLst/>
          </a:prstGeom>
          <a:noFill/>
          <a:ln/>
        </p:spPr>
        <p:txBody>
          <a:bodyPr wrap="square" rtlCol="0" anchor="t"/>
          <a:lstStyle/>
          <a:p>
            <a:pPr marL="0" indent="0" algn="l">
              <a:lnSpc>
                <a:spcPct val="105000"/>
              </a:lnSpc>
              <a:buNone/>
            </a:pPr>
            <a:r>
              <a:rPr lang="en-US" sz="1000" b="1" kern="0">
                <a:solidFill>
                  <a:srgbClr val="B3BC9A"/>
                </a:solidFill>
                <a:latin typeface="Courier New" pitchFamily="34" charset="0"/>
                <a:ea typeface="Courier New" pitchFamily="34" charset="-122"/>
                <a:cs typeface="Courier New" pitchFamily="34" charset="-120"/>
              </a:rPr>
              <a:t>STABILES PROFIL</a:t>
            </a:r>
            <a:endParaRPr lang="en-US" sz="1000"/>
          </a:p>
        </p:txBody>
      </p:sp>
      <p:sp>
        <p:nvSpPr>
          <p:cNvPr id="93" name="!!T_P1"/>
          <p:cNvSpPr/>
          <p:nvPr/>
        </p:nvSpPr>
        <p:spPr>
          <a:xfrm>
            <a:off x="888797" y="5890000"/>
            <a:ext cx="2998792" cy="460000"/>
          </a:xfrm>
          <a:prstGeom prst="rect">
            <a:avLst/>
          </a:prstGeom>
          <a:noFill/>
          <a:ln/>
        </p:spPr>
        <p:txBody>
          <a:bodyPr wrap="square" rtlCol="0" anchor="t"/>
          <a:lstStyle/>
          <a:p>
            <a:pPr marL="0" indent="0" algn="l">
              <a:lnSpc>
                <a:spcPct val="100000"/>
              </a:lnSpc>
              <a:buNone/>
            </a:pPr>
            <a:r>
              <a:rPr lang="en-US" sz="1150" b="1" kern="0">
                <a:solidFill>
                  <a:srgbClr val="F2EFDA"/>
                </a:solidFill>
                <a:latin typeface="Courier New" pitchFamily="34" charset="0"/>
                <a:ea typeface="Courier New" pitchFamily="34" charset="-122"/>
                <a:cs typeface="Courier New" pitchFamily="34" charset="-120"/>
              </a:rPr>
              <a:t>Versorger · Industrie · BasisK.</a:t>
            </a:r>
            <a:endParaRPr lang="en-US" sz="11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Schwerpunkte in K-S und P-S — geringe Quartalsbewegung.</a:t>
            </a:r>
            <a:endParaRPr lang="en-US" sz="870"/>
          </a:p>
        </p:txBody>
      </p:sp>
      <p:sp>
        <p:nvSpPr>
          <p:cNvPr id="94" name="!!K_P2"/>
          <p:cNvSpPr/>
          <p:nvPr/>
        </p:nvSpPr>
        <p:spPr>
          <a:xfrm>
            <a:off x="4341792" y="5590000"/>
            <a:ext cx="35071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5" name="!!L_P2"/>
          <p:cNvSpPr/>
          <p:nvPr/>
        </p:nvSpPr>
        <p:spPr>
          <a:xfrm>
            <a:off x="4595995" y="5670000"/>
            <a:ext cx="2998792" cy="220000"/>
          </a:xfrm>
          <a:prstGeom prst="rect">
            <a:avLst/>
          </a:prstGeom>
          <a:noFill/>
          <a:ln/>
        </p:spPr>
        <p:txBody>
          <a:bodyPr wrap="square" rtlCol="0" anchor="t"/>
          <a:lstStyle/>
          <a:p>
            <a:pPr marL="0" indent="0" algn="l">
              <a:lnSpc>
                <a:spcPct val="105000"/>
              </a:lnSpc>
              <a:buNone/>
            </a:pPr>
            <a:r>
              <a:rPr lang="en-US" sz="1000" b="1" kern="0">
                <a:solidFill>
                  <a:srgbClr val="E6D34F"/>
                </a:solidFill>
                <a:latin typeface="Courier New" pitchFamily="34" charset="0"/>
                <a:ea typeface="Courier New" pitchFamily="34" charset="-122"/>
                <a:cs typeface="Courier New" pitchFamily="34" charset="-120"/>
              </a:rPr>
              <a:t>PERSISTENTES PROFIL</a:t>
            </a:r>
            <a:endParaRPr lang="en-US" sz="1000"/>
          </a:p>
        </p:txBody>
      </p:sp>
      <p:sp>
        <p:nvSpPr>
          <p:cNvPr id="96" name="!!T_P2"/>
          <p:cNvSpPr/>
          <p:nvPr/>
        </p:nvSpPr>
        <p:spPr>
          <a:xfrm>
            <a:off x="4595995" y="5890000"/>
            <a:ext cx="2998792" cy="460000"/>
          </a:xfrm>
          <a:prstGeom prst="rect">
            <a:avLst/>
          </a:prstGeom>
          <a:noFill/>
          <a:ln/>
        </p:spPr>
        <p:txBody>
          <a:bodyPr wrap="square" rtlCol="0" anchor="t"/>
          <a:lstStyle/>
          <a:p>
            <a:pPr marL="0" indent="0" algn="l">
              <a:lnSpc>
                <a:spcPct val="100000"/>
              </a:lnSpc>
              <a:buNone/>
            </a:pPr>
            <a:r>
              <a:rPr lang="en-US" sz="1150" b="1" kern="0">
                <a:solidFill>
                  <a:srgbClr val="F2EFDA"/>
                </a:solidFill>
                <a:latin typeface="Courier New" pitchFamily="34" charset="0"/>
                <a:ea typeface="Courier New" pitchFamily="34" charset="-122"/>
                <a:cs typeface="Courier New" pitchFamily="34" charset="-120"/>
              </a:rPr>
              <a:t>Technologie · Grundstoffe</a:t>
            </a:r>
            <a:endParaRPr lang="en-US" sz="11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P-V und P-S — Wachstums- und Rohstofftrends wirken nach.</a:t>
            </a:r>
            <a:endParaRPr lang="en-US" sz="870"/>
          </a:p>
        </p:txBody>
      </p:sp>
      <p:sp>
        <p:nvSpPr>
          <p:cNvPr id="97" name="!!K_P3"/>
          <p:cNvSpPr/>
          <p:nvPr/>
        </p:nvSpPr>
        <p:spPr>
          <a:xfrm>
            <a:off x="8048990" y="5590000"/>
            <a:ext cx="35071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8" name="!!L_P3"/>
          <p:cNvSpPr/>
          <p:nvPr/>
        </p:nvSpPr>
        <p:spPr>
          <a:xfrm>
            <a:off x="8303193" y="5670000"/>
            <a:ext cx="2998792" cy="220000"/>
          </a:xfrm>
          <a:prstGeom prst="rect">
            <a:avLst/>
          </a:prstGeom>
          <a:noFill/>
          <a:ln/>
        </p:spPr>
        <p:txBody>
          <a:bodyPr wrap="square" rtlCol="0" anchor="t"/>
          <a:lstStyle/>
          <a:p>
            <a:pPr marL="0" indent="0" algn="l">
              <a:lnSpc>
                <a:spcPct val="105000"/>
              </a:lnSpc>
              <a:buNone/>
            </a:pPr>
            <a:r>
              <a:rPr lang="en-US" sz="1000" b="1" kern="0">
                <a:solidFill>
                  <a:srgbClr val="79A2F9"/>
                </a:solidFill>
                <a:latin typeface="Courier New" pitchFamily="34" charset="0"/>
                <a:ea typeface="Courier New" pitchFamily="34" charset="-122"/>
                <a:cs typeface="Courier New" pitchFamily="34" charset="-120"/>
              </a:rPr>
              <a:t>KORREKTIV-VOLATILES PROFIL</a:t>
            </a:r>
            <a:endParaRPr lang="en-US" sz="1000"/>
          </a:p>
        </p:txBody>
      </p:sp>
      <p:sp>
        <p:nvSpPr>
          <p:cNvPr id="99" name="!!T_P3"/>
          <p:cNvSpPr/>
          <p:nvPr/>
        </p:nvSpPr>
        <p:spPr>
          <a:xfrm>
            <a:off x="8303193" y="5890000"/>
            <a:ext cx="2998792" cy="460000"/>
          </a:xfrm>
          <a:prstGeom prst="rect">
            <a:avLst/>
          </a:prstGeom>
          <a:noFill/>
          <a:ln/>
        </p:spPr>
        <p:txBody>
          <a:bodyPr wrap="square" rtlCol="0" anchor="t"/>
          <a:lstStyle/>
          <a:p>
            <a:pPr marL="0" indent="0" algn="l">
              <a:lnSpc>
                <a:spcPct val="100000"/>
              </a:lnSpc>
              <a:buNone/>
            </a:pPr>
            <a:r>
              <a:rPr lang="en-US" sz="1150" b="1" kern="0">
                <a:solidFill>
                  <a:srgbClr val="F2EFDA"/>
                </a:solidFill>
                <a:latin typeface="Courier New" pitchFamily="34" charset="0"/>
                <a:ea typeface="Courier New" pitchFamily="34" charset="-122"/>
                <a:cs typeface="Courier New" pitchFamily="34" charset="-120"/>
              </a:rPr>
              <a:t>Immobilien · Komm. · Energie</a:t>
            </a:r>
            <a:endParaRPr lang="en-US" sz="11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große Ausschläge, schnelle Korrektur — Preis- und Investitionszyklen.</a:t>
            </a:r>
            <a:endParaRPr lang="en-US" sz="870"/>
          </a:p>
        </p:txBody>
      </p:sp>
      <p:pic>
        <p:nvPicPr>
          <p:cNvPr id="8" name="Grafik 7">
            <a:extLst>
              <a:ext uri="{FF2B5EF4-FFF2-40B4-BE49-F238E27FC236}">
                <a16:creationId xmlns:a16="http://schemas.microsoft.com/office/drawing/2014/main" id="{E31A2D6C-1E1B-E5BA-46BC-C76B6FDBB05B}"/>
              </a:ext>
            </a:extLst>
          </p:cNvPr>
          <p:cNvPicPr>
            <a:picLocks noChangeAspect="1"/>
          </p:cNvPicPr>
          <p:nvPr/>
        </p:nvPicPr>
        <p:blipFill>
          <a:blip r:embed="rId3"/>
          <a:stretch>
            <a:fillRect/>
          </a:stretch>
        </p:blipFill>
        <p:spPr>
          <a:xfrm>
            <a:off x="611664" y="1866290"/>
            <a:ext cx="5484336" cy="322189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08 / 13</a:t>
            </a:r>
            <a:endParaRPr lang="en-US" sz="1200"/>
          </a:p>
        </p:txBody>
      </p:sp>
      <p:sp>
        <p:nvSpPr>
          <p:cNvPr id="6" name="Text 3"/>
          <p:cNvSpPr/>
          <p:nvPr/>
        </p:nvSpPr>
        <p:spPr>
          <a:xfrm>
            <a:off x="634594" y="761695"/>
            <a:ext cx="10921594" cy="437998"/>
          </a:xfrm>
          <a:prstGeom prst="rect">
            <a:avLst/>
          </a:prstGeom>
          <a:noFill/>
          <a:ln/>
        </p:spPr>
        <p:txBody>
          <a:bodyPr wrap="square" rtlCol="0" anchor="t"/>
          <a:lstStyle/>
          <a:p>
            <a:pPr marL="0" indent="0">
              <a:lnSpc>
                <a:spcPct val="100000"/>
              </a:lnSpc>
              <a:buNone/>
            </a:pPr>
            <a:r>
              <a:rPr lang="en-US" sz="2300" b="1" kern="0" spc="-50" err="1">
                <a:solidFill>
                  <a:srgbClr val="F2EFDA"/>
                </a:solidFill>
                <a:latin typeface="Arial" pitchFamily="34" charset="0"/>
                <a:ea typeface="Arial" pitchFamily="34" charset="-122"/>
                <a:cs typeface="Arial" pitchFamily="34" charset="-120"/>
              </a:rPr>
              <a:t>Konstruktion</a:t>
            </a:r>
            <a:r>
              <a:rPr lang="en-US" sz="2300" b="1" kern="0" spc="-50">
                <a:solidFill>
                  <a:srgbClr val="F2EFDA"/>
                </a:solidFill>
                <a:latin typeface="Arial" pitchFamily="34" charset="0"/>
                <a:ea typeface="Arial" pitchFamily="34" charset="-122"/>
                <a:cs typeface="Arial" pitchFamily="34" charset="-120"/>
              </a:rPr>
              <a:t> und Korrekturmechanismus</a:t>
            </a:r>
            <a:endParaRPr lang="en-US" sz="2300"/>
          </a:p>
        </p:txBody>
      </p:sp>
      <p:sp>
        <p:nvSpPr>
          <p:cNvPr id="17" name="Shape 14"/>
          <p:cNvSpPr/>
          <p:nvPr/>
        </p:nvSpPr>
        <p:spPr>
          <a:xfrm>
            <a:off x="634594" y="3817249"/>
            <a:ext cx="5320894" cy="1858341"/>
          </a:xfrm>
          <a:prstGeom prst="roundRect">
            <a:avLst>
              <a:gd name="adj" fmla="val 3401"/>
            </a:avLst>
          </a:prstGeom>
          <a:solidFill>
            <a:srgbClr val="1E402E"/>
          </a:solidFill>
          <a:ln w="12700">
            <a:solidFill>
              <a:srgbClr val="4A6D56"/>
            </a:solidFill>
            <a:prstDash val="solid"/>
          </a:ln>
        </p:spPr>
        <p:txBody>
          <a:bodyPr/>
          <a:lstStyle/>
          <a:p>
            <a:endParaRPr lang="de-DE"/>
          </a:p>
        </p:txBody>
      </p:sp>
      <p:sp>
        <p:nvSpPr>
          <p:cNvPr id="18" name="Shape 15"/>
          <p:cNvSpPr/>
          <p:nvPr/>
        </p:nvSpPr>
        <p:spPr>
          <a:xfrm>
            <a:off x="907999" y="4090654"/>
            <a:ext cx="88697" cy="55227"/>
          </a:xfrm>
          <a:prstGeom prst="ellipse">
            <a:avLst/>
          </a:prstGeom>
          <a:solidFill>
            <a:srgbClr val="79A2F9"/>
          </a:solidFill>
          <a:ln/>
        </p:spPr>
        <p:txBody>
          <a:bodyPr/>
          <a:lstStyle/>
          <a:p>
            <a:endParaRPr lang="de-DE"/>
          </a:p>
        </p:txBody>
      </p:sp>
      <p:sp>
        <p:nvSpPr>
          <p:cNvPr id="19" name="Text 16"/>
          <p:cNvSpPr/>
          <p:nvPr/>
        </p:nvSpPr>
        <p:spPr>
          <a:xfrm>
            <a:off x="1143000" y="3995557"/>
            <a:ext cx="4572000" cy="355840"/>
          </a:xfrm>
          <a:prstGeom prst="rect">
            <a:avLst/>
          </a:prstGeom>
          <a:noFill/>
          <a:ln/>
        </p:spPr>
        <p:txBody>
          <a:bodyPr wrap="square" rtlCol="0" anchor="t"/>
          <a:lstStyle/>
          <a:p>
            <a:pPr marL="0" indent="0" algn="l">
              <a:lnSpc>
                <a:spcPct val="110000"/>
              </a:lnSpc>
              <a:buNone/>
            </a:pPr>
            <a:r>
              <a:rPr lang="en-US" sz="1500" b="1">
                <a:solidFill>
                  <a:srgbClr val="F2EFDA"/>
                </a:solidFill>
                <a:latin typeface="Arial" pitchFamily="34" charset="0"/>
                <a:ea typeface="Arial" pitchFamily="34" charset="-122"/>
                <a:cs typeface="Arial" pitchFamily="34" charset="-120"/>
              </a:rPr>
              <a:t>Der Markt korrigiert die Profitabilität</a:t>
            </a:r>
            <a:endParaRPr lang="en-US" sz="1500"/>
          </a:p>
        </p:txBody>
      </p:sp>
      <p:sp>
        <p:nvSpPr>
          <p:cNvPr id="20" name="Text 17"/>
          <p:cNvSpPr/>
          <p:nvPr/>
        </p:nvSpPr>
        <p:spPr>
          <a:xfrm>
            <a:off x="940308" y="4511335"/>
            <a:ext cx="4699102" cy="1106806"/>
          </a:xfrm>
          <a:prstGeom prst="rect">
            <a:avLst/>
          </a:prstGeom>
          <a:noFill/>
          <a:ln/>
        </p:spPr>
        <p:txBody>
          <a:bodyPr wrap="square" rtlCol="0" anchor="t"/>
          <a:lstStyle/>
          <a:p>
            <a:pPr marL="0" indent="0" algn="l">
              <a:lnSpc>
                <a:spcPct val="135000"/>
              </a:lnSpc>
              <a:buNone/>
            </a:pPr>
            <a:r>
              <a:rPr lang="en-US" sz="1200">
                <a:solidFill>
                  <a:srgbClr val="B3BC9A"/>
                </a:solidFill>
                <a:latin typeface="Arial" pitchFamily="34" charset="0"/>
                <a:ea typeface="Arial" pitchFamily="34" charset="-122"/>
                <a:cs typeface="Arial" pitchFamily="34" charset="-120"/>
              </a:rPr>
              <a:t>Überrenditen ziehen Wettbewerber an, Unterrenditen erzwingen Anpassung — </a:t>
            </a:r>
            <a:r>
              <a:rPr lang="en-US" sz="1200" b="1">
                <a:solidFill>
                  <a:srgbClr val="F2EFDA"/>
                </a:solidFill>
                <a:latin typeface="Arial" pitchFamily="34" charset="0"/>
                <a:ea typeface="Arial" pitchFamily="34" charset="-122"/>
                <a:cs typeface="Arial" pitchFamily="34" charset="-120"/>
              </a:rPr>
              <a:t>Korrektur ohne Zutun des Unternehmens</a:t>
            </a:r>
            <a:r>
              <a:rPr lang="en-US" sz="1200">
                <a:solidFill>
                  <a:srgbClr val="B3BC9A"/>
                </a:solidFill>
                <a:latin typeface="Arial" pitchFamily="34" charset="0"/>
                <a:ea typeface="Arial" pitchFamily="34" charset="-122"/>
                <a:cs typeface="Arial" pitchFamily="34" charset="-120"/>
              </a:rPr>
              <a:t> (Fama/French 2000: ≈ 38 % p. a.).</a:t>
            </a:r>
            <a:endParaRPr lang="en-US" sz="1200"/>
          </a:p>
        </p:txBody>
      </p:sp>
      <p:sp>
        <p:nvSpPr>
          <p:cNvPr id="21" name="Shape 18"/>
          <p:cNvSpPr/>
          <p:nvPr/>
        </p:nvSpPr>
        <p:spPr>
          <a:xfrm>
            <a:off x="6235293" y="3817249"/>
            <a:ext cx="5320894" cy="1858341"/>
          </a:xfrm>
          <a:prstGeom prst="roundRect">
            <a:avLst>
              <a:gd name="adj" fmla="val 3401"/>
            </a:avLst>
          </a:prstGeom>
          <a:solidFill>
            <a:srgbClr val="1E402E"/>
          </a:solidFill>
          <a:ln w="12700">
            <a:solidFill>
              <a:srgbClr val="4A6D56"/>
            </a:solidFill>
            <a:prstDash val="solid"/>
          </a:ln>
        </p:spPr>
        <p:txBody>
          <a:bodyPr/>
          <a:lstStyle/>
          <a:p>
            <a:endParaRPr lang="de-DE"/>
          </a:p>
        </p:txBody>
      </p:sp>
      <p:sp>
        <p:nvSpPr>
          <p:cNvPr id="22" name="Shape 19"/>
          <p:cNvSpPr/>
          <p:nvPr/>
        </p:nvSpPr>
        <p:spPr>
          <a:xfrm>
            <a:off x="6508698" y="4090655"/>
            <a:ext cx="88697" cy="66940"/>
          </a:xfrm>
          <a:prstGeom prst="ellipse">
            <a:avLst/>
          </a:prstGeom>
          <a:solidFill>
            <a:srgbClr val="F36451"/>
          </a:solidFill>
          <a:ln/>
        </p:spPr>
        <p:txBody>
          <a:bodyPr/>
          <a:lstStyle/>
          <a:p>
            <a:endParaRPr lang="de-DE"/>
          </a:p>
        </p:txBody>
      </p:sp>
      <p:sp>
        <p:nvSpPr>
          <p:cNvPr id="23" name="Text 20"/>
          <p:cNvSpPr/>
          <p:nvPr/>
        </p:nvSpPr>
        <p:spPr>
          <a:xfrm>
            <a:off x="6743699" y="3995556"/>
            <a:ext cx="4572000" cy="520293"/>
          </a:xfrm>
          <a:prstGeom prst="rect">
            <a:avLst/>
          </a:prstGeom>
          <a:noFill/>
          <a:ln/>
        </p:spPr>
        <p:txBody>
          <a:bodyPr wrap="square" rtlCol="0" anchor="t"/>
          <a:lstStyle/>
          <a:p>
            <a:pPr marL="0" indent="0" algn="l">
              <a:lnSpc>
                <a:spcPct val="110000"/>
              </a:lnSpc>
              <a:buNone/>
            </a:pPr>
            <a:r>
              <a:rPr lang="en-US" sz="1500" b="1">
                <a:solidFill>
                  <a:srgbClr val="F2EFDA"/>
                </a:solidFill>
                <a:latin typeface="Arial" pitchFamily="34" charset="0"/>
                <a:ea typeface="Arial" pitchFamily="34" charset="-122"/>
                <a:cs typeface="Arial" pitchFamily="34" charset="-120"/>
              </a:rPr>
              <a:t>Das Management entscheidet die Kapitalstruktur</a:t>
            </a:r>
            <a:endParaRPr lang="en-US" sz="1500"/>
          </a:p>
        </p:txBody>
      </p:sp>
      <p:sp>
        <p:nvSpPr>
          <p:cNvPr id="24" name="Text 21"/>
          <p:cNvSpPr/>
          <p:nvPr/>
        </p:nvSpPr>
        <p:spPr>
          <a:xfrm>
            <a:off x="6552589" y="4770054"/>
            <a:ext cx="4699102" cy="848087"/>
          </a:xfrm>
          <a:prstGeom prst="rect">
            <a:avLst/>
          </a:prstGeom>
          <a:noFill/>
          <a:ln/>
        </p:spPr>
        <p:txBody>
          <a:bodyPr wrap="square" rtlCol="0" anchor="t"/>
          <a:lstStyle/>
          <a:p>
            <a:pPr marL="0" indent="0" algn="l">
              <a:lnSpc>
                <a:spcPct val="135000"/>
              </a:lnSpc>
              <a:buNone/>
            </a:pPr>
            <a:r>
              <a:rPr lang="en-US" sz="1200">
                <a:solidFill>
                  <a:srgbClr val="B3BC9A"/>
                </a:solidFill>
                <a:latin typeface="Arial" pitchFamily="34" charset="0"/>
                <a:ea typeface="Arial" pitchFamily="34" charset="-122"/>
                <a:cs typeface="Arial" pitchFamily="34" charset="-120"/>
              </a:rPr>
              <a:t>Kein Marktmechanismus zieht die Bilanz zur Norm — </a:t>
            </a:r>
            <a:r>
              <a:rPr lang="en-US" sz="1200" b="1">
                <a:solidFill>
                  <a:srgbClr val="F2EFDA"/>
                </a:solidFill>
                <a:latin typeface="Arial" pitchFamily="34" charset="0"/>
                <a:ea typeface="Arial" pitchFamily="34" charset="-122"/>
                <a:cs typeface="Arial" pitchFamily="34" charset="-120"/>
              </a:rPr>
              <a:t>nur Emission, Rückkauf, Dividende</a:t>
            </a:r>
            <a:r>
              <a:rPr lang="en-US" sz="1200">
                <a:solidFill>
                  <a:srgbClr val="B3BC9A"/>
                </a:solidFill>
                <a:latin typeface="Arial" pitchFamily="34" charset="0"/>
                <a:ea typeface="Arial" pitchFamily="34" charset="-122"/>
                <a:cs typeface="Arial" pitchFamily="34" charset="-120"/>
              </a:rPr>
              <a:t> (Pecking Order, Market Timing, Trade-off).</a:t>
            </a:r>
            <a:endParaRPr lang="en-US" sz="1200"/>
          </a:p>
        </p:txBody>
      </p:sp>
      <p:pic>
        <p:nvPicPr>
          <p:cNvPr id="25" name="Grafik 24">
            <a:extLst>
              <a:ext uri="{FF2B5EF4-FFF2-40B4-BE49-F238E27FC236}">
                <a16:creationId xmlns:a16="http://schemas.microsoft.com/office/drawing/2014/main" id="{4E95ED5A-A4FB-4963-5252-CFE8AB37837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868" r="1602"/>
          <a:stretch>
            <a:fillRect/>
          </a:stretch>
        </p:blipFill>
        <p:spPr bwMode="auto">
          <a:xfrm>
            <a:off x="2573784" y="1441866"/>
            <a:ext cx="7043213" cy="2206647"/>
          </a:xfrm>
          <a:prstGeom prst="rect">
            <a:avLst/>
          </a:prstGeom>
          <a:ln>
            <a:noFill/>
          </a:ln>
          <a:extLst>
            <a:ext uri="{53640926-AAD7-44D8-BBD7-CCE9431645EC}">
              <a14:shadowObscured xmlns:a14="http://schemas.microsoft.com/office/drawing/2010/main"/>
            </a:ext>
          </a:extLst>
        </p:spPr>
      </p:pic>
      <p:sp>
        <p:nvSpPr>
          <p:cNvPr id="3" name="Text 1">
            <a:extLst>
              <a:ext uri="{FF2B5EF4-FFF2-40B4-BE49-F238E27FC236}">
                <a16:creationId xmlns:a16="http://schemas.microsoft.com/office/drawing/2014/main" id="{1E646081-CF00-82F5-AF41-D41CFC47DF1D}"/>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FORSCHUNGSFRAGE 1</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2</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09 / 15</a:t>
            </a:r>
            <a:endParaRPr lang="en-US" sz="120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err="1">
                <a:solidFill>
                  <a:srgbClr val="F3EFDA"/>
                </a:solidFill>
                <a:latin typeface="Arial" pitchFamily="34" charset="0"/>
                <a:ea typeface="Arial" pitchFamily="34" charset="-122"/>
                <a:cs typeface="Arial" pitchFamily="34" charset="-120"/>
              </a:rPr>
              <a:t>Kopplung</a:t>
            </a:r>
            <a:r>
              <a:rPr lang="en-US" sz="2000" b="1" kern="0" spc="-50" dirty="0">
                <a:solidFill>
                  <a:srgbClr val="F3EFDA"/>
                </a:solidFill>
                <a:latin typeface="Arial" pitchFamily="34" charset="0"/>
                <a:ea typeface="Arial" pitchFamily="34" charset="-122"/>
                <a:cs typeface="Arial" pitchFamily="34" charset="-120"/>
              </a:rPr>
              <a:t> der Mean Reversion</a:t>
            </a:r>
            <a:endParaRPr lang="en-US" sz="2000" dirty="0">
              <a:solidFill>
                <a:srgbClr val="F3EFDA"/>
              </a:solidFill>
            </a:endParaRPr>
          </a:p>
        </p:txBody>
      </p:sp>
      <p:sp>
        <p:nvSpPr>
          <p:cNvPr id="20" name="Text 17"/>
          <p:cNvSpPr/>
          <p:nvPr/>
        </p:nvSpPr>
        <p:spPr>
          <a:xfrm>
            <a:off x="634594" y="6531367"/>
            <a:ext cx="10921594" cy="254203"/>
          </a:xfrm>
          <a:prstGeom prst="rect">
            <a:avLst/>
          </a:prstGeom>
          <a:noFill/>
          <a:ln/>
        </p:spPr>
        <p:txBody>
          <a:bodyPr wrap="square" rtlCol="0" anchor="t"/>
          <a:lstStyle/>
          <a:p>
            <a:pPr marL="0" indent="0" algn="l">
              <a:lnSpc>
                <a:spcPct val="105000"/>
              </a:lnSpc>
              <a:buNone/>
            </a:pPr>
            <a:r>
              <a:rPr lang="en-US" sz="900" kern="0">
                <a:solidFill>
                  <a:srgbClr val="798D6F"/>
                </a:solidFill>
                <a:latin typeface="Arial" pitchFamily="34" charset="0"/>
                <a:ea typeface="Arial" pitchFamily="34" charset="-122"/>
                <a:cs typeface="Arial" pitchFamily="34" charset="-120"/>
              </a:rPr>
              <a:t>* Bonferroni-korrigiert: α/21 ≈ 0,0024 je Test-Familie. Schwacher zweiter Block in der Bilanz: Debt/Equity × EK-Quote 0,33 · Current Ratio × EK-Quote 0,16.</a:t>
            </a:r>
            <a:endParaRPr lang="en-US" sz="900"/>
          </a:p>
        </p:txBody>
      </p:sp>
      <p:sp>
        <p:nvSpPr>
          <p:cNvPr id="8" name="!!K_PhiMatrix"/>
          <p:cNvSpPr/>
          <p:nvPr/>
        </p:nvSpPr>
        <p:spPr>
          <a:xfrm>
            <a:off x="634594" y="1904695"/>
            <a:ext cx="5320894" cy="3174797"/>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 name="!!L_PhiMatrix"/>
          <p:cNvSpPr/>
          <p:nvPr/>
        </p:nvSpPr>
        <p:spPr>
          <a:xfrm>
            <a:off x="888797" y="2095805"/>
            <a:ext cx="4813402" cy="254203"/>
          </a:xfrm>
          <a:prstGeom prst="rect">
            <a:avLst/>
          </a:prstGeom>
          <a:noFill/>
          <a:ln/>
        </p:spPr>
        <p:txBody>
          <a:bodyPr wrap="square" rtlCol="0" anchor="t"/>
          <a:lstStyle/>
          <a:p>
            <a:pPr marL="0" indent="0" algn="l">
              <a:lnSpc>
                <a:spcPct val="105000"/>
              </a:lnSpc>
              <a:buNone/>
            </a:pPr>
            <a:r>
              <a:rPr lang="en-US" sz="1200" b="1" kern="0">
                <a:solidFill>
                  <a:srgbClr val="B3BC9A"/>
                </a:solidFill>
                <a:latin typeface="Courier New" pitchFamily="34" charset="0"/>
                <a:ea typeface="Courier New" pitchFamily="34" charset="-122"/>
                <a:cs typeface="Courier New" pitchFamily="34" charset="-120"/>
              </a:rPr>
              <a:t>φ  Mean-Reversion-Matrix</a:t>
            </a:r>
            <a:endParaRPr lang="en-US" sz="1200"/>
          </a:p>
        </p:txBody>
      </p:sp>
      <p:sp>
        <p:nvSpPr>
          <p:cNvPr id="41" name="!!K_Prof"/>
          <p:cNvSpPr/>
          <p:nvPr/>
        </p:nvSpPr>
        <p:spPr>
          <a:xfrm>
            <a:off x="6235294" y="1904695"/>
            <a:ext cx="5320894" cy="991599"/>
          </a:xfrm>
          <a:prstGeom prst="roundRect">
            <a:avLst>
              <a:gd name="adj" fmla="val 3197"/>
            </a:avLst>
          </a:prstGeom>
          <a:solidFill>
            <a:srgbClr val="1E402E"/>
          </a:solidFill>
          <a:ln w="12700">
            <a:solidFill>
              <a:srgbClr val="79A2F9"/>
            </a:solidFill>
            <a:prstDash val="solid"/>
          </a:ln>
        </p:spPr>
        <p:txBody>
          <a:bodyPr/>
          <a:lstStyle/>
          <a:p>
            <a:endParaRPr lang="de-DE"/>
          </a:p>
        </p:txBody>
      </p:sp>
      <p:sp>
        <p:nvSpPr>
          <p:cNvPr id="42" name="!!L_Prof"/>
          <p:cNvSpPr/>
          <p:nvPr/>
        </p:nvSpPr>
        <p:spPr>
          <a:xfrm>
            <a:off x="6489497" y="2034695"/>
            <a:ext cx="4812488" cy="230000"/>
          </a:xfrm>
          <a:prstGeom prst="rect">
            <a:avLst/>
          </a:prstGeom>
          <a:noFill/>
          <a:ln/>
        </p:spPr>
        <p:txBody>
          <a:bodyPr wrap="square" rtlCol="0" anchor="t"/>
          <a:lstStyle/>
          <a:p>
            <a:pPr marL="0" indent="0" algn="l">
              <a:lnSpc>
                <a:spcPct val="105000"/>
              </a:lnSpc>
              <a:buNone/>
            </a:pPr>
            <a:r>
              <a:rPr lang="en-US" sz="1050" b="1" kern="0">
                <a:solidFill>
                  <a:srgbClr val="79A2F9"/>
                </a:solidFill>
                <a:latin typeface="Courier New" pitchFamily="34" charset="0"/>
                <a:ea typeface="Courier New" pitchFamily="34" charset="-122"/>
                <a:cs typeface="Courier New" pitchFamily="34" charset="-120"/>
              </a:rPr>
              <a:t>PROFITABILITÄTSBLOCK</a:t>
            </a:r>
            <a:endParaRPr lang="en-US" sz="1050"/>
          </a:p>
        </p:txBody>
      </p:sp>
      <p:sp>
        <p:nvSpPr>
          <p:cNvPr id="43" name="!!T_Prof"/>
          <p:cNvSpPr/>
          <p:nvPr/>
        </p:nvSpPr>
        <p:spPr>
          <a:xfrm>
            <a:off x="6489497" y="2304695"/>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ρ = 0,78</a:t>
            </a:r>
            <a:r>
              <a:rPr lang="en-US" sz="1100" kern="0">
                <a:solidFill>
                  <a:srgbClr val="798D6F"/>
                </a:solidFill>
                <a:latin typeface="Courier New" pitchFamily="34" charset="0"/>
                <a:ea typeface="Courier New" pitchFamily="34" charset="-122"/>
                <a:cs typeface="Courier New" pitchFamily="34" charset="-120"/>
              </a:rPr>
              <a:t>   ROA × ROE</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ROA × EBIT-Marge · ROE × EBIT-Marge  - die </a:t>
            </a:r>
            <a:r>
              <a:rPr lang="en-US" sz="1000" kern="0" err="1">
                <a:solidFill>
                  <a:srgbClr val="B3BC9A"/>
                </a:solidFill>
                <a:latin typeface="Arial" pitchFamily="34" charset="0"/>
                <a:ea typeface="Arial" pitchFamily="34" charset="-122"/>
                <a:cs typeface="Arial" pitchFamily="34" charset="-120"/>
              </a:rPr>
              <a:t>Rangfolge</a:t>
            </a:r>
            <a:r>
              <a:rPr lang="en-US" sz="1000" kern="0">
                <a:solidFill>
                  <a:srgbClr val="B3BC9A"/>
                </a:solidFill>
                <a:latin typeface="Arial" pitchFamily="34" charset="0"/>
                <a:ea typeface="Arial" pitchFamily="34" charset="-122"/>
                <a:cs typeface="Arial" pitchFamily="34" charset="-120"/>
              </a:rPr>
              <a:t> </a:t>
            </a:r>
            <a:r>
              <a:rPr lang="en-US" sz="1000" kern="0" err="1">
                <a:solidFill>
                  <a:srgbClr val="B3BC9A"/>
                </a:solidFill>
                <a:latin typeface="Arial" pitchFamily="34" charset="0"/>
                <a:ea typeface="Arial" pitchFamily="34" charset="-122"/>
                <a:cs typeface="Arial" pitchFamily="34" charset="-120"/>
              </a:rPr>
              <a:t>ist</a:t>
            </a:r>
            <a:r>
              <a:rPr lang="en-US" sz="1000" kern="0">
                <a:solidFill>
                  <a:srgbClr val="B3BC9A"/>
                </a:solidFill>
                <a:latin typeface="Arial" pitchFamily="34" charset="0"/>
                <a:ea typeface="Arial" pitchFamily="34" charset="-122"/>
                <a:cs typeface="Arial" pitchFamily="34" charset="-120"/>
              </a:rPr>
              <a:t> </a:t>
            </a:r>
            <a:r>
              <a:rPr lang="en-US" sz="1000" kern="0" err="1">
                <a:solidFill>
                  <a:srgbClr val="B3BC9A"/>
                </a:solidFill>
                <a:latin typeface="Arial" pitchFamily="34" charset="0"/>
                <a:ea typeface="Arial" pitchFamily="34" charset="-122"/>
                <a:cs typeface="Arial" pitchFamily="34" charset="-120"/>
              </a:rPr>
              <a:t>ein</a:t>
            </a:r>
            <a:r>
              <a:rPr lang="en-US" sz="1000" kern="0">
                <a:solidFill>
                  <a:srgbClr val="B3BC9A"/>
                </a:solidFill>
                <a:latin typeface="Arial" pitchFamily="34" charset="0"/>
                <a:ea typeface="Arial" pitchFamily="34" charset="-122"/>
                <a:cs typeface="Arial" pitchFamily="34" charset="-120"/>
              </a:rPr>
              <a:t> </a:t>
            </a:r>
            <a:r>
              <a:rPr lang="en-US" sz="1000" b="1" kern="0">
                <a:solidFill>
                  <a:srgbClr val="F2EFDA"/>
                </a:solidFill>
                <a:latin typeface="Arial" pitchFamily="34" charset="0"/>
                <a:ea typeface="Arial" pitchFamily="34" charset="-122"/>
                <a:cs typeface="Arial" pitchFamily="34" charset="-120"/>
              </a:rPr>
              <a:t>Firmenmerkmal</a:t>
            </a:r>
            <a:r>
              <a:rPr lang="en-US" sz="1000" kern="0">
                <a:solidFill>
                  <a:srgbClr val="B3BC9A"/>
                </a:solidFill>
                <a:latin typeface="Arial" pitchFamily="34" charset="0"/>
                <a:ea typeface="Arial" pitchFamily="34" charset="-122"/>
                <a:cs typeface="Arial" pitchFamily="34" charset="-120"/>
              </a:rPr>
              <a:t>.</a:t>
            </a:r>
            <a:endParaRPr lang="en-US" sz="1000"/>
          </a:p>
        </p:txBody>
      </p:sp>
      <p:sp>
        <p:nvSpPr>
          <p:cNvPr id="44" name="!!K_FCF"/>
          <p:cNvSpPr/>
          <p:nvPr/>
        </p:nvSpPr>
        <p:spPr>
          <a:xfrm>
            <a:off x="6235294" y="2996294"/>
            <a:ext cx="5320894" cy="991599"/>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5" name="!!L_FCF"/>
          <p:cNvSpPr/>
          <p:nvPr/>
        </p:nvSpPr>
        <p:spPr>
          <a:xfrm>
            <a:off x="6489497" y="3126294"/>
            <a:ext cx="4812488" cy="230000"/>
          </a:xfrm>
          <a:prstGeom prst="rect">
            <a:avLst/>
          </a:prstGeom>
          <a:noFill/>
          <a:ln/>
        </p:spPr>
        <p:txBody>
          <a:bodyPr wrap="square" rtlCol="0" anchor="t"/>
          <a:lstStyle/>
          <a:p>
            <a:pPr marL="0" indent="0" algn="l">
              <a:lnSpc>
                <a:spcPct val="105000"/>
              </a:lnSpc>
              <a:buNone/>
            </a:pPr>
            <a:r>
              <a:rPr lang="en-US" sz="1050" b="1" kern="0">
                <a:solidFill>
                  <a:srgbClr val="F2EFDA"/>
                </a:solidFill>
                <a:latin typeface="Courier New" pitchFamily="34" charset="0"/>
                <a:ea typeface="Courier New" pitchFamily="34" charset="-122"/>
                <a:cs typeface="Courier New" pitchFamily="34" charset="-120"/>
              </a:rPr>
              <a:t>FCF-MARGE:</a:t>
            </a:r>
            <a:endParaRPr lang="en-US" sz="1050"/>
          </a:p>
        </p:txBody>
      </p:sp>
      <p:sp>
        <p:nvSpPr>
          <p:cNvPr id="46" name="!!T_FCF"/>
          <p:cNvSpPr/>
          <p:nvPr/>
        </p:nvSpPr>
        <p:spPr>
          <a:xfrm>
            <a:off x="6489497" y="3396294"/>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ρ = 0,14 … 0,19</a:t>
            </a:r>
            <a:r>
              <a:rPr lang="en-US" sz="1100" kern="0">
                <a:solidFill>
                  <a:srgbClr val="798D6F"/>
                </a:solidFill>
                <a:latin typeface="Courier New" pitchFamily="34" charset="0"/>
                <a:ea typeface="Courier New" pitchFamily="34" charset="-122"/>
                <a:cs typeface="Courier New" pitchFamily="34" charset="-120"/>
              </a:rPr>
              <a:t>   zu ROA · ROE · EBIT</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Accruals glätten Buchgewinne, den Cashflow nicht </a:t>
            </a:r>
            <a:r>
              <a:rPr lang="en-US" sz="1000" b="1" kern="0">
                <a:solidFill>
                  <a:srgbClr val="F2EFDA"/>
                </a:solidFill>
                <a:latin typeface="Arial" pitchFamily="34" charset="0"/>
                <a:ea typeface="Arial" pitchFamily="34" charset="-122"/>
                <a:cs typeface="Arial" pitchFamily="34" charset="-120"/>
              </a:rPr>
              <a:t>eigene Korrekturlogik</a:t>
            </a:r>
            <a:r>
              <a:rPr lang="en-US" sz="1000" kern="0">
                <a:solidFill>
                  <a:srgbClr val="B3BC9A"/>
                </a:solidFill>
                <a:latin typeface="Arial" pitchFamily="34" charset="0"/>
                <a:ea typeface="Arial" pitchFamily="34" charset="-122"/>
                <a:cs typeface="Arial" pitchFamily="34" charset="-120"/>
              </a:rPr>
              <a:t>.</a:t>
            </a:r>
            <a:endParaRPr lang="en-US" sz="1000"/>
          </a:p>
        </p:txBody>
      </p:sp>
      <p:sp>
        <p:nvSpPr>
          <p:cNvPr id="47" name="!!K_Cross"/>
          <p:cNvSpPr/>
          <p:nvPr/>
        </p:nvSpPr>
        <p:spPr>
          <a:xfrm>
            <a:off x="6235294" y="4087893"/>
            <a:ext cx="5320894" cy="991599"/>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8" name="!!L_Cross"/>
          <p:cNvSpPr/>
          <p:nvPr/>
        </p:nvSpPr>
        <p:spPr>
          <a:xfrm>
            <a:off x="6489497" y="4217893"/>
            <a:ext cx="4812488" cy="230000"/>
          </a:xfrm>
          <a:prstGeom prst="rect">
            <a:avLst/>
          </a:prstGeom>
          <a:noFill/>
          <a:ln/>
        </p:spPr>
        <p:txBody>
          <a:bodyPr wrap="square" rtlCol="0" anchor="t"/>
          <a:lstStyle/>
          <a:p>
            <a:pPr marL="0" indent="0" algn="l">
              <a:lnSpc>
                <a:spcPct val="105000"/>
              </a:lnSpc>
              <a:buNone/>
            </a:pPr>
            <a:r>
              <a:rPr lang="en-US" sz="1050" b="1" kern="0">
                <a:solidFill>
                  <a:srgbClr val="B3BC9A"/>
                </a:solidFill>
                <a:latin typeface="Courier New" pitchFamily="34" charset="0"/>
                <a:ea typeface="Courier New" pitchFamily="34" charset="-122"/>
                <a:cs typeface="Courier New" pitchFamily="34" charset="-120"/>
              </a:rPr>
              <a:t>ZWISCHEN DEN BLÖCKEN</a:t>
            </a:r>
            <a:endParaRPr lang="en-US" sz="1050"/>
          </a:p>
        </p:txBody>
      </p:sp>
      <p:sp>
        <p:nvSpPr>
          <p:cNvPr id="49" name="!!T_Cross"/>
          <p:cNvSpPr/>
          <p:nvPr/>
        </p:nvSpPr>
        <p:spPr>
          <a:xfrm>
            <a:off x="6489497" y="4487893"/>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1 / 12</a:t>
            </a:r>
            <a:r>
              <a:rPr lang="en-US" sz="1100" kern="0">
                <a:solidFill>
                  <a:srgbClr val="798D6F"/>
                </a:solidFill>
                <a:latin typeface="Courier New" pitchFamily="34" charset="0"/>
                <a:ea typeface="Courier New" pitchFamily="34" charset="-122"/>
                <a:cs typeface="Courier New" pitchFamily="34" charset="-120"/>
              </a:rPr>
              <a:t>   Paare signifikant</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nur ROE × EK-Quote (0,13) — direkte Folge der </a:t>
            </a:r>
            <a:r>
              <a:rPr lang="en-US" sz="1000" b="1" kern="0">
                <a:solidFill>
                  <a:srgbClr val="F2EFDA"/>
                </a:solidFill>
                <a:latin typeface="Arial" pitchFamily="34" charset="0"/>
                <a:ea typeface="Arial" pitchFamily="34" charset="-122"/>
                <a:cs typeface="Arial" pitchFamily="34" charset="-120"/>
              </a:rPr>
              <a:t>schwachen Mean-Reversion in der Kapitalstruktur</a:t>
            </a:r>
            <a:r>
              <a:rPr lang="en-US" sz="1000" kern="0">
                <a:solidFill>
                  <a:srgbClr val="B3BC9A"/>
                </a:solidFill>
                <a:latin typeface="Arial" pitchFamily="34" charset="0"/>
                <a:ea typeface="Arial" pitchFamily="34" charset="-122"/>
                <a:cs typeface="Arial" pitchFamily="34" charset="-120"/>
              </a:rPr>
              <a:t>.</a:t>
            </a:r>
            <a:endParaRPr lang="en-US" sz="1000"/>
          </a:p>
        </p:txBody>
      </p:sp>
      <p:pic>
        <p:nvPicPr>
          <p:cNvPr id="10" name="Grafik 9">
            <a:extLst>
              <a:ext uri="{FF2B5EF4-FFF2-40B4-BE49-F238E27FC236}">
                <a16:creationId xmlns:a16="http://schemas.microsoft.com/office/drawing/2014/main" id="{00379544-99A4-35CA-2644-C68BC11E76B4}"/>
              </a:ext>
            </a:extLst>
          </p:cNvPr>
          <p:cNvPicPr>
            <a:picLocks noChangeAspect="1"/>
          </p:cNvPicPr>
          <p:nvPr/>
        </p:nvPicPr>
        <p:blipFill>
          <a:blip r:embed="rId3"/>
          <a:stretch>
            <a:fillRect/>
          </a:stretch>
        </p:blipFill>
        <p:spPr>
          <a:xfrm>
            <a:off x="2045110" y="2337463"/>
            <a:ext cx="2649833" cy="2276427"/>
          </a:xfrm>
          <a:prstGeom prst="rect">
            <a:avLst/>
          </a:prstGeom>
        </p:spPr>
      </p:pic>
      <p:sp>
        <p:nvSpPr>
          <p:cNvPr id="7" name="Text 4"/>
          <p:cNvSpPr/>
          <p:nvPr/>
        </p:nvSpPr>
        <p:spPr>
          <a:xfrm>
            <a:off x="1718714" y="4704374"/>
            <a:ext cx="3542399" cy="254203"/>
          </a:xfrm>
          <a:prstGeom prst="rect">
            <a:avLst/>
          </a:prstGeom>
          <a:noFill/>
          <a:ln/>
        </p:spPr>
        <p:txBody>
          <a:bodyPr wrap="square" rtlCol="0" anchor="t"/>
          <a:lstStyle/>
          <a:p>
            <a:pPr marL="0" indent="0" algn="l">
              <a:lnSpc>
                <a:spcPct val="105000"/>
              </a:lnSpc>
              <a:buNone/>
            </a:pPr>
            <a:r>
              <a:rPr lang="en-US" sz="1100" kern="0" dirty="0" err="1">
                <a:solidFill>
                  <a:srgbClr val="B3BC9A"/>
                </a:solidFill>
                <a:latin typeface="Arial" pitchFamily="34" charset="0"/>
                <a:ea typeface="Arial" pitchFamily="34" charset="-122"/>
                <a:cs typeface="Arial" pitchFamily="34" charset="-120"/>
              </a:rPr>
              <a:t>Paarweise</a:t>
            </a:r>
            <a:r>
              <a:rPr lang="en-US" sz="1100" kern="0" dirty="0">
                <a:solidFill>
                  <a:srgbClr val="B3BC9A"/>
                </a:solidFill>
                <a:latin typeface="Arial" pitchFamily="34" charset="0"/>
                <a:ea typeface="Arial" pitchFamily="34" charset="-122"/>
                <a:cs typeface="Arial" pitchFamily="34" charset="-120"/>
              </a:rPr>
              <a:t> Spearman-</a:t>
            </a:r>
            <a:r>
              <a:rPr lang="en-US" sz="1100" kern="0" dirty="0" err="1">
                <a:solidFill>
                  <a:srgbClr val="B3BC9A"/>
                </a:solidFill>
                <a:latin typeface="Arial" pitchFamily="34" charset="0"/>
                <a:ea typeface="Arial" pitchFamily="34" charset="-122"/>
                <a:cs typeface="Arial" pitchFamily="34" charset="-120"/>
              </a:rPr>
              <a:t>Korrelation</a:t>
            </a:r>
            <a:r>
              <a:rPr lang="en-US" sz="1100" kern="0" dirty="0">
                <a:solidFill>
                  <a:srgbClr val="B3BC9A"/>
                </a:solidFill>
                <a:latin typeface="Arial" pitchFamily="34" charset="0"/>
                <a:ea typeface="Arial" pitchFamily="34" charset="-122"/>
                <a:cs typeface="Arial" pitchFamily="34" charset="-120"/>
              </a:rPr>
              <a:t> der </a:t>
            </a:r>
            <a:r>
              <a:rPr lang="en-US" sz="1100" kern="0" dirty="0" err="1">
                <a:solidFill>
                  <a:srgbClr val="B3BC9A"/>
                </a:solidFill>
                <a:latin typeface="Arial" pitchFamily="34" charset="0"/>
                <a:ea typeface="Arial" pitchFamily="34" charset="-122"/>
                <a:cs typeface="Arial" pitchFamily="34" charset="-120"/>
              </a:rPr>
              <a:t>firmenspezifisch</a:t>
            </a:r>
            <a:r>
              <a:rPr lang="en-US" sz="1100" kern="0" dirty="0">
                <a:solidFill>
                  <a:srgbClr val="B3BC9A"/>
                </a:solidFill>
                <a:latin typeface="Arial" pitchFamily="34" charset="0"/>
                <a:ea typeface="Arial" pitchFamily="34" charset="-122"/>
                <a:cs typeface="Arial" pitchFamily="34" charset="-120"/>
              </a:rPr>
              <a:t> </a:t>
            </a:r>
            <a:r>
              <a:rPr lang="en-US" sz="1100" kern="0" dirty="0" err="1">
                <a:solidFill>
                  <a:srgbClr val="B3BC9A"/>
                </a:solidFill>
                <a:latin typeface="Arial" pitchFamily="34" charset="0"/>
                <a:ea typeface="Arial" pitchFamily="34" charset="-122"/>
                <a:cs typeface="Arial" pitchFamily="34" charset="-120"/>
              </a:rPr>
              <a:t>geschätzten</a:t>
            </a:r>
            <a:r>
              <a:rPr lang="en-US" sz="1100" kern="0" dirty="0">
                <a:solidFill>
                  <a:srgbClr val="B3BC9A"/>
                </a:solidFill>
                <a:latin typeface="Arial" pitchFamily="34" charset="0"/>
                <a:ea typeface="Arial" pitchFamily="34" charset="-122"/>
                <a:cs typeface="Arial" pitchFamily="34" charset="-120"/>
              </a:rPr>
              <a:t> Parameter </a:t>
            </a:r>
            <a:r>
              <a:rPr lang="en-US" sz="1100" kern="0" dirty="0" err="1">
                <a:solidFill>
                  <a:srgbClr val="B3BC9A"/>
                </a:solidFill>
                <a:latin typeface="Arial" pitchFamily="34" charset="0"/>
                <a:ea typeface="Arial" pitchFamily="34" charset="-122"/>
                <a:cs typeface="Arial" pitchFamily="34" charset="-120"/>
              </a:rPr>
              <a:t>über</a:t>
            </a:r>
            <a:r>
              <a:rPr lang="en-US" sz="1100" kern="0" dirty="0">
                <a:solidFill>
                  <a:srgbClr val="B3BC9A"/>
                </a:solidFill>
                <a:latin typeface="Arial" pitchFamily="34" charset="0"/>
                <a:ea typeface="Arial" pitchFamily="34" charset="-122"/>
                <a:cs typeface="Arial" pitchFamily="34" charset="-120"/>
              </a:rPr>
              <a:t> 932 </a:t>
            </a:r>
            <a:r>
              <a:rPr lang="en-US" sz="1100" kern="0" dirty="0" err="1">
                <a:solidFill>
                  <a:srgbClr val="B3BC9A"/>
                </a:solidFill>
                <a:latin typeface="Arial" pitchFamily="34" charset="0"/>
                <a:ea typeface="Arial" pitchFamily="34" charset="-122"/>
                <a:cs typeface="Arial" pitchFamily="34" charset="-120"/>
              </a:rPr>
              <a:t>Unternehmen</a:t>
            </a:r>
            <a:endParaRPr lang="en-US" sz="1100"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2</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09 / 15</a:t>
            </a:r>
            <a:endParaRPr lang="en-US" sz="120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err="1">
                <a:solidFill>
                  <a:srgbClr val="F2EFDA"/>
                </a:solidFill>
                <a:latin typeface="Arial" pitchFamily="34" charset="0"/>
                <a:ea typeface="Arial" pitchFamily="34" charset="-122"/>
                <a:cs typeface="Arial" pitchFamily="34" charset="-120"/>
              </a:rPr>
              <a:t>Kopplung</a:t>
            </a:r>
            <a:r>
              <a:rPr lang="en-US" sz="2000" b="1" kern="0" spc="-50" dirty="0">
                <a:solidFill>
                  <a:srgbClr val="F2EFDA"/>
                </a:solidFill>
                <a:latin typeface="Arial" pitchFamily="34" charset="0"/>
                <a:ea typeface="Arial" pitchFamily="34" charset="-122"/>
                <a:cs typeface="Arial" pitchFamily="34" charset="-120"/>
              </a:rPr>
              <a:t> der </a:t>
            </a:r>
            <a:r>
              <a:rPr lang="en-US" sz="2000" b="1" kern="0" spc="-50" dirty="0" err="1">
                <a:solidFill>
                  <a:srgbClr val="F2EFDA"/>
                </a:solidFill>
                <a:latin typeface="Arial" pitchFamily="34" charset="0"/>
                <a:ea typeface="Arial" pitchFamily="34" charset="-122"/>
                <a:cs typeface="Arial" pitchFamily="34" charset="-120"/>
              </a:rPr>
              <a:t>Volatilität</a:t>
            </a:r>
            <a:endParaRPr lang="en-US" sz="2000" dirty="0"/>
          </a:p>
        </p:txBody>
      </p:sp>
      <p:sp>
        <p:nvSpPr>
          <p:cNvPr id="8" name="!!K_PhiMatrix"/>
          <p:cNvSpPr/>
          <p:nvPr/>
        </p:nvSpPr>
        <p:spPr>
          <a:xfrm>
            <a:off x="634594" y="1904695"/>
            <a:ext cx="5320894" cy="3174797"/>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 name="!!L_PhiMatrix"/>
          <p:cNvSpPr/>
          <p:nvPr/>
        </p:nvSpPr>
        <p:spPr>
          <a:xfrm>
            <a:off x="888797" y="2095805"/>
            <a:ext cx="4813402" cy="254203"/>
          </a:xfrm>
          <a:prstGeom prst="rect">
            <a:avLst/>
          </a:prstGeom>
          <a:noFill/>
          <a:ln/>
        </p:spPr>
        <p:txBody>
          <a:bodyPr wrap="square" rtlCol="0" anchor="t"/>
          <a:lstStyle/>
          <a:p>
            <a:pPr marL="0" indent="0" algn="l">
              <a:lnSpc>
                <a:spcPct val="105000"/>
              </a:lnSpc>
              <a:buNone/>
            </a:pPr>
            <a:r>
              <a:rPr lang="en-US" sz="1200" b="1" kern="0">
                <a:solidFill>
                  <a:srgbClr val="B3BC9A"/>
                </a:solidFill>
                <a:latin typeface="Courier New" pitchFamily="34" charset="0"/>
                <a:ea typeface="Courier New" pitchFamily="34" charset="-122"/>
                <a:cs typeface="Courier New" pitchFamily="34" charset="-120"/>
              </a:rPr>
              <a:t>φ  Mean-Reversion-Matrix</a:t>
            </a:r>
            <a:r>
              <a:rPr lang="en-US" sz="1200" b="1" kern="0">
                <a:solidFill>
                  <a:srgbClr val="F2EFDA"/>
                </a:solidFill>
                <a:latin typeface="Courier New" pitchFamily="34" charset="0"/>
                <a:ea typeface="Courier New" pitchFamily="34" charset="-122"/>
                <a:cs typeface="Courier New" pitchFamily="34" charset="-120"/>
              </a:rPr>
              <a:t>   9 / 21 Paare*</a:t>
            </a:r>
            <a:endParaRPr lang="en-US" sz="1200"/>
          </a:p>
        </p:txBody>
      </p:sp>
      <p:sp>
        <p:nvSpPr>
          <p:cNvPr id="14" name="!!K_SigMatrix"/>
          <p:cNvSpPr/>
          <p:nvPr/>
        </p:nvSpPr>
        <p:spPr>
          <a:xfrm>
            <a:off x="6235294" y="1904695"/>
            <a:ext cx="5320894" cy="3174797"/>
          </a:xfrm>
          <a:prstGeom prst="roundRect">
            <a:avLst>
              <a:gd name="adj" fmla="val 3197"/>
            </a:avLst>
          </a:prstGeom>
          <a:solidFill>
            <a:srgbClr val="1E402E"/>
          </a:solidFill>
          <a:ln w="12700">
            <a:solidFill>
              <a:srgbClr val="79A2F9"/>
            </a:solidFill>
            <a:prstDash val="solid"/>
          </a:ln>
        </p:spPr>
        <p:txBody>
          <a:bodyPr/>
          <a:lstStyle/>
          <a:p>
            <a:endParaRPr lang="de-DE"/>
          </a:p>
        </p:txBody>
      </p:sp>
      <p:sp>
        <p:nvSpPr>
          <p:cNvPr id="15" name="!!L_SigMatrix"/>
          <p:cNvSpPr/>
          <p:nvPr/>
        </p:nvSpPr>
        <p:spPr>
          <a:xfrm>
            <a:off x="6489497" y="2095805"/>
            <a:ext cx="4813402" cy="254203"/>
          </a:xfrm>
          <a:prstGeom prst="rect">
            <a:avLst/>
          </a:prstGeom>
          <a:noFill/>
          <a:ln/>
        </p:spPr>
        <p:txBody>
          <a:bodyPr wrap="square" rtlCol="0" anchor="t"/>
          <a:lstStyle/>
          <a:p>
            <a:pPr marL="0" indent="0" algn="l">
              <a:lnSpc>
                <a:spcPct val="105000"/>
              </a:lnSpc>
              <a:buNone/>
            </a:pPr>
            <a:r>
              <a:rPr lang="en-US" sz="1200" b="1" kern="0">
                <a:solidFill>
                  <a:srgbClr val="79A2F9"/>
                </a:solidFill>
                <a:latin typeface="Courier New" pitchFamily="34" charset="0"/>
                <a:ea typeface="Courier New" pitchFamily="34" charset="-122"/>
                <a:cs typeface="Courier New" pitchFamily="34" charset="-120"/>
              </a:rPr>
              <a:t>σ  </a:t>
            </a:r>
            <a:r>
              <a:rPr lang="en-US" sz="1200" b="1" kern="0">
                <a:solidFill>
                  <a:srgbClr val="F2EFDA"/>
                </a:solidFill>
                <a:latin typeface="Courier New" pitchFamily="34" charset="0"/>
                <a:ea typeface="Courier New" pitchFamily="34" charset="-122"/>
                <a:cs typeface="Courier New" pitchFamily="34" charset="-120"/>
              </a:rPr>
              <a:t>Volatilitäts-Matrix</a:t>
            </a:r>
            <a:r>
              <a:rPr lang="en-US" sz="1200" b="1" kern="0">
                <a:solidFill>
                  <a:srgbClr val="79A2F9"/>
                </a:solidFill>
                <a:latin typeface="Courier New" pitchFamily="34" charset="0"/>
                <a:ea typeface="Courier New" pitchFamily="34" charset="-122"/>
                <a:cs typeface="Courier New" pitchFamily="34" charset="-120"/>
              </a:rPr>
              <a:t>   19 / 21 Paare*</a:t>
            </a:r>
            <a:endParaRPr lang="en-US" sz="1200"/>
          </a:p>
        </p:txBody>
      </p:sp>
      <p:sp>
        <p:nvSpPr>
          <p:cNvPr id="35" name="!!B_SigMatrix"/>
          <p:cNvSpPr/>
          <p:nvPr/>
        </p:nvSpPr>
        <p:spPr>
          <a:xfrm>
            <a:off x="6489497" y="4805000"/>
            <a:ext cx="4813402" cy="240000"/>
          </a:xfrm>
          <a:prstGeom prst="rect">
            <a:avLst/>
          </a:prstGeom>
          <a:noFill/>
          <a:ln/>
        </p:spPr>
        <p:txBody>
          <a:bodyPr wrap="square" rtlCol="0" anchor="t"/>
          <a:lstStyle/>
          <a:p>
            <a:pPr marL="0" indent="0" algn="l">
              <a:lnSpc>
                <a:spcPct val="105000"/>
              </a:lnSpc>
              <a:buNone/>
            </a:pPr>
            <a:r>
              <a:rPr lang="en-US" sz="1000" kern="0">
                <a:solidFill>
                  <a:srgbClr val="B3BC9A"/>
                </a:solidFill>
                <a:latin typeface="Arial" pitchFamily="34" charset="0"/>
                <a:ea typeface="Arial" pitchFamily="34" charset="-122"/>
                <a:cs typeface="Arial" pitchFamily="34" charset="-120"/>
              </a:rPr>
              <a:t>EK-Quote: </a:t>
            </a:r>
            <a:r>
              <a:rPr lang="en-US" sz="1000" b="1" kern="0">
                <a:solidFill>
                  <a:srgbClr val="F2EFDA"/>
                </a:solidFill>
                <a:latin typeface="Arial" pitchFamily="34" charset="0"/>
                <a:ea typeface="Arial" pitchFamily="34" charset="-122"/>
                <a:cs typeface="Arial" pitchFamily="34" charset="-120"/>
              </a:rPr>
              <a:t>als einzige mit allen sechs anderen gekoppelt</a:t>
            </a:r>
            <a:r>
              <a:rPr lang="en-US" sz="1000" kern="0">
                <a:solidFill>
                  <a:srgbClr val="B3BC9A"/>
                </a:solidFill>
                <a:latin typeface="Arial" pitchFamily="34" charset="0"/>
                <a:ea typeface="Arial" pitchFamily="34" charset="-122"/>
                <a:cs typeface="Arial" pitchFamily="34" charset="-120"/>
              </a:rPr>
              <a:t> (0,19 – 0,52).</a:t>
            </a:r>
            <a:endParaRPr lang="en-US" sz="1000"/>
          </a:p>
        </p:txBody>
      </p:sp>
      <p:sp>
        <p:nvSpPr>
          <p:cNvPr id="51" name="!!K_PhiSig"/>
          <p:cNvSpPr/>
          <p:nvPr/>
        </p:nvSpPr>
        <p:spPr>
          <a:xfrm>
            <a:off x="634594" y="5590000"/>
            <a:ext cx="5320894"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52" name="!!K_LeadLag"/>
          <p:cNvSpPr/>
          <p:nvPr/>
        </p:nvSpPr>
        <p:spPr>
          <a:xfrm>
            <a:off x="6235294" y="5590000"/>
            <a:ext cx="5320894" cy="800000"/>
          </a:xfrm>
          <a:prstGeom prst="roundRect">
            <a:avLst>
              <a:gd name="adj" fmla="val 3197"/>
            </a:avLst>
          </a:prstGeom>
          <a:solidFill>
            <a:srgbClr val="153B29"/>
          </a:solidFill>
          <a:ln w="12700">
            <a:solidFill>
              <a:srgbClr val="2B513D"/>
            </a:solidFill>
            <a:prstDash val="solid"/>
          </a:ln>
        </p:spPr>
        <p:txBody>
          <a:bodyPr/>
          <a:lstStyle/>
          <a:p>
            <a:endParaRPr lang="de-DE"/>
          </a:p>
        </p:txBody>
      </p:sp>
      <p:pic>
        <p:nvPicPr>
          <p:cNvPr id="4" name="Grafik 3">
            <a:extLst>
              <a:ext uri="{FF2B5EF4-FFF2-40B4-BE49-F238E27FC236}">
                <a16:creationId xmlns:a16="http://schemas.microsoft.com/office/drawing/2014/main" id="{E9C823C0-400F-559D-FF7D-3B4B9462F7DE}"/>
              </a:ext>
            </a:extLst>
          </p:cNvPr>
          <p:cNvPicPr>
            <a:picLocks noChangeAspect="1"/>
          </p:cNvPicPr>
          <p:nvPr/>
        </p:nvPicPr>
        <p:blipFill>
          <a:blip r:embed="rId3"/>
          <a:stretch>
            <a:fillRect/>
          </a:stretch>
        </p:blipFill>
        <p:spPr>
          <a:xfrm>
            <a:off x="2045110" y="2337463"/>
            <a:ext cx="2649833" cy="2276427"/>
          </a:xfrm>
          <a:prstGeom prst="rect">
            <a:avLst/>
          </a:prstGeom>
        </p:spPr>
      </p:pic>
      <p:pic>
        <p:nvPicPr>
          <p:cNvPr id="10" name="Grafik 9">
            <a:extLst>
              <a:ext uri="{FF2B5EF4-FFF2-40B4-BE49-F238E27FC236}">
                <a16:creationId xmlns:a16="http://schemas.microsoft.com/office/drawing/2014/main" id="{B41E5FEB-D64B-7C55-724A-3C9AA3890F48}"/>
              </a:ext>
            </a:extLst>
          </p:cNvPr>
          <p:cNvPicPr>
            <a:picLocks noChangeAspect="1"/>
          </p:cNvPicPr>
          <p:nvPr/>
        </p:nvPicPr>
        <p:blipFill>
          <a:blip r:embed="rId4"/>
          <a:stretch>
            <a:fillRect/>
          </a:stretch>
        </p:blipFill>
        <p:spPr>
          <a:xfrm>
            <a:off x="7561458" y="2431244"/>
            <a:ext cx="2668566" cy="2292520"/>
          </a:xfrm>
          <a:prstGeom prst="rect">
            <a:avLst/>
          </a:prstGeom>
        </p:spPr>
      </p:pic>
      <p:sp>
        <p:nvSpPr>
          <p:cNvPr id="31" name="!!B_PhiMatrix"/>
          <p:cNvSpPr/>
          <p:nvPr/>
        </p:nvSpPr>
        <p:spPr>
          <a:xfrm>
            <a:off x="787719" y="5807201"/>
            <a:ext cx="4914480" cy="350889"/>
          </a:xfrm>
          <a:prstGeom prst="rect">
            <a:avLst/>
          </a:prstGeom>
          <a:noFill/>
          <a:ln/>
        </p:spPr>
        <p:txBody>
          <a:bodyPr wrap="square" rtlCol="0" anchor="t"/>
          <a:lstStyle/>
          <a:p>
            <a:pPr marL="0" indent="0" algn="l">
              <a:lnSpc>
                <a:spcPct val="105000"/>
              </a:lnSpc>
              <a:buNone/>
            </a:pPr>
            <a:r>
              <a:rPr lang="en-US" sz="1500" b="1" kern="0" dirty="0" err="1">
                <a:solidFill>
                  <a:srgbClr val="F2EFDA"/>
                </a:solidFill>
                <a:latin typeface="Courier New" pitchFamily="34" charset="0"/>
                <a:cs typeface="Courier New" pitchFamily="34" charset="-120"/>
              </a:rPr>
              <a:t>Kopplung</a:t>
            </a:r>
            <a:r>
              <a:rPr lang="en-US" sz="1500" b="1" kern="0" dirty="0">
                <a:solidFill>
                  <a:srgbClr val="F2EFDA"/>
                </a:solidFill>
                <a:latin typeface="Courier New" pitchFamily="34" charset="0"/>
                <a:cs typeface="Courier New" pitchFamily="34" charset="-120"/>
              </a:rPr>
              <a:t> </a:t>
            </a:r>
            <a:r>
              <a:rPr lang="en-US" sz="1500" b="1" kern="0" dirty="0" err="1">
                <a:solidFill>
                  <a:srgbClr val="F2EFDA"/>
                </a:solidFill>
                <a:latin typeface="Courier New" pitchFamily="34" charset="0"/>
                <a:cs typeface="Courier New" pitchFamily="34" charset="-120"/>
              </a:rPr>
              <a:t>nur</a:t>
            </a:r>
            <a:r>
              <a:rPr lang="en-US" sz="1500" b="1" kern="0" dirty="0">
                <a:solidFill>
                  <a:srgbClr val="F2EFDA"/>
                </a:solidFill>
                <a:latin typeface="Courier New" pitchFamily="34" charset="0"/>
                <a:cs typeface="Courier New" pitchFamily="34" charset="-120"/>
              </a:rPr>
              <a:t> </a:t>
            </a:r>
            <a:r>
              <a:rPr lang="en-US" sz="1500" b="1" kern="0" dirty="0" err="1">
                <a:solidFill>
                  <a:srgbClr val="F2EFDA"/>
                </a:solidFill>
                <a:latin typeface="Courier New" pitchFamily="34" charset="0"/>
                <a:cs typeface="Courier New" pitchFamily="34" charset="-120"/>
              </a:rPr>
              <a:t>innerhalb</a:t>
            </a:r>
            <a:r>
              <a:rPr lang="en-US" sz="1500" b="1" kern="0" dirty="0">
                <a:solidFill>
                  <a:srgbClr val="F2EFDA"/>
                </a:solidFill>
                <a:latin typeface="Courier New" pitchFamily="34" charset="0"/>
                <a:cs typeface="Courier New" pitchFamily="34" charset="-120"/>
              </a:rPr>
              <a:t> der </a:t>
            </a:r>
            <a:r>
              <a:rPr lang="en-US" sz="1500" b="1" kern="0" dirty="0" err="1">
                <a:solidFill>
                  <a:srgbClr val="F2EFDA"/>
                </a:solidFill>
                <a:latin typeface="Courier New" pitchFamily="34" charset="0"/>
                <a:cs typeface="Courier New" pitchFamily="34" charset="-120"/>
              </a:rPr>
              <a:t>Profitabilität</a:t>
            </a:r>
            <a:endParaRPr lang="en-US" sz="1500" b="1" kern="0" dirty="0">
              <a:solidFill>
                <a:srgbClr val="F2EFDA"/>
              </a:solidFill>
              <a:latin typeface="Courier New" pitchFamily="34" charset="0"/>
              <a:cs typeface="Courier New" pitchFamily="34" charset="-120"/>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2</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10 / 15</a:t>
            </a:r>
            <a:endParaRPr lang="en-US" sz="120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err="1">
                <a:solidFill>
                  <a:srgbClr val="F2EFDA"/>
                </a:solidFill>
                <a:latin typeface="Arial" pitchFamily="34" charset="0"/>
                <a:ea typeface="Arial" pitchFamily="34" charset="-122"/>
                <a:cs typeface="Arial" pitchFamily="34" charset="-120"/>
              </a:rPr>
              <a:t>Überschrift</a:t>
            </a:r>
            <a:r>
              <a:rPr lang="en-US" sz="2000" b="1" kern="0" spc="-50" dirty="0">
                <a:solidFill>
                  <a:srgbClr val="F2EFDA"/>
                </a:solidFill>
                <a:latin typeface="Arial" pitchFamily="34" charset="0"/>
                <a:ea typeface="Arial" pitchFamily="34" charset="-122"/>
                <a:cs typeface="Arial" pitchFamily="34" charset="-120"/>
              </a:rPr>
              <a:t>, </a:t>
            </a:r>
            <a:r>
              <a:rPr lang="en-US" sz="2000" b="1" kern="0" spc="-50" dirty="0" err="1">
                <a:solidFill>
                  <a:srgbClr val="F2EFDA"/>
                </a:solidFill>
                <a:latin typeface="Arial" pitchFamily="34" charset="0"/>
                <a:ea typeface="Arial" pitchFamily="34" charset="-122"/>
                <a:cs typeface="Arial" pitchFamily="34" charset="-120"/>
              </a:rPr>
              <a:t>aber</a:t>
            </a:r>
            <a:r>
              <a:rPr lang="en-US" sz="2000" b="1" kern="0" spc="-50" dirty="0">
                <a:solidFill>
                  <a:srgbClr val="F2EFDA"/>
                </a:solidFill>
                <a:latin typeface="Arial" pitchFamily="34" charset="0"/>
                <a:ea typeface="Arial" pitchFamily="34" charset="-122"/>
                <a:cs typeface="Arial" pitchFamily="34" charset="-120"/>
              </a:rPr>
              <a:t> </a:t>
            </a:r>
            <a:r>
              <a:rPr lang="en-US" sz="2000" b="1" kern="0" spc="-50" dirty="0" err="1">
                <a:solidFill>
                  <a:srgbClr val="F2EFDA"/>
                </a:solidFill>
                <a:latin typeface="Arial" pitchFamily="34" charset="0"/>
                <a:ea typeface="Arial" pitchFamily="34" charset="-122"/>
                <a:cs typeface="Arial" pitchFamily="34" charset="-120"/>
              </a:rPr>
              <a:t>auch</a:t>
            </a:r>
            <a:r>
              <a:rPr lang="en-US" sz="2000" b="1" kern="0" spc="-50" dirty="0">
                <a:solidFill>
                  <a:srgbClr val="F2EFDA"/>
                </a:solidFill>
                <a:latin typeface="Arial" pitchFamily="34" charset="0"/>
                <a:ea typeface="Arial" pitchFamily="34" charset="-122"/>
                <a:cs typeface="Arial" pitchFamily="34" charset="-120"/>
              </a:rPr>
              <a:t> </a:t>
            </a:r>
            <a:r>
              <a:rPr lang="en-US" sz="2000" b="1" kern="0" spc="-50" dirty="0" err="1">
                <a:solidFill>
                  <a:srgbClr val="F2EFDA"/>
                </a:solidFill>
                <a:latin typeface="Arial" pitchFamily="34" charset="0"/>
                <a:ea typeface="Arial" pitchFamily="34" charset="-122"/>
                <a:cs typeface="Arial" pitchFamily="34" charset="-120"/>
              </a:rPr>
              <a:t>inhalt</a:t>
            </a:r>
            <a:r>
              <a:rPr lang="en-US" sz="2000" b="1" kern="0" spc="-50" dirty="0">
                <a:solidFill>
                  <a:srgbClr val="F2EFDA"/>
                </a:solidFill>
                <a:latin typeface="Arial" pitchFamily="34" charset="0"/>
                <a:ea typeface="Arial" pitchFamily="34" charset="-122"/>
                <a:cs typeface="Arial" pitchFamily="34" charset="-120"/>
              </a:rPr>
              <a:t> </a:t>
            </a:r>
            <a:r>
              <a:rPr lang="en-US" sz="2000" b="1" kern="0" spc="-50" dirty="0" err="1">
                <a:solidFill>
                  <a:srgbClr val="F2EFDA"/>
                </a:solidFill>
                <a:latin typeface="Arial" pitchFamily="34" charset="0"/>
                <a:ea typeface="Arial" pitchFamily="34" charset="-122"/>
                <a:cs typeface="Arial" pitchFamily="34" charset="-120"/>
              </a:rPr>
              <a:t>noch</a:t>
            </a:r>
            <a:r>
              <a:rPr lang="en-US" sz="2000" b="1" kern="0" spc="-50" dirty="0">
                <a:solidFill>
                  <a:srgbClr val="F2EFDA"/>
                </a:solidFill>
                <a:latin typeface="Arial" pitchFamily="34" charset="0"/>
                <a:ea typeface="Arial" pitchFamily="34" charset="-122"/>
                <a:cs typeface="Arial" pitchFamily="34" charset="-120"/>
              </a:rPr>
              <a:t> nicht </a:t>
            </a:r>
            <a:r>
              <a:rPr lang="en-US" sz="2000" b="1" kern="0" spc="-50" dirty="0" err="1">
                <a:solidFill>
                  <a:srgbClr val="F2EFDA"/>
                </a:solidFill>
                <a:latin typeface="Arial" pitchFamily="34" charset="0"/>
                <a:ea typeface="Arial" pitchFamily="34" charset="-122"/>
                <a:cs typeface="Arial" pitchFamily="34" charset="-120"/>
              </a:rPr>
              <a:t>aufs</a:t>
            </a:r>
            <a:r>
              <a:rPr lang="en-US" sz="2000" b="1" kern="0" spc="-50" dirty="0">
                <a:solidFill>
                  <a:srgbClr val="F2EFDA"/>
                </a:solidFill>
                <a:latin typeface="Arial" pitchFamily="34" charset="0"/>
                <a:ea typeface="Arial" pitchFamily="34" charset="-122"/>
                <a:cs typeface="Arial" pitchFamily="34" charset="-120"/>
              </a:rPr>
              <a:t> </a:t>
            </a:r>
            <a:r>
              <a:rPr lang="en-US" sz="2000" b="1" kern="0" spc="-50" dirty="0" err="1">
                <a:solidFill>
                  <a:srgbClr val="F2EFDA"/>
                </a:solidFill>
                <a:latin typeface="Arial" pitchFamily="34" charset="0"/>
                <a:ea typeface="Arial" pitchFamily="34" charset="-122"/>
                <a:cs typeface="Arial" pitchFamily="34" charset="-120"/>
              </a:rPr>
              <a:t>allgemeine</a:t>
            </a:r>
            <a:r>
              <a:rPr lang="en-US" sz="2000" b="1" kern="0" spc="-50" dirty="0">
                <a:solidFill>
                  <a:srgbClr val="F2EFDA"/>
                </a:solidFill>
                <a:latin typeface="Arial" pitchFamily="34" charset="0"/>
                <a:ea typeface="Arial" pitchFamily="34" charset="-122"/>
                <a:cs typeface="Arial" pitchFamily="34" charset="-120"/>
              </a:rPr>
              <a:t> level</a:t>
            </a:r>
            <a:endParaRPr lang="en-US" sz="2000" dirty="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a:solidFill>
                  <a:srgbClr val="B3BC9A"/>
                </a:solidFill>
                <a:latin typeface="Arial" pitchFamily="34" charset="0"/>
                <a:ea typeface="Arial" pitchFamily="34" charset="-122"/>
                <a:cs typeface="Arial" pitchFamily="34" charset="-120"/>
              </a:rPr>
              <a:t>Pro Sektor × Kennzahl: Quartals-Median über die Unternehmen, geglättet über 25 Quartale — parallel die AR(1)-Drift c pro Unternehmen als zweite Trend-Messung.</a:t>
            </a:r>
            <a:endParaRPr lang="en-US" sz="1100"/>
          </a:p>
        </p:txBody>
      </p:sp>
      <p:sp>
        <p:nvSpPr>
          <p:cNvPr id="20" name="Text 17"/>
          <p:cNvSpPr/>
          <p:nvPr/>
        </p:nvSpPr>
        <p:spPr>
          <a:xfrm>
            <a:off x="634594" y="5350000"/>
            <a:ext cx="10921594" cy="254203"/>
          </a:xfrm>
          <a:prstGeom prst="rect">
            <a:avLst/>
          </a:prstGeom>
          <a:noFill/>
          <a:ln/>
        </p:spPr>
        <p:txBody>
          <a:bodyPr wrap="square" rtlCol="0" anchor="t"/>
          <a:lstStyle/>
          <a:p>
            <a:pPr marL="0" indent="0" algn="l">
              <a:lnSpc>
                <a:spcPct val="105000"/>
              </a:lnSpc>
              <a:buNone/>
            </a:pPr>
            <a:r>
              <a:rPr lang="en-US" sz="900" kern="0">
                <a:solidFill>
                  <a:srgbClr val="798D6F"/>
                </a:solidFill>
                <a:latin typeface="Arial" pitchFamily="34" charset="0"/>
                <a:ea typeface="Arial" pitchFamily="34" charset="-122"/>
                <a:cs typeface="Arial" pitchFamily="34" charset="-120"/>
              </a:rPr>
              <a:t>Validierung: Niveau-Trend und AR(1)-Drift c messen denselben Pfad — r = 0,86 über 70 Kombinationen, Vorzeichen-Übereinstimmung 54/70. Krisenphasen aus 5.2.1 als Schraffuren in jedem Plot.</a:t>
            </a:r>
            <a:endParaRPr lang="en-US" sz="900"/>
          </a:p>
        </p:txBody>
      </p:sp>
      <p:sp>
        <p:nvSpPr>
          <p:cNvPr id="71" name="!!K_Tech"/>
          <p:cNvSpPr/>
          <p:nvPr/>
        </p:nvSpPr>
        <p:spPr>
          <a:xfrm>
            <a:off x="6235294" y="1750000"/>
            <a:ext cx="5320894" cy="155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72" name="!!L_Tech"/>
          <p:cNvSpPr/>
          <p:nvPr/>
        </p:nvSpPr>
        <p:spPr>
          <a:xfrm>
            <a:off x="6489497" y="1880000"/>
            <a:ext cx="4812488" cy="230000"/>
          </a:xfrm>
          <a:prstGeom prst="rect">
            <a:avLst/>
          </a:prstGeom>
          <a:noFill/>
          <a:ln/>
        </p:spPr>
        <p:txBody>
          <a:bodyPr wrap="square" rtlCol="0" anchor="t"/>
          <a:lstStyle/>
          <a:p>
            <a:pPr marL="0" indent="0" algn="l">
              <a:lnSpc>
                <a:spcPct val="105000"/>
              </a:lnSpc>
              <a:buNone/>
            </a:pPr>
            <a:r>
              <a:rPr lang="en-US" sz="1050" b="1" kern="0">
                <a:solidFill>
                  <a:srgbClr val="F2EFDA"/>
                </a:solidFill>
                <a:latin typeface="Courier New" pitchFamily="34" charset="0"/>
                <a:ea typeface="Courier New" pitchFamily="34" charset="-122"/>
                <a:cs typeface="Courier New" pitchFamily="34" charset="-120"/>
              </a:rPr>
              <a:t>BEISPIEL TECHNOLOGIE</a:t>
            </a:r>
            <a:endParaRPr lang="en-US" sz="1050"/>
          </a:p>
        </p:txBody>
      </p:sp>
      <p:sp>
        <p:nvSpPr>
          <p:cNvPr id="73" name="!!T_Tech"/>
          <p:cNvSpPr/>
          <p:nvPr/>
        </p:nvSpPr>
        <p:spPr>
          <a:xfrm>
            <a:off x="6489497" y="2150000"/>
            <a:ext cx="4812488" cy="1070000"/>
          </a:xfrm>
          <a:prstGeom prst="rect">
            <a:avLst/>
          </a:prstGeom>
          <a:noFill/>
          <a:ln/>
        </p:spPr>
        <p:txBody>
          <a:bodyPr wrap="square" rtlCol="0" anchor="t"/>
          <a:lstStyle/>
          <a:p>
            <a:pPr marL="0" indent="0" algn="l">
              <a:lnSpc>
                <a:spcPct val="100000"/>
              </a:lnSpc>
              <a:buNone/>
            </a:pPr>
            <a:r>
              <a:rPr lang="en-US" sz="1400" b="1" kern="0">
                <a:solidFill>
                  <a:srgbClr val="F2EFDA"/>
                </a:solidFill>
                <a:latin typeface="Courier New" pitchFamily="34" charset="0"/>
                <a:ea typeface="Courier New" pitchFamily="34" charset="-122"/>
                <a:cs typeface="Courier New" pitchFamily="34" charset="-120"/>
              </a:rPr>
              <a:t>CR 2,48 → 1,87 · D/E 0,18 → 0,42</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Die Kurven kreuzen sich um 2013 — vom liquiditätsdominierten Start-up-Profil zur </a:t>
            </a:r>
            <a:r>
              <a:rPr lang="en-US" sz="1000" b="1" kern="0">
                <a:solidFill>
                  <a:srgbClr val="F2EFDA"/>
                </a:solidFill>
                <a:latin typeface="Arial" pitchFamily="34" charset="0"/>
                <a:ea typeface="Arial" pitchFamily="34" charset="-122"/>
                <a:cs typeface="Arial" pitchFamily="34" charset="-120"/>
              </a:rPr>
              <a:t>reifen, fremdfinanzierten Struktur</a:t>
            </a:r>
            <a:r>
              <a:rPr lang="en-US" sz="1000" kern="0">
                <a:solidFill>
                  <a:srgbClr val="B3BC9A"/>
                </a:solidFill>
                <a:latin typeface="Arial" pitchFamily="34" charset="0"/>
                <a:ea typeface="Arial" pitchFamily="34" charset="-122"/>
                <a:cs typeface="Arial" pitchFamily="34" charset="-120"/>
              </a:rPr>
              <a:t>. R² = 0,82 (CR) · 0,75 (D/E) · 0,88 (EK-Quote) — die höchsten Werte der Arbeit.</a:t>
            </a:r>
            <a:endParaRPr lang="en-US" sz="1000"/>
          </a:p>
        </p:txBody>
      </p:sp>
      <p:sp>
        <p:nvSpPr>
          <p:cNvPr id="74" name="!!K_Vorz"/>
          <p:cNvSpPr/>
          <p:nvPr/>
        </p:nvSpPr>
        <p:spPr>
          <a:xfrm>
            <a:off x="6235294" y="3450000"/>
            <a:ext cx="5320894" cy="16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75" name="!!L_Vorz"/>
          <p:cNvSpPr/>
          <p:nvPr/>
        </p:nvSpPr>
        <p:spPr>
          <a:xfrm>
            <a:off x="6489497" y="3580000"/>
            <a:ext cx="4812488" cy="230000"/>
          </a:xfrm>
          <a:prstGeom prst="rect">
            <a:avLst/>
          </a:prstGeom>
          <a:noFill/>
          <a:ln/>
        </p:spPr>
        <p:txBody>
          <a:bodyPr wrap="square" rtlCol="0" anchor="t"/>
          <a:lstStyle/>
          <a:p>
            <a:pPr marL="0" indent="0" algn="l">
              <a:lnSpc>
                <a:spcPct val="105000"/>
              </a:lnSpc>
              <a:buNone/>
            </a:pPr>
            <a:r>
              <a:rPr lang="en-US" sz="1050" b="1" kern="0">
                <a:solidFill>
                  <a:srgbClr val="B3BC9A"/>
                </a:solidFill>
                <a:latin typeface="Courier New" pitchFamily="34" charset="0"/>
                <a:ea typeface="Courier New" pitchFamily="34" charset="-122"/>
                <a:cs typeface="Courier New" pitchFamily="34" charset="-120"/>
              </a:rPr>
              <a:t>VORZEICHEN-BILANZ · 70 SEKTOR-KENNZAHL-KOMBINATIONEN</a:t>
            </a:r>
            <a:endParaRPr lang="en-US" sz="1050"/>
          </a:p>
        </p:txBody>
      </p:sp>
      <p:sp>
        <p:nvSpPr>
          <p:cNvPr id="76" name="!!T_Vorz"/>
          <p:cNvSpPr/>
          <p:nvPr/>
        </p:nvSpPr>
        <p:spPr>
          <a:xfrm>
            <a:off x="6489497" y="3850000"/>
            <a:ext cx="4812488" cy="1120000"/>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44 / 70</a:t>
            </a:r>
            <a:r>
              <a:rPr lang="en-US" sz="1100" kern="0">
                <a:solidFill>
                  <a:srgbClr val="798D6F"/>
                </a:solidFill>
                <a:latin typeface="Courier New" pitchFamily="34" charset="0"/>
                <a:ea typeface="Courier New" pitchFamily="34" charset="-122"/>
                <a:cs typeface="Courier New" pitchFamily="34" charset="-120"/>
              </a:rPr>
              <a:t>   c-Mediane positiv</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Debt/Equity in </a:t>
            </a:r>
            <a:r>
              <a:rPr lang="en-US" sz="1000" b="1" kern="0">
                <a:solidFill>
                  <a:srgbClr val="F2EFDA"/>
                </a:solidFill>
                <a:latin typeface="Arial" pitchFamily="34" charset="0"/>
                <a:ea typeface="Arial" pitchFamily="34" charset="-122"/>
                <a:cs typeface="Arial" pitchFamily="34" charset="-120"/>
              </a:rPr>
              <a:t>10/10 Sektoren positiv</a:t>
            </a:r>
            <a:r>
              <a:rPr lang="en-US" sz="1000" kern="0">
                <a:solidFill>
                  <a:srgbClr val="B3BC9A"/>
                </a:solidFill>
                <a:latin typeface="Arial" pitchFamily="34" charset="0"/>
                <a:ea typeface="Arial" pitchFamily="34" charset="-122"/>
                <a:cs typeface="Arial" pitchFamily="34" charset="-120"/>
              </a:rPr>
              <a:t> · FCF-Marge 9/10 · EBIT-Marge 8/10 — EK-Quote in 7/10 negativ: </a:t>
            </a:r>
            <a:r>
              <a:rPr lang="en-US" sz="1000" b="1" kern="0">
                <a:solidFill>
                  <a:srgbClr val="F2EFDA"/>
                </a:solidFill>
                <a:latin typeface="Arial" pitchFamily="34" charset="0"/>
                <a:ea typeface="Arial" pitchFamily="34" charset="-122"/>
                <a:cs typeface="Arial" pitchFamily="34" charset="-120"/>
              </a:rPr>
              <a:t>Verschuldungs- und Margenexpansion</a:t>
            </a:r>
            <a:r>
              <a:rPr lang="en-US" sz="1000" kern="0">
                <a:solidFill>
                  <a:srgbClr val="B3BC9A"/>
                </a:solidFill>
                <a:latin typeface="Arial" pitchFamily="34" charset="0"/>
                <a:ea typeface="Arial" pitchFamily="34" charset="-122"/>
                <a:cs typeface="Arial" pitchFamily="34" charset="-120"/>
              </a:rPr>
              <a:t> (Bates et al. 2009; Graham et al. 2015).</a:t>
            </a:r>
            <a:endParaRPr lang="en-US" sz="1000"/>
          </a:p>
        </p:txBody>
      </p:sp>
      <p:pic>
        <p:nvPicPr>
          <p:cNvPr id="10" name="Grafik 9">
            <a:extLst>
              <a:ext uri="{FF2B5EF4-FFF2-40B4-BE49-F238E27FC236}">
                <a16:creationId xmlns:a16="http://schemas.microsoft.com/office/drawing/2014/main" id="{22E47D9B-033D-43BE-53E1-576C4D77197A}"/>
              </a:ext>
            </a:extLst>
          </p:cNvPr>
          <p:cNvPicPr>
            <a:picLocks noChangeAspect="1"/>
          </p:cNvPicPr>
          <p:nvPr/>
        </p:nvPicPr>
        <p:blipFill>
          <a:blip r:embed="rId3"/>
          <a:stretch>
            <a:fillRect/>
          </a:stretch>
        </p:blipFill>
        <p:spPr>
          <a:xfrm>
            <a:off x="656751" y="1943143"/>
            <a:ext cx="5438640" cy="294617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2</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11 / 15</a:t>
            </a:r>
            <a:endParaRPr lang="en-US" sz="1200"/>
          </a:p>
        </p:txBody>
      </p:sp>
      <p:sp>
        <p:nvSpPr>
          <p:cNvPr id="20" name="Text 17"/>
          <p:cNvSpPr/>
          <p:nvPr/>
        </p:nvSpPr>
        <p:spPr>
          <a:xfrm>
            <a:off x="635000" y="5359400"/>
            <a:ext cx="10922000" cy="254000"/>
          </a:xfrm>
          <a:prstGeom prst="rect">
            <a:avLst/>
          </a:prstGeom>
          <a:noFill/>
          <a:ln/>
        </p:spPr>
        <p:txBody>
          <a:bodyPr wrap="square" rtlCol="0" anchor="t"/>
          <a:lstStyle/>
          <a:p>
            <a:pPr marL="0" indent="0" algn="l">
              <a:lnSpc>
                <a:spcPct val="105000"/>
              </a:lnSpc>
              <a:buNone/>
            </a:pPr>
            <a:r>
              <a:rPr lang="en-US" sz="900" kern="0">
                <a:solidFill>
                  <a:srgbClr val="798D6F"/>
                </a:solidFill>
                <a:latin typeface="Arial" pitchFamily="34" charset="0"/>
                <a:ea typeface="Arial" pitchFamily="34" charset="-122"/>
                <a:cs typeface="Arial" pitchFamily="34" charset="-120"/>
              </a:rPr>
              <a:t>Reaktion vs. Baseline: Median |ΔY| im Peak-Quartal ÷ Nicht-Peak-Baseline — Werte über 1 = überproportional. Testbilanz: 7/12 Bonferroni · 11/12 FDR · In-Sample-Konsistenzprüfung.</a:t>
            </a:r>
            <a:endParaRPr lang="en-US" sz="900"/>
          </a:p>
        </p:txBody>
      </p:sp>
      <p:sp>
        <p:nvSpPr>
          <p:cNvPr id="81" name="!!K_GFC"/>
          <p:cNvSpPr/>
          <p:nvPr/>
        </p:nvSpPr>
        <p:spPr>
          <a:xfrm>
            <a:off x="635000" y="4089400"/>
            <a:ext cx="3467100" cy="1143000"/>
          </a:xfrm>
          <a:prstGeom prst="roundRect">
            <a:avLst>
              <a:gd name="adj" fmla="val 3197"/>
            </a:avLst>
          </a:prstGeom>
          <a:solidFill>
            <a:srgbClr val="153B29"/>
          </a:solidFill>
          <a:ln w="12700">
            <a:solidFill>
              <a:srgbClr val="E6D34F"/>
            </a:solidFill>
            <a:prstDash val="solid"/>
          </a:ln>
        </p:spPr>
        <p:txBody>
          <a:bodyPr/>
          <a:lstStyle/>
          <a:p>
            <a:endParaRPr lang="de-DE"/>
          </a:p>
        </p:txBody>
      </p:sp>
      <p:sp>
        <p:nvSpPr>
          <p:cNvPr id="82" name="!!L_GFC"/>
          <p:cNvSpPr/>
          <p:nvPr/>
        </p:nvSpPr>
        <p:spPr>
          <a:xfrm>
            <a:off x="889000" y="4216400"/>
            <a:ext cx="2959100" cy="228600"/>
          </a:xfrm>
          <a:prstGeom prst="rect">
            <a:avLst/>
          </a:prstGeom>
          <a:noFill/>
          <a:ln/>
        </p:spPr>
        <p:txBody>
          <a:bodyPr wrap="square" rtlCol="0" anchor="t"/>
          <a:lstStyle/>
          <a:p>
            <a:pPr marL="0" indent="0" algn="l">
              <a:lnSpc>
                <a:spcPct val="105000"/>
              </a:lnSpc>
              <a:buNone/>
            </a:pPr>
            <a:r>
              <a:rPr lang="en-US" sz="1050" b="1" kern="0">
                <a:solidFill>
                  <a:srgbClr val="E6D34F"/>
                </a:solidFill>
                <a:latin typeface="Courier New" pitchFamily="34" charset="0"/>
                <a:ea typeface="Courier New" pitchFamily="34" charset="-122"/>
                <a:cs typeface="Courier New" pitchFamily="34" charset="-120"/>
              </a:rPr>
              <a:t>FINANZKRISE · 2009</a:t>
            </a:r>
            <a:endParaRPr lang="en-US" sz="1050"/>
          </a:p>
        </p:txBody>
      </p:sp>
      <p:sp>
        <p:nvSpPr>
          <p:cNvPr id="83" name="!!T_GFC"/>
          <p:cNvSpPr/>
          <p:nvPr/>
        </p:nvSpPr>
        <p:spPr>
          <a:xfrm>
            <a:off x="889000" y="4483100"/>
            <a:ext cx="2959100" cy="660400"/>
          </a:xfrm>
          <a:prstGeom prst="rect">
            <a:avLst/>
          </a:prstGeom>
          <a:noFill/>
          <a:ln/>
        </p:spPr>
        <p:txBody>
          <a:bodyPr wrap="square" rtlCol="0" anchor="t"/>
          <a:lstStyle/>
          <a:p>
            <a:pPr marL="0" indent="0" algn="l">
              <a:lnSpc>
                <a:spcPct val="100000"/>
              </a:lnSpc>
              <a:buNone/>
            </a:pPr>
            <a:r>
              <a:rPr lang="en-US" sz="1500" b="1" kern="0" dirty="0" err="1">
                <a:solidFill>
                  <a:srgbClr val="F2EFDA"/>
                </a:solidFill>
                <a:latin typeface="Courier New" pitchFamily="34" charset="0"/>
                <a:ea typeface="Courier New" pitchFamily="34" charset="-122"/>
                <a:cs typeface="Courier New" pitchFamily="34" charset="-120"/>
              </a:rPr>
              <a:t>r_rb</a:t>
            </a:r>
            <a:r>
              <a:rPr lang="en-US" sz="1500" b="1" kern="0" dirty="0">
                <a:solidFill>
                  <a:srgbClr val="F2EFDA"/>
                </a:solidFill>
                <a:latin typeface="Courier New" pitchFamily="34" charset="0"/>
                <a:ea typeface="Courier New" pitchFamily="34" charset="-122"/>
                <a:cs typeface="Courier New" pitchFamily="34" charset="-120"/>
              </a:rPr>
              <a:t> = −0,36</a:t>
            </a:r>
            <a:r>
              <a:rPr lang="en-US" sz="1100" kern="0" dirty="0">
                <a:solidFill>
                  <a:srgbClr val="798D6F"/>
                </a:solidFill>
                <a:latin typeface="Courier New" pitchFamily="34" charset="0"/>
                <a:ea typeface="Courier New" pitchFamily="34" charset="-122"/>
                <a:cs typeface="Courier New" pitchFamily="34" charset="-120"/>
              </a:rPr>
              <a:t>   </a:t>
            </a:r>
            <a:r>
              <a:rPr lang="en-US" sz="1100" kern="0" dirty="0" err="1">
                <a:solidFill>
                  <a:srgbClr val="798D6F"/>
                </a:solidFill>
                <a:latin typeface="Courier New" pitchFamily="34" charset="0"/>
                <a:ea typeface="Courier New" pitchFamily="34" charset="-122"/>
                <a:cs typeface="Courier New" pitchFamily="34" charset="-120"/>
              </a:rPr>
              <a:t>volatil</a:t>
            </a:r>
            <a:r>
              <a:rPr lang="en-US" sz="1100" kern="0" dirty="0">
                <a:solidFill>
                  <a:srgbClr val="798D6F"/>
                </a:solidFill>
                <a:latin typeface="Courier New" pitchFamily="34" charset="0"/>
                <a:ea typeface="Courier New" pitchFamily="34" charset="-122"/>
                <a:cs typeface="Courier New" pitchFamily="34" charset="-120"/>
              </a:rPr>
              <a:t> vs. </a:t>
            </a:r>
            <a:r>
              <a:rPr lang="en-US" sz="1100" kern="0" dirty="0" err="1">
                <a:solidFill>
                  <a:srgbClr val="798D6F"/>
                </a:solidFill>
                <a:latin typeface="Courier New" pitchFamily="34" charset="0"/>
                <a:ea typeface="Courier New" pitchFamily="34" charset="-122"/>
                <a:cs typeface="Courier New" pitchFamily="34" charset="-120"/>
              </a:rPr>
              <a:t>stabil</a:t>
            </a:r>
            <a:endParaRPr lang="en-US" sz="1500" dirty="0"/>
          </a:p>
          <a:p>
            <a:pPr marL="0" indent="0" algn="l">
              <a:lnSpc>
                <a:spcPct val="104000"/>
              </a:lnSpc>
              <a:buNone/>
            </a:pPr>
            <a:r>
              <a:rPr lang="en-US" sz="1000" kern="0" dirty="0">
                <a:solidFill>
                  <a:srgbClr val="B3BC9A"/>
                </a:solidFill>
                <a:latin typeface="Arial" pitchFamily="34" charset="0"/>
                <a:ea typeface="Arial" pitchFamily="34" charset="-122"/>
                <a:cs typeface="Arial" pitchFamily="34" charset="-120"/>
              </a:rPr>
              <a:t>ROA −0,360 · EBIT-Marge −0,355 — </a:t>
            </a:r>
            <a:r>
              <a:rPr lang="en-US" sz="1000" b="1" kern="0" dirty="0" err="1">
                <a:solidFill>
                  <a:srgbClr val="F2EFDA"/>
                </a:solidFill>
                <a:latin typeface="Arial" pitchFamily="34" charset="0"/>
                <a:ea typeface="Arial" pitchFamily="34" charset="-122"/>
                <a:cs typeface="Arial" pitchFamily="34" charset="-120"/>
              </a:rPr>
              <a:t>volatil</a:t>
            </a:r>
            <a:r>
              <a:rPr lang="en-US" sz="1000" b="1" kern="0" dirty="0">
                <a:solidFill>
                  <a:srgbClr val="F2EFDA"/>
                </a:solidFill>
                <a:latin typeface="Arial" pitchFamily="34" charset="0"/>
                <a:ea typeface="Arial" pitchFamily="34" charset="-122"/>
                <a:cs typeface="Arial" pitchFamily="34" charset="-120"/>
              </a:rPr>
              <a:t> </a:t>
            </a:r>
            <a:r>
              <a:rPr lang="en-US" sz="1000" b="1" kern="0" dirty="0" err="1">
                <a:solidFill>
                  <a:srgbClr val="F2EFDA"/>
                </a:solidFill>
                <a:latin typeface="Arial" pitchFamily="34" charset="0"/>
                <a:ea typeface="Arial" pitchFamily="34" charset="-122"/>
                <a:cs typeface="Arial" pitchFamily="34" charset="-120"/>
              </a:rPr>
              <a:t>reagiert</a:t>
            </a:r>
            <a:r>
              <a:rPr lang="en-US" sz="1000" b="1" kern="0" dirty="0">
                <a:solidFill>
                  <a:srgbClr val="F2EFDA"/>
                </a:solidFill>
                <a:latin typeface="Arial" pitchFamily="34" charset="0"/>
                <a:ea typeface="Arial" pitchFamily="34" charset="-122"/>
                <a:cs typeface="Arial" pitchFamily="34" charset="-120"/>
              </a:rPr>
              <a:t> </a:t>
            </a:r>
            <a:r>
              <a:rPr lang="en-US" sz="1000" b="1" kern="0" dirty="0" err="1">
                <a:solidFill>
                  <a:srgbClr val="F2EFDA"/>
                </a:solidFill>
                <a:latin typeface="Arial" pitchFamily="34" charset="0"/>
                <a:ea typeface="Arial" pitchFamily="34" charset="-122"/>
                <a:cs typeface="Arial" pitchFamily="34" charset="-120"/>
              </a:rPr>
              <a:t>stärker</a:t>
            </a:r>
            <a:r>
              <a:rPr lang="en-US" sz="1000" kern="0" dirty="0">
                <a:solidFill>
                  <a:srgbClr val="B3BC9A"/>
                </a:solidFill>
                <a:latin typeface="Arial" pitchFamily="34" charset="0"/>
                <a:ea typeface="Arial" pitchFamily="34" charset="-122"/>
                <a:cs typeface="Arial" pitchFamily="34" charset="-120"/>
              </a:rPr>
              <a:t> (Bonferroni).</a:t>
            </a:r>
            <a:endParaRPr lang="en-US" sz="1000" dirty="0"/>
          </a:p>
        </p:txBody>
      </p:sp>
      <p:sp>
        <p:nvSpPr>
          <p:cNvPr id="84" name="!!K_COVID"/>
          <p:cNvSpPr/>
          <p:nvPr/>
        </p:nvSpPr>
        <p:spPr>
          <a:xfrm>
            <a:off x="4356100" y="4089400"/>
            <a:ext cx="3467100" cy="1143000"/>
          </a:xfrm>
          <a:prstGeom prst="roundRect">
            <a:avLst>
              <a:gd name="adj" fmla="val 3197"/>
            </a:avLst>
          </a:prstGeom>
          <a:solidFill>
            <a:srgbClr val="153B29"/>
          </a:solidFill>
          <a:ln w="12700">
            <a:solidFill>
              <a:srgbClr val="F36451"/>
            </a:solidFill>
            <a:prstDash val="solid"/>
          </a:ln>
        </p:spPr>
        <p:txBody>
          <a:bodyPr/>
          <a:lstStyle/>
          <a:p>
            <a:endParaRPr lang="de-DE"/>
          </a:p>
        </p:txBody>
      </p:sp>
      <p:sp>
        <p:nvSpPr>
          <p:cNvPr id="85" name="!!L_COVID"/>
          <p:cNvSpPr/>
          <p:nvPr/>
        </p:nvSpPr>
        <p:spPr>
          <a:xfrm>
            <a:off x="4610100" y="4216400"/>
            <a:ext cx="2959100" cy="228600"/>
          </a:xfrm>
          <a:prstGeom prst="rect">
            <a:avLst/>
          </a:prstGeom>
          <a:noFill/>
          <a:ln/>
        </p:spPr>
        <p:txBody>
          <a:bodyPr wrap="square" rtlCol="0" anchor="t"/>
          <a:lstStyle/>
          <a:p>
            <a:pPr marL="0" indent="0" algn="l">
              <a:lnSpc>
                <a:spcPct val="105000"/>
              </a:lnSpc>
              <a:buNone/>
            </a:pPr>
            <a:r>
              <a:rPr lang="en-US" sz="1050" b="1" kern="0">
                <a:solidFill>
                  <a:srgbClr val="F36451"/>
                </a:solidFill>
                <a:latin typeface="Courier New" pitchFamily="34" charset="0"/>
                <a:ea typeface="Courier New" pitchFamily="34" charset="-122"/>
                <a:cs typeface="Courier New" pitchFamily="34" charset="-120"/>
              </a:rPr>
              <a:t>COVID · 2020</a:t>
            </a:r>
            <a:endParaRPr lang="en-US" sz="1050"/>
          </a:p>
        </p:txBody>
      </p:sp>
      <p:sp>
        <p:nvSpPr>
          <p:cNvPr id="86" name="!!T_COVID"/>
          <p:cNvSpPr/>
          <p:nvPr/>
        </p:nvSpPr>
        <p:spPr>
          <a:xfrm>
            <a:off x="4610100" y="4483100"/>
            <a:ext cx="2959100" cy="660400"/>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r_rb = −0,27</a:t>
            </a:r>
            <a:r>
              <a:rPr lang="en-US" sz="1100" kern="0">
                <a:solidFill>
                  <a:srgbClr val="798D6F"/>
                </a:solidFill>
                <a:latin typeface="Courier New" pitchFamily="34" charset="0"/>
                <a:ea typeface="Courier New" pitchFamily="34" charset="-122"/>
                <a:cs typeface="Courier New" pitchFamily="34" charset="-120"/>
              </a:rPr>
              <a:t>   Trennung bestätigt</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ROA Bonferroni-signifikant · </a:t>
            </a:r>
            <a:r>
              <a:rPr lang="en-US" sz="1000" b="1" kern="0">
                <a:solidFill>
                  <a:srgbClr val="F2EFDA"/>
                </a:solidFill>
                <a:latin typeface="Arial" pitchFamily="34" charset="0"/>
                <a:ea typeface="Arial" pitchFamily="34" charset="-122"/>
                <a:cs typeface="Arial" pitchFamily="34" charset="-120"/>
              </a:rPr>
              <a:t>ε² = 0,13 (CR) · 0,10 (EBIT-Marge)</a:t>
            </a:r>
            <a:r>
              <a:rPr lang="en-US" sz="1000" kern="0">
                <a:solidFill>
                  <a:srgbClr val="B3BC9A"/>
                </a:solidFill>
                <a:latin typeface="Arial" pitchFamily="34" charset="0"/>
                <a:ea typeface="Arial" pitchFamily="34" charset="-122"/>
                <a:cs typeface="Arial" pitchFamily="34" charset="-120"/>
              </a:rPr>
              <a:t>.</a:t>
            </a:r>
            <a:endParaRPr lang="en-US" sz="1000"/>
          </a:p>
        </p:txBody>
      </p:sp>
      <p:sp>
        <p:nvSpPr>
          <p:cNvPr id="87" name="!!K_DotCom"/>
          <p:cNvSpPr/>
          <p:nvPr/>
        </p:nvSpPr>
        <p:spPr>
          <a:xfrm>
            <a:off x="8077200" y="4089400"/>
            <a:ext cx="3467100" cy="1143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88" name="!!L_DotCom"/>
          <p:cNvSpPr/>
          <p:nvPr/>
        </p:nvSpPr>
        <p:spPr>
          <a:xfrm>
            <a:off x="8331200" y="4216400"/>
            <a:ext cx="2959100" cy="228600"/>
          </a:xfrm>
          <a:prstGeom prst="rect">
            <a:avLst/>
          </a:prstGeom>
          <a:noFill/>
          <a:ln/>
        </p:spPr>
        <p:txBody>
          <a:bodyPr wrap="square" rtlCol="0" anchor="t"/>
          <a:lstStyle/>
          <a:p>
            <a:pPr marL="0" indent="0" algn="l">
              <a:lnSpc>
                <a:spcPct val="105000"/>
              </a:lnSpc>
              <a:buNone/>
            </a:pPr>
            <a:r>
              <a:rPr lang="en-US" sz="1050" b="1" kern="0">
                <a:solidFill>
                  <a:srgbClr val="B3BC9A"/>
                </a:solidFill>
                <a:latin typeface="Courier New" pitchFamily="34" charset="0"/>
                <a:ea typeface="Courier New" pitchFamily="34" charset="-122"/>
                <a:cs typeface="Courier New" pitchFamily="34" charset="-120"/>
              </a:rPr>
              <a:t>DOT-COM · 2001</a:t>
            </a:r>
            <a:endParaRPr lang="en-US" sz="1050"/>
          </a:p>
        </p:txBody>
      </p:sp>
      <p:sp>
        <p:nvSpPr>
          <p:cNvPr id="89" name="!!T_DotCom"/>
          <p:cNvSpPr/>
          <p:nvPr/>
        </p:nvSpPr>
        <p:spPr>
          <a:xfrm>
            <a:off x="8331200" y="4483100"/>
            <a:ext cx="2959100" cy="660400"/>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keine Trennung</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sektorspezifische Tech-Krise mit geringer Querschnittsbreite — </a:t>
            </a:r>
            <a:r>
              <a:rPr lang="en-US" sz="1000" b="1" kern="0">
                <a:solidFill>
                  <a:srgbClr val="F2EFDA"/>
                </a:solidFill>
                <a:latin typeface="Arial" pitchFamily="34" charset="0"/>
                <a:ea typeface="Arial" pitchFamily="34" charset="-122"/>
                <a:cs typeface="Arial" pitchFamily="34" charset="-120"/>
              </a:rPr>
              <a:t>konsistent mit der Phasen-Struktur</a:t>
            </a:r>
            <a:r>
              <a:rPr lang="en-US" sz="1000" kern="0">
                <a:solidFill>
                  <a:srgbClr val="B3BC9A"/>
                </a:solidFill>
                <a:latin typeface="Arial" pitchFamily="34" charset="0"/>
                <a:ea typeface="Arial" pitchFamily="34" charset="-122"/>
                <a:cs typeface="Arial" pitchFamily="34" charset="-120"/>
              </a:rPr>
              <a:t>.</a:t>
            </a:r>
            <a:endParaRPr lang="en-US" sz="1000"/>
          </a:p>
        </p:txBody>
      </p:sp>
      <p:sp>
        <p:nvSpPr>
          <p:cNvPr id="91" name="!!K_Chip1"/>
          <p:cNvSpPr/>
          <p:nvPr/>
        </p:nvSpPr>
        <p:spPr>
          <a:xfrm>
            <a:off x="635000" y="5740400"/>
            <a:ext cx="2590800" cy="8001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2" name="!!L_Chip1"/>
          <p:cNvSpPr/>
          <p:nvPr/>
        </p:nvSpPr>
        <p:spPr>
          <a:xfrm>
            <a:off x="812800" y="5816600"/>
            <a:ext cx="2235200" cy="215900"/>
          </a:xfrm>
          <a:prstGeom prst="rect">
            <a:avLst/>
          </a:prstGeom>
          <a:noFill/>
          <a:ln/>
        </p:spPr>
        <p:txBody>
          <a:bodyPr wrap="square" rtlCol="0" anchor="t"/>
          <a:lstStyle/>
          <a:p>
            <a:pPr marL="0" indent="0" algn="l">
              <a:lnSpc>
                <a:spcPct val="105000"/>
              </a:lnSpc>
              <a:buNone/>
            </a:pPr>
            <a:r>
              <a:rPr lang="en-US" sz="1000" b="1" kern="0">
                <a:solidFill>
                  <a:srgbClr val="79A2F9"/>
                </a:solidFill>
                <a:latin typeface="Courier New" pitchFamily="34" charset="0"/>
                <a:ea typeface="Courier New" pitchFamily="34" charset="-122"/>
                <a:cs typeface="Courier New" pitchFamily="34" charset="-120"/>
              </a:rPr>
              <a:t>EBIT-MARGE</a:t>
            </a:r>
            <a:endParaRPr lang="en-US" sz="1000"/>
          </a:p>
        </p:txBody>
      </p:sp>
      <p:sp>
        <p:nvSpPr>
          <p:cNvPr id="93" name="!!T_Chip1"/>
          <p:cNvSpPr/>
          <p:nvPr/>
        </p:nvSpPr>
        <p:spPr>
          <a:xfrm>
            <a:off x="812800" y="6045200"/>
            <a:ext cx="2235200" cy="457200"/>
          </a:xfrm>
          <a:prstGeom prst="rect">
            <a:avLst/>
          </a:prstGeom>
          <a:noFill/>
          <a:ln/>
        </p:spPr>
        <p:txBody>
          <a:bodyPr wrap="square" rtlCol="0" anchor="t"/>
          <a:lstStyle/>
          <a:p>
            <a:pPr marL="0" indent="0" algn="l">
              <a:lnSpc>
                <a:spcPct val="100000"/>
              </a:lnSpc>
              <a:buNone/>
            </a:pPr>
            <a:r>
              <a:rPr lang="en-US" sz="1250" b="1" kern="0">
                <a:solidFill>
                  <a:srgbClr val="F2EFDA"/>
                </a:solidFill>
                <a:latin typeface="Courier New" pitchFamily="34" charset="0"/>
                <a:ea typeface="Courier New" pitchFamily="34" charset="-122"/>
                <a:cs typeface="Courier New" pitchFamily="34" charset="-120"/>
              </a:rPr>
              <a:t>×1,53 · ×1,54</a:t>
            </a:r>
            <a:endParaRPr lang="en-US" sz="12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GFC · COVID — operativer Hebel: Umsatz bricht, Kosten bleiben.</a:t>
            </a:r>
            <a:endParaRPr lang="en-US" sz="870"/>
          </a:p>
        </p:txBody>
      </p:sp>
      <p:sp>
        <p:nvSpPr>
          <p:cNvPr id="94" name="!!K_Chip2"/>
          <p:cNvSpPr/>
          <p:nvPr/>
        </p:nvSpPr>
        <p:spPr>
          <a:xfrm>
            <a:off x="3416300" y="5740400"/>
            <a:ext cx="2590800" cy="8001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5" name="!!L_Chip2"/>
          <p:cNvSpPr/>
          <p:nvPr/>
        </p:nvSpPr>
        <p:spPr>
          <a:xfrm>
            <a:off x="3594100" y="5816600"/>
            <a:ext cx="2235200" cy="215900"/>
          </a:xfrm>
          <a:prstGeom prst="rect">
            <a:avLst/>
          </a:prstGeom>
          <a:noFill/>
          <a:ln/>
        </p:spPr>
        <p:txBody>
          <a:bodyPr wrap="square" rtlCol="0" anchor="t"/>
          <a:lstStyle/>
          <a:p>
            <a:pPr marL="0" indent="0" algn="l">
              <a:lnSpc>
                <a:spcPct val="105000"/>
              </a:lnSpc>
              <a:buNone/>
            </a:pPr>
            <a:r>
              <a:rPr lang="en-US" sz="1000" b="1" kern="0">
                <a:solidFill>
                  <a:srgbClr val="F36451"/>
                </a:solidFill>
                <a:latin typeface="Courier New" pitchFamily="34" charset="0"/>
                <a:ea typeface="Courier New" pitchFamily="34" charset="-122"/>
                <a:cs typeface="Courier New" pitchFamily="34" charset="-120"/>
              </a:rPr>
              <a:t>DEBT/EQUITY</a:t>
            </a:r>
            <a:endParaRPr lang="en-US" sz="1000"/>
          </a:p>
        </p:txBody>
      </p:sp>
      <p:sp>
        <p:nvSpPr>
          <p:cNvPr id="96" name="!!T_Chip2"/>
          <p:cNvSpPr/>
          <p:nvPr/>
        </p:nvSpPr>
        <p:spPr>
          <a:xfrm>
            <a:off x="3594100" y="6045200"/>
            <a:ext cx="2235200" cy="457200"/>
          </a:xfrm>
          <a:prstGeom prst="rect">
            <a:avLst/>
          </a:prstGeom>
          <a:noFill/>
          <a:ln/>
        </p:spPr>
        <p:txBody>
          <a:bodyPr wrap="square" rtlCol="0" anchor="t"/>
          <a:lstStyle/>
          <a:p>
            <a:pPr marL="0" indent="0" algn="l">
              <a:lnSpc>
                <a:spcPct val="100000"/>
              </a:lnSpc>
              <a:buNone/>
            </a:pPr>
            <a:r>
              <a:rPr lang="en-US" sz="1250" b="1" kern="0">
                <a:solidFill>
                  <a:srgbClr val="F2EFDA"/>
                </a:solidFill>
                <a:latin typeface="Courier New" pitchFamily="34" charset="0"/>
                <a:ea typeface="Courier New" pitchFamily="34" charset="-122"/>
                <a:cs typeface="Courier New" pitchFamily="34" charset="-120"/>
              </a:rPr>
              <a:t>×1,37 Dot-Com</a:t>
            </a:r>
            <a:endParaRPr lang="en-US" sz="12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Kurs-Crash vernichtet Eigenkapital; COVID ×1,50.</a:t>
            </a:r>
            <a:endParaRPr lang="en-US" sz="870"/>
          </a:p>
        </p:txBody>
      </p:sp>
      <p:sp>
        <p:nvSpPr>
          <p:cNvPr id="97" name="!!K_Chip3"/>
          <p:cNvSpPr/>
          <p:nvPr/>
        </p:nvSpPr>
        <p:spPr>
          <a:xfrm>
            <a:off x="6184900" y="5740400"/>
            <a:ext cx="2590800" cy="8001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8" name="!!L_Chip3"/>
          <p:cNvSpPr/>
          <p:nvPr/>
        </p:nvSpPr>
        <p:spPr>
          <a:xfrm>
            <a:off x="6362700" y="5816600"/>
            <a:ext cx="2235200" cy="215900"/>
          </a:xfrm>
          <a:prstGeom prst="rect">
            <a:avLst/>
          </a:prstGeom>
          <a:noFill/>
          <a:ln/>
        </p:spPr>
        <p:txBody>
          <a:bodyPr wrap="square" rtlCol="0" anchor="t"/>
          <a:lstStyle/>
          <a:p>
            <a:pPr marL="0" indent="0" algn="l">
              <a:lnSpc>
                <a:spcPct val="105000"/>
              </a:lnSpc>
              <a:buNone/>
            </a:pPr>
            <a:r>
              <a:rPr lang="en-US" sz="1000" b="1" kern="0">
                <a:solidFill>
                  <a:srgbClr val="79A2F9"/>
                </a:solidFill>
                <a:latin typeface="Courier New" pitchFamily="34" charset="0"/>
                <a:ea typeface="Courier New" pitchFamily="34" charset="-122"/>
                <a:cs typeface="Courier New" pitchFamily="34" charset="-120"/>
              </a:rPr>
              <a:t>FCF-MARGE</a:t>
            </a:r>
            <a:endParaRPr lang="en-US" sz="1000"/>
          </a:p>
        </p:txBody>
      </p:sp>
      <p:sp>
        <p:nvSpPr>
          <p:cNvPr id="99" name="!!T_Chip3"/>
          <p:cNvSpPr/>
          <p:nvPr/>
        </p:nvSpPr>
        <p:spPr>
          <a:xfrm>
            <a:off x="6362700" y="6045200"/>
            <a:ext cx="2235200" cy="457200"/>
          </a:xfrm>
          <a:prstGeom prst="rect">
            <a:avLst/>
          </a:prstGeom>
          <a:noFill/>
          <a:ln/>
        </p:spPr>
        <p:txBody>
          <a:bodyPr wrap="square" rtlCol="0" anchor="t"/>
          <a:lstStyle/>
          <a:p>
            <a:pPr marL="0" indent="0" algn="l">
              <a:lnSpc>
                <a:spcPct val="100000"/>
              </a:lnSpc>
              <a:buNone/>
            </a:pPr>
            <a:r>
              <a:rPr lang="en-US" sz="1250" b="1" kern="0">
                <a:solidFill>
                  <a:srgbClr val="F2EFDA"/>
                </a:solidFill>
                <a:latin typeface="Courier New" pitchFamily="34" charset="0"/>
                <a:ea typeface="Courier New" pitchFamily="34" charset="-122"/>
                <a:cs typeface="Courier New" pitchFamily="34" charset="-120"/>
              </a:rPr>
              <a:t>×1,11 GFC</a:t>
            </a:r>
            <a:endParaRPr lang="en-US" sz="12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kaum über Baseline — die Accrual-Sonderstellung erneut.</a:t>
            </a:r>
            <a:endParaRPr lang="en-US" sz="870"/>
          </a:p>
        </p:txBody>
      </p:sp>
      <p:sp>
        <p:nvSpPr>
          <p:cNvPr id="100" name="!!K_Chip4"/>
          <p:cNvSpPr/>
          <p:nvPr/>
        </p:nvSpPr>
        <p:spPr>
          <a:xfrm>
            <a:off x="8966200" y="5740400"/>
            <a:ext cx="2590800" cy="8001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101" name="!!L_Chip4"/>
          <p:cNvSpPr/>
          <p:nvPr/>
        </p:nvSpPr>
        <p:spPr>
          <a:xfrm>
            <a:off x="9144000" y="5816600"/>
            <a:ext cx="2235200" cy="215900"/>
          </a:xfrm>
          <a:prstGeom prst="rect">
            <a:avLst/>
          </a:prstGeom>
          <a:noFill/>
          <a:ln/>
        </p:spPr>
        <p:txBody>
          <a:bodyPr wrap="square" rtlCol="0" anchor="t"/>
          <a:lstStyle/>
          <a:p>
            <a:pPr marL="0" indent="0" algn="l">
              <a:lnSpc>
                <a:spcPct val="105000"/>
              </a:lnSpc>
              <a:buNone/>
            </a:pPr>
            <a:r>
              <a:rPr lang="en-US" sz="1000" b="1" kern="0">
                <a:solidFill>
                  <a:srgbClr val="E6D34F"/>
                </a:solidFill>
                <a:latin typeface="Courier New" pitchFamily="34" charset="0"/>
                <a:ea typeface="Courier New" pitchFamily="34" charset="-122"/>
                <a:cs typeface="Courier New" pitchFamily="34" charset="-120"/>
              </a:rPr>
              <a:t>CURRENT RATIO</a:t>
            </a:r>
            <a:endParaRPr lang="en-US" sz="1000"/>
          </a:p>
        </p:txBody>
      </p:sp>
      <p:sp>
        <p:nvSpPr>
          <p:cNvPr id="102" name="!!T_Chip4"/>
          <p:cNvSpPr/>
          <p:nvPr/>
        </p:nvSpPr>
        <p:spPr>
          <a:xfrm>
            <a:off x="9144000" y="6045200"/>
            <a:ext cx="2235200" cy="457200"/>
          </a:xfrm>
          <a:prstGeom prst="rect">
            <a:avLst/>
          </a:prstGeom>
          <a:noFill/>
          <a:ln/>
        </p:spPr>
        <p:txBody>
          <a:bodyPr wrap="square" rtlCol="0" anchor="t"/>
          <a:lstStyle/>
          <a:p>
            <a:pPr marL="0" indent="0" algn="l">
              <a:lnSpc>
                <a:spcPct val="100000"/>
              </a:lnSpc>
              <a:buNone/>
            </a:pPr>
            <a:r>
              <a:rPr lang="en-US" sz="1250" b="1" kern="0">
                <a:solidFill>
                  <a:srgbClr val="F2EFDA"/>
                </a:solidFill>
                <a:latin typeface="Courier New" pitchFamily="34" charset="0"/>
                <a:ea typeface="Courier New" pitchFamily="34" charset="-122"/>
                <a:cs typeface="Courier New" pitchFamily="34" charset="-120"/>
              </a:rPr>
              <a:t>≤ ×1,24</a:t>
            </a:r>
            <a:endParaRPr lang="en-US" sz="12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überall am schwächsten — träge Bilanzposition.</a:t>
            </a:r>
            <a:endParaRPr lang="en-US" sz="870"/>
          </a:p>
        </p:txBody>
      </p:sp>
      <p:pic>
        <p:nvPicPr>
          <p:cNvPr id="12" name="Grafik 11">
            <a:extLst>
              <a:ext uri="{FF2B5EF4-FFF2-40B4-BE49-F238E27FC236}">
                <a16:creationId xmlns:a16="http://schemas.microsoft.com/office/drawing/2014/main" id="{C766B6D6-D0B1-7C63-3304-0AF47B33BBA7}"/>
              </a:ext>
            </a:extLst>
          </p:cNvPr>
          <p:cNvPicPr>
            <a:picLocks noChangeAspect="1"/>
          </p:cNvPicPr>
          <p:nvPr/>
        </p:nvPicPr>
        <p:blipFill>
          <a:blip r:embed="rId3"/>
          <a:stretch>
            <a:fillRect/>
          </a:stretch>
        </p:blipFill>
        <p:spPr>
          <a:xfrm>
            <a:off x="933518" y="634492"/>
            <a:ext cx="10382670" cy="330950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3</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12 / 15</a:t>
            </a:r>
            <a:endParaRPr lang="en-US" sz="120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a:solidFill>
                  <a:srgbClr val="F2EFDA"/>
                </a:solidFill>
                <a:latin typeface="Arial" pitchFamily="34" charset="0"/>
                <a:ea typeface="Arial" pitchFamily="34" charset="-122"/>
                <a:cs typeface="Arial" pitchFamily="34" charset="-120"/>
              </a:rPr>
              <a:t>Fünf Strukturvariablen, 98 Tests — die Wirkung liegt auf der σ-Seite</a:t>
            </a:r>
            <a:endParaRPr lang="en-US" sz="200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a:solidFill>
                  <a:srgbClr val="B3BC9A"/>
                </a:solidFill>
                <a:latin typeface="Arial" pitchFamily="34" charset="0"/>
                <a:ea typeface="Arial" pitchFamily="34" charset="-122"/>
                <a:cs typeface="Arial" pitchFamily="34" charset="-120"/>
              </a:rPr>
              <a:t>Spearman: fünf Strukturvariablen × φ und σ je Kennzahl — 31 von 49 σ-Tests Bonferroni-signifikant, nur 10 von 49 bei φ; die zehn stärksten Effekte sind alle σ.</a:t>
            </a:r>
            <a:endParaRPr lang="en-US" sz="1100"/>
          </a:p>
        </p:txBody>
      </p:sp>
      <p:sp>
        <p:nvSpPr>
          <p:cNvPr id="41" name="!!K_Groesse"/>
          <p:cNvSpPr/>
          <p:nvPr/>
        </p:nvSpPr>
        <p:spPr>
          <a:xfrm>
            <a:off x="6235294" y="1904695"/>
            <a:ext cx="5320894" cy="1537898"/>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2" name="!!L_Groesse"/>
          <p:cNvSpPr/>
          <p:nvPr/>
        </p:nvSpPr>
        <p:spPr>
          <a:xfrm>
            <a:off x="6489497" y="2034695"/>
            <a:ext cx="4812488" cy="230000"/>
          </a:xfrm>
          <a:prstGeom prst="rect">
            <a:avLst/>
          </a:prstGeom>
          <a:noFill/>
          <a:ln/>
        </p:spPr>
        <p:txBody>
          <a:bodyPr wrap="square" rtlCol="0" anchor="t"/>
          <a:lstStyle/>
          <a:p>
            <a:pPr marL="0" indent="0" algn="l">
              <a:lnSpc>
                <a:spcPct val="105000"/>
              </a:lnSpc>
              <a:buNone/>
            </a:pPr>
            <a:r>
              <a:rPr lang="en-US" sz="1050" b="1" kern="0">
                <a:solidFill>
                  <a:srgbClr val="F2EFDA"/>
                </a:solidFill>
                <a:latin typeface="Courier New" pitchFamily="34" charset="0"/>
                <a:ea typeface="Courier New" pitchFamily="34" charset="-122"/>
                <a:cs typeface="Courier New" pitchFamily="34" charset="-120"/>
              </a:rPr>
              <a:t>GRÖSSE</a:t>
            </a:r>
            <a:endParaRPr lang="en-US" sz="1050"/>
          </a:p>
        </p:txBody>
      </p:sp>
      <p:sp>
        <p:nvSpPr>
          <p:cNvPr id="43" name="!!T_Groesse"/>
          <p:cNvSpPr/>
          <p:nvPr/>
        </p:nvSpPr>
        <p:spPr>
          <a:xfrm>
            <a:off x="6489497" y="2304695"/>
            <a:ext cx="4812488" cy="1057898"/>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ρ bis −0,53</a:t>
            </a:r>
            <a:r>
              <a:rPr lang="en-US" sz="1000" kern="0">
                <a:solidFill>
                  <a:srgbClr val="798D6F"/>
                </a:solidFill>
                <a:latin typeface="Courier New" pitchFamily="34" charset="0"/>
                <a:ea typeface="Courier New" pitchFamily="34" charset="-122"/>
                <a:cs typeface="Courier New" pitchFamily="34" charset="-120"/>
              </a:rPr>
              <a:t>   Mitarbeiter · Bilanzsumme · MarketCap</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Mitarbeiterzahl dämpft am stärksten: FCF-Marge und Current Ratio je −0,53. Quintil-Kontrast FCF: σ-Median </a:t>
            </a:r>
            <a:r>
              <a:rPr lang="en-US" sz="1000" b="1" kern="0">
                <a:solidFill>
                  <a:srgbClr val="F2EFDA"/>
                </a:solidFill>
                <a:latin typeface="Arial" pitchFamily="34" charset="0"/>
                <a:ea typeface="Arial" pitchFamily="34" charset="-122"/>
                <a:cs typeface="Arial" pitchFamily="34" charset="-120"/>
              </a:rPr>
              <a:t>0,45 → 0,11 (Cohens r = 0,80)</a:t>
            </a:r>
            <a:r>
              <a:rPr lang="en-US" sz="1000" kern="0">
                <a:solidFill>
                  <a:srgbClr val="B3BC9A"/>
                </a:solidFill>
                <a:latin typeface="Arial" pitchFamily="34" charset="0"/>
                <a:ea typeface="Arial" pitchFamily="34" charset="-122"/>
                <a:cs typeface="Arial" pitchFamily="34" charset="-120"/>
              </a:rPr>
              <a:t> — der stärkste Effekt der Analyse.</a:t>
            </a:r>
            <a:endParaRPr lang="en-US" sz="1000"/>
          </a:p>
        </p:txBody>
      </p:sp>
      <p:sp>
        <p:nvSpPr>
          <p:cNvPr id="44" name="!!K_Anlagen"/>
          <p:cNvSpPr/>
          <p:nvPr/>
        </p:nvSpPr>
        <p:spPr>
          <a:xfrm>
            <a:off x="6235294" y="3541593"/>
            <a:ext cx="5320894" cy="1537898"/>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5" name="!!L_Anlagen"/>
          <p:cNvSpPr/>
          <p:nvPr/>
        </p:nvSpPr>
        <p:spPr>
          <a:xfrm>
            <a:off x="6489497" y="3671593"/>
            <a:ext cx="4812488" cy="230000"/>
          </a:xfrm>
          <a:prstGeom prst="rect">
            <a:avLst/>
          </a:prstGeom>
          <a:noFill/>
          <a:ln/>
        </p:spPr>
        <p:txBody>
          <a:bodyPr wrap="square" rtlCol="0" anchor="t"/>
          <a:lstStyle/>
          <a:p>
            <a:pPr marL="0" indent="0" algn="l">
              <a:lnSpc>
                <a:spcPct val="105000"/>
              </a:lnSpc>
              <a:buNone/>
            </a:pPr>
            <a:r>
              <a:rPr lang="en-US" sz="1050" b="1" kern="0">
                <a:solidFill>
                  <a:srgbClr val="F2EFDA"/>
                </a:solidFill>
                <a:latin typeface="Courier New" pitchFamily="34" charset="0"/>
                <a:ea typeface="Courier New" pitchFamily="34" charset="-122"/>
                <a:cs typeface="Courier New" pitchFamily="34" charset="-120"/>
              </a:rPr>
              <a:t>ANLAGENINTENSITÄT</a:t>
            </a:r>
            <a:endParaRPr lang="en-US" sz="1050"/>
          </a:p>
        </p:txBody>
      </p:sp>
      <p:sp>
        <p:nvSpPr>
          <p:cNvPr id="46" name="!!T_Anlagen"/>
          <p:cNvSpPr/>
          <p:nvPr/>
        </p:nvSpPr>
        <p:spPr>
          <a:xfrm>
            <a:off x="6489497" y="3941593"/>
            <a:ext cx="4812488" cy="1057898"/>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 Bilanz · + Margen</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EK-Quote −0,25 · ROA −0,18, aber EBIT-Marge +0,24 · FCF-Marge +0,22 — </a:t>
            </a:r>
            <a:r>
              <a:rPr lang="en-US" sz="1000" b="1" kern="0">
                <a:solidFill>
                  <a:srgbClr val="F2EFDA"/>
                </a:solidFill>
                <a:latin typeface="Arial" pitchFamily="34" charset="0"/>
                <a:ea typeface="Arial" pitchFamily="34" charset="-122"/>
                <a:cs typeface="Arial" pitchFamily="34" charset="-120"/>
              </a:rPr>
              <a:t>die Strom-vs.-Bestand-Mechanik auf Unternehmensebene</a:t>
            </a:r>
            <a:r>
              <a:rPr lang="en-US" sz="1000" kern="0">
                <a:solidFill>
                  <a:srgbClr val="B3BC9A"/>
                </a:solidFill>
                <a:latin typeface="Arial" pitchFamily="34" charset="0"/>
                <a:ea typeface="Arial" pitchFamily="34" charset="-122"/>
                <a:cs typeface="Arial" pitchFamily="34" charset="-120"/>
              </a:rPr>
              <a:t>. Current Ratio: kein Effekt (Mischform).</a:t>
            </a:r>
            <a:endParaRPr lang="en-US" sz="1000"/>
          </a:p>
        </p:txBody>
      </p:sp>
      <p:sp>
        <p:nvSpPr>
          <p:cNvPr id="51" name="!!K_ProfNiveau"/>
          <p:cNvSpPr/>
          <p:nvPr/>
        </p:nvSpPr>
        <p:spPr>
          <a:xfrm>
            <a:off x="634594" y="5590000"/>
            <a:ext cx="5320894"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53" name="!!L_ProfNiveau"/>
          <p:cNvSpPr/>
          <p:nvPr/>
        </p:nvSpPr>
        <p:spPr>
          <a:xfrm>
            <a:off x="888797" y="5700000"/>
            <a:ext cx="4813402" cy="230000"/>
          </a:xfrm>
          <a:prstGeom prst="rect">
            <a:avLst/>
          </a:prstGeom>
          <a:noFill/>
          <a:ln/>
        </p:spPr>
        <p:txBody>
          <a:bodyPr wrap="square" rtlCol="0" anchor="t"/>
          <a:lstStyle/>
          <a:p>
            <a:pPr marL="0" indent="0" algn="l">
              <a:lnSpc>
                <a:spcPct val="105000"/>
              </a:lnSpc>
              <a:buNone/>
            </a:pPr>
            <a:r>
              <a:rPr lang="en-US" sz="1050" b="1" kern="0">
                <a:solidFill>
                  <a:srgbClr val="F3EFDA"/>
                </a:solidFill>
                <a:latin typeface="Courier New" pitchFamily="34" charset="0"/>
                <a:ea typeface="Courier New" pitchFamily="34" charset="-122"/>
                <a:cs typeface="Courier New" pitchFamily="34" charset="-120"/>
              </a:rPr>
              <a:t>MEDIAN-PROFITABILITÄT</a:t>
            </a:r>
            <a:endParaRPr lang="en-US" sz="1050">
              <a:solidFill>
                <a:srgbClr val="F3EFDA"/>
              </a:solidFill>
            </a:endParaRPr>
          </a:p>
        </p:txBody>
      </p:sp>
      <p:sp>
        <p:nvSpPr>
          <p:cNvPr id="55" name="!!T_ProfNiveau"/>
          <p:cNvSpPr/>
          <p:nvPr/>
        </p:nvSpPr>
        <p:spPr>
          <a:xfrm>
            <a:off x="888797" y="5950000"/>
            <a:ext cx="4813402" cy="400000"/>
          </a:xfrm>
          <a:prstGeom prst="rect">
            <a:avLst/>
          </a:prstGeom>
          <a:noFill/>
          <a:ln/>
        </p:spPr>
        <p:txBody>
          <a:bodyPr wrap="square" rtlCol="0" anchor="t"/>
          <a:lstStyle/>
          <a:p>
            <a:pPr marL="0" indent="0" algn="l">
              <a:lnSpc>
                <a:spcPct val="104000"/>
              </a:lnSpc>
              <a:buNone/>
            </a:pPr>
            <a:r>
              <a:rPr lang="en-US" sz="1300" b="1" kern="0">
                <a:solidFill>
                  <a:srgbClr val="F2EFDA"/>
                </a:solidFill>
                <a:latin typeface="Courier New" pitchFamily="34" charset="0"/>
                <a:ea typeface="Courier New" pitchFamily="34" charset="-122"/>
                <a:cs typeface="Courier New" pitchFamily="34" charset="-120"/>
              </a:rPr>
              <a:t>ρ = −0,44 · −0,40  </a:t>
            </a:r>
            <a:r>
              <a:rPr lang="en-US" sz="950" kern="0">
                <a:solidFill>
                  <a:srgbClr val="B3BC9A"/>
                </a:solidFill>
                <a:latin typeface="Arial" pitchFamily="34" charset="0"/>
                <a:ea typeface="Arial" pitchFamily="34" charset="-122"/>
                <a:cs typeface="Arial" pitchFamily="34" charset="-120"/>
              </a:rPr>
              <a:t>EBIT- und FCF-Marge: </a:t>
            </a:r>
            <a:r>
              <a:rPr lang="en-US" sz="950" b="1" kern="0">
                <a:solidFill>
                  <a:srgbClr val="F2EFDA"/>
                </a:solidFill>
                <a:latin typeface="Arial" pitchFamily="34" charset="0"/>
                <a:ea typeface="Arial" pitchFamily="34" charset="-122"/>
                <a:cs typeface="Arial" pitchFamily="34" charset="-120"/>
              </a:rPr>
              <a:t>profitable Firmen schwanken weniger</a:t>
            </a:r>
            <a:r>
              <a:rPr lang="en-US" sz="950" kern="0">
                <a:solidFill>
                  <a:srgbClr val="B3BC9A"/>
                </a:solidFill>
                <a:latin typeface="Arial" pitchFamily="34" charset="0"/>
                <a:ea typeface="Arial" pitchFamily="34" charset="-122"/>
                <a:cs typeface="Arial" pitchFamily="34" charset="-120"/>
              </a:rPr>
              <a:t> — und revertieren etwas langsamer (φ +0,11 … +0,14).</a:t>
            </a:r>
            <a:endParaRPr lang="en-US" sz="950"/>
          </a:p>
        </p:txBody>
      </p:sp>
      <p:sp>
        <p:nvSpPr>
          <p:cNvPr id="52" name="!!K_Accruals"/>
          <p:cNvSpPr/>
          <p:nvPr/>
        </p:nvSpPr>
        <p:spPr>
          <a:xfrm>
            <a:off x="6235294" y="5590000"/>
            <a:ext cx="5320894"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54" name="!!L_Accruals"/>
          <p:cNvSpPr/>
          <p:nvPr/>
        </p:nvSpPr>
        <p:spPr>
          <a:xfrm>
            <a:off x="6489497" y="5700000"/>
            <a:ext cx="4813402" cy="230000"/>
          </a:xfrm>
          <a:prstGeom prst="rect">
            <a:avLst/>
          </a:prstGeom>
          <a:noFill/>
          <a:ln/>
        </p:spPr>
        <p:txBody>
          <a:bodyPr wrap="square" rtlCol="0" anchor="t"/>
          <a:lstStyle/>
          <a:p>
            <a:pPr marL="0" indent="0" algn="l">
              <a:lnSpc>
                <a:spcPct val="105000"/>
              </a:lnSpc>
              <a:buNone/>
            </a:pPr>
            <a:r>
              <a:rPr lang="en-US" sz="1050" b="1" kern="0">
                <a:solidFill>
                  <a:srgbClr val="F3EFDA"/>
                </a:solidFill>
                <a:latin typeface="Courier New" pitchFamily="34" charset="0"/>
                <a:ea typeface="Courier New" pitchFamily="34" charset="-122"/>
                <a:cs typeface="Courier New" pitchFamily="34" charset="-120"/>
              </a:rPr>
              <a:t>PERIODENABGRENZUNGEN (SLOAN 1996)</a:t>
            </a:r>
            <a:endParaRPr lang="en-US" sz="1050">
              <a:solidFill>
                <a:srgbClr val="F3EFDA"/>
              </a:solidFill>
            </a:endParaRPr>
          </a:p>
        </p:txBody>
      </p:sp>
      <p:sp>
        <p:nvSpPr>
          <p:cNvPr id="56" name="!!T_Accruals"/>
          <p:cNvSpPr/>
          <p:nvPr/>
        </p:nvSpPr>
        <p:spPr>
          <a:xfrm>
            <a:off x="6489497" y="5950000"/>
            <a:ext cx="4813402" cy="400000"/>
          </a:xfrm>
          <a:prstGeom prst="rect">
            <a:avLst/>
          </a:prstGeom>
          <a:noFill/>
          <a:ln/>
        </p:spPr>
        <p:txBody>
          <a:bodyPr wrap="square" rtlCol="0" anchor="t"/>
          <a:lstStyle/>
          <a:p>
            <a:pPr marL="0" indent="0" algn="l">
              <a:lnSpc>
                <a:spcPct val="104000"/>
              </a:lnSpc>
              <a:buNone/>
            </a:pPr>
            <a:r>
              <a:rPr lang="en-US" sz="1300" b="1" kern="0">
                <a:solidFill>
                  <a:srgbClr val="F2EFDA"/>
                </a:solidFill>
                <a:latin typeface="Courier New" pitchFamily="34" charset="0"/>
                <a:ea typeface="Courier New" pitchFamily="34" charset="-122"/>
                <a:cs typeface="Courier New" pitchFamily="34" charset="-120"/>
              </a:rPr>
              <a:t>ROA −0,27 · FCF −0,08 n.s.  </a:t>
            </a:r>
            <a:r>
              <a:rPr lang="en-US" sz="950" kern="0">
                <a:solidFill>
                  <a:srgbClr val="B3BC9A"/>
                </a:solidFill>
                <a:latin typeface="Arial" pitchFamily="34" charset="0"/>
                <a:ea typeface="Arial" pitchFamily="34" charset="-122"/>
                <a:cs typeface="Arial" pitchFamily="34" charset="-120"/>
              </a:rPr>
              <a:t>Accruals glätten Buchgewinne, nicht den Cashflow — </a:t>
            </a:r>
            <a:r>
              <a:rPr lang="en-US" sz="950" b="1" kern="0">
                <a:solidFill>
                  <a:srgbClr val="F2EFDA"/>
                </a:solidFill>
                <a:latin typeface="Arial" pitchFamily="34" charset="0"/>
                <a:ea typeface="Arial" pitchFamily="34" charset="-122"/>
                <a:cs typeface="Arial" pitchFamily="34" charset="-120"/>
              </a:rPr>
              <a:t>der Mechanismus hinter der FCF-Sonderstellung</a:t>
            </a:r>
            <a:r>
              <a:rPr lang="en-US" sz="950" kern="0">
                <a:solidFill>
                  <a:srgbClr val="B3BC9A"/>
                </a:solidFill>
                <a:latin typeface="Arial" pitchFamily="34" charset="0"/>
                <a:ea typeface="Arial" pitchFamily="34" charset="-122"/>
                <a:cs typeface="Arial" pitchFamily="34" charset="-120"/>
              </a:rPr>
              <a:t>.</a:t>
            </a:r>
            <a:endParaRPr lang="en-US" sz="950"/>
          </a:p>
        </p:txBody>
      </p:sp>
      <p:sp>
        <p:nvSpPr>
          <p:cNvPr id="4" name="Text 17">
            <a:extLst>
              <a:ext uri="{FF2B5EF4-FFF2-40B4-BE49-F238E27FC236}">
                <a16:creationId xmlns:a16="http://schemas.microsoft.com/office/drawing/2014/main" id="{16AD8B35-D391-CB9B-97B0-799E0E49492A}"/>
              </a:ext>
            </a:extLst>
          </p:cNvPr>
          <p:cNvSpPr/>
          <p:nvPr/>
        </p:nvSpPr>
        <p:spPr>
          <a:xfrm>
            <a:off x="634593" y="6554297"/>
            <a:ext cx="10921594" cy="254203"/>
          </a:xfrm>
          <a:prstGeom prst="rect">
            <a:avLst/>
          </a:prstGeom>
          <a:noFill/>
          <a:ln/>
        </p:spPr>
        <p:txBody>
          <a:bodyPr wrap="square" rtlCol="0" anchor="t"/>
          <a:lstStyle/>
          <a:p>
            <a:pPr marL="0" indent="0" algn="l">
              <a:lnSpc>
                <a:spcPct val="105000"/>
              </a:lnSpc>
              <a:buNone/>
            </a:pPr>
            <a:r>
              <a:rPr lang="en-US" sz="900" kern="0">
                <a:solidFill>
                  <a:srgbClr val="798D6F"/>
                </a:solidFill>
                <a:latin typeface="Arial" pitchFamily="34" charset="0"/>
                <a:ea typeface="Arial" pitchFamily="34" charset="-122"/>
                <a:cs typeface="Arial" pitchFamily="34" charset="-120"/>
              </a:rPr>
              <a:t>Bonferroni: α/14 ≈ 0,0036. Investitionsintensität wirkt schwächer (CR −0,23 · EK-Quote −0,22 · ROA −0,11) — konzeptionelle Nähe zu Größe und Anlagenintensität; Klärung in der multivariaten Synthese (6.3).</a:t>
            </a:r>
            <a:endParaRPr lang="en-US" sz="90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3</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13 / 15</a:t>
            </a:r>
            <a:endParaRPr lang="en-US" sz="120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a:solidFill>
                  <a:srgbClr val="F2EFDA"/>
                </a:solidFill>
                <a:latin typeface="Arial" pitchFamily="34" charset="0"/>
                <a:ea typeface="Arial" pitchFamily="34" charset="-122"/>
                <a:cs typeface="Arial" pitchFamily="34" charset="-120"/>
              </a:rPr>
              <a:t>Der Sektor erklärt die Schwankung — nicht die Korrektur</a:t>
            </a:r>
            <a:endParaRPr lang="en-US" sz="200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a:solidFill>
                  <a:srgbClr val="B3BC9A"/>
                </a:solidFill>
                <a:latin typeface="Arial" pitchFamily="34" charset="0"/>
                <a:ea typeface="Arial" pitchFamily="34" charset="-122"/>
                <a:cs typeface="Arial" pitchFamily="34" charset="-120"/>
              </a:rPr>
              <a:t>Kruskal-Wallis über die zehn GICS-Sektoren: ε² = durch den Sektor erklärter Anteil der Variation — je Kennzahl und Parameter.</a:t>
            </a:r>
            <a:endParaRPr lang="en-US" sz="1100"/>
          </a:p>
        </p:txBody>
      </p:sp>
      <p:sp>
        <p:nvSpPr>
          <p:cNvPr id="20" name="Text 17"/>
          <p:cNvSpPr/>
          <p:nvPr/>
        </p:nvSpPr>
        <p:spPr>
          <a:xfrm>
            <a:off x="634594" y="5270602"/>
            <a:ext cx="10921594" cy="254203"/>
          </a:xfrm>
          <a:prstGeom prst="rect">
            <a:avLst/>
          </a:prstGeom>
          <a:noFill/>
          <a:ln/>
        </p:spPr>
        <p:txBody>
          <a:bodyPr wrap="square" rtlCol="0" anchor="t"/>
          <a:lstStyle/>
          <a:p>
            <a:pPr marL="0" indent="0" algn="l">
              <a:lnSpc>
                <a:spcPct val="105000"/>
              </a:lnSpc>
              <a:buNone/>
            </a:pPr>
            <a:r>
              <a:rPr lang="en-US" sz="900" kern="0">
                <a:solidFill>
                  <a:srgbClr val="798D6F"/>
                </a:solidFill>
                <a:latin typeface="Arial" pitchFamily="34" charset="0"/>
                <a:ea typeface="Arial" pitchFamily="34" charset="-122"/>
                <a:cs typeface="Arial" pitchFamily="34" charset="-120"/>
              </a:rPr>
              <a:t>Cluster-Falsifikation: Vorhersage aus der Sektor-Mechanik (4.3.3) vs. tatsächliche Quadranten-Verteilung. Cluster 5 (Gesundheit + Zykl. Konsum) bleibt wie vorhergesagt diffus — kein Quadrant über 36 %.</a:t>
            </a:r>
            <a:endParaRPr lang="en-US" sz="900"/>
          </a:p>
        </p:txBody>
      </p:sp>
      <p:sp>
        <p:nvSpPr>
          <p:cNvPr id="41" name="!!K_SigSeite"/>
          <p:cNvSpPr/>
          <p:nvPr/>
        </p:nvSpPr>
        <p:spPr>
          <a:xfrm>
            <a:off x="6235294" y="1904695"/>
            <a:ext cx="5320894" cy="991599"/>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2" name="!!L_SigSeite"/>
          <p:cNvSpPr/>
          <p:nvPr/>
        </p:nvSpPr>
        <p:spPr>
          <a:xfrm>
            <a:off x="6489497" y="2034695"/>
            <a:ext cx="4812488" cy="230000"/>
          </a:xfrm>
          <a:prstGeom prst="rect">
            <a:avLst/>
          </a:prstGeom>
          <a:noFill/>
          <a:ln/>
        </p:spPr>
        <p:txBody>
          <a:bodyPr wrap="square" rtlCol="0" anchor="t"/>
          <a:lstStyle/>
          <a:p>
            <a:pPr marL="0" indent="0" algn="l">
              <a:lnSpc>
                <a:spcPct val="105000"/>
              </a:lnSpc>
              <a:buNone/>
            </a:pPr>
            <a:r>
              <a:rPr lang="en-US" sz="1050" b="1" kern="0">
                <a:solidFill>
                  <a:srgbClr val="F3EFDA"/>
                </a:solidFill>
                <a:latin typeface="Courier New" pitchFamily="34" charset="0"/>
                <a:ea typeface="Courier New" pitchFamily="34" charset="-122"/>
                <a:cs typeface="Courier New" pitchFamily="34" charset="-120"/>
              </a:rPr>
              <a:t>σ-SEITE</a:t>
            </a:r>
            <a:endParaRPr lang="en-US" sz="1050">
              <a:solidFill>
                <a:srgbClr val="F3EFDA"/>
              </a:solidFill>
            </a:endParaRPr>
          </a:p>
        </p:txBody>
      </p:sp>
      <p:sp>
        <p:nvSpPr>
          <p:cNvPr id="43" name="!!T_SigSeite"/>
          <p:cNvSpPr/>
          <p:nvPr/>
        </p:nvSpPr>
        <p:spPr>
          <a:xfrm>
            <a:off x="6489497" y="2304695"/>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ε² bis 0,22</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FCF-Marge 0,22 · Current Ratio 0,22 · EBIT-Marge 0,19 — </a:t>
            </a:r>
            <a:r>
              <a:rPr lang="en-US" sz="1000" b="1" kern="0">
                <a:solidFill>
                  <a:srgbClr val="F2EFDA"/>
                </a:solidFill>
                <a:latin typeface="Arial" pitchFamily="34" charset="0"/>
                <a:ea typeface="Arial" pitchFamily="34" charset="-122"/>
                <a:cs typeface="Arial" pitchFamily="34" charset="-120"/>
              </a:rPr>
              <a:t>alle sieben Tests Bonferroni-signifikant</a:t>
            </a:r>
            <a:r>
              <a:rPr lang="en-US" sz="1000" kern="0">
                <a:solidFill>
                  <a:srgbClr val="B3BC9A"/>
                </a:solidFill>
                <a:latin typeface="Arial" pitchFamily="34" charset="0"/>
                <a:ea typeface="Arial" pitchFamily="34" charset="-122"/>
                <a:cs typeface="Arial" pitchFamily="34" charset="-120"/>
              </a:rPr>
              <a:t>.</a:t>
            </a:r>
            <a:endParaRPr lang="en-US" sz="1000"/>
          </a:p>
        </p:txBody>
      </p:sp>
      <p:sp>
        <p:nvSpPr>
          <p:cNvPr id="44" name="!!K_PhiSeite"/>
          <p:cNvSpPr/>
          <p:nvPr/>
        </p:nvSpPr>
        <p:spPr>
          <a:xfrm>
            <a:off x="6235294" y="2996294"/>
            <a:ext cx="5320894" cy="991599"/>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5" name="!!L_PhiSeite"/>
          <p:cNvSpPr/>
          <p:nvPr/>
        </p:nvSpPr>
        <p:spPr>
          <a:xfrm>
            <a:off x="6489497" y="3126294"/>
            <a:ext cx="4812488" cy="230000"/>
          </a:xfrm>
          <a:prstGeom prst="rect">
            <a:avLst/>
          </a:prstGeom>
          <a:noFill/>
          <a:ln/>
        </p:spPr>
        <p:txBody>
          <a:bodyPr wrap="square" rtlCol="0" anchor="t"/>
          <a:lstStyle/>
          <a:p>
            <a:pPr marL="0" indent="0" algn="l">
              <a:lnSpc>
                <a:spcPct val="105000"/>
              </a:lnSpc>
              <a:buNone/>
            </a:pPr>
            <a:r>
              <a:rPr lang="en-US" sz="1050" b="1" kern="0">
                <a:solidFill>
                  <a:srgbClr val="B3BC9A"/>
                </a:solidFill>
                <a:latin typeface="Courier New" pitchFamily="34" charset="0"/>
                <a:ea typeface="Courier New" pitchFamily="34" charset="-122"/>
                <a:cs typeface="Courier New" pitchFamily="34" charset="-120"/>
              </a:rPr>
              <a:t>φ-SEITE</a:t>
            </a:r>
            <a:endParaRPr lang="en-US" sz="1050"/>
          </a:p>
        </p:txBody>
      </p:sp>
      <p:sp>
        <p:nvSpPr>
          <p:cNvPr id="46" name="!!T_PhiSeite"/>
          <p:cNvSpPr/>
          <p:nvPr/>
        </p:nvSpPr>
        <p:spPr>
          <a:xfrm>
            <a:off x="6489497" y="3396294"/>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ε² ≤ 0,07</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sechs von sieben signifikant, aber klein — </a:t>
            </a:r>
            <a:r>
              <a:rPr lang="en-US" sz="1000" b="1" kern="0">
                <a:solidFill>
                  <a:srgbClr val="F2EFDA"/>
                </a:solidFill>
                <a:latin typeface="Arial" pitchFamily="34" charset="0"/>
                <a:ea typeface="Arial" pitchFamily="34" charset="-122"/>
                <a:cs typeface="Arial" pitchFamily="34" charset="-120"/>
              </a:rPr>
              <a:t>dieselbe Asymmetrie wie bei den Strukturvariablen</a:t>
            </a:r>
            <a:r>
              <a:rPr lang="en-US" sz="1000" kern="0">
                <a:solidFill>
                  <a:srgbClr val="B3BC9A"/>
                </a:solidFill>
                <a:latin typeface="Arial" pitchFamily="34" charset="0"/>
                <a:ea typeface="Arial" pitchFamily="34" charset="-122"/>
                <a:cs typeface="Arial" pitchFamily="34" charset="-120"/>
              </a:rPr>
              <a:t>.</a:t>
            </a:r>
            <a:endParaRPr lang="en-US" sz="1000"/>
          </a:p>
        </p:txBody>
      </p:sp>
      <p:sp>
        <p:nvSpPr>
          <p:cNvPr id="47" name="!!K_FinSrv"/>
          <p:cNvSpPr/>
          <p:nvPr/>
        </p:nvSpPr>
        <p:spPr>
          <a:xfrm>
            <a:off x="6235294" y="4087893"/>
            <a:ext cx="5320894" cy="991599"/>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8" name="!!L_FinSrv"/>
          <p:cNvSpPr/>
          <p:nvPr/>
        </p:nvSpPr>
        <p:spPr>
          <a:xfrm>
            <a:off x="6489497" y="4217893"/>
            <a:ext cx="4812488" cy="230000"/>
          </a:xfrm>
          <a:prstGeom prst="rect">
            <a:avLst/>
          </a:prstGeom>
          <a:noFill/>
          <a:ln/>
        </p:spPr>
        <p:txBody>
          <a:bodyPr wrap="square" rtlCol="0" anchor="t"/>
          <a:lstStyle/>
          <a:p>
            <a:pPr marL="0" indent="0" algn="l">
              <a:lnSpc>
                <a:spcPct val="105000"/>
              </a:lnSpc>
              <a:buNone/>
            </a:pPr>
            <a:r>
              <a:rPr lang="en-US" sz="1050" b="1" kern="0">
                <a:solidFill>
                  <a:srgbClr val="F3EFDA"/>
                </a:solidFill>
                <a:latin typeface="Courier New" pitchFamily="34" charset="0"/>
                <a:ea typeface="Courier New" pitchFamily="34" charset="-122"/>
                <a:cs typeface="Courier New" pitchFamily="34" charset="-120"/>
              </a:rPr>
              <a:t>FINSRV-KONTRAST · 451 UNTERNEHMEN</a:t>
            </a:r>
            <a:endParaRPr lang="en-US" sz="1050">
              <a:solidFill>
                <a:srgbClr val="F3EFDA"/>
              </a:solidFill>
            </a:endParaRPr>
          </a:p>
        </p:txBody>
      </p:sp>
      <p:sp>
        <p:nvSpPr>
          <p:cNvPr id="49" name="!!T_FinSrv"/>
          <p:cNvSpPr/>
          <p:nvPr/>
        </p:nvSpPr>
        <p:spPr>
          <a:xfrm>
            <a:off x="6489497" y="4487893"/>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29×</a:t>
            </a:r>
            <a:r>
              <a:rPr lang="en-US" sz="1100" kern="0">
                <a:solidFill>
                  <a:srgbClr val="798D6F"/>
                </a:solidFill>
                <a:latin typeface="Courier New" pitchFamily="34" charset="0"/>
                <a:ea typeface="Courier New" pitchFamily="34" charset="-122"/>
                <a:cs typeface="Courier New" pitchFamily="34" charset="-120"/>
              </a:rPr>
              <a:t>   Current-Ratio-Volatilität</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ROA-σ ein Fünftel · CR-φ −0,40 statt −0,17: Regulierung erzwingt Korrektur — </a:t>
            </a:r>
            <a:r>
              <a:rPr lang="en-US" sz="1000" b="1" kern="0">
                <a:solidFill>
                  <a:srgbClr val="F2EFDA"/>
                </a:solidFill>
                <a:latin typeface="Arial" pitchFamily="34" charset="0"/>
                <a:ea typeface="Arial" pitchFamily="34" charset="-122"/>
                <a:cs typeface="Arial" pitchFamily="34" charset="-120"/>
              </a:rPr>
              <a:t>der Ausschluss ist empirisch begründet</a:t>
            </a:r>
            <a:r>
              <a:rPr lang="en-US" sz="1000" kern="0">
                <a:solidFill>
                  <a:srgbClr val="B3BC9A"/>
                </a:solidFill>
                <a:latin typeface="Arial" pitchFamily="34" charset="0"/>
                <a:ea typeface="Arial" pitchFamily="34" charset="-122"/>
                <a:cs typeface="Arial" pitchFamily="34" charset="-120"/>
              </a:rPr>
              <a:t>.</a:t>
            </a:r>
            <a:endParaRPr lang="en-US" sz="1000"/>
          </a:p>
        </p:txBody>
      </p:sp>
      <p:sp>
        <p:nvSpPr>
          <p:cNvPr id="91" name="!!K_Cl1"/>
          <p:cNvSpPr/>
          <p:nvPr/>
        </p:nvSpPr>
        <p:spPr>
          <a:xfrm>
            <a:off x="634594" y="5590000"/>
            <a:ext cx="25953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2" name="!!L_Cl1"/>
          <p:cNvSpPr/>
          <p:nvPr/>
        </p:nvSpPr>
        <p:spPr>
          <a:xfrm>
            <a:off x="814594" y="5670000"/>
            <a:ext cx="2235398" cy="220000"/>
          </a:xfrm>
          <a:prstGeom prst="rect">
            <a:avLst/>
          </a:prstGeom>
          <a:noFill/>
          <a:ln/>
        </p:spPr>
        <p:txBody>
          <a:bodyPr wrap="square" rtlCol="0" anchor="t"/>
          <a:lstStyle/>
          <a:p>
            <a:pPr marL="0" indent="0" algn="l">
              <a:lnSpc>
                <a:spcPct val="105000"/>
              </a:lnSpc>
              <a:buNone/>
            </a:pPr>
            <a:r>
              <a:rPr lang="en-US" sz="1000" b="1" kern="0">
                <a:solidFill>
                  <a:srgbClr val="B3BC9A"/>
                </a:solidFill>
                <a:latin typeface="Courier New" pitchFamily="34" charset="0"/>
                <a:ea typeface="Courier New" pitchFamily="34" charset="-122"/>
                <a:cs typeface="Courier New" pitchFamily="34" charset="-120"/>
              </a:rPr>
              <a:t>INDUSTRIE + BASISK.</a:t>
            </a:r>
            <a:endParaRPr lang="en-US" sz="1000"/>
          </a:p>
        </p:txBody>
      </p:sp>
      <p:sp>
        <p:nvSpPr>
          <p:cNvPr id="93" name="!!T_Cl1"/>
          <p:cNvSpPr/>
          <p:nvPr/>
        </p:nvSpPr>
        <p:spPr>
          <a:xfrm>
            <a:off x="814594" y="5890000"/>
            <a:ext cx="2235398" cy="460000"/>
          </a:xfrm>
          <a:prstGeom prst="rect">
            <a:avLst/>
          </a:prstGeom>
          <a:noFill/>
          <a:ln/>
        </p:spPr>
        <p:txBody>
          <a:bodyPr wrap="square" rtlCol="0" anchor="t"/>
          <a:lstStyle/>
          <a:p>
            <a:pPr marL="0" indent="0" algn="l">
              <a:lnSpc>
                <a:spcPct val="100000"/>
              </a:lnSpc>
              <a:buNone/>
            </a:pPr>
            <a:r>
              <a:rPr lang="en-US" sz="1250" b="1" kern="0">
                <a:solidFill>
                  <a:srgbClr val="F2EFDA"/>
                </a:solidFill>
                <a:latin typeface="Courier New" pitchFamily="34" charset="0"/>
                <a:ea typeface="Courier New" pitchFamily="34" charset="-122"/>
                <a:cs typeface="Courier New" pitchFamily="34" charset="-120"/>
              </a:rPr>
              <a:t>66 %</a:t>
            </a:r>
            <a:endParaRPr lang="en-US" sz="12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stabile Hälfte — robusteste Vorhersage.</a:t>
            </a:r>
            <a:endParaRPr lang="en-US" sz="870"/>
          </a:p>
        </p:txBody>
      </p:sp>
      <p:sp>
        <p:nvSpPr>
          <p:cNvPr id="94" name="!!K_Cl2"/>
          <p:cNvSpPr/>
          <p:nvPr/>
        </p:nvSpPr>
        <p:spPr>
          <a:xfrm>
            <a:off x="3409992" y="5590000"/>
            <a:ext cx="25953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5" name="!!L_Cl2"/>
          <p:cNvSpPr/>
          <p:nvPr/>
        </p:nvSpPr>
        <p:spPr>
          <a:xfrm>
            <a:off x="3589992" y="5670000"/>
            <a:ext cx="2235398" cy="220000"/>
          </a:xfrm>
          <a:prstGeom prst="rect">
            <a:avLst/>
          </a:prstGeom>
          <a:noFill/>
          <a:ln/>
        </p:spPr>
        <p:txBody>
          <a:bodyPr wrap="square" rtlCol="0" anchor="t"/>
          <a:lstStyle/>
          <a:p>
            <a:pPr marL="0" indent="0" algn="l">
              <a:lnSpc>
                <a:spcPct val="105000"/>
              </a:lnSpc>
              <a:buNone/>
            </a:pPr>
            <a:r>
              <a:rPr lang="en-US" sz="1000" b="1" kern="0">
                <a:solidFill>
                  <a:srgbClr val="B3BC9A"/>
                </a:solidFill>
                <a:latin typeface="Courier New" pitchFamily="34" charset="0"/>
                <a:ea typeface="Courier New" pitchFamily="34" charset="-122"/>
                <a:cs typeface="Courier New" pitchFamily="34" charset="-120"/>
              </a:rPr>
              <a:t>VERSORGER + IMMOB.</a:t>
            </a:r>
            <a:endParaRPr lang="en-US" sz="1000"/>
          </a:p>
        </p:txBody>
      </p:sp>
      <p:sp>
        <p:nvSpPr>
          <p:cNvPr id="96" name="!!T_Cl2"/>
          <p:cNvSpPr/>
          <p:nvPr/>
        </p:nvSpPr>
        <p:spPr>
          <a:xfrm>
            <a:off x="3589992" y="5890000"/>
            <a:ext cx="2235398" cy="460000"/>
          </a:xfrm>
          <a:prstGeom prst="rect">
            <a:avLst/>
          </a:prstGeom>
          <a:noFill/>
          <a:ln/>
        </p:spPr>
        <p:txBody>
          <a:bodyPr wrap="square" rtlCol="0" anchor="t"/>
          <a:lstStyle/>
          <a:p>
            <a:pPr marL="0" indent="0" algn="l">
              <a:lnSpc>
                <a:spcPct val="100000"/>
              </a:lnSpc>
              <a:buNone/>
            </a:pPr>
            <a:r>
              <a:rPr lang="en-US" sz="1250" b="1" kern="0">
                <a:solidFill>
                  <a:srgbClr val="F2EFDA"/>
                </a:solidFill>
                <a:latin typeface="Courier New" pitchFamily="34" charset="0"/>
                <a:ea typeface="Courier New" pitchFamily="34" charset="-122"/>
                <a:cs typeface="Courier New" pitchFamily="34" charset="-120"/>
              </a:rPr>
              <a:t>65 %</a:t>
            </a:r>
            <a:endParaRPr lang="en-US" sz="12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Buchgewinne stabil: ROA 82 % — Margen schwächer.</a:t>
            </a:r>
            <a:endParaRPr lang="en-US" sz="870"/>
          </a:p>
        </p:txBody>
      </p:sp>
      <p:sp>
        <p:nvSpPr>
          <p:cNvPr id="97" name="!!K_Cl3"/>
          <p:cNvSpPr/>
          <p:nvPr/>
        </p:nvSpPr>
        <p:spPr>
          <a:xfrm>
            <a:off x="6185390" y="5590000"/>
            <a:ext cx="25953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8" name="!!L_Cl3"/>
          <p:cNvSpPr/>
          <p:nvPr/>
        </p:nvSpPr>
        <p:spPr>
          <a:xfrm>
            <a:off x="6365390" y="5670000"/>
            <a:ext cx="2235398" cy="220000"/>
          </a:xfrm>
          <a:prstGeom prst="rect">
            <a:avLst/>
          </a:prstGeom>
          <a:noFill/>
          <a:ln/>
        </p:spPr>
        <p:txBody>
          <a:bodyPr wrap="square" rtlCol="0" anchor="t"/>
          <a:lstStyle/>
          <a:p>
            <a:pPr marL="0" indent="0" algn="l">
              <a:lnSpc>
                <a:spcPct val="105000"/>
              </a:lnSpc>
              <a:buNone/>
            </a:pPr>
            <a:r>
              <a:rPr lang="en-US" sz="1000" b="1" kern="0">
                <a:solidFill>
                  <a:srgbClr val="B3BC9A"/>
                </a:solidFill>
                <a:latin typeface="Courier New" pitchFamily="34" charset="0"/>
                <a:ea typeface="Courier New" pitchFamily="34" charset="-122"/>
                <a:cs typeface="Courier New" pitchFamily="34" charset="-120"/>
              </a:rPr>
              <a:t>TECH + GRUNDSTOFFE</a:t>
            </a:r>
            <a:endParaRPr lang="en-US" sz="1000"/>
          </a:p>
        </p:txBody>
      </p:sp>
      <p:sp>
        <p:nvSpPr>
          <p:cNvPr id="99" name="!!T_Cl3"/>
          <p:cNvSpPr/>
          <p:nvPr/>
        </p:nvSpPr>
        <p:spPr>
          <a:xfrm>
            <a:off x="6365390" y="5890000"/>
            <a:ext cx="2235398" cy="460000"/>
          </a:xfrm>
          <a:prstGeom prst="rect">
            <a:avLst/>
          </a:prstGeom>
          <a:noFill/>
          <a:ln/>
        </p:spPr>
        <p:txBody>
          <a:bodyPr wrap="square" rtlCol="0" anchor="t"/>
          <a:lstStyle/>
          <a:p>
            <a:pPr marL="0" indent="0" algn="l">
              <a:lnSpc>
                <a:spcPct val="100000"/>
              </a:lnSpc>
              <a:buNone/>
            </a:pPr>
            <a:r>
              <a:rPr lang="en-US" sz="1250" b="1" kern="0">
                <a:solidFill>
                  <a:srgbClr val="F2EFDA"/>
                </a:solidFill>
                <a:latin typeface="Courier New" pitchFamily="34" charset="0"/>
                <a:ea typeface="Courier New" pitchFamily="34" charset="-122"/>
                <a:cs typeface="Courier New" pitchFamily="34" charset="-120"/>
              </a:rPr>
              <a:t>60 %</a:t>
            </a:r>
            <a:endParaRPr lang="en-US" sz="12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persistente Hälfte — moderat bestätigt.</a:t>
            </a:r>
            <a:endParaRPr lang="en-US" sz="870"/>
          </a:p>
        </p:txBody>
      </p:sp>
      <p:sp>
        <p:nvSpPr>
          <p:cNvPr id="100" name="!!K_Cl4"/>
          <p:cNvSpPr/>
          <p:nvPr/>
        </p:nvSpPr>
        <p:spPr>
          <a:xfrm>
            <a:off x="8960788" y="5590000"/>
            <a:ext cx="25953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101" name="!!L_Cl4"/>
          <p:cNvSpPr/>
          <p:nvPr/>
        </p:nvSpPr>
        <p:spPr>
          <a:xfrm>
            <a:off x="9140788" y="5670000"/>
            <a:ext cx="2235398" cy="220000"/>
          </a:xfrm>
          <a:prstGeom prst="rect">
            <a:avLst/>
          </a:prstGeom>
          <a:noFill/>
          <a:ln/>
        </p:spPr>
        <p:txBody>
          <a:bodyPr wrap="square" rtlCol="0" anchor="t"/>
          <a:lstStyle/>
          <a:p>
            <a:pPr>
              <a:lnSpc>
                <a:spcPct val="105000"/>
              </a:lnSpc>
            </a:pPr>
            <a:r>
              <a:rPr lang="en-US" sz="1000" b="1" kern="0">
                <a:solidFill>
                  <a:srgbClr val="B3BC9A"/>
                </a:solidFill>
                <a:latin typeface="Courier New" pitchFamily="34" charset="0"/>
                <a:cs typeface="Courier New" pitchFamily="34" charset="-120"/>
              </a:rPr>
              <a:t>KOMM. + ENERGIE</a:t>
            </a:r>
          </a:p>
        </p:txBody>
      </p:sp>
      <p:sp>
        <p:nvSpPr>
          <p:cNvPr id="102" name="!!T_Cl4"/>
          <p:cNvSpPr/>
          <p:nvPr/>
        </p:nvSpPr>
        <p:spPr>
          <a:xfrm>
            <a:off x="9140788" y="5890000"/>
            <a:ext cx="2235398" cy="460000"/>
          </a:xfrm>
          <a:prstGeom prst="rect">
            <a:avLst/>
          </a:prstGeom>
          <a:noFill/>
          <a:ln/>
        </p:spPr>
        <p:txBody>
          <a:bodyPr wrap="square" rtlCol="0" anchor="t"/>
          <a:lstStyle/>
          <a:p>
            <a:pPr marL="0" indent="0" algn="l">
              <a:lnSpc>
                <a:spcPct val="100000"/>
              </a:lnSpc>
              <a:buNone/>
            </a:pPr>
            <a:r>
              <a:rPr lang="en-US" sz="1250" b="1" kern="0">
                <a:solidFill>
                  <a:srgbClr val="F2EFDA"/>
                </a:solidFill>
                <a:latin typeface="Courier New" pitchFamily="34" charset="0"/>
                <a:ea typeface="Courier New" pitchFamily="34" charset="-122"/>
                <a:cs typeface="Courier New" pitchFamily="34" charset="-120"/>
              </a:rPr>
              <a:t>43 %</a:t>
            </a:r>
            <a:endParaRPr lang="en-US" sz="12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offen benannt: FCF nur 30 % — Zyklen persistieren.</a:t>
            </a:r>
            <a:endParaRPr lang="en-US" sz="87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dirty="0">
                <a:solidFill>
                  <a:srgbClr val="E6D34F"/>
                </a:solidFill>
                <a:latin typeface="Courier New" pitchFamily="34" charset="0"/>
                <a:ea typeface="Courier New" pitchFamily="34" charset="-122"/>
                <a:cs typeface="Courier New" pitchFamily="34" charset="-120"/>
              </a:rPr>
              <a:t>FORSCHUNGSFRAGE 3</a:t>
            </a:r>
            <a:endParaRPr lang="en-US" sz="1200" dirty="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dirty="0">
                <a:solidFill>
                  <a:srgbClr val="798D6F"/>
                </a:solidFill>
                <a:latin typeface="Courier New" pitchFamily="34" charset="0"/>
                <a:ea typeface="Courier New" pitchFamily="34" charset="-122"/>
                <a:cs typeface="Courier New" pitchFamily="34" charset="-120"/>
              </a:rPr>
              <a:t>12 / 15</a:t>
            </a:r>
            <a:endParaRPr lang="en-US" sz="1200" dirty="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a:solidFill>
                  <a:srgbClr val="F2EFDA"/>
                </a:solidFill>
                <a:latin typeface="Arial" pitchFamily="34" charset="0"/>
                <a:ea typeface="Arial" pitchFamily="34" charset="-122"/>
                <a:cs typeface="Arial" pitchFamily="34" charset="-120"/>
              </a:rPr>
              <a:t>Drei Ebenen, ein Testprogramm</a:t>
            </a:r>
            <a:endParaRPr lang="en-US" sz="2000" dirty="0"/>
          </a:p>
        </p:txBody>
      </p:sp>
      <p:sp>
        <p:nvSpPr>
          <p:cNvPr id="20" name="Text 17"/>
          <p:cNvSpPr/>
          <p:nvPr/>
        </p:nvSpPr>
        <p:spPr>
          <a:xfrm>
            <a:off x="634594" y="5270602"/>
            <a:ext cx="10921594" cy="254203"/>
          </a:xfrm>
          <a:prstGeom prst="rect">
            <a:avLst/>
          </a:prstGeom>
          <a:noFill/>
          <a:ln/>
        </p:spPr>
        <p:txBody>
          <a:bodyPr wrap="square" rtlCol="0" anchor="t"/>
          <a:lstStyle/>
          <a:p>
            <a:pPr marL="0" indent="0" algn="l">
              <a:lnSpc>
                <a:spcPct val="105000"/>
              </a:lnSpc>
              <a:buNone/>
            </a:pPr>
            <a:r>
              <a:rPr lang="en-US" sz="900" kern="0" dirty="0">
                <a:solidFill>
                  <a:srgbClr val="798D6F"/>
                </a:solidFill>
                <a:latin typeface="Arial" pitchFamily="34" charset="0"/>
                <a:ea typeface="Arial" pitchFamily="34" charset="-122"/>
                <a:cs typeface="Arial" pitchFamily="34" charset="-120"/>
              </a:rPr>
              <a:t>Alle Testfamilien Bonferroni-korrigiert. Die Ergebnisse folgen auf den nächsten drei Folien.</a:t>
            </a:r>
            <a:endParaRPr lang="en-US" sz="900" dirty="0"/>
          </a:p>
        </p:txBody>
      </p:sp>
      <p:sp>
        <p:nvSpPr>
          <p:cNvPr id="40" name="!!K_Test1"/>
          <p:cNvSpPr/>
          <p:nvPr/>
        </p:nvSpPr>
        <p:spPr>
          <a:xfrm>
            <a:off x="634594" y="1750000"/>
            <a:ext cx="10921594" cy="115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1" name="!!A_Test1"/>
          <p:cNvSpPr/>
          <p:nvPr/>
        </p:nvSpPr>
        <p:spPr>
          <a:xfrm>
            <a:off x="634594" y="1750000"/>
            <a:ext cx="38405" cy="1150000"/>
          </a:xfrm>
          <a:prstGeom prst="rect">
            <a:avLst/>
          </a:prstGeom>
          <a:solidFill>
            <a:srgbClr val="79A2F9"/>
          </a:solidFill>
          <a:ln/>
        </p:spPr>
        <p:txBody>
          <a:bodyPr/>
          <a:lstStyle/>
          <a:p>
            <a:endParaRPr lang="de-DE"/>
          </a:p>
        </p:txBody>
      </p:sp>
      <p:sp>
        <p:nvSpPr>
          <p:cNvPr id="42" name="!!L_Test1"/>
          <p:cNvSpPr/>
          <p:nvPr/>
        </p:nvSpPr>
        <p:spPr>
          <a:xfrm>
            <a:off x="888797" y="1940000"/>
            <a:ext cx="7300000" cy="260000"/>
          </a:xfrm>
          <a:prstGeom prst="rect">
            <a:avLst/>
          </a:prstGeom>
          <a:noFill/>
          <a:ln/>
        </p:spPr>
        <p:txBody>
          <a:bodyPr wrap="square" rtlCol="0" anchor="t"/>
          <a:lstStyle/>
          <a:p>
            <a:pPr marL="0" indent="0" algn="l">
              <a:lnSpc>
                <a:spcPct val="105000"/>
              </a:lnSpc>
              <a:buNone/>
            </a:pPr>
            <a:r>
              <a:rPr lang="en-US" sz="1200" b="1" kern="0" dirty="0">
                <a:solidFill>
                  <a:srgbClr val="79A2F9"/>
                </a:solidFill>
                <a:latin typeface="Courier New" pitchFamily="34" charset="0"/>
                <a:ea typeface="Courier New" pitchFamily="34" charset="-122"/>
                <a:cs typeface="Courier New" pitchFamily="34" charset="-120"/>
              </a:rPr>
              <a:t>6.1 · UNTERNEHMENSMERKMALE</a:t>
            </a:r>
            <a:endParaRPr lang="en-US" sz="1200" dirty="0"/>
          </a:p>
        </p:txBody>
      </p:sp>
      <p:sp>
        <p:nvSpPr>
          <p:cNvPr id="43" name="!!D_Test1"/>
          <p:cNvSpPr/>
          <p:nvPr/>
        </p:nvSpPr>
        <p:spPr>
          <a:xfrm>
            <a:off x="4532913" y="2223506"/>
            <a:ext cx="4213824" cy="480000"/>
          </a:xfrm>
          <a:prstGeom prst="rect">
            <a:avLst/>
          </a:prstGeom>
          <a:noFill/>
          <a:ln/>
        </p:spPr>
        <p:txBody>
          <a:bodyPr wrap="square" rtlCol="0" anchor="t"/>
          <a:lstStyle/>
          <a:p>
            <a:pPr marL="0" indent="0" algn="r">
              <a:lnSpc>
                <a:spcPct val="110000"/>
              </a:lnSpc>
              <a:buNone/>
            </a:pPr>
            <a:r>
              <a:rPr lang="en-US" sz="1400" kern="0" dirty="0">
                <a:solidFill>
                  <a:srgbClr val="B3BC9A"/>
                </a:solidFill>
                <a:latin typeface="Arial" pitchFamily="34" charset="0"/>
                <a:ea typeface="Arial" pitchFamily="34" charset="-122"/>
                <a:cs typeface="Arial" pitchFamily="34" charset="-120"/>
              </a:rPr>
              <a:t>5 Strukturvariablen × 7 Kennzahlen × </a:t>
            </a:r>
            <a:r>
              <a:rPr lang="en-US" sz="1400" kern="0" dirty="0" err="1">
                <a:solidFill>
                  <a:srgbClr val="B3BC9A"/>
                </a:solidFill>
                <a:latin typeface="Arial" pitchFamily="34" charset="0"/>
                <a:ea typeface="Arial" pitchFamily="34" charset="-122"/>
                <a:cs typeface="Arial" pitchFamily="34" charset="-120"/>
              </a:rPr>
              <a:t>φ</a:t>
            </a:r>
            <a:r>
              <a:rPr lang="en-US" sz="1400" kern="0" dirty="0">
                <a:solidFill>
                  <a:srgbClr val="B3BC9A"/>
                </a:solidFill>
                <a:latin typeface="Arial" pitchFamily="34" charset="0"/>
                <a:ea typeface="Arial" pitchFamily="34" charset="-122"/>
                <a:cs typeface="Arial" pitchFamily="34" charset="-120"/>
              </a:rPr>
              <a:t> &amp; </a:t>
            </a:r>
            <a:r>
              <a:rPr lang="en-US" sz="1400" kern="0" dirty="0" err="1">
                <a:solidFill>
                  <a:srgbClr val="B3BC9A"/>
                </a:solidFill>
                <a:latin typeface="Arial" pitchFamily="34" charset="0"/>
                <a:ea typeface="Arial" pitchFamily="34" charset="-122"/>
                <a:cs typeface="Arial" pitchFamily="34" charset="-120"/>
              </a:rPr>
              <a:t>σ</a:t>
            </a:r>
            <a:r>
              <a:rPr lang="en-US" sz="1400" kern="0" dirty="0">
                <a:solidFill>
                  <a:srgbClr val="B3BC9A"/>
                </a:solidFill>
                <a:latin typeface="Arial" pitchFamily="34" charset="0"/>
                <a:ea typeface="Arial" pitchFamily="34" charset="-122"/>
                <a:cs typeface="Arial" pitchFamily="34" charset="-120"/>
              </a:rPr>
              <a:t> </a:t>
            </a:r>
            <a:endParaRPr lang="en-US" sz="1400" dirty="0"/>
          </a:p>
        </p:txBody>
      </p:sp>
      <p:sp>
        <p:nvSpPr>
          <p:cNvPr id="60" name="!!B_Test1"/>
          <p:cNvSpPr/>
          <p:nvPr/>
        </p:nvSpPr>
        <p:spPr>
          <a:xfrm>
            <a:off x="8300000" y="1750000"/>
            <a:ext cx="3001985" cy="1150000"/>
          </a:xfrm>
          <a:prstGeom prst="rect">
            <a:avLst/>
          </a:prstGeom>
          <a:noFill/>
          <a:ln/>
        </p:spPr>
        <p:txBody>
          <a:bodyPr wrap="square" rtlCol="0" anchor="ctr"/>
          <a:lstStyle/>
          <a:p>
            <a:pPr marL="0" indent="0" algn="r">
              <a:lnSpc>
                <a:spcPct val="105000"/>
              </a:lnSpc>
              <a:buNone/>
            </a:pPr>
            <a:r>
              <a:rPr lang="en-US" sz="2000" b="1" kern="0" dirty="0">
                <a:solidFill>
                  <a:srgbClr val="F2EFDA"/>
                </a:solidFill>
                <a:latin typeface="Courier New" pitchFamily="34" charset="0"/>
                <a:ea typeface="Courier New" pitchFamily="34" charset="-122"/>
                <a:cs typeface="Courier New" pitchFamily="34" charset="-120"/>
              </a:rPr>
              <a:t>98 Tests</a:t>
            </a:r>
            <a:endParaRPr lang="en-US" sz="2000" dirty="0"/>
          </a:p>
        </p:txBody>
      </p:sp>
      <p:sp>
        <p:nvSpPr>
          <p:cNvPr id="44" name="!!K_Test2"/>
          <p:cNvSpPr/>
          <p:nvPr/>
        </p:nvSpPr>
        <p:spPr>
          <a:xfrm>
            <a:off x="634594" y="3160000"/>
            <a:ext cx="10921594" cy="115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5" name="!!A_Test2"/>
          <p:cNvSpPr/>
          <p:nvPr/>
        </p:nvSpPr>
        <p:spPr>
          <a:xfrm>
            <a:off x="634594" y="3160000"/>
            <a:ext cx="38405" cy="1150000"/>
          </a:xfrm>
          <a:prstGeom prst="rect">
            <a:avLst/>
          </a:prstGeom>
          <a:solidFill>
            <a:srgbClr val="E6D34F"/>
          </a:solidFill>
          <a:ln/>
        </p:spPr>
        <p:txBody>
          <a:bodyPr/>
          <a:lstStyle/>
          <a:p>
            <a:endParaRPr lang="de-DE"/>
          </a:p>
        </p:txBody>
      </p:sp>
      <p:sp>
        <p:nvSpPr>
          <p:cNvPr id="46" name="!!L_Test2"/>
          <p:cNvSpPr/>
          <p:nvPr/>
        </p:nvSpPr>
        <p:spPr>
          <a:xfrm>
            <a:off x="888797" y="3350000"/>
            <a:ext cx="7300000" cy="260000"/>
          </a:xfrm>
          <a:prstGeom prst="rect">
            <a:avLst/>
          </a:prstGeom>
          <a:noFill/>
          <a:ln/>
        </p:spPr>
        <p:txBody>
          <a:bodyPr wrap="square" rtlCol="0" anchor="t"/>
          <a:lstStyle/>
          <a:p>
            <a:pPr marL="0" indent="0" algn="l">
              <a:lnSpc>
                <a:spcPct val="105000"/>
              </a:lnSpc>
              <a:buNone/>
            </a:pPr>
            <a:r>
              <a:rPr lang="en-US" sz="1200" b="1" kern="0" dirty="0">
                <a:solidFill>
                  <a:srgbClr val="E6D34F"/>
                </a:solidFill>
                <a:latin typeface="Courier New" pitchFamily="34" charset="0"/>
                <a:ea typeface="Courier New" pitchFamily="34" charset="-122"/>
                <a:cs typeface="Courier New" pitchFamily="34" charset="-120"/>
              </a:rPr>
              <a:t>6.2 · SEKTORMERKMALE</a:t>
            </a:r>
            <a:endParaRPr lang="en-US" sz="1200" dirty="0"/>
          </a:p>
        </p:txBody>
      </p:sp>
      <p:sp>
        <p:nvSpPr>
          <p:cNvPr id="47" name="!!D_Test2"/>
          <p:cNvSpPr/>
          <p:nvPr/>
        </p:nvSpPr>
        <p:spPr>
          <a:xfrm>
            <a:off x="4532912" y="3633506"/>
            <a:ext cx="4213824" cy="480000"/>
          </a:xfrm>
          <a:prstGeom prst="rect">
            <a:avLst/>
          </a:prstGeom>
          <a:noFill/>
          <a:ln/>
        </p:spPr>
        <p:txBody>
          <a:bodyPr wrap="square" rtlCol="0" anchor="t"/>
          <a:lstStyle/>
          <a:p>
            <a:pPr marL="0" indent="0" algn="r">
              <a:lnSpc>
                <a:spcPct val="110000"/>
              </a:lnSpc>
              <a:buNone/>
            </a:pPr>
            <a:r>
              <a:rPr lang="en-US" sz="1400" kern="0" dirty="0">
                <a:solidFill>
                  <a:srgbClr val="B3BC9A"/>
                </a:solidFill>
                <a:latin typeface="Arial" pitchFamily="34" charset="0"/>
                <a:ea typeface="Arial" pitchFamily="34" charset="-122"/>
                <a:cs typeface="Arial" pitchFamily="34" charset="-120"/>
              </a:rPr>
              <a:t>Kruskal-Wallis über die </a:t>
            </a:r>
            <a:r>
              <a:rPr lang="en-US" sz="1400" kern="0" dirty="0" err="1">
                <a:solidFill>
                  <a:srgbClr val="B3BC9A"/>
                </a:solidFill>
                <a:latin typeface="Arial" pitchFamily="34" charset="0"/>
                <a:ea typeface="Arial" pitchFamily="34" charset="-122"/>
                <a:cs typeface="Arial" pitchFamily="34" charset="-120"/>
              </a:rPr>
              <a:t>zehn</a:t>
            </a:r>
            <a:r>
              <a:rPr lang="en-US" sz="1400" kern="0" dirty="0">
                <a:solidFill>
                  <a:srgbClr val="B3BC9A"/>
                </a:solidFill>
                <a:latin typeface="Arial" pitchFamily="34" charset="0"/>
                <a:ea typeface="Arial" pitchFamily="34" charset="-122"/>
                <a:cs typeface="Arial" pitchFamily="34" charset="-120"/>
              </a:rPr>
              <a:t> GICS-</a:t>
            </a:r>
            <a:r>
              <a:rPr lang="en-US" sz="1400" kern="0" dirty="0" err="1">
                <a:solidFill>
                  <a:srgbClr val="B3BC9A"/>
                </a:solidFill>
                <a:latin typeface="Arial" pitchFamily="34" charset="0"/>
                <a:ea typeface="Arial" pitchFamily="34" charset="-122"/>
                <a:cs typeface="Arial" pitchFamily="34" charset="-120"/>
              </a:rPr>
              <a:t>Sektoren</a:t>
            </a:r>
            <a:endParaRPr lang="en-US" sz="1400" dirty="0"/>
          </a:p>
        </p:txBody>
      </p:sp>
      <p:sp>
        <p:nvSpPr>
          <p:cNvPr id="64" name="!!B_Test2"/>
          <p:cNvSpPr/>
          <p:nvPr/>
        </p:nvSpPr>
        <p:spPr>
          <a:xfrm>
            <a:off x="8300000" y="3160000"/>
            <a:ext cx="3001985" cy="1150000"/>
          </a:xfrm>
          <a:prstGeom prst="rect">
            <a:avLst/>
          </a:prstGeom>
          <a:noFill/>
          <a:ln/>
        </p:spPr>
        <p:txBody>
          <a:bodyPr wrap="square" rtlCol="0" anchor="ctr"/>
          <a:lstStyle/>
          <a:p>
            <a:pPr marL="0" indent="0" algn="r">
              <a:lnSpc>
                <a:spcPct val="105000"/>
              </a:lnSpc>
              <a:buNone/>
            </a:pPr>
            <a:r>
              <a:rPr lang="en-US" sz="2000" b="1" kern="0" dirty="0">
                <a:solidFill>
                  <a:srgbClr val="F2EFDA"/>
                </a:solidFill>
                <a:latin typeface="Courier New" pitchFamily="34" charset="0"/>
                <a:ea typeface="Courier New" pitchFamily="34" charset="-122"/>
                <a:cs typeface="Courier New" pitchFamily="34" charset="-120"/>
              </a:rPr>
              <a:t>3 Verfahren</a:t>
            </a:r>
            <a:endParaRPr lang="en-US" sz="2000" dirty="0"/>
          </a:p>
        </p:txBody>
      </p:sp>
      <p:sp>
        <p:nvSpPr>
          <p:cNvPr id="48" name="!!K_Test3"/>
          <p:cNvSpPr/>
          <p:nvPr/>
        </p:nvSpPr>
        <p:spPr>
          <a:xfrm>
            <a:off x="634594" y="4570000"/>
            <a:ext cx="10921594" cy="115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9" name="!!A_Test3"/>
          <p:cNvSpPr/>
          <p:nvPr/>
        </p:nvSpPr>
        <p:spPr>
          <a:xfrm>
            <a:off x="634594" y="4570000"/>
            <a:ext cx="38405" cy="1150000"/>
          </a:xfrm>
          <a:prstGeom prst="rect">
            <a:avLst/>
          </a:prstGeom>
          <a:solidFill>
            <a:srgbClr val="F36451"/>
          </a:solidFill>
          <a:ln/>
        </p:spPr>
        <p:txBody>
          <a:bodyPr/>
          <a:lstStyle/>
          <a:p>
            <a:endParaRPr lang="de-DE"/>
          </a:p>
        </p:txBody>
      </p:sp>
      <p:sp>
        <p:nvSpPr>
          <p:cNvPr id="50" name="!!L_Test3"/>
          <p:cNvSpPr/>
          <p:nvPr/>
        </p:nvSpPr>
        <p:spPr>
          <a:xfrm>
            <a:off x="888797" y="4760000"/>
            <a:ext cx="7300000" cy="260000"/>
          </a:xfrm>
          <a:prstGeom prst="rect">
            <a:avLst/>
          </a:prstGeom>
          <a:noFill/>
          <a:ln/>
        </p:spPr>
        <p:txBody>
          <a:bodyPr wrap="square" rtlCol="0" anchor="t"/>
          <a:lstStyle/>
          <a:p>
            <a:pPr marL="0" indent="0" algn="l">
              <a:lnSpc>
                <a:spcPct val="105000"/>
              </a:lnSpc>
              <a:buNone/>
            </a:pPr>
            <a:r>
              <a:rPr lang="en-US" sz="1200" b="1" kern="0" dirty="0">
                <a:solidFill>
                  <a:srgbClr val="F36451"/>
                </a:solidFill>
                <a:latin typeface="Courier New" pitchFamily="34" charset="0"/>
                <a:ea typeface="Courier New" pitchFamily="34" charset="-122"/>
                <a:cs typeface="Courier New" pitchFamily="34" charset="-120"/>
              </a:rPr>
              <a:t>6.3 · SYNTHESE</a:t>
            </a:r>
            <a:endParaRPr lang="en-US" sz="1200" dirty="0"/>
          </a:p>
        </p:txBody>
      </p:sp>
      <p:sp>
        <p:nvSpPr>
          <p:cNvPr id="51" name="!!D_Test3"/>
          <p:cNvSpPr/>
          <p:nvPr/>
        </p:nvSpPr>
        <p:spPr>
          <a:xfrm>
            <a:off x="4532912" y="5043506"/>
            <a:ext cx="4213824" cy="480000"/>
          </a:xfrm>
          <a:prstGeom prst="rect">
            <a:avLst/>
          </a:prstGeom>
          <a:noFill/>
          <a:ln/>
        </p:spPr>
        <p:txBody>
          <a:bodyPr wrap="square" rtlCol="0" anchor="t"/>
          <a:lstStyle/>
          <a:p>
            <a:pPr marL="0" indent="0" algn="r">
              <a:lnSpc>
                <a:spcPct val="110000"/>
              </a:lnSpc>
              <a:buNone/>
            </a:pPr>
            <a:r>
              <a:rPr lang="en-US" sz="1400" kern="0" dirty="0">
                <a:solidFill>
                  <a:srgbClr val="B3BC9A"/>
                </a:solidFill>
                <a:latin typeface="Arial" pitchFamily="34" charset="0"/>
                <a:ea typeface="Arial" pitchFamily="34" charset="-122"/>
                <a:cs typeface="Arial" pitchFamily="34" charset="-120"/>
              </a:rPr>
              <a:t>Multivariate OLS-Regression</a:t>
            </a:r>
            <a:endParaRPr lang="en-US" sz="1400" dirty="0"/>
          </a:p>
        </p:txBody>
      </p:sp>
      <p:sp>
        <p:nvSpPr>
          <p:cNvPr id="68" name="!!B_Test3"/>
          <p:cNvSpPr/>
          <p:nvPr/>
        </p:nvSpPr>
        <p:spPr>
          <a:xfrm>
            <a:off x="8300000" y="4570000"/>
            <a:ext cx="3001985" cy="1150000"/>
          </a:xfrm>
          <a:prstGeom prst="rect">
            <a:avLst/>
          </a:prstGeom>
          <a:noFill/>
          <a:ln/>
        </p:spPr>
        <p:txBody>
          <a:bodyPr wrap="square" rtlCol="0" anchor="ctr"/>
          <a:lstStyle/>
          <a:p>
            <a:pPr marL="0" indent="0" algn="r">
              <a:lnSpc>
                <a:spcPct val="105000"/>
              </a:lnSpc>
              <a:buNone/>
            </a:pPr>
            <a:r>
              <a:rPr lang="en-US" sz="2000" b="1" kern="0" dirty="0">
                <a:solidFill>
                  <a:srgbClr val="F2EFDA"/>
                </a:solidFill>
                <a:latin typeface="Courier New" pitchFamily="34" charset="0"/>
                <a:ea typeface="Courier New" pitchFamily="34" charset="-122"/>
                <a:cs typeface="Courier New" pitchFamily="34" charset="-120"/>
              </a:rPr>
              <a:t>14 Modelle</a:t>
            </a:r>
            <a:endParaRPr lang="en-US" sz="2000"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dirty="0">
                <a:solidFill>
                  <a:srgbClr val="E6D34F"/>
                </a:solidFill>
                <a:latin typeface="Courier New" pitchFamily="34" charset="0"/>
                <a:ea typeface="Courier New" pitchFamily="34" charset="-122"/>
                <a:cs typeface="Courier New" pitchFamily="34" charset="-120"/>
              </a:rPr>
              <a:t>FORSCHUNGSFRAGE 3</a:t>
            </a:r>
            <a:endParaRPr lang="en-US" sz="1200" dirty="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dirty="0">
                <a:solidFill>
                  <a:srgbClr val="798D6F"/>
                </a:solidFill>
                <a:latin typeface="Courier New" pitchFamily="34" charset="0"/>
                <a:ea typeface="Courier New" pitchFamily="34" charset="-122"/>
                <a:cs typeface="Courier New" pitchFamily="34" charset="-120"/>
              </a:rPr>
              <a:t>13 / 15</a:t>
            </a:r>
            <a:endParaRPr lang="en-US" sz="1200" dirty="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a:solidFill>
                  <a:srgbClr val="F2EFDA"/>
                </a:solidFill>
                <a:latin typeface="Arial" pitchFamily="34" charset="0"/>
                <a:ea typeface="Arial" pitchFamily="34" charset="-122"/>
                <a:cs typeface="Arial" pitchFamily="34" charset="-120"/>
              </a:rPr>
              <a:t>Unternehmensmerkmale wirken auf σ — kaum auf φ</a:t>
            </a:r>
            <a:endParaRPr lang="en-US" sz="2000" dirty="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dirty="0">
                <a:solidFill>
                  <a:srgbClr val="B3BC9A"/>
                </a:solidFill>
                <a:latin typeface="Arial" pitchFamily="34" charset="0"/>
                <a:ea typeface="Arial" pitchFamily="34" charset="-122"/>
                <a:cs typeface="Arial" pitchFamily="34" charset="-120"/>
              </a:rPr>
              <a:t>98 Spearman-Tests · ★ = Bonferroni-signifikant (α/14 ≈ 0,0036)</a:t>
            </a:r>
            <a:endParaRPr lang="en-US" sz="1100" dirty="0"/>
          </a:p>
        </p:txBody>
      </p:sp>
      <p:sp>
        <p:nvSpPr>
          <p:cNvPr id="20" name="Text 17"/>
          <p:cNvSpPr/>
          <p:nvPr/>
        </p:nvSpPr>
        <p:spPr>
          <a:xfrm>
            <a:off x="634594" y="5850000"/>
            <a:ext cx="10921594" cy="254203"/>
          </a:xfrm>
          <a:prstGeom prst="rect">
            <a:avLst/>
          </a:prstGeom>
          <a:noFill/>
          <a:ln/>
        </p:spPr>
        <p:txBody>
          <a:bodyPr wrap="square" rtlCol="0" anchor="t"/>
          <a:lstStyle/>
          <a:p>
            <a:pPr marL="0" indent="0" algn="l">
              <a:lnSpc>
                <a:spcPct val="105000"/>
              </a:lnSpc>
              <a:buNone/>
            </a:pPr>
            <a:r>
              <a:rPr lang="en-US" sz="900" kern="0" dirty="0">
                <a:solidFill>
                  <a:srgbClr val="798D6F"/>
                </a:solidFill>
                <a:latin typeface="Arial" pitchFamily="34" charset="0"/>
                <a:ea typeface="Arial" pitchFamily="34" charset="-122"/>
                <a:cs typeface="Arial" pitchFamily="34" charset="-120"/>
              </a:rPr>
              <a:t>31 von 49 σ-Tests signifikant · 10 von 49 bei φ — stärkster Effekt: Mitarbeiterzahl × FCF-Marge / Current Ratio (ρ = −0,53).</a:t>
            </a:r>
            <a:endParaRPr lang="en-US" sz="900" dirty="0"/>
          </a:p>
        </p:txBody>
      </p:sp>
      <p:pic>
        <p:nvPicPr>
          <p:cNvPr id="8" name="Grafik 7">
            <a:extLst>
              <a:ext uri="{FF2B5EF4-FFF2-40B4-BE49-F238E27FC236}">
                <a16:creationId xmlns:a16="http://schemas.microsoft.com/office/drawing/2014/main" id="{061F56C1-183F-5856-5CA7-7B380676D932}"/>
              </a:ext>
            </a:extLst>
          </p:cNvPr>
          <p:cNvPicPr>
            <a:picLocks noChangeAspect="1"/>
          </p:cNvPicPr>
          <p:nvPr/>
        </p:nvPicPr>
        <p:blipFill>
          <a:blip r:embed="rId3"/>
          <a:stretch>
            <a:fillRect/>
          </a:stretch>
        </p:blipFill>
        <p:spPr>
          <a:xfrm>
            <a:off x="634594" y="1682683"/>
            <a:ext cx="9516796" cy="389766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dirty="0">
                <a:solidFill>
                  <a:srgbClr val="E6D34F"/>
                </a:solidFill>
                <a:latin typeface="Courier New" pitchFamily="34" charset="0"/>
                <a:ea typeface="Courier New" pitchFamily="34" charset="-122"/>
                <a:cs typeface="Courier New" pitchFamily="34" charset="-120"/>
              </a:rPr>
              <a:t>FORSCHUNGSFRAGE 3</a:t>
            </a:r>
            <a:endParaRPr lang="en-US" sz="1200" dirty="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dirty="0">
                <a:solidFill>
                  <a:srgbClr val="798D6F"/>
                </a:solidFill>
                <a:latin typeface="Courier New" pitchFamily="34" charset="0"/>
                <a:ea typeface="Courier New" pitchFamily="34" charset="-122"/>
                <a:cs typeface="Courier New" pitchFamily="34" charset="-120"/>
              </a:rPr>
              <a:t>14 / 15</a:t>
            </a:r>
            <a:endParaRPr lang="en-US" sz="1200" dirty="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a:solidFill>
                  <a:srgbClr val="F2EFDA"/>
                </a:solidFill>
                <a:latin typeface="Arial" pitchFamily="34" charset="0"/>
                <a:ea typeface="Arial" pitchFamily="34" charset="-122"/>
                <a:cs typeface="Arial" pitchFamily="34" charset="-120"/>
              </a:rPr>
              <a:t>Der Sektor erklärt die Schwankung — nicht die Korrektur</a:t>
            </a:r>
            <a:endParaRPr lang="en-US" sz="2000" dirty="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dirty="0">
                <a:solidFill>
                  <a:srgbClr val="B3BC9A"/>
                </a:solidFill>
                <a:latin typeface="Arial" pitchFamily="34" charset="0"/>
                <a:ea typeface="Arial" pitchFamily="34" charset="-122"/>
                <a:cs typeface="Arial" pitchFamily="34" charset="-120"/>
              </a:rPr>
              <a:t>Kruskal-Wallis-Effektstärke ε² je Kennzahl · ★ = Bonferroni-signifikant</a:t>
            </a:r>
            <a:endParaRPr lang="en-US" sz="1100" dirty="0"/>
          </a:p>
        </p:txBody>
      </p:sp>
      <p:sp>
        <p:nvSpPr>
          <p:cNvPr id="20" name="Text 17"/>
          <p:cNvSpPr/>
          <p:nvPr/>
        </p:nvSpPr>
        <p:spPr>
          <a:xfrm>
            <a:off x="634594" y="5270602"/>
            <a:ext cx="10921594" cy="254203"/>
          </a:xfrm>
          <a:prstGeom prst="rect">
            <a:avLst/>
          </a:prstGeom>
          <a:noFill/>
          <a:ln/>
        </p:spPr>
        <p:txBody>
          <a:bodyPr wrap="square" rtlCol="0" anchor="t"/>
          <a:lstStyle/>
          <a:p>
            <a:pPr marL="0" indent="0" algn="l">
              <a:lnSpc>
                <a:spcPct val="105000"/>
              </a:lnSpc>
              <a:buNone/>
            </a:pPr>
            <a:r>
              <a:rPr lang="en-US" sz="900" kern="0" dirty="0">
                <a:solidFill>
                  <a:srgbClr val="798D6F"/>
                </a:solidFill>
                <a:latin typeface="Arial" pitchFamily="34" charset="0"/>
                <a:ea typeface="Arial" pitchFamily="34" charset="-122"/>
                <a:cs typeface="Arial" pitchFamily="34" charset="-120"/>
              </a:rPr>
              <a:t>Cluster-Vorhersagen aus der Sektor-Mechanik (Kap. 4.3.3) · Details und Beispiel-Unternehmen im Backup.</a:t>
            </a:r>
            <a:endParaRPr lang="en-US" sz="900" dirty="0"/>
          </a:p>
        </p:txBody>
      </p:sp>
      <p:sp>
        <p:nvSpPr>
          <p:cNvPr id="60" name="!!K_FinSrv"/>
          <p:cNvSpPr/>
          <p:nvPr/>
        </p:nvSpPr>
        <p:spPr>
          <a:xfrm>
            <a:off x="7734594" y="1750000"/>
            <a:ext cx="3821594" cy="1400000"/>
          </a:xfrm>
          <a:prstGeom prst="roundRect">
            <a:avLst>
              <a:gd name="adj" fmla="val 3197"/>
            </a:avLst>
          </a:prstGeom>
          <a:solidFill>
            <a:srgbClr val="1E402E"/>
          </a:solidFill>
          <a:ln w="12700">
            <a:solidFill>
              <a:srgbClr val="E6D34F"/>
            </a:solidFill>
            <a:prstDash val="solid"/>
          </a:ln>
        </p:spPr>
        <p:txBody>
          <a:bodyPr/>
          <a:lstStyle/>
          <a:p>
            <a:endParaRPr lang="de-DE"/>
          </a:p>
        </p:txBody>
      </p:sp>
      <p:sp>
        <p:nvSpPr>
          <p:cNvPr id="61" name="!!L_FinSrv"/>
          <p:cNvSpPr/>
          <p:nvPr/>
        </p:nvSpPr>
        <p:spPr>
          <a:xfrm>
            <a:off x="7934594" y="1880000"/>
            <a:ext cx="3421594" cy="230000"/>
          </a:xfrm>
          <a:prstGeom prst="rect">
            <a:avLst/>
          </a:prstGeom>
          <a:noFill/>
          <a:ln/>
        </p:spPr>
        <p:txBody>
          <a:bodyPr wrap="square" rtlCol="0" anchor="t"/>
          <a:lstStyle/>
          <a:p>
            <a:pPr marL="0" indent="0" algn="l">
              <a:lnSpc>
                <a:spcPct val="105000"/>
              </a:lnSpc>
              <a:buNone/>
            </a:pPr>
            <a:r>
              <a:rPr lang="en-US" sz="1000" b="1" kern="0" dirty="0">
                <a:solidFill>
                  <a:srgbClr val="E6D34F"/>
                </a:solidFill>
                <a:latin typeface="Courier New" pitchFamily="34" charset="0"/>
                <a:ea typeface="Courier New" pitchFamily="34" charset="-122"/>
                <a:cs typeface="Courier New" pitchFamily="34" charset="-120"/>
              </a:rPr>
              <a:t>FINSRV-KONTRAST · 451 FIRMEN</a:t>
            </a:r>
            <a:endParaRPr lang="en-US" sz="1000" dirty="0"/>
          </a:p>
        </p:txBody>
      </p:sp>
      <p:sp>
        <p:nvSpPr>
          <p:cNvPr id="62" name="!!T_FinSrv"/>
          <p:cNvSpPr/>
          <p:nvPr/>
        </p:nvSpPr>
        <p:spPr>
          <a:xfrm>
            <a:off x="7934594" y="2160000"/>
            <a:ext cx="3421594" cy="900000"/>
          </a:xfrm>
          <a:prstGeom prst="rect">
            <a:avLst/>
          </a:prstGeom>
          <a:noFill/>
          <a:ln/>
        </p:spPr>
        <p:txBody>
          <a:bodyPr wrap="square" rtlCol="0" anchor="t"/>
          <a:lstStyle/>
          <a:p>
            <a:pPr marL="0" indent="0" algn="l">
              <a:lnSpc>
                <a:spcPct val="100000"/>
              </a:lnSpc>
              <a:buNone/>
            </a:pPr>
            <a:r>
              <a:rPr lang="en-US" sz="2000" b="1" kern="0" dirty="0">
                <a:solidFill>
                  <a:srgbClr val="F2EFDA"/>
                </a:solidFill>
                <a:latin typeface="Courier New" pitchFamily="34" charset="0"/>
                <a:ea typeface="Courier New" pitchFamily="34" charset="-122"/>
                <a:cs typeface="Courier New" pitchFamily="34" charset="-120"/>
              </a:rPr>
              <a:t>29×</a:t>
            </a:r>
            <a:r>
              <a:rPr lang="en-US" sz="1050" kern="0" dirty="0">
                <a:solidFill>
                  <a:srgbClr val="798D6F"/>
                </a:solidFill>
                <a:latin typeface="Courier New" pitchFamily="34" charset="0"/>
                <a:ea typeface="Courier New" pitchFamily="34" charset="-122"/>
                <a:cs typeface="Courier New" pitchFamily="34" charset="-120"/>
              </a:rPr>
              <a:t>  Current-Ratio-σ</a:t>
            </a:r>
            <a:endParaRPr lang="en-US" sz="2000" dirty="0"/>
          </a:p>
          <a:p>
            <a:pPr marL="0" indent="0" algn="l">
              <a:lnSpc>
                <a:spcPct val="105000"/>
              </a:lnSpc>
              <a:buNone/>
            </a:pPr>
            <a:r>
              <a:rPr lang="en-US" sz="950" kern="0" dirty="0">
                <a:solidFill>
                  <a:srgbClr val="B3BC9A"/>
                </a:solidFill>
                <a:latin typeface="Arial" pitchFamily="34" charset="0"/>
                <a:ea typeface="Arial" pitchFamily="34" charset="-122"/>
                <a:cs typeface="Arial" pitchFamily="34" charset="-120"/>
              </a:rPr>
              <a:t>der Ausschluss ist </a:t>
            </a:r>
            <a:r>
              <a:rPr lang="en-US" sz="950" b="1" kern="0" dirty="0">
                <a:solidFill>
                  <a:srgbClr val="F2EFDA"/>
                </a:solidFill>
                <a:latin typeface="Arial" pitchFamily="34" charset="0"/>
                <a:ea typeface="Arial" pitchFamily="34" charset="-122"/>
                <a:cs typeface="Arial" pitchFamily="34" charset="-120"/>
              </a:rPr>
              <a:t>empirisch begründet</a:t>
            </a:r>
            <a:r>
              <a:rPr lang="en-US" sz="950" kern="0" dirty="0">
                <a:solidFill>
                  <a:srgbClr val="B3BC9A"/>
                </a:solidFill>
                <a:latin typeface="Arial" pitchFamily="34" charset="0"/>
                <a:ea typeface="Arial" pitchFamily="34" charset="-122"/>
                <a:cs typeface="Arial" pitchFamily="34" charset="-120"/>
              </a:rPr>
              <a:t>.</a:t>
            </a:r>
            <a:endParaRPr lang="en-US" sz="950" dirty="0"/>
          </a:p>
        </p:txBody>
      </p:sp>
      <p:sp>
        <p:nvSpPr>
          <p:cNvPr id="63" name="!!K_Cluster"/>
          <p:cNvSpPr/>
          <p:nvPr/>
        </p:nvSpPr>
        <p:spPr>
          <a:xfrm>
            <a:off x="7734594" y="3400000"/>
            <a:ext cx="3821594" cy="14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64" name="!!L_Cluster"/>
          <p:cNvSpPr/>
          <p:nvPr/>
        </p:nvSpPr>
        <p:spPr>
          <a:xfrm>
            <a:off x="7934594" y="3530000"/>
            <a:ext cx="3421594" cy="230000"/>
          </a:xfrm>
          <a:prstGeom prst="rect">
            <a:avLst/>
          </a:prstGeom>
          <a:noFill/>
          <a:ln/>
        </p:spPr>
        <p:txBody>
          <a:bodyPr wrap="square" rtlCol="0" anchor="t"/>
          <a:lstStyle/>
          <a:p>
            <a:pPr marL="0" indent="0" algn="l">
              <a:lnSpc>
                <a:spcPct val="105000"/>
              </a:lnSpc>
              <a:buNone/>
            </a:pPr>
            <a:r>
              <a:rPr lang="en-US" sz="1000" b="1" kern="0" dirty="0">
                <a:solidFill>
                  <a:srgbClr val="B3BC9A"/>
                </a:solidFill>
                <a:latin typeface="Courier New" pitchFamily="34" charset="0"/>
                <a:ea typeface="Courier New" pitchFamily="34" charset="-122"/>
                <a:cs typeface="Courier New" pitchFamily="34" charset="-120"/>
              </a:rPr>
              <a:t>CLUSTER-FALSIFIKATION</a:t>
            </a:r>
            <a:endParaRPr lang="en-US" sz="1000" dirty="0"/>
          </a:p>
        </p:txBody>
      </p:sp>
      <p:sp>
        <p:nvSpPr>
          <p:cNvPr id="65" name="!!T_Cluster"/>
          <p:cNvSpPr/>
          <p:nvPr/>
        </p:nvSpPr>
        <p:spPr>
          <a:xfrm>
            <a:off x="7934594" y="3810000"/>
            <a:ext cx="3421594" cy="900000"/>
          </a:xfrm>
          <a:prstGeom prst="rect">
            <a:avLst/>
          </a:prstGeom>
          <a:noFill/>
          <a:ln/>
        </p:spPr>
        <p:txBody>
          <a:bodyPr wrap="square" rtlCol="0" anchor="t"/>
          <a:lstStyle/>
          <a:p>
            <a:pPr marL="0" indent="0" algn="l">
              <a:lnSpc>
                <a:spcPct val="100000"/>
              </a:lnSpc>
              <a:buNone/>
            </a:pPr>
            <a:r>
              <a:rPr lang="en-US" sz="1600" b="1" kern="0" dirty="0">
                <a:solidFill>
                  <a:srgbClr val="F2EFDA"/>
                </a:solidFill>
                <a:latin typeface="Courier New" pitchFamily="34" charset="0"/>
                <a:ea typeface="Courier New" pitchFamily="34" charset="-122"/>
                <a:cs typeface="Courier New" pitchFamily="34" charset="-120"/>
              </a:rPr>
              <a:t>3 / 4 bestätigt</a:t>
            </a:r>
            <a:endParaRPr lang="en-US" sz="1600" dirty="0"/>
          </a:p>
          <a:p>
            <a:pPr marL="0" indent="0" algn="l">
              <a:lnSpc>
                <a:spcPct val="105000"/>
              </a:lnSpc>
              <a:buNone/>
            </a:pPr>
            <a:r>
              <a:rPr lang="en-US" sz="950" kern="0" dirty="0">
                <a:solidFill>
                  <a:srgbClr val="B3BC9A"/>
                </a:solidFill>
                <a:latin typeface="Arial" pitchFamily="34" charset="0"/>
                <a:ea typeface="Arial" pitchFamily="34" charset="-122"/>
                <a:cs typeface="Arial" pitchFamily="34" charset="-120"/>
              </a:rPr>
              <a:t>66 · 65 · 60 % Konformität — schwächstes </a:t>
            </a:r>
            <a:r>
              <a:rPr lang="en-US" sz="950" b="1" kern="0" dirty="0">
                <a:solidFill>
                  <a:srgbClr val="F2EFDA"/>
                </a:solidFill>
                <a:latin typeface="Arial" pitchFamily="34" charset="0"/>
                <a:ea typeface="Arial" pitchFamily="34" charset="-122"/>
                <a:cs typeface="Arial" pitchFamily="34" charset="-120"/>
              </a:rPr>
              <a:t>offen benannt: 43 %</a:t>
            </a:r>
            <a:r>
              <a:rPr lang="en-US" sz="950" kern="0" dirty="0">
                <a:solidFill>
                  <a:srgbClr val="B3BC9A"/>
                </a:solidFill>
                <a:latin typeface="Arial" pitchFamily="34" charset="0"/>
                <a:ea typeface="Arial" pitchFamily="34" charset="-122"/>
                <a:cs typeface="Arial" pitchFamily="34" charset="-120"/>
              </a:rPr>
              <a:t>.</a:t>
            </a:r>
            <a:endParaRPr lang="en-US" sz="950" dirty="0"/>
          </a:p>
        </p:txBody>
      </p:sp>
      <p:pic>
        <p:nvPicPr>
          <p:cNvPr id="10" name="Grafik 9">
            <a:extLst>
              <a:ext uri="{FF2B5EF4-FFF2-40B4-BE49-F238E27FC236}">
                <a16:creationId xmlns:a16="http://schemas.microsoft.com/office/drawing/2014/main" id="{EF11224F-5EB7-C2C2-DCFC-66A46D2517AC}"/>
              </a:ext>
            </a:extLst>
          </p:cNvPr>
          <p:cNvPicPr>
            <a:picLocks noChangeAspect="1"/>
          </p:cNvPicPr>
          <p:nvPr/>
        </p:nvPicPr>
        <p:blipFill>
          <a:blip r:embed="rId3"/>
          <a:stretch>
            <a:fillRect/>
          </a:stretch>
        </p:blipFill>
        <p:spPr>
          <a:xfrm>
            <a:off x="835812" y="1802297"/>
            <a:ext cx="6632075" cy="292260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10 / 13</a:t>
            </a:r>
            <a:endParaRPr lang="en-US" sz="1200"/>
          </a:p>
        </p:txBody>
      </p:sp>
      <p:sp>
        <p:nvSpPr>
          <p:cNvPr id="6" name="Text 3"/>
          <p:cNvSpPr/>
          <p:nvPr/>
        </p:nvSpPr>
        <p:spPr>
          <a:xfrm>
            <a:off x="634594" y="761695"/>
            <a:ext cx="10921594" cy="476402"/>
          </a:xfrm>
          <a:prstGeom prst="rect">
            <a:avLst/>
          </a:prstGeom>
          <a:noFill/>
          <a:ln/>
        </p:spPr>
        <p:txBody>
          <a:bodyPr wrap="square" rtlCol="0" anchor="t"/>
          <a:lstStyle/>
          <a:p>
            <a:pPr marL="0" indent="0">
              <a:lnSpc>
                <a:spcPct val="100000"/>
              </a:lnSpc>
              <a:buNone/>
            </a:pPr>
            <a:r>
              <a:rPr lang="en-US" sz="2500" b="1" kern="0" spc="-50">
                <a:solidFill>
                  <a:srgbClr val="F2EFDA"/>
                </a:solidFill>
                <a:latin typeface="Arial" pitchFamily="34" charset="0"/>
                <a:ea typeface="Arial" pitchFamily="34" charset="-122"/>
                <a:cs typeface="Arial" pitchFamily="34" charset="-120"/>
              </a:rPr>
              <a:t>Struktur erklärt σ — nicht φ</a:t>
            </a:r>
            <a:endParaRPr lang="en-US" sz="250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000">
                <a:solidFill>
                  <a:srgbClr val="B3BC9A"/>
                </a:solidFill>
                <a:latin typeface="Arial" pitchFamily="34" charset="0"/>
                <a:ea typeface="Arial" pitchFamily="34" charset="-122"/>
                <a:cs typeface="Arial" pitchFamily="34" charset="-120"/>
              </a:rPr>
              <a:t>Fünf Strukturvariablen: Größe · Anlagenintensität · Investitionsintensität · Profitabilitätsniveau · Periodenabgrenzungen.</a:t>
            </a:r>
            <a:endParaRPr lang="en-US" sz="1000"/>
          </a:p>
        </p:txBody>
      </p:sp>
      <p:sp>
        <p:nvSpPr>
          <p:cNvPr id="8" name="Text 5"/>
          <p:cNvSpPr/>
          <p:nvPr/>
        </p:nvSpPr>
        <p:spPr>
          <a:xfrm>
            <a:off x="634594" y="1904695"/>
            <a:ext cx="4444898" cy="254203"/>
          </a:xfrm>
          <a:prstGeom prst="rect">
            <a:avLst/>
          </a:prstGeom>
          <a:noFill/>
          <a:ln/>
        </p:spPr>
        <p:txBody>
          <a:bodyPr wrap="square" rtlCol="0" anchor="t"/>
          <a:lstStyle/>
          <a:p>
            <a:pPr marL="0" indent="0" algn="l">
              <a:lnSpc>
                <a:spcPct val="105000"/>
              </a:lnSpc>
              <a:buNone/>
            </a:pPr>
            <a:r>
              <a:rPr lang="en-US" sz="1200" b="1">
                <a:solidFill>
                  <a:srgbClr val="79A2F9"/>
                </a:solidFill>
                <a:latin typeface="Courier New" pitchFamily="34" charset="0"/>
                <a:ea typeface="Courier New" pitchFamily="34" charset="-122"/>
                <a:cs typeface="Courier New" pitchFamily="34" charset="-120"/>
              </a:rPr>
              <a:t>σ  </a:t>
            </a:r>
            <a:r>
              <a:rPr lang="en-US" sz="1200" b="1">
                <a:solidFill>
                  <a:srgbClr val="F2EFDA"/>
                </a:solidFill>
                <a:latin typeface="Arial" pitchFamily="34" charset="0"/>
                <a:ea typeface="Arial" pitchFamily="34" charset="-122"/>
                <a:cs typeface="Arial" pitchFamily="34" charset="-120"/>
              </a:rPr>
              <a:t>Volatilität — erklärt</a:t>
            </a:r>
            <a:endParaRPr lang="en-US" sz="1200"/>
          </a:p>
        </p:txBody>
      </p:sp>
      <p:sp>
        <p:nvSpPr>
          <p:cNvPr id="9" name="Text 6"/>
          <p:cNvSpPr/>
          <p:nvPr/>
        </p:nvSpPr>
        <p:spPr>
          <a:xfrm>
            <a:off x="4826203" y="1873606"/>
            <a:ext cx="2286000" cy="317297"/>
          </a:xfrm>
          <a:prstGeom prst="rect">
            <a:avLst/>
          </a:prstGeom>
          <a:noFill/>
          <a:ln/>
        </p:spPr>
        <p:txBody>
          <a:bodyPr wrap="square" rtlCol="0" anchor="t"/>
          <a:lstStyle/>
          <a:p>
            <a:pPr marL="0" indent="0" algn="r">
              <a:lnSpc>
                <a:spcPct val="105000"/>
              </a:lnSpc>
              <a:buNone/>
            </a:pPr>
            <a:r>
              <a:rPr lang="en-US" sz="2400" b="1">
                <a:solidFill>
                  <a:srgbClr val="79A2F9"/>
                </a:solidFill>
                <a:latin typeface="Courier New" pitchFamily="34" charset="0"/>
                <a:ea typeface="Courier New" pitchFamily="34" charset="-122"/>
                <a:cs typeface="Courier New" pitchFamily="34" charset="-120"/>
              </a:rPr>
              <a:t>≈ 30 %</a:t>
            </a:r>
            <a:endParaRPr lang="en-US" sz="2400"/>
          </a:p>
        </p:txBody>
      </p:sp>
      <p:sp>
        <p:nvSpPr>
          <p:cNvPr id="10" name="Shape 7"/>
          <p:cNvSpPr/>
          <p:nvPr/>
        </p:nvSpPr>
        <p:spPr>
          <a:xfrm>
            <a:off x="634594" y="2286000"/>
            <a:ext cx="6476695" cy="241402"/>
          </a:xfrm>
          <a:prstGeom prst="roundRect">
            <a:avLst>
              <a:gd name="adj" fmla="val 21212"/>
            </a:avLst>
          </a:prstGeom>
          <a:solidFill>
            <a:srgbClr val="072013"/>
          </a:solidFill>
          <a:ln/>
        </p:spPr>
        <p:txBody>
          <a:bodyPr/>
          <a:lstStyle/>
          <a:p>
            <a:endParaRPr lang="de-DE"/>
          </a:p>
        </p:txBody>
      </p:sp>
      <p:sp>
        <p:nvSpPr>
          <p:cNvPr id="11" name="Shape 8"/>
          <p:cNvSpPr/>
          <p:nvPr/>
        </p:nvSpPr>
        <p:spPr>
          <a:xfrm>
            <a:off x="634594" y="2286000"/>
            <a:ext cx="1943100" cy="241402"/>
          </a:xfrm>
          <a:prstGeom prst="roundRect">
            <a:avLst>
              <a:gd name="adj" fmla="val 21212"/>
            </a:avLst>
          </a:prstGeom>
          <a:solidFill>
            <a:srgbClr val="79A2F9"/>
          </a:solidFill>
          <a:ln/>
        </p:spPr>
        <p:txBody>
          <a:bodyPr/>
          <a:lstStyle/>
          <a:p>
            <a:endParaRPr lang="de-DE"/>
          </a:p>
        </p:txBody>
      </p:sp>
      <p:sp>
        <p:nvSpPr>
          <p:cNvPr id="12" name="Text 9"/>
          <p:cNvSpPr/>
          <p:nvPr/>
        </p:nvSpPr>
        <p:spPr>
          <a:xfrm>
            <a:off x="634594" y="2590495"/>
            <a:ext cx="4444898" cy="190195"/>
          </a:xfrm>
          <a:prstGeom prst="rect">
            <a:avLst/>
          </a:prstGeom>
          <a:noFill/>
          <a:ln/>
        </p:spPr>
        <p:txBody>
          <a:bodyPr wrap="square" rtlCol="0" anchor="t"/>
          <a:lstStyle/>
          <a:p>
            <a:pPr marL="0" indent="0" algn="l">
              <a:lnSpc>
                <a:spcPct val="105000"/>
              </a:lnSpc>
              <a:buNone/>
            </a:pPr>
            <a:r>
              <a:rPr lang="en-US" sz="900">
                <a:solidFill>
                  <a:srgbClr val="798D6F"/>
                </a:solidFill>
                <a:latin typeface="Arial" pitchFamily="34" charset="0"/>
                <a:ea typeface="Arial" pitchFamily="34" charset="-122"/>
                <a:cs typeface="Arial" pitchFamily="34" charset="-120"/>
              </a:rPr>
              <a:t>Bei der FCF-Marge bis 49 %.</a:t>
            </a:r>
            <a:endParaRPr lang="en-US" sz="900"/>
          </a:p>
        </p:txBody>
      </p:sp>
      <p:sp>
        <p:nvSpPr>
          <p:cNvPr id="13" name="Text 10"/>
          <p:cNvSpPr/>
          <p:nvPr/>
        </p:nvSpPr>
        <p:spPr>
          <a:xfrm>
            <a:off x="634594" y="3174797"/>
            <a:ext cx="5715000" cy="254203"/>
          </a:xfrm>
          <a:prstGeom prst="rect">
            <a:avLst/>
          </a:prstGeom>
          <a:noFill/>
          <a:ln/>
        </p:spPr>
        <p:txBody>
          <a:bodyPr wrap="square" rtlCol="0" anchor="t"/>
          <a:lstStyle/>
          <a:p>
            <a:pPr marL="0" indent="0" algn="l">
              <a:lnSpc>
                <a:spcPct val="105000"/>
              </a:lnSpc>
              <a:buNone/>
            </a:pPr>
            <a:r>
              <a:rPr lang="en-US" sz="1200" b="1">
                <a:solidFill>
                  <a:srgbClr val="B3BC9A"/>
                </a:solidFill>
                <a:latin typeface="Courier New" pitchFamily="34" charset="0"/>
                <a:ea typeface="Courier New" pitchFamily="34" charset="-122"/>
                <a:cs typeface="Courier New" pitchFamily="34" charset="-120"/>
              </a:rPr>
              <a:t>φ  </a:t>
            </a:r>
            <a:r>
              <a:rPr lang="en-US" sz="1200" b="1">
                <a:solidFill>
                  <a:srgbClr val="B3BC9A"/>
                </a:solidFill>
                <a:latin typeface="Arial" pitchFamily="34" charset="0"/>
                <a:ea typeface="Arial" pitchFamily="34" charset="-122"/>
                <a:cs typeface="Arial" pitchFamily="34" charset="-120"/>
              </a:rPr>
              <a:t>Korrekturgeschwindigkeit — erklärt</a:t>
            </a:r>
            <a:endParaRPr lang="en-US" sz="1200"/>
          </a:p>
        </p:txBody>
      </p:sp>
      <p:sp>
        <p:nvSpPr>
          <p:cNvPr id="14" name="Text 11"/>
          <p:cNvSpPr/>
          <p:nvPr/>
        </p:nvSpPr>
        <p:spPr>
          <a:xfrm>
            <a:off x="4826203" y="3142793"/>
            <a:ext cx="2286000" cy="317297"/>
          </a:xfrm>
          <a:prstGeom prst="rect">
            <a:avLst/>
          </a:prstGeom>
          <a:noFill/>
          <a:ln/>
        </p:spPr>
        <p:txBody>
          <a:bodyPr wrap="square" rtlCol="0" anchor="t"/>
          <a:lstStyle/>
          <a:p>
            <a:pPr marL="0" indent="0" algn="r">
              <a:lnSpc>
                <a:spcPct val="105000"/>
              </a:lnSpc>
              <a:buNone/>
            </a:pPr>
            <a:r>
              <a:rPr lang="en-US" sz="2400" b="1">
                <a:solidFill>
                  <a:srgbClr val="B3BC9A"/>
                </a:solidFill>
                <a:latin typeface="Courier New" pitchFamily="34" charset="0"/>
                <a:ea typeface="Courier New" pitchFamily="34" charset="-122"/>
                <a:cs typeface="Courier New" pitchFamily="34" charset="-120"/>
              </a:rPr>
              <a:t>≈ 5 %</a:t>
            </a:r>
            <a:endParaRPr lang="en-US" sz="2400"/>
          </a:p>
        </p:txBody>
      </p:sp>
      <p:sp>
        <p:nvSpPr>
          <p:cNvPr id="15" name="Shape 12"/>
          <p:cNvSpPr/>
          <p:nvPr/>
        </p:nvSpPr>
        <p:spPr>
          <a:xfrm>
            <a:off x="634594" y="3556102"/>
            <a:ext cx="6476695" cy="241402"/>
          </a:xfrm>
          <a:prstGeom prst="roundRect">
            <a:avLst>
              <a:gd name="adj" fmla="val 21212"/>
            </a:avLst>
          </a:prstGeom>
          <a:solidFill>
            <a:srgbClr val="072013"/>
          </a:solidFill>
          <a:ln/>
        </p:spPr>
        <p:txBody>
          <a:bodyPr/>
          <a:lstStyle/>
          <a:p>
            <a:endParaRPr lang="de-DE"/>
          </a:p>
        </p:txBody>
      </p:sp>
      <p:sp>
        <p:nvSpPr>
          <p:cNvPr id="16" name="Shape 13"/>
          <p:cNvSpPr/>
          <p:nvPr/>
        </p:nvSpPr>
        <p:spPr>
          <a:xfrm>
            <a:off x="634594" y="3556102"/>
            <a:ext cx="323698" cy="241402"/>
          </a:xfrm>
          <a:prstGeom prst="roundRect">
            <a:avLst>
              <a:gd name="adj" fmla="val 21212"/>
            </a:avLst>
          </a:prstGeom>
          <a:solidFill>
            <a:srgbClr val="B3BC9A"/>
          </a:solidFill>
          <a:ln/>
        </p:spPr>
        <p:txBody>
          <a:bodyPr/>
          <a:lstStyle/>
          <a:p>
            <a:endParaRPr lang="de-DE"/>
          </a:p>
        </p:txBody>
      </p:sp>
      <p:sp>
        <p:nvSpPr>
          <p:cNvPr id="17" name="Text 14"/>
          <p:cNvSpPr/>
          <p:nvPr/>
        </p:nvSpPr>
        <p:spPr>
          <a:xfrm>
            <a:off x="634594" y="3860597"/>
            <a:ext cx="5715000" cy="190195"/>
          </a:xfrm>
          <a:prstGeom prst="rect">
            <a:avLst/>
          </a:prstGeom>
          <a:noFill/>
          <a:ln/>
        </p:spPr>
        <p:txBody>
          <a:bodyPr wrap="square" rtlCol="0" anchor="t"/>
          <a:lstStyle/>
          <a:p>
            <a:pPr marL="0" indent="0" algn="l">
              <a:lnSpc>
                <a:spcPct val="105000"/>
              </a:lnSpc>
              <a:buNone/>
            </a:pPr>
            <a:r>
              <a:rPr lang="en-US" sz="900">
                <a:solidFill>
                  <a:srgbClr val="798D6F"/>
                </a:solidFill>
                <a:latin typeface="Arial" pitchFamily="34" charset="0"/>
                <a:ea typeface="Arial" pitchFamily="34" charset="-122"/>
                <a:cs typeface="Arial" pitchFamily="34" charset="-120"/>
              </a:rPr>
              <a:t>φ bleibt idiosynkratisch — ein eigenständiges Firmenmerkmal.</a:t>
            </a:r>
            <a:endParaRPr lang="en-US" sz="900"/>
          </a:p>
        </p:txBody>
      </p:sp>
      <p:sp>
        <p:nvSpPr>
          <p:cNvPr id="18" name="Shape 15"/>
          <p:cNvSpPr/>
          <p:nvPr/>
        </p:nvSpPr>
        <p:spPr>
          <a:xfrm>
            <a:off x="7619695" y="1904695"/>
            <a:ext cx="3936492" cy="1015898"/>
          </a:xfrm>
          <a:prstGeom prst="roundRect">
            <a:avLst>
              <a:gd name="adj" fmla="val 9991"/>
            </a:avLst>
          </a:prstGeom>
          <a:solidFill>
            <a:srgbClr val="1E402E"/>
          </a:solidFill>
          <a:ln w="12700">
            <a:solidFill>
              <a:srgbClr val="79A2F9"/>
            </a:solidFill>
            <a:prstDash val="solid"/>
          </a:ln>
        </p:spPr>
        <p:txBody>
          <a:bodyPr/>
          <a:lstStyle/>
          <a:p>
            <a:endParaRPr lang="de-DE"/>
          </a:p>
        </p:txBody>
      </p:sp>
      <p:sp>
        <p:nvSpPr>
          <p:cNvPr id="19" name="Text 16"/>
          <p:cNvSpPr/>
          <p:nvPr/>
        </p:nvSpPr>
        <p:spPr>
          <a:xfrm>
            <a:off x="7822692" y="2070202"/>
            <a:ext cx="3556102" cy="254203"/>
          </a:xfrm>
          <a:prstGeom prst="rect">
            <a:avLst/>
          </a:prstGeom>
          <a:noFill/>
          <a:ln/>
        </p:spPr>
        <p:txBody>
          <a:bodyPr wrap="square" rtlCol="0" anchor="t"/>
          <a:lstStyle/>
          <a:p>
            <a:pPr marL="0" indent="0" algn="l">
              <a:lnSpc>
                <a:spcPct val="105000"/>
              </a:lnSpc>
              <a:buNone/>
            </a:pPr>
            <a:r>
              <a:rPr lang="en-US" sz="1400" b="1">
                <a:solidFill>
                  <a:srgbClr val="79A2F9"/>
                </a:solidFill>
                <a:latin typeface="Courier New" pitchFamily="34" charset="0"/>
                <a:ea typeface="Courier New" pitchFamily="34" charset="-122"/>
                <a:cs typeface="Courier New" pitchFamily="34" charset="-120"/>
              </a:rPr>
              <a:t>σ = Exposition</a:t>
            </a:r>
            <a:endParaRPr lang="en-US" sz="1400"/>
          </a:p>
        </p:txBody>
      </p:sp>
      <p:sp>
        <p:nvSpPr>
          <p:cNvPr id="20" name="Text 17"/>
          <p:cNvSpPr/>
          <p:nvPr/>
        </p:nvSpPr>
        <p:spPr>
          <a:xfrm>
            <a:off x="7822692" y="2387498"/>
            <a:ext cx="3530498" cy="444398"/>
          </a:xfrm>
          <a:prstGeom prst="rect">
            <a:avLst/>
          </a:prstGeom>
          <a:noFill/>
          <a:ln/>
        </p:spPr>
        <p:txBody>
          <a:bodyPr wrap="square" rtlCol="0" anchor="t"/>
          <a:lstStyle/>
          <a:p>
            <a:pPr marL="0" indent="0" algn="l">
              <a:lnSpc>
                <a:spcPct val="125000"/>
              </a:lnSpc>
              <a:buNone/>
            </a:pPr>
            <a:r>
              <a:rPr lang="en-US" sz="1100">
                <a:solidFill>
                  <a:srgbClr val="B3BC9A"/>
                </a:solidFill>
                <a:latin typeface="Arial" pitchFamily="34" charset="0"/>
                <a:ea typeface="Arial" pitchFamily="34" charset="-122"/>
                <a:cs typeface="Arial" pitchFamily="34" charset="-120"/>
              </a:rPr>
              <a:t>Was ein Unternehmen ist, bestimmt die Größe der Schocks, die es treffen.</a:t>
            </a:r>
            <a:endParaRPr lang="en-US" sz="1100"/>
          </a:p>
        </p:txBody>
      </p:sp>
      <p:sp>
        <p:nvSpPr>
          <p:cNvPr id="21" name="Shape 18"/>
          <p:cNvSpPr/>
          <p:nvPr/>
        </p:nvSpPr>
        <p:spPr>
          <a:xfrm>
            <a:off x="7619695" y="3111703"/>
            <a:ext cx="3936492" cy="1015898"/>
          </a:xfrm>
          <a:prstGeom prst="roundRect">
            <a:avLst>
              <a:gd name="adj" fmla="val 9991"/>
            </a:avLst>
          </a:prstGeom>
          <a:solidFill>
            <a:srgbClr val="153B29"/>
          </a:solidFill>
          <a:ln w="12700">
            <a:solidFill>
              <a:srgbClr val="2B513D"/>
            </a:solidFill>
            <a:prstDash val="solid"/>
          </a:ln>
        </p:spPr>
        <p:txBody>
          <a:bodyPr/>
          <a:lstStyle/>
          <a:p>
            <a:endParaRPr lang="de-DE"/>
          </a:p>
        </p:txBody>
      </p:sp>
      <p:sp>
        <p:nvSpPr>
          <p:cNvPr id="22" name="Text 19"/>
          <p:cNvSpPr/>
          <p:nvPr/>
        </p:nvSpPr>
        <p:spPr>
          <a:xfrm>
            <a:off x="7822692" y="3276295"/>
            <a:ext cx="3556102" cy="254203"/>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φ = Reaktion</a:t>
            </a:r>
            <a:endParaRPr lang="en-US" sz="1400"/>
          </a:p>
        </p:txBody>
      </p:sp>
      <p:sp>
        <p:nvSpPr>
          <p:cNvPr id="23" name="Text 20"/>
          <p:cNvSpPr/>
          <p:nvPr/>
        </p:nvSpPr>
        <p:spPr>
          <a:xfrm>
            <a:off x="7822692" y="3593592"/>
            <a:ext cx="3530498" cy="444398"/>
          </a:xfrm>
          <a:prstGeom prst="rect">
            <a:avLst/>
          </a:prstGeom>
          <a:noFill/>
          <a:ln/>
        </p:spPr>
        <p:txBody>
          <a:bodyPr wrap="square" rtlCol="0" anchor="t"/>
          <a:lstStyle/>
          <a:p>
            <a:pPr marL="0" indent="0" algn="l">
              <a:lnSpc>
                <a:spcPct val="125000"/>
              </a:lnSpc>
              <a:buNone/>
            </a:pPr>
            <a:r>
              <a:rPr lang="en-US" sz="1100">
                <a:solidFill>
                  <a:srgbClr val="B3BC9A"/>
                </a:solidFill>
                <a:latin typeface="Arial" pitchFamily="34" charset="0"/>
                <a:ea typeface="Arial" pitchFamily="34" charset="-122"/>
                <a:cs typeface="Arial" pitchFamily="34" charset="-120"/>
              </a:rPr>
              <a:t>Wie schnell korrigiert wird, ist wettbewerbs- und verhaltensgetrieben.</a:t>
            </a:r>
            <a:endParaRPr lang="en-US" sz="1100"/>
          </a:p>
        </p:txBody>
      </p:sp>
      <p:sp>
        <p:nvSpPr>
          <p:cNvPr id="3" name="Text 1">
            <a:extLst>
              <a:ext uri="{FF2B5EF4-FFF2-40B4-BE49-F238E27FC236}">
                <a16:creationId xmlns:a16="http://schemas.microsoft.com/office/drawing/2014/main" id="{A5DAD10E-645E-4386-264D-4102B2B9E5C4}"/>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FORSCHUNGSFRAGE 3</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11 / 13</a:t>
            </a:r>
            <a:endParaRPr lang="en-US" sz="1200"/>
          </a:p>
        </p:txBody>
      </p:sp>
      <p:sp>
        <p:nvSpPr>
          <p:cNvPr id="6" name="Text 3"/>
          <p:cNvSpPr/>
          <p:nvPr/>
        </p:nvSpPr>
        <p:spPr>
          <a:xfrm>
            <a:off x="634594" y="761695"/>
            <a:ext cx="10921594" cy="437998"/>
          </a:xfrm>
          <a:prstGeom prst="rect">
            <a:avLst/>
          </a:prstGeom>
          <a:noFill/>
          <a:ln/>
        </p:spPr>
        <p:txBody>
          <a:bodyPr wrap="square" rtlCol="0" anchor="t"/>
          <a:lstStyle/>
          <a:p>
            <a:pPr marL="0" indent="0">
              <a:lnSpc>
                <a:spcPct val="100000"/>
              </a:lnSpc>
              <a:buNone/>
            </a:pPr>
            <a:r>
              <a:rPr lang="en-US" sz="2300" b="1" kern="0" spc="-50">
                <a:solidFill>
                  <a:srgbClr val="F2EFDA"/>
                </a:solidFill>
                <a:latin typeface="Arial" pitchFamily="34" charset="0"/>
                <a:ea typeface="Arial" pitchFamily="34" charset="-122"/>
                <a:cs typeface="Arial" pitchFamily="34" charset="-120"/>
              </a:rPr>
              <a:t>Falsifikation &amp; Finanzdienstleister-Kontrast</a:t>
            </a:r>
            <a:endParaRPr lang="en-US" sz="2300"/>
          </a:p>
        </p:txBody>
      </p:sp>
      <p:sp>
        <p:nvSpPr>
          <p:cNvPr id="7" name="Shape 4"/>
          <p:cNvSpPr/>
          <p:nvPr/>
        </p:nvSpPr>
        <p:spPr>
          <a:xfrm>
            <a:off x="634594" y="1651406"/>
            <a:ext cx="5969203" cy="3683203"/>
          </a:xfrm>
          <a:prstGeom prst="roundRect">
            <a:avLst>
              <a:gd name="adj" fmla="val 2756"/>
            </a:avLst>
          </a:prstGeom>
          <a:solidFill>
            <a:srgbClr val="1E402E"/>
          </a:solidFill>
          <a:ln w="12700">
            <a:solidFill>
              <a:srgbClr val="4A6D56"/>
            </a:solidFill>
            <a:prstDash val="solid"/>
          </a:ln>
        </p:spPr>
        <p:txBody>
          <a:bodyPr/>
          <a:lstStyle/>
          <a:p>
            <a:endParaRPr lang="de-DE"/>
          </a:p>
        </p:txBody>
      </p:sp>
      <p:sp>
        <p:nvSpPr>
          <p:cNvPr id="8" name="Text 5"/>
          <p:cNvSpPr/>
          <p:nvPr/>
        </p:nvSpPr>
        <p:spPr>
          <a:xfrm>
            <a:off x="888797" y="1841602"/>
            <a:ext cx="5460797" cy="190195"/>
          </a:xfrm>
          <a:prstGeom prst="rect">
            <a:avLst/>
          </a:prstGeom>
          <a:noFill/>
          <a:ln/>
        </p:spPr>
        <p:txBody>
          <a:bodyPr wrap="square" rtlCol="0" anchor="t"/>
          <a:lstStyle/>
          <a:p>
            <a:pPr marL="0" indent="0" algn="l">
              <a:lnSpc>
                <a:spcPct val="105000"/>
              </a:lnSpc>
              <a:buNone/>
            </a:pPr>
            <a:r>
              <a:rPr lang="en-US" sz="800" kern="0" spc="200">
                <a:solidFill>
                  <a:srgbClr val="E6D34F"/>
                </a:solidFill>
                <a:latin typeface="Courier New" pitchFamily="34" charset="0"/>
                <a:ea typeface="Courier New" pitchFamily="34" charset="-122"/>
                <a:cs typeface="Courier New" pitchFamily="34" charset="-120"/>
              </a:rPr>
              <a:t>CLUSTER-FALSIFIKATION (KAP. 6.2.2)</a:t>
            </a:r>
            <a:endParaRPr lang="en-US" sz="800"/>
          </a:p>
        </p:txBody>
      </p:sp>
      <p:sp>
        <p:nvSpPr>
          <p:cNvPr id="9" name="Text 6"/>
          <p:cNvSpPr/>
          <p:nvPr/>
        </p:nvSpPr>
        <p:spPr>
          <a:xfrm>
            <a:off x="888797" y="2107692"/>
            <a:ext cx="5460797" cy="508406"/>
          </a:xfrm>
          <a:prstGeom prst="rect">
            <a:avLst/>
          </a:prstGeom>
          <a:noFill/>
          <a:ln/>
        </p:spPr>
        <p:txBody>
          <a:bodyPr wrap="square" rtlCol="0" anchor="t"/>
          <a:lstStyle/>
          <a:p>
            <a:pPr marL="0" indent="0" algn="l">
              <a:lnSpc>
                <a:spcPct val="130000"/>
              </a:lnSpc>
              <a:buNone/>
            </a:pPr>
            <a:r>
              <a:rPr lang="en-US" sz="1100">
                <a:solidFill>
                  <a:srgbClr val="B3BC9A"/>
                </a:solidFill>
                <a:latin typeface="Arial" pitchFamily="34" charset="0"/>
                <a:ea typeface="Arial" pitchFamily="34" charset="-122"/>
                <a:cs typeface="Arial" pitchFamily="34" charset="-120"/>
              </a:rPr>
              <a:t>Aus jeder Sektor-Mechanik eine Vorhersage zur Quadrantenverteilung abgeleitet und die Konformität gemessen.</a:t>
            </a:r>
            <a:endParaRPr lang="en-US" sz="1100"/>
          </a:p>
        </p:txBody>
      </p:sp>
      <p:sp>
        <p:nvSpPr>
          <p:cNvPr id="10" name="Shape 7"/>
          <p:cNvSpPr/>
          <p:nvPr/>
        </p:nvSpPr>
        <p:spPr>
          <a:xfrm>
            <a:off x="888797" y="2857500"/>
            <a:ext cx="1244498" cy="609905"/>
          </a:xfrm>
          <a:prstGeom prst="roundRect">
            <a:avLst>
              <a:gd name="adj" fmla="val 12444"/>
            </a:avLst>
          </a:prstGeom>
          <a:solidFill>
            <a:srgbClr val="3EB977">
              <a:alpha val="14000"/>
            </a:srgbClr>
          </a:solidFill>
          <a:ln w="12700">
            <a:solidFill>
              <a:srgbClr val="3EB977"/>
            </a:solidFill>
            <a:prstDash val="solid"/>
          </a:ln>
        </p:spPr>
        <p:txBody>
          <a:bodyPr/>
          <a:lstStyle/>
          <a:p>
            <a:endParaRPr lang="de-DE"/>
          </a:p>
        </p:txBody>
      </p:sp>
      <p:sp>
        <p:nvSpPr>
          <p:cNvPr id="11" name="Text 8"/>
          <p:cNvSpPr/>
          <p:nvPr/>
        </p:nvSpPr>
        <p:spPr>
          <a:xfrm>
            <a:off x="888797" y="2971800"/>
            <a:ext cx="1244498" cy="381305"/>
          </a:xfrm>
          <a:prstGeom prst="rect">
            <a:avLst/>
          </a:prstGeom>
          <a:noFill/>
          <a:ln/>
        </p:spPr>
        <p:txBody>
          <a:bodyPr wrap="square" rtlCol="0" anchor="t"/>
          <a:lstStyle/>
          <a:p>
            <a:pPr marL="0" indent="0" algn="ctr">
              <a:lnSpc>
                <a:spcPct val="105000"/>
              </a:lnSpc>
              <a:buNone/>
            </a:pPr>
            <a:r>
              <a:rPr lang="en-US" sz="1700" b="1">
                <a:solidFill>
                  <a:srgbClr val="3EB977"/>
                </a:solidFill>
                <a:latin typeface="Courier New" pitchFamily="34" charset="0"/>
                <a:ea typeface="Courier New" pitchFamily="34" charset="-122"/>
                <a:cs typeface="Courier New" pitchFamily="34" charset="-120"/>
              </a:rPr>
              <a:t>66 %</a:t>
            </a:r>
            <a:endParaRPr lang="en-US" sz="1700"/>
          </a:p>
        </p:txBody>
      </p:sp>
      <p:sp>
        <p:nvSpPr>
          <p:cNvPr id="12" name="Shape 9"/>
          <p:cNvSpPr/>
          <p:nvPr/>
        </p:nvSpPr>
        <p:spPr>
          <a:xfrm>
            <a:off x="2273198" y="2857500"/>
            <a:ext cx="1244498" cy="609905"/>
          </a:xfrm>
          <a:prstGeom prst="roundRect">
            <a:avLst>
              <a:gd name="adj" fmla="val 12444"/>
            </a:avLst>
          </a:prstGeom>
          <a:solidFill>
            <a:srgbClr val="3EB977">
              <a:alpha val="14000"/>
            </a:srgbClr>
          </a:solidFill>
          <a:ln w="12700">
            <a:solidFill>
              <a:srgbClr val="3EB977"/>
            </a:solidFill>
            <a:prstDash val="solid"/>
          </a:ln>
        </p:spPr>
        <p:txBody>
          <a:bodyPr/>
          <a:lstStyle/>
          <a:p>
            <a:endParaRPr lang="de-DE"/>
          </a:p>
        </p:txBody>
      </p:sp>
      <p:sp>
        <p:nvSpPr>
          <p:cNvPr id="13" name="Text 10"/>
          <p:cNvSpPr/>
          <p:nvPr/>
        </p:nvSpPr>
        <p:spPr>
          <a:xfrm>
            <a:off x="2273198" y="2971800"/>
            <a:ext cx="1244498" cy="381305"/>
          </a:xfrm>
          <a:prstGeom prst="rect">
            <a:avLst/>
          </a:prstGeom>
          <a:noFill/>
          <a:ln/>
        </p:spPr>
        <p:txBody>
          <a:bodyPr wrap="square" rtlCol="0" anchor="t"/>
          <a:lstStyle/>
          <a:p>
            <a:pPr marL="0" indent="0" algn="ctr">
              <a:lnSpc>
                <a:spcPct val="105000"/>
              </a:lnSpc>
              <a:buNone/>
            </a:pPr>
            <a:r>
              <a:rPr lang="en-US" sz="1700" b="1">
                <a:solidFill>
                  <a:srgbClr val="3EB977"/>
                </a:solidFill>
                <a:latin typeface="Courier New" pitchFamily="34" charset="0"/>
                <a:ea typeface="Courier New" pitchFamily="34" charset="-122"/>
                <a:cs typeface="Courier New" pitchFamily="34" charset="-120"/>
              </a:rPr>
              <a:t>65 %</a:t>
            </a:r>
            <a:endParaRPr lang="en-US" sz="1700"/>
          </a:p>
        </p:txBody>
      </p:sp>
      <p:sp>
        <p:nvSpPr>
          <p:cNvPr id="14" name="Shape 11"/>
          <p:cNvSpPr/>
          <p:nvPr/>
        </p:nvSpPr>
        <p:spPr>
          <a:xfrm>
            <a:off x="3657600" y="2857500"/>
            <a:ext cx="1244498" cy="609905"/>
          </a:xfrm>
          <a:prstGeom prst="roundRect">
            <a:avLst>
              <a:gd name="adj" fmla="val 12444"/>
            </a:avLst>
          </a:prstGeom>
          <a:solidFill>
            <a:srgbClr val="3EB977">
              <a:alpha val="14000"/>
            </a:srgbClr>
          </a:solidFill>
          <a:ln w="12700">
            <a:solidFill>
              <a:srgbClr val="3EB977"/>
            </a:solidFill>
            <a:prstDash val="solid"/>
          </a:ln>
        </p:spPr>
        <p:txBody>
          <a:bodyPr/>
          <a:lstStyle/>
          <a:p>
            <a:endParaRPr lang="de-DE"/>
          </a:p>
        </p:txBody>
      </p:sp>
      <p:sp>
        <p:nvSpPr>
          <p:cNvPr id="15" name="Text 12"/>
          <p:cNvSpPr/>
          <p:nvPr/>
        </p:nvSpPr>
        <p:spPr>
          <a:xfrm>
            <a:off x="3657600" y="2971800"/>
            <a:ext cx="1244498" cy="381305"/>
          </a:xfrm>
          <a:prstGeom prst="rect">
            <a:avLst/>
          </a:prstGeom>
          <a:noFill/>
          <a:ln/>
        </p:spPr>
        <p:txBody>
          <a:bodyPr wrap="square" rtlCol="0" anchor="t"/>
          <a:lstStyle/>
          <a:p>
            <a:pPr marL="0" indent="0" algn="ctr">
              <a:lnSpc>
                <a:spcPct val="105000"/>
              </a:lnSpc>
              <a:buNone/>
            </a:pPr>
            <a:r>
              <a:rPr lang="en-US" sz="1700" b="1">
                <a:solidFill>
                  <a:srgbClr val="3EB977"/>
                </a:solidFill>
                <a:latin typeface="Courier New" pitchFamily="34" charset="0"/>
                <a:ea typeface="Courier New" pitchFamily="34" charset="-122"/>
                <a:cs typeface="Courier New" pitchFamily="34" charset="-120"/>
              </a:rPr>
              <a:t>60 %</a:t>
            </a:r>
            <a:endParaRPr lang="en-US" sz="1700"/>
          </a:p>
        </p:txBody>
      </p:sp>
      <p:sp>
        <p:nvSpPr>
          <p:cNvPr id="16" name="Shape 13"/>
          <p:cNvSpPr/>
          <p:nvPr/>
        </p:nvSpPr>
        <p:spPr>
          <a:xfrm>
            <a:off x="5042002" y="2857500"/>
            <a:ext cx="1244498" cy="609905"/>
          </a:xfrm>
          <a:prstGeom prst="roundRect">
            <a:avLst>
              <a:gd name="adj" fmla="val 12444"/>
            </a:avLst>
          </a:prstGeom>
          <a:solidFill>
            <a:srgbClr val="F36451">
              <a:alpha val="14000"/>
            </a:srgbClr>
          </a:solidFill>
          <a:ln w="12700">
            <a:solidFill>
              <a:srgbClr val="F36451"/>
            </a:solidFill>
            <a:prstDash val="solid"/>
          </a:ln>
        </p:spPr>
        <p:txBody>
          <a:bodyPr/>
          <a:lstStyle/>
          <a:p>
            <a:endParaRPr lang="de-DE"/>
          </a:p>
        </p:txBody>
      </p:sp>
      <p:sp>
        <p:nvSpPr>
          <p:cNvPr id="17" name="Text 14"/>
          <p:cNvSpPr/>
          <p:nvPr/>
        </p:nvSpPr>
        <p:spPr>
          <a:xfrm>
            <a:off x="5042002" y="2971800"/>
            <a:ext cx="1244498" cy="381305"/>
          </a:xfrm>
          <a:prstGeom prst="rect">
            <a:avLst/>
          </a:prstGeom>
          <a:noFill/>
          <a:ln/>
        </p:spPr>
        <p:txBody>
          <a:bodyPr wrap="square" rtlCol="0" anchor="t"/>
          <a:lstStyle/>
          <a:p>
            <a:pPr marL="0" indent="0" algn="ctr">
              <a:lnSpc>
                <a:spcPct val="105000"/>
              </a:lnSpc>
              <a:buNone/>
            </a:pPr>
            <a:r>
              <a:rPr lang="en-US" sz="1700" b="1">
                <a:solidFill>
                  <a:srgbClr val="F36451"/>
                </a:solidFill>
                <a:latin typeface="Courier New" pitchFamily="34" charset="0"/>
                <a:ea typeface="Courier New" pitchFamily="34" charset="-122"/>
                <a:cs typeface="Courier New" pitchFamily="34" charset="-120"/>
              </a:rPr>
              <a:t>43 %</a:t>
            </a:r>
            <a:endParaRPr lang="en-US" sz="1700"/>
          </a:p>
        </p:txBody>
      </p:sp>
      <p:sp>
        <p:nvSpPr>
          <p:cNvPr id="18" name="Text 15"/>
          <p:cNvSpPr/>
          <p:nvPr/>
        </p:nvSpPr>
        <p:spPr>
          <a:xfrm>
            <a:off x="888797" y="3810305"/>
            <a:ext cx="5460797" cy="761695"/>
          </a:xfrm>
          <a:prstGeom prst="rect">
            <a:avLst/>
          </a:prstGeom>
          <a:noFill/>
          <a:ln/>
        </p:spPr>
        <p:txBody>
          <a:bodyPr wrap="square" rtlCol="0" anchor="t"/>
          <a:lstStyle/>
          <a:p>
            <a:pPr marL="0" indent="0" algn="l">
              <a:lnSpc>
                <a:spcPct val="130000"/>
              </a:lnSpc>
              <a:buNone/>
            </a:pPr>
            <a:r>
              <a:rPr lang="en-US" sz="1000">
                <a:solidFill>
                  <a:srgbClr val="B3BC9A"/>
                </a:solidFill>
                <a:latin typeface="Arial" pitchFamily="34" charset="0"/>
                <a:ea typeface="Arial" pitchFamily="34" charset="-122"/>
                <a:cs typeface="Arial" pitchFamily="34" charset="-120"/>
              </a:rPr>
              <a:t>3 von 4 Clustern bestätigt. Schwächstes Cluster </a:t>
            </a:r>
            <a:r>
              <a:rPr lang="en-US" sz="1000" b="1">
                <a:solidFill>
                  <a:srgbClr val="F2EFDA"/>
                </a:solidFill>
                <a:latin typeface="Arial" pitchFamily="34" charset="0"/>
                <a:ea typeface="Arial" pitchFamily="34" charset="-122"/>
                <a:cs typeface="Arial" pitchFamily="34" charset="-120"/>
              </a:rPr>
              <a:t>offen benannt</a:t>
            </a:r>
            <a:r>
              <a:rPr lang="en-US" sz="1000">
                <a:solidFill>
                  <a:srgbClr val="B3BC9A"/>
                </a:solidFill>
                <a:latin typeface="Arial" pitchFamily="34" charset="0"/>
                <a:ea typeface="Arial" pitchFamily="34" charset="-122"/>
                <a:cs typeface="Arial" pitchFamily="34" charset="-120"/>
              </a:rPr>
              <a:t>: Kommunikation/Energie mit 43 %.</a:t>
            </a:r>
            <a:endParaRPr lang="en-US" sz="1000"/>
          </a:p>
        </p:txBody>
      </p:sp>
      <p:sp>
        <p:nvSpPr>
          <p:cNvPr id="19" name="Shape 16"/>
          <p:cNvSpPr/>
          <p:nvPr/>
        </p:nvSpPr>
        <p:spPr>
          <a:xfrm>
            <a:off x="6858000" y="1651406"/>
            <a:ext cx="4699102" cy="3683203"/>
          </a:xfrm>
          <a:prstGeom prst="roundRect">
            <a:avLst>
              <a:gd name="adj" fmla="val 2756"/>
            </a:avLst>
          </a:prstGeom>
          <a:solidFill>
            <a:srgbClr val="1E402E"/>
          </a:solidFill>
          <a:ln w="12700">
            <a:solidFill>
              <a:srgbClr val="79A2F9"/>
            </a:solidFill>
            <a:prstDash val="solid"/>
          </a:ln>
        </p:spPr>
        <p:txBody>
          <a:bodyPr/>
          <a:lstStyle/>
          <a:p>
            <a:endParaRPr lang="de-DE"/>
          </a:p>
        </p:txBody>
      </p:sp>
      <p:sp>
        <p:nvSpPr>
          <p:cNvPr id="20" name="Text 17"/>
          <p:cNvSpPr/>
          <p:nvPr/>
        </p:nvSpPr>
        <p:spPr>
          <a:xfrm>
            <a:off x="7112203" y="1841602"/>
            <a:ext cx="4190695" cy="190195"/>
          </a:xfrm>
          <a:prstGeom prst="rect">
            <a:avLst/>
          </a:prstGeom>
          <a:noFill/>
          <a:ln/>
        </p:spPr>
        <p:txBody>
          <a:bodyPr wrap="square" rtlCol="0" anchor="t"/>
          <a:lstStyle/>
          <a:p>
            <a:pPr marL="0" indent="0" algn="l">
              <a:lnSpc>
                <a:spcPct val="105000"/>
              </a:lnSpc>
              <a:buNone/>
            </a:pPr>
            <a:r>
              <a:rPr lang="en-US" sz="800" kern="0" spc="200">
                <a:solidFill>
                  <a:srgbClr val="79A2F9"/>
                </a:solidFill>
                <a:latin typeface="Courier New" pitchFamily="34" charset="0"/>
                <a:ea typeface="Courier New" pitchFamily="34" charset="-122"/>
                <a:cs typeface="Courier New" pitchFamily="34" charset="-120"/>
              </a:rPr>
              <a:t>451 FINANZDIENSTLEISTER IM φ–σ-RAUM</a:t>
            </a:r>
            <a:endParaRPr lang="en-US" sz="800"/>
          </a:p>
        </p:txBody>
      </p:sp>
      <p:sp>
        <p:nvSpPr>
          <p:cNvPr id="21" name="Text 18"/>
          <p:cNvSpPr/>
          <p:nvPr/>
        </p:nvSpPr>
        <p:spPr>
          <a:xfrm>
            <a:off x="7112203" y="2286000"/>
            <a:ext cx="4190695" cy="888797"/>
          </a:xfrm>
          <a:prstGeom prst="rect">
            <a:avLst/>
          </a:prstGeom>
          <a:noFill/>
          <a:ln/>
        </p:spPr>
        <p:txBody>
          <a:bodyPr wrap="square" rtlCol="0" anchor="t"/>
          <a:lstStyle/>
          <a:p>
            <a:pPr marL="0" indent="0" algn="l">
              <a:lnSpc>
                <a:spcPct val="105000"/>
              </a:lnSpc>
              <a:buNone/>
            </a:pPr>
            <a:r>
              <a:rPr lang="en-US" sz="4500" b="1">
                <a:solidFill>
                  <a:srgbClr val="79A2F9"/>
                </a:solidFill>
                <a:latin typeface="Courier New" pitchFamily="34" charset="0"/>
                <a:ea typeface="Courier New" pitchFamily="34" charset="-122"/>
                <a:cs typeface="Courier New" pitchFamily="34" charset="-120"/>
              </a:rPr>
              <a:t>29×</a:t>
            </a:r>
            <a:endParaRPr lang="en-US" sz="4500"/>
          </a:p>
        </p:txBody>
      </p:sp>
      <p:sp>
        <p:nvSpPr>
          <p:cNvPr id="22" name="Text 19"/>
          <p:cNvSpPr/>
          <p:nvPr/>
        </p:nvSpPr>
        <p:spPr>
          <a:xfrm>
            <a:off x="7112203" y="3429000"/>
            <a:ext cx="4190695" cy="761695"/>
          </a:xfrm>
          <a:prstGeom prst="rect">
            <a:avLst/>
          </a:prstGeom>
          <a:noFill/>
          <a:ln/>
        </p:spPr>
        <p:txBody>
          <a:bodyPr wrap="square" rtlCol="0" anchor="t"/>
          <a:lstStyle/>
          <a:p>
            <a:pPr marL="0" indent="0" algn="l">
              <a:lnSpc>
                <a:spcPct val="140000"/>
              </a:lnSpc>
              <a:buNone/>
            </a:pPr>
            <a:r>
              <a:rPr lang="en-US" sz="1200">
                <a:solidFill>
                  <a:srgbClr val="F2EFDA"/>
                </a:solidFill>
                <a:latin typeface="Arial" pitchFamily="34" charset="0"/>
                <a:ea typeface="Arial" pitchFamily="34" charset="-122"/>
                <a:cs typeface="Arial" pitchFamily="34" charset="-120"/>
              </a:rPr>
              <a:t>Current-Ratio-Volatilität der Banken gegenüber der Hauptstichprobe (ROA-Volatilität: ⅕).</a:t>
            </a:r>
            <a:endParaRPr lang="en-US" sz="1200"/>
          </a:p>
        </p:txBody>
      </p:sp>
      <p:sp>
        <p:nvSpPr>
          <p:cNvPr id="23" name="Text 20"/>
          <p:cNvSpPr/>
          <p:nvPr/>
        </p:nvSpPr>
        <p:spPr>
          <a:xfrm>
            <a:off x="7112203" y="4507992"/>
            <a:ext cx="4190695" cy="634594"/>
          </a:xfrm>
          <a:prstGeom prst="rect">
            <a:avLst/>
          </a:prstGeom>
          <a:noFill/>
          <a:ln/>
        </p:spPr>
        <p:txBody>
          <a:bodyPr wrap="square" rtlCol="0" anchor="t"/>
          <a:lstStyle/>
          <a:p>
            <a:pPr marL="0" indent="0" algn="l">
              <a:lnSpc>
                <a:spcPct val="130000"/>
              </a:lnSpc>
              <a:buNone/>
            </a:pPr>
            <a:r>
              <a:rPr lang="en-US" sz="1000">
                <a:solidFill>
                  <a:srgbClr val="B3BC9A"/>
                </a:solidFill>
                <a:latin typeface="Arial" pitchFamily="34" charset="0"/>
                <a:ea typeface="Arial" pitchFamily="34" charset="-122"/>
                <a:cs typeface="Arial" pitchFamily="34" charset="-120"/>
              </a:rPr>
              <a:t>Der Sektorausschluss ist </a:t>
            </a:r>
            <a:r>
              <a:rPr lang="en-US" sz="1000" b="1">
                <a:solidFill>
                  <a:srgbClr val="F2EFDA"/>
                </a:solidFill>
                <a:latin typeface="Arial" pitchFamily="34" charset="0"/>
                <a:ea typeface="Arial" pitchFamily="34" charset="-122"/>
                <a:cs typeface="Arial" pitchFamily="34" charset="-120"/>
              </a:rPr>
              <a:t>empirisch begründet</a:t>
            </a:r>
            <a:r>
              <a:rPr lang="en-US" sz="1000">
                <a:solidFill>
                  <a:srgbClr val="B3BC9A"/>
                </a:solidFill>
                <a:latin typeface="Arial" pitchFamily="34" charset="0"/>
                <a:ea typeface="Arial" pitchFamily="34" charset="-122"/>
                <a:cs typeface="Arial" pitchFamily="34" charset="-120"/>
              </a:rPr>
              <a:t>, nicht nur Konvention.</a:t>
            </a:r>
            <a:endParaRPr lang="en-US" sz="1000"/>
          </a:p>
        </p:txBody>
      </p:sp>
      <p:sp>
        <p:nvSpPr>
          <p:cNvPr id="24" name="Text 1">
            <a:extLst>
              <a:ext uri="{FF2B5EF4-FFF2-40B4-BE49-F238E27FC236}">
                <a16:creationId xmlns:a16="http://schemas.microsoft.com/office/drawing/2014/main" id="{AF64E433-7D5E-0E48-F356-A2155D37151F}"/>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VALIDIERUNG (</a:t>
            </a:r>
            <a:r>
              <a:rPr lang="en-US" sz="1200" b="1" kern="0" spc="400" err="1">
                <a:solidFill>
                  <a:srgbClr val="E6D34F"/>
                </a:solidFill>
                <a:latin typeface="Courier New" pitchFamily="34" charset="0"/>
                <a:cs typeface="Courier New" pitchFamily="34" charset="-120"/>
              </a:rPr>
              <a:t>Fazit</a:t>
            </a:r>
            <a:r>
              <a:rPr lang="en-US" sz="1200" b="1" kern="0" spc="400">
                <a:solidFill>
                  <a:srgbClr val="E6D34F"/>
                </a:solidFill>
                <a:latin typeface="Courier New" pitchFamily="34" charset="0"/>
                <a:cs typeface="Courier New" pitchFamily="34" charset="-120"/>
              </a:rPr>
              <a:t>)</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12 / 13</a:t>
            </a:r>
            <a:endParaRPr lang="en-US" sz="1200"/>
          </a:p>
        </p:txBody>
      </p:sp>
      <p:sp>
        <p:nvSpPr>
          <p:cNvPr id="6" name="Text 3"/>
          <p:cNvSpPr/>
          <p:nvPr/>
        </p:nvSpPr>
        <p:spPr>
          <a:xfrm>
            <a:off x="634594" y="761695"/>
            <a:ext cx="10921594" cy="437998"/>
          </a:xfrm>
          <a:prstGeom prst="rect">
            <a:avLst/>
          </a:prstGeom>
          <a:noFill/>
          <a:ln/>
        </p:spPr>
        <p:txBody>
          <a:bodyPr wrap="square" rtlCol="0" anchor="t"/>
          <a:lstStyle/>
          <a:p>
            <a:pPr marL="0" indent="0">
              <a:lnSpc>
                <a:spcPct val="100000"/>
              </a:lnSpc>
              <a:buNone/>
            </a:pPr>
            <a:r>
              <a:rPr lang="en-US" sz="2300" b="1" kern="0" spc="-50">
                <a:solidFill>
                  <a:srgbClr val="F2EFDA"/>
                </a:solidFill>
                <a:latin typeface="Arial" pitchFamily="34" charset="0"/>
                <a:ea typeface="Arial" pitchFamily="34" charset="-122"/>
                <a:cs typeface="Arial" pitchFamily="34" charset="-120"/>
              </a:rPr>
              <a:t>Grenzen der Arbeit </a:t>
            </a:r>
            <a:endParaRPr lang="en-US" sz="2300"/>
          </a:p>
        </p:txBody>
      </p:sp>
      <p:sp>
        <p:nvSpPr>
          <p:cNvPr id="7" name="Shape 4"/>
          <p:cNvSpPr/>
          <p:nvPr/>
        </p:nvSpPr>
        <p:spPr>
          <a:xfrm>
            <a:off x="634594" y="1651406"/>
            <a:ext cx="5333695" cy="1765706"/>
          </a:xfrm>
          <a:prstGeom prst="roundRect">
            <a:avLst>
              <a:gd name="adj" fmla="val 5748"/>
            </a:avLst>
          </a:prstGeom>
          <a:solidFill>
            <a:srgbClr val="1E402E"/>
          </a:solidFill>
          <a:ln w="12700">
            <a:solidFill>
              <a:srgbClr val="4A6D56"/>
            </a:solidFill>
            <a:prstDash val="solid"/>
          </a:ln>
        </p:spPr>
        <p:txBody>
          <a:bodyPr/>
          <a:lstStyle/>
          <a:p>
            <a:endParaRPr lang="de-DE"/>
          </a:p>
        </p:txBody>
      </p:sp>
      <p:sp>
        <p:nvSpPr>
          <p:cNvPr id="8" name="Text 5"/>
          <p:cNvSpPr/>
          <p:nvPr/>
        </p:nvSpPr>
        <p:spPr>
          <a:xfrm>
            <a:off x="863194" y="1828800"/>
            <a:ext cx="4876495" cy="254203"/>
          </a:xfrm>
          <a:prstGeom prst="rect">
            <a:avLst/>
          </a:prstGeom>
          <a:noFill/>
          <a:ln/>
        </p:spPr>
        <p:txBody>
          <a:bodyPr wrap="square" rtlCol="0" anchor="t"/>
          <a:lstStyle/>
          <a:p>
            <a:pPr marL="0" indent="0" algn="l">
              <a:lnSpc>
                <a:spcPct val="105000"/>
              </a:lnSpc>
              <a:buNone/>
            </a:pPr>
            <a:r>
              <a:rPr lang="en-US" sz="1300" b="1">
                <a:solidFill>
                  <a:srgbClr val="E6D34F"/>
                </a:solidFill>
                <a:latin typeface="Courier New" pitchFamily="34" charset="0"/>
                <a:ea typeface="Courier New" pitchFamily="34" charset="-122"/>
                <a:cs typeface="Courier New" pitchFamily="34" charset="-120"/>
              </a:rPr>
              <a:t>01  </a:t>
            </a:r>
            <a:r>
              <a:rPr lang="en-US" sz="1300" b="1">
                <a:solidFill>
                  <a:srgbClr val="F2EFDA"/>
                </a:solidFill>
                <a:latin typeface="Arial" pitchFamily="34" charset="0"/>
                <a:ea typeface="Arial" pitchFamily="34" charset="-122"/>
                <a:cs typeface="Arial" pitchFamily="34" charset="-120"/>
              </a:rPr>
              <a:t>Survivorship Bias</a:t>
            </a:r>
            <a:endParaRPr lang="en-US" sz="1300"/>
          </a:p>
        </p:txBody>
      </p:sp>
      <p:sp>
        <p:nvSpPr>
          <p:cNvPr id="9" name="Text 6"/>
          <p:cNvSpPr/>
          <p:nvPr/>
        </p:nvSpPr>
        <p:spPr>
          <a:xfrm>
            <a:off x="863194" y="2197303"/>
            <a:ext cx="4876495" cy="1079906"/>
          </a:xfrm>
          <a:prstGeom prst="rect">
            <a:avLst/>
          </a:prstGeom>
          <a:noFill/>
          <a:ln/>
        </p:spPr>
        <p:txBody>
          <a:bodyPr wrap="square" rtlCol="0" anchor="t"/>
          <a:lstStyle/>
          <a:p>
            <a:pPr marL="0" indent="0" algn="l">
              <a:lnSpc>
                <a:spcPct val="135000"/>
              </a:lnSpc>
              <a:buNone/>
            </a:pPr>
            <a:r>
              <a:rPr lang="en-US" sz="1000">
                <a:solidFill>
                  <a:srgbClr val="B3BC9A"/>
                </a:solidFill>
                <a:latin typeface="Arial" pitchFamily="34" charset="0"/>
                <a:ea typeface="Arial" pitchFamily="34" charset="-122"/>
                <a:cs typeface="Arial" pitchFamily="34" charset="-120"/>
              </a:rPr>
              <a:t>Vollständigkeitsfilter entfernt 77 % der Unternehmen. Getestet: φ-Mediane stabil bis zur 40-Quartals-Schwelle (2.356 Firmen).</a:t>
            </a:r>
            <a:endParaRPr lang="en-US" sz="1000"/>
          </a:p>
        </p:txBody>
      </p:sp>
      <p:sp>
        <p:nvSpPr>
          <p:cNvPr id="10" name="Shape 7"/>
          <p:cNvSpPr/>
          <p:nvPr/>
        </p:nvSpPr>
        <p:spPr>
          <a:xfrm>
            <a:off x="6222492" y="1651406"/>
            <a:ext cx="5333695" cy="1765706"/>
          </a:xfrm>
          <a:prstGeom prst="roundRect">
            <a:avLst>
              <a:gd name="adj" fmla="val 5748"/>
            </a:avLst>
          </a:prstGeom>
          <a:solidFill>
            <a:srgbClr val="1E402E"/>
          </a:solidFill>
          <a:ln w="12700">
            <a:solidFill>
              <a:srgbClr val="4A6D56"/>
            </a:solidFill>
            <a:prstDash val="solid"/>
          </a:ln>
        </p:spPr>
        <p:txBody>
          <a:bodyPr/>
          <a:lstStyle/>
          <a:p>
            <a:endParaRPr lang="de-DE"/>
          </a:p>
        </p:txBody>
      </p:sp>
      <p:sp>
        <p:nvSpPr>
          <p:cNvPr id="11" name="Text 8"/>
          <p:cNvSpPr/>
          <p:nvPr/>
        </p:nvSpPr>
        <p:spPr>
          <a:xfrm>
            <a:off x="6451092" y="1828800"/>
            <a:ext cx="4876495" cy="254203"/>
          </a:xfrm>
          <a:prstGeom prst="rect">
            <a:avLst/>
          </a:prstGeom>
          <a:noFill/>
          <a:ln/>
        </p:spPr>
        <p:txBody>
          <a:bodyPr wrap="square" rtlCol="0" anchor="t"/>
          <a:lstStyle/>
          <a:p>
            <a:pPr marL="0" indent="0" algn="l">
              <a:lnSpc>
                <a:spcPct val="105000"/>
              </a:lnSpc>
              <a:buNone/>
            </a:pPr>
            <a:r>
              <a:rPr lang="en-US" sz="1300" b="1">
                <a:solidFill>
                  <a:srgbClr val="E6D34F"/>
                </a:solidFill>
                <a:latin typeface="Courier New" pitchFamily="34" charset="0"/>
                <a:ea typeface="Courier New" pitchFamily="34" charset="-122"/>
                <a:cs typeface="Courier New" pitchFamily="34" charset="-120"/>
              </a:rPr>
              <a:t>02  </a:t>
            </a:r>
            <a:r>
              <a:rPr lang="en-US" sz="1300" b="1">
                <a:solidFill>
                  <a:srgbClr val="F2EFDA"/>
                </a:solidFill>
                <a:latin typeface="Arial" pitchFamily="34" charset="0"/>
                <a:ea typeface="Arial" pitchFamily="34" charset="-122"/>
                <a:cs typeface="Arial" pitchFamily="34" charset="-120"/>
              </a:rPr>
              <a:t>Differenzen-Konvention</a:t>
            </a:r>
            <a:endParaRPr lang="en-US" sz="1300"/>
          </a:p>
        </p:txBody>
      </p:sp>
      <p:sp>
        <p:nvSpPr>
          <p:cNvPr id="12" name="Text 9"/>
          <p:cNvSpPr/>
          <p:nvPr/>
        </p:nvSpPr>
        <p:spPr>
          <a:xfrm>
            <a:off x="6451092" y="2197303"/>
            <a:ext cx="4876495" cy="1079906"/>
          </a:xfrm>
          <a:prstGeom prst="rect">
            <a:avLst/>
          </a:prstGeom>
          <a:noFill/>
          <a:ln/>
        </p:spPr>
        <p:txBody>
          <a:bodyPr wrap="square" rtlCol="0" anchor="t"/>
          <a:lstStyle/>
          <a:p>
            <a:pPr marL="0" indent="0" algn="l">
              <a:lnSpc>
                <a:spcPct val="135000"/>
              </a:lnSpc>
              <a:buNone/>
            </a:pPr>
            <a:r>
              <a:rPr lang="en-US" sz="1000">
                <a:solidFill>
                  <a:srgbClr val="B3BC9A"/>
                </a:solidFill>
                <a:latin typeface="Arial" pitchFamily="34" charset="0"/>
                <a:ea typeface="Arial" pitchFamily="34" charset="-122"/>
                <a:cs typeface="Arial" pitchFamily="34" charset="-120"/>
              </a:rPr>
              <a:t>φ misst Veränderungs-Autokorrelation, nicht Niveau-Persistenz. Entscheidend ist die Spreizung zwischen den Kennzahlen — und die ist ökonomisch.</a:t>
            </a:r>
            <a:endParaRPr lang="en-US" sz="1000"/>
          </a:p>
        </p:txBody>
      </p:sp>
      <p:sp>
        <p:nvSpPr>
          <p:cNvPr id="13" name="Shape 10"/>
          <p:cNvSpPr/>
          <p:nvPr/>
        </p:nvSpPr>
        <p:spPr>
          <a:xfrm>
            <a:off x="634594" y="3543300"/>
            <a:ext cx="5333695" cy="1765706"/>
          </a:xfrm>
          <a:prstGeom prst="roundRect">
            <a:avLst>
              <a:gd name="adj" fmla="val 5748"/>
            </a:avLst>
          </a:prstGeom>
          <a:solidFill>
            <a:srgbClr val="1E402E"/>
          </a:solidFill>
          <a:ln w="12700">
            <a:solidFill>
              <a:srgbClr val="4A6D56"/>
            </a:solidFill>
            <a:prstDash val="solid"/>
          </a:ln>
        </p:spPr>
        <p:txBody>
          <a:bodyPr/>
          <a:lstStyle/>
          <a:p>
            <a:endParaRPr lang="de-DE"/>
          </a:p>
        </p:txBody>
      </p:sp>
      <p:sp>
        <p:nvSpPr>
          <p:cNvPr id="14" name="Text 11"/>
          <p:cNvSpPr/>
          <p:nvPr/>
        </p:nvSpPr>
        <p:spPr>
          <a:xfrm>
            <a:off x="863194" y="3720694"/>
            <a:ext cx="4876495" cy="254203"/>
          </a:xfrm>
          <a:prstGeom prst="rect">
            <a:avLst/>
          </a:prstGeom>
          <a:noFill/>
          <a:ln/>
        </p:spPr>
        <p:txBody>
          <a:bodyPr wrap="square" rtlCol="0" anchor="t"/>
          <a:lstStyle/>
          <a:p>
            <a:pPr marL="0" indent="0" algn="l">
              <a:lnSpc>
                <a:spcPct val="105000"/>
              </a:lnSpc>
              <a:buNone/>
            </a:pPr>
            <a:r>
              <a:rPr lang="en-US" sz="1300" b="1">
                <a:solidFill>
                  <a:srgbClr val="E6D34F"/>
                </a:solidFill>
                <a:latin typeface="Courier New" pitchFamily="34" charset="0"/>
                <a:ea typeface="Courier New" pitchFamily="34" charset="-122"/>
                <a:cs typeface="Courier New" pitchFamily="34" charset="-120"/>
              </a:rPr>
              <a:t>03  </a:t>
            </a:r>
            <a:r>
              <a:rPr lang="en-US" sz="1300" b="1">
                <a:solidFill>
                  <a:srgbClr val="F2EFDA"/>
                </a:solidFill>
                <a:latin typeface="Arial" pitchFamily="34" charset="0"/>
                <a:ea typeface="Arial" pitchFamily="34" charset="-122"/>
                <a:cs typeface="Arial" pitchFamily="34" charset="-120"/>
              </a:rPr>
              <a:t>In-Sample-Charakter</a:t>
            </a:r>
            <a:endParaRPr lang="en-US" sz="1300"/>
          </a:p>
        </p:txBody>
      </p:sp>
      <p:sp>
        <p:nvSpPr>
          <p:cNvPr id="15" name="Text 12"/>
          <p:cNvSpPr/>
          <p:nvPr/>
        </p:nvSpPr>
        <p:spPr>
          <a:xfrm>
            <a:off x="863194" y="4089197"/>
            <a:ext cx="4876495" cy="1079906"/>
          </a:xfrm>
          <a:prstGeom prst="rect">
            <a:avLst/>
          </a:prstGeom>
          <a:noFill/>
          <a:ln/>
        </p:spPr>
        <p:txBody>
          <a:bodyPr wrap="square" rtlCol="0" anchor="t"/>
          <a:lstStyle/>
          <a:p>
            <a:pPr marL="0" indent="0" algn="l">
              <a:lnSpc>
                <a:spcPct val="135000"/>
              </a:lnSpc>
              <a:buNone/>
            </a:pPr>
            <a:r>
              <a:rPr lang="en-US" sz="1000">
                <a:solidFill>
                  <a:srgbClr val="B3BC9A"/>
                </a:solidFill>
                <a:latin typeface="Arial" pitchFamily="34" charset="0"/>
                <a:ea typeface="Arial" pitchFamily="34" charset="-122"/>
                <a:cs typeface="Arial" pitchFamily="34" charset="-120"/>
              </a:rPr>
              <a:t>Quadranten und Krisentest nutzen denselben Zeitraum. Als Konsistenzprüfung deklariert; Out-of-Sample-Test als nächster Schritt.</a:t>
            </a:r>
            <a:endParaRPr lang="en-US" sz="1000"/>
          </a:p>
        </p:txBody>
      </p:sp>
      <p:sp>
        <p:nvSpPr>
          <p:cNvPr id="16" name="Shape 13"/>
          <p:cNvSpPr/>
          <p:nvPr/>
        </p:nvSpPr>
        <p:spPr>
          <a:xfrm>
            <a:off x="6222492" y="3543300"/>
            <a:ext cx="5333695" cy="1765706"/>
          </a:xfrm>
          <a:prstGeom prst="roundRect">
            <a:avLst>
              <a:gd name="adj" fmla="val 5748"/>
            </a:avLst>
          </a:prstGeom>
          <a:solidFill>
            <a:srgbClr val="1E402E"/>
          </a:solidFill>
          <a:ln w="12700">
            <a:solidFill>
              <a:srgbClr val="4A6D56"/>
            </a:solidFill>
            <a:prstDash val="solid"/>
          </a:ln>
        </p:spPr>
        <p:txBody>
          <a:bodyPr/>
          <a:lstStyle/>
          <a:p>
            <a:endParaRPr lang="de-DE"/>
          </a:p>
        </p:txBody>
      </p:sp>
      <p:sp>
        <p:nvSpPr>
          <p:cNvPr id="17" name="Text 14"/>
          <p:cNvSpPr/>
          <p:nvPr/>
        </p:nvSpPr>
        <p:spPr>
          <a:xfrm>
            <a:off x="6451092" y="3720694"/>
            <a:ext cx="4876495" cy="254203"/>
          </a:xfrm>
          <a:prstGeom prst="rect">
            <a:avLst/>
          </a:prstGeom>
          <a:noFill/>
          <a:ln/>
        </p:spPr>
        <p:txBody>
          <a:bodyPr wrap="square" rtlCol="0" anchor="t"/>
          <a:lstStyle/>
          <a:p>
            <a:pPr marL="0" indent="0" algn="l">
              <a:lnSpc>
                <a:spcPct val="105000"/>
              </a:lnSpc>
              <a:buNone/>
            </a:pPr>
            <a:r>
              <a:rPr lang="en-US" sz="1300" b="1">
                <a:solidFill>
                  <a:srgbClr val="E6D34F"/>
                </a:solidFill>
                <a:latin typeface="Courier New" pitchFamily="34" charset="0"/>
                <a:ea typeface="Courier New" pitchFamily="34" charset="-122"/>
                <a:cs typeface="Courier New" pitchFamily="34" charset="-120"/>
              </a:rPr>
              <a:t>04  </a:t>
            </a:r>
            <a:r>
              <a:rPr lang="en-US" sz="1300" b="1">
                <a:solidFill>
                  <a:srgbClr val="F2EFDA"/>
                </a:solidFill>
                <a:latin typeface="Arial" pitchFamily="34" charset="0"/>
                <a:ea typeface="Arial" pitchFamily="34" charset="-122"/>
                <a:cs typeface="Arial" pitchFamily="34" charset="-120"/>
              </a:rPr>
              <a:t>Geltungsbereich</a:t>
            </a:r>
            <a:endParaRPr lang="en-US" sz="1300"/>
          </a:p>
        </p:txBody>
      </p:sp>
      <p:sp>
        <p:nvSpPr>
          <p:cNvPr id="18" name="Text 15"/>
          <p:cNvSpPr/>
          <p:nvPr/>
        </p:nvSpPr>
        <p:spPr>
          <a:xfrm>
            <a:off x="6451092" y="4089197"/>
            <a:ext cx="4876495" cy="1079906"/>
          </a:xfrm>
          <a:prstGeom prst="rect">
            <a:avLst/>
          </a:prstGeom>
          <a:noFill/>
          <a:ln/>
        </p:spPr>
        <p:txBody>
          <a:bodyPr wrap="square" rtlCol="0" anchor="t"/>
          <a:lstStyle/>
          <a:p>
            <a:pPr marL="0" indent="0" algn="l">
              <a:lnSpc>
                <a:spcPct val="135000"/>
              </a:lnSpc>
              <a:buNone/>
            </a:pPr>
            <a:r>
              <a:rPr lang="en-US" sz="1000">
                <a:solidFill>
                  <a:srgbClr val="B3BC9A"/>
                </a:solidFill>
                <a:latin typeface="Arial" pitchFamily="34" charset="0"/>
                <a:ea typeface="Arial" pitchFamily="34" charset="-122"/>
                <a:cs typeface="Arial" pitchFamily="34" charset="-120"/>
              </a:rPr>
              <a:t>Etablierte US-Unternehmen, Quartalsfrequenz. Effekte unterhalb eines Quartals und andere Märkte bleiben offen.</a:t>
            </a:r>
            <a:endParaRPr lang="en-US" sz="1000"/>
          </a:p>
        </p:txBody>
      </p:sp>
      <p:sp>
        <p:nvSpPr>
          <p:cNvPr id="3" name="Text 13">
            <a:extLst>
              <a:ext uri="{FF2B5EF4-FFF2-40B4-BE49-F238E27FC236}">
                <a16:creationId xmlns:a16="http://schemas.microsoft.com/office/drawing/2014/main" id="{15A27E08-90AA-E0DD-1480-57D1B6BF572F}"/>
              </a:ext>
            </a:extLst>
          </p:cNvPr>
          <p:cNvSpPr/>
          <p:nvPr/>
        </p:nvSpPr>
        <p:spPr>
          <a:xfrm>
            <a:off x="634594" y="5842102"/>
            <a:ext cx="10921594" cy="254203"/>
          </a:xfrm>
          <a:prstGeom prst="rect">
            <a:avLst/>
          </a:prstGeom>
          <a:noFill/>
          <a:ln/>
        </p:spPr>
        <p:txBody>
          <a:bodyPr wrap="square" rtlCol="0" anchor="t"/>
          <a:lstStyle/>
          <a:p>
            <a:pPr marL="0" indent="0" algn="l">
              <a:lnSpc>
                <a:spcPct val="105000"/>
              </a:lnSpc>
              <a:buNone/>
            </a:pPr>
            <a:r>
              <a:rPr lang="en-US" sz="900" b="1" kern="0" spc="200">
                <a:solidFill>
                  <a:srgbClr val="798D6F"/>
                </a:solidFill>
                <a:latin typeface="Courier New" pitchFamily="34" charset="0"/>
                <a:ea typeface="Courier New" pitchFamily="34" charset="-122"/>
                <a:cs typeface="Courier New" pitchFamily="34" charset="-120"/>
              </a:rPr>
              <a:t>AUSBLCK   </a:t>
            </a:r>
            <a:r>
              <a:rPr lang="en-US" sz="900">
                <a:solidFill>
                  <a:srgbClr val="B3BC9A"/>
                </a:solidFill>
                <a:latin typeface="Arial" pitchFamily="34" charset="0"/>
                <a:ea typeface="Arial" pitchFamily="34" charset="-122"/>
                <a:cs typeface="Arial" pitchFamily="34" charset="-120"/>
              </a:rPr>
              <a:t>Out-of-Sample-Test der Quadranten · Lead-Lag auf AR-Residuen · höhere Datenfrequenz · Märkte jenseits der USA</a:t>
            </a:r>
            <a:endParaRPr lang="en-US" sz="900"/>
          </a:p>
        </p:txBody>
      </p:sp>
      <p:sp>
        <p:nvSpPr>
          <p:cNvPr id="19" name="Text 1">
            <a:extLst>
              <a:ext uri="{FF2B5EF4-FFF2-40B4-BE49-F238E27FC236}">
                <a16:creationId xmlns:a16="http://schemas.microsoft.com/office/drawing/2014/main" id="{EFE3FEAF-AB28-0A24-084B-66A566755ECF}"/>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LIMITATION UND AUSBLICK</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9ABACAB-E6CB-744C-BA6B-79B562EA2EC8}">
  <we:reference id="wa200010001" version="1.0.0.1" store="en-US" storeType="OMEX"/>
  <we:alternateReferences>
    <we:reference id="WA200010001" version="1.0.0.1" store="" storeType="OMEX"/>
  </we:alternateReferences>
  <we:properties>
    <we:property name="claude.fileId" value="&quot;31e2e507-e253-4e22-9e36-4cf89df1325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4269</Words>
  <Application>Microsoft Macintosh PowerPoint</Application>
  <PresentationFormat>Breitbild</PresentationFormat>
  <Paragraphs>447</Paragraphs>
  <Slides>27</Slides>
  <Notes>27</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27</vt:i4>
      </vt:variant>
    </vt:vector>
  </HeadingPairs>
  <TitlesOfParts>
    <vt:vector size="31" baseType="lpstr">
      <vt:lpstr>Arial</vt:lpstr>
      <vt:lpstr>Cambria Math</vt:lpstr>
      <vt:lpstr>Courier New</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Tobias Mourier</cp:lastModifiedBy>
  <cp:revision>8</cp:revision>
  <dcterms:created xsi:type="dcterms:W3CDTF">2026-06-21T21:41:59Z</dcterms:created>
  <dcterms:modified xsi:type="dcterms:W3CDTF">2026-07-05T12:10:03Z</dcterms:modified>
</cp:coreProperties>
</file>
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86" r:id="rId4"/>
    <p:sldId id="271" r:id="rId5"/>
    <p:sldId id="270" r:id="rId6"/>
    <p:sldId id="269" r:id="rId7"/>
    <p:sldId id="258" r:id="rId8"/>
    <p:sldId id="300" r:id="rId9"/>
    <p:sldId id="305" r:id="rId10"/>
    <p:sldId id="306" r:id="rId11"/>
    <p:sldId id="260" r:id="rId12"/>
    <p:sldId id="287" r:id="rId13"/>
    <p:sldId id="293" r:id="rId14"/>
    <p:sldId id="297" r:id="rId15"/>
    <p:sldId id="301" r:id="rId16"/>
    <p:sldId id="282" r:id="rId17"/>
    <p:sldId id="262" r:id="rId18"/>
    <p:sldId id="283" r:id="rId19"/>
    <p:sldId id="285" r:id="rId20"/>
    <p:sldId id="272" r:id="rId21"/>
    <p:sldId id="274" r:id="rId22"/>
    <p:sldId id="276" r:id="rId23"/>
    <p:sldId id="279" r:id="rId24"/>
    <p:sldId id="294" r:id="rId25"/>
    <p:sldId id="295" r:id="rId26"/>
    <p:sldId id="296" r:id="rId27"/>
    <p:sldId id="265" r:id="rId28"/>
    <p:sldId id="266" r:id="rId29"/>
    <p:sldId id="267" r:id="rId30"/>
    <p:sldId id="30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FDA"/>
    <a:srgbClr val="B4BD9A"/>
    <a:srgbClr val="E6D44F"/>
    <a:srgbClr val="78A2F9"/>
    <a:srgbClr val="3CBA77"/>
    <a:srgbClr val="F46451"/>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5836B-C863-0546-8ED7-EA0198C1F966}" v="116" dt="2026-07-06T14:13:33.586"/>
    <p1510:client id="{B4BA330C-C12D-41F8-9B73-5FD032B468B7}" v="6" dt="2026-07-05T18:26:28.32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95"/>
    <p:restoredTop sz="94635"/>
  </p:normalViewPr>
  <p:slideViewPr>
    <p:cSldViewPr snapToGrid="0">
      <p:cViewPr>
        <p:scale>
          <a:sx n="70" d="100"/>
          <a:sy n="70" d="100"/>
        </p:scale>
        <p:origin x="112"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Mourier" userId="e8658e8513740b03" providerId="LiveId" clId="{26F648B5-EF13-52E1-AF0F-D13AE4EC2332}"/>
    <pc:docChg chg="undo custSel addSld delSld modSld">
      <pc:chgData name="Tobias Mourier" userId="e8658e8513740b03" providerId="LiveId" clId="{26F648B5-EF13-52E1-AF0F-D13AE4EC2332}" dt="2026-07-06T14:22:55.230" v="2021" actId="108"/>
      <pc:docMkLst>
        <pc:docMk/>
      </pc:docMkLst>
      <pc:sldChg chg="delSp modSp mod delAnim">
        <pc:chgData name="Tobias Mourier" userId="e8658e8513740b03" providerId="LiveId" clId="{26F648B5-EF13-52E1-AF0F-D13AE4EC2332}" dt="2026-07-06T08:13:23.884" v="5" actId="20577"/>
        <pc:sldMkLst>
          <pc:docMk/>
          <pc:sldMk cId="0" sldId="257"/>
        </pc:sldMkLst>
        <pc:spChg chg="mod">
          <ac:chgData name="Tobias Mourier" userId="e8658e8513740b03" providerId="LiveId" clId="{26F648B5-EF13-52E1-AF0F-D13AE4EC2332}" dt="2026-07-06T08:13:23.884" v="5" actId="20577"/>
          <ac:spMkLst>
            <pc:docMk/>
            <pc:sldMk cId="0" sldId="257"/>
            <ac:spMk id="61" creationId="{9EC68522-C9FF-7A32-A0AE-BA8ED81B805A}"/>
          </ac:spMkLst>
        </pc:spChg>
        <pc:spChg chg="del">
          <ac:chgData name="Tobias Mourier" userId="e8658e8513740b03" providerId="LiveId" clId="{26F648B5-EF13-52E1-AF0F-D13AE4EC2332}" dt="2026-07-05T21:37:27.125" v="0" actId="478"/>
          <ac:spMkLst>
            <pc:docMk/>
            <pc:sldMk cId="0" sldId="257"/>
            <ac:spMk id="64" creationId="{A04FF9E1-B817-C502-66FA-0A741D7BBFA8}"/>
          </ac:spMkLst>
        </pc:spChg>
      </pc:sldChg>
      <pc:sldChg chg="addSp delSp modSp mod modAnim">
        <pc:chgData name="Tobias Mourier" userId="e8658e8513740b03" providerId="LiveId" clId="{26F648B5-EF13-52E1-AF0F-D13AE4EC2332}" dt="2026-07-06T08:27:46.643" v="96" actId="1076"/>
        <pc:sldMkLst>
          <pc:docMk/>
          <pc:sldMk cId="0" sldId="258"/>
        </pc:sldMkLst>
        <pc:spChg chg="mod">
          <ac:chgData name="Tobias Mourier" userId="e8658e8513740b03" providerId="LiveId" clId="{26F648B5-EF13-52E1-AF0F-D13AE4EC2332}" dt="2026-07-06T08:27:13.117" v="62"/>
          <ac:spMkLst>
            <pc:docMk/>
            <pc:sldMk cId="0" sldId="258"/>
            <ac:spMk id="11" creationId="{2CDDE4E1-7CA0-39FD-CEB0-EBB3C37D930E}"/>
          </ac:spMkLst>
        </pc:spChg>
        <pc:spChg chg="mod">
          <ac:chgData name="Tobias Mourier" userId="e8658e8513740b03" providerId="LiveId" clId="{26F648B5-EF13-52E1-AF0F-D13AE4EC2332}" dt="2026-07-06T08:27:13.117" v="62"/>
          <ac:spMkLst>
            <pc:docMk/>
            <pc:sldMk cId="0" sldId="258"/>
            <ac:spMk id="12" creationId="{6D880B0C-0D48-B99D-AA4B-F164019A0DCA}"/>
          </ac:spMkLst>
        </pc:spChg>
        <pc:spChg chg="mod">
          <ac:chgData name="Tobias Mourier" userId="e8658e8513740b03" providerId="LiveId" clId="{26F648B5-EF13-52E1-AF0F-D13AE4EC2332}" dt="2026-07-06T08:27:13.117" v="62"/>
          <ac:spMkLst>
            <pc:docMk/>
            <pc:sldMk cId="0" sldId="258"/>
            <ac:spMk id="13" creationId="{2114AC04-B80A-F665-9266-47020C58F57F}"/>
          </ac:spMkLst>
        </pc:spChg>
        <pc:spChg chg="mod">
          <ac:chgData name="Tobias Mourier" userId="e8658e8513740b03" providerId="LiveId" clId="{26F648B5-EF13-52E1-AF0F-D13AE4EC2332}" dt="2026-07-06T08:27:13.117" v="62"/>
          <ac:spMkLst>
            <pc:docMk/>
            <pc:sldMk cId="0" sldId="258"/>
            <ac:spMk id="14" creationId="{5A230870-2D52-6793-C705-D39A5B37429E}"/>
          </ac:spMkLst>
        </pc:spChg>
        <pc:spChg chg="mod">
          <ac:chgData name="Tobias Mourier" userId="e8658e8513740b03" providerId="LiveId" clId="{26F648B5-EF13-52E1-AF0F-D13AE4EC2332}" dt="2026-07-06T08:27:13.117" v="62"/>
          <ac:spMkLst>
            <pc:docMk/>
            <pc:sldMk cId="0" sldId="258"/>
            <ac:spMk id="17" creationId="{9E19DFD0-4E43-7314-EE38-552AFD24E0B0}"/>
          </ac:spMkLst>
        </pc:spChg>
        <pc:spChg chg="del">
          <ac:chgData name="Tobias Mourier" userId="e8658e8513740b03" providerId="LiveId" clId="{26F648B5-EF13-52E1-AF0F-D13AE4EC2332}" dt="2026-07-06T08:26:23.882" v="58" actId="478"/>
          <ac:spMkLst>
            <pc:docMk/>
            <pc:sldMk cId="0" sldId="258"/>
            <ac:spMk id="18" creationId="{00000000-0000-0000-0000-000000000000}"/>
          </ac:spMkLst>
        </pc:spChg>
        <pc:spChg chg="mod">
          <ac:chgData name="Tobias Mourier" userId="e8658e8513740b03" providerId="LiveId" clId="{26F648B5-EF13-52E1-AF0F-D13AE4EC2332}" dt="2026-07-06T08:27:13.117" v="62"/>
          <ac:spMkLst>
            <pc:docMk/>
            <pc:sldMk cId="0" sldId="258"/>
            <ac:spMk id="19" creationId="{20C37B09-5547-3C3B-D703-31A4FF0BD4AC}"/>
          </ac:spMkLst>
        </pc:spChg>
        <pc:spChg chg="mod">
          <ac:chgData name="Tobias Mourier" userId="e8658e8513740b03" providerId="LiveId" clId="{26F648B5-EF13-52E1-AF0F-D13AE4EC2332}" dt="2026-07-06T08:27:13.117" v="62"/>
          <ac:spMkLst>
            <pc:docMk/>
            <pc:sldMk cId="0" sldId="258"/>
            <ac:spMk id="20" creationId="{0B0B34E8-7F78-0649-26CB-5F1DFB0241D0}"/>
          </ac:spMkLst>
        </pc:spChg>
        <pc:spChg chg="del">
          <ac:chgData name="Tobias Mourier" userId="e8658e8513740b03" providerId="LiveId" clId="{26F648B5-EF13-52E1-AF0F-D13AE4EC2332}" dt="2026-07-06T08:26:23.882" v="58" actId="478"/>
          <ac:spMkLst>
            <pc:docMk/>
            <pc:sldMk cId="0" sldId="258"/>
            <ac:spMk id="21" creationId="{00000000-0000-0000-0000-000000000000}"/>
          </ac:spMkLst>
        </pc:spChg>
        <pc:spChg chg="del">
          <ac:chgData name="Tobias Mourier" userId="e8658e8513740b03" providerId="LiveId" clId="{26F648B5-EF13-52E1-AF0F-D13AE4EC2332}" dt="2026-07-06T08:26:23.882" v="58" actId="478"/>
          <ac:spMkLst>
            <pc:docMk/>
            <pc:sldMk cId="0" sldId="258"/>
            <ac:spMk id="22" creationId="{00000000-0000-0000-0000-000000000000}"/>
          </ac:spMkLst>
        </pc:spChg>
        <pc:spChg chg="del">
          <ac:chgData name="Tobias Mourier" userId="e8658e8513740b03" providerId="LiveId" clId="{26F648B5-EF13-52E1-AF0F-D13AE4EC2332}" dt="2026-07-06T08:26:23.882" v="58" actId="478"/>
          <ac:spMkLst>
            <pc:docMk/>
            <pc:sldMk cId="0" sldId="258"/>
            <ac:spMk id="23" creationId="{00000000-0000-0000-0000-000000000000}"/>
          </ac:spMkLst>
        </pc:spChg>
        <pc:spChg chg="mod">
          <ac:chgData name="Tobias Mourier" userId="e8658e8513740b03" providerId="LiveId" clId="{26F648B5-EF13-52E1-AF0F-D13AE4EC2332}" dt="2026-07-06T08:27:13.117" v="62"/>
          <ac:spMkLst>
            <pc:docMk/>
            <pc:sldMk cId="0" sldId="258"/>
            <ac:spMk id="27" creationId="{F1F2EBCA-B82D-412F-5605-D89FA0CB864B}"/>
          </ac:spMkLst>
        </pc:spChg>
        <pc:spChg chg="mod">
          <ac:chgData name="Tobias Mourier" userId="e8658e8513740b03" providerId="LiveId" clId="{26F648B5-EF13-52E1-AF0F-D13AE4EC2332}" dt="2026-07-06T08:27:27.417" v="65"/>
          <ac:spMkLst>
            <pc:docMk/>
            <pc:sldMk cId="0" sldId="258"/>
            <ac:spMk id="31" creationId="{362255C9-2D7F-4CA9-D5F0-9AFA2BA2C026}"/>
          </ac:spMkLst>
        </pc:spChg>
        <pc:spChg chg="mod">
          <ac:chgData name="Tobias Mourier" userId="e8658e8513740b03" providerId="LiveId" clId="{26F648B5-EF13-52E1-AF0F-D13AE4EC2332}" dt="2026-07-06T08:27:27.417" v="65"/>
          <ac:spMkLst>
            <pc:docMk/>
            <pc:sldMk cId="0" sldId="258"/>
            <ac:spMk id="33" creationId="{B253C0A7-69D1-1642-6C75-57F490690EB8}"/>
          </ac:spMkLst>
        </pc:spChg>
        <pc:spChg chg="del">
          <ac:chgData name="Tobias Mourier" userId="e8658e8513740b03" providerId="LiveId" clId="{26F648B5-EF13-52E1-AF0F-D13AE4EC2332}" dt="2026-07-06T08:26:29.812" v="59" actId="478"/>
          <ac:spMkLst>
            <pc:docMk/>
            <pc:sldMk cId="0" sldId="258"/>
            <ac:spMk id="36" creationId="{FE34ABDE-D9D2-8B5B-C910-E70B69B7F15E}"/>
          </ac:spMkLst>
        </pc:spChg>
        <pc:spChg chg="mod">
          <ac:chgData name="Tobias Mourier" userId="e8658e8513740b03" providerId="LiveId" clId="{26F648B5-EF13-52E1-AF0F-D13AE4EC2332}" dt="2026-07-06T08:27:27.417" v="65"/>
          <ac:spMkLst>
            <pc:docMk/>
            <pc:sldMk cId="0" sldId="258"/>
            <ac:spMk id="37" creationId="{C9173538-3153-9E08-524C-2015EBCF1AEF}"/>
          </ac:spMkLst>
        </pc:spChg>
        <pc:spChg chg="del">
          <ac:chgData name="Tobias Mourier" userId="e8658e8513740b03" providerId="LiveId" clId="{26F648B5-EF13-52E1-AF0F-D13AE4EC2332}" dt="2026-07-06T08:26:23.882" v="58" actId="478"/>
          <ac:spMkLst>
            <pc:docMk/>
            <pc:sldMk cId="0" sldId="258"/>
            <ac:spMk id="38" creationId="{C27E94C8-1375-3175-68CA-8D6233FDD11C}"/>
          </ac:spMkLst>
        </pc:spChg>
        <pc:spChg chg="mod">
          <ac:chgData name="Tobias Mourier" userId="e8658e8513740b03" providerId="LiveId" clId="{26F648B5-EF13-52E1-AF0F-D13AE4EC2332}" dt="2026-07-06T08:27:27.417" v="65"/>
          <ac:spMkLst>
            <pc:docMk/>
            <pc:sldMk cId="0" sldId="258"/>
            <ac:spMk id="39" creationId="{F185905B-394B-C020-24EA-9F9AAF7C01B2}"/>
          </ac:spMkLst>
        </pc:spChg>
        <pc:spChg chg="mod">
          <ac:chgData name="Tobias Mourier" userId="e8658e8513740b03" providerId="LiveId" clId="{26F648B5-EF13-52E1-AF0F-D13AE4EC2332}" dt="2026-07-06T08:27:27.417" v="65"/>
          <ac:spMkLst>
            <pc:docMk/>
            <pc:sldMk cId="0" sldId="258"/>
            <ac:spMk id="42" creationId="{EFD8D093-EE4D-60CE-252A-6120AC43BDB0}"/>
          </ac:spMkLst>
        </pc:spChg>
        <pc:spChg chg="mod">
          <ac:chgData name="Tobias Mourier" userId="e8658e8513740b03" providerId="LiveId" clId="{26F648B5-EF13-52E1-AF0F-D13AE4EC2332}" dt="2026-07-06T08:27:27.417" v="65"/>
          <ac:spMkLst>
            <pc:docMk/>
            <pc:sldMk cId="0" sldId="258"/>
            <ac:spMk id="43" creationId="{3A78A9BC-8198-C160-F91F-45BEB3EBC3FC}"/>
          </ac:spMkLst>
        </pc:spChg>
        <pc:spChg chg="mod">
          <ac:chgData name="Tobias Mourier" userId="e8658e8513740b03" providerId="LiveId" clId="{26F648B5-EF13-52E1-AF0F-D13AE4EC2332}" dt="2026-07-06T08:27:27.417" v="65"/>
          <ac:spMkLst>
            <pc:docMk/>
            <pc:sldMk cId="0" sldId="258"/>
            <ac:spMk id="44" creationId="{645E24E4-B517-530C-2118-E365438F773E}"/>
          </ac:spMkLst>
        </pc:spChg>
        <pc:spChg chg="mod">
          <ac:chgData name="Tobias Mourier" userId="e8658e8513740b03" providerId="LiveId" clId="{26F648B5-EF13-52E1-AF0F-D13AE4EC2332}" dt="2026-07-06T08:27:27.417" v="65"/>
          <ac:spMkLst>
            <pc:docMk/>
            <pc:sldMk cId="0" sldId="258"/>
            <ac:spMk id="45" creationId="{EA20DF95-9947-B92E-BD66-76251039B217}"/>
          </ac:spMkLst>
        </pc:spChg>
        <pc:grpChg chg="del">
          <ac:chgData name="Tobias Mourier" userId="e8658e8513740b03" providerId="LiveId" clId="{26F648B5-EF13-52E1-AF0F-D13AE4EC2332}" dt="2026-07-06T08:26:23.882" v="58" actId="478"/>
          <ac:grpSpMkLst>
            <pc:docMk/>
            <pc:sldMk cId="0" sldId="258"/>
            <ac:grpSpMk id="4" creationId="{875E9B17-88F9-7450-14EE-80A82D92FC17}"/>
          </ac:grpSpMkLst>
        </pc:grpChg>
        <pc:grpChg chg="add mod">
          <ac:chgData name="Tobias Mourier" userId="e8658e8513740b03" providerId="LiveId" clId="{26F648B5-EF13-52E1-AF0F-D13AE4EC2332}" dt="2026-07-06T08:27:13.117" v="62"/>
          <ac:grpSpMkLst>
            <pc:docMk/>
            <pc:sldMk cId="0" sldId="258"/>
            <ac:grpSpMk id="10" creationId="{92C8B661-8955-1023-7CAB-62C010E506C7}"/>
          </ac:grpSpMkLst>
        </pc:grpChg>
        <pc:grpChg chg="add mod">
          <ac:chgData name="Tobias Mourier" userId="e8658e8513740b03" providerId="LiveId" clId="{26F648B5-EF13-52E1-AF0F-D13AE4EC2332}" dt="2026-07-06T08:27:46.643" v="96" actId="1076"/>
          <ac:grpSpMkLst>
            <pc:docMk/>
            <pc:sldMk cId="0" sldId="258"/>
            <ac:grpSpMk id="29" creationId="{E431E068-0BD2-8BA8-1355-AEF62B2554B3}"/>
          </ac:grpSpMkLst>
        </pc:grpChg>
        <pc:grpChg chg="del mod">
          <ac:chgData name="Tobias Mourier" userId="e8658e8513740b03" providerId="LiveId" clId="{26F648B5-EF13-52E1-AF0F-D13AE4EC2332}" dt="2026-07-06T08:27:12.215" v="61" actId="478"/>
          <ac:grpSpMkLst>
            <pc:docMk/>
            <pc:sldMk cId="0" sldId="258"/>
            <ac:grpSpMk id="41" creationId="{99382E20-8895-FB84-CB5A-BA43FE06AAAC}"/>
          </ac:grpSpMkLst>
        </pc:grpChg>
        <pc:graphicFrameChg chg="del mod">
          <ac:chgData name="Tobias Mourier" userId="e8658e8513740b03" providerId="LiveId" clId="{26F648B5-EF13-52E1-AF0F-D13AE4EC2332}" dt="2026-07-06T08:27:12.215" v="61" actId="478"/>
          <ac:graphicFrameMkLst>
            <pc:docMk/>
            <pc:sldMk cId="0" sldId="258"/>
            <ac:graphicFrameMk id="34" creationId="{E7176041-190C-FA1B-1488-71AC7A54F4D2}"/>
          </ac:graphicFrameMkLst>
        </pc:graphicFrameChg>
        <pc:graphicFrameChg chg="add mod">
          <ac:chgData name="Tobias Mourier" userId="e8658e8513740b03" providerId="LiveId" clId="{26F648B5-EF13-52E1-AF0F-D13AE4EC2332}" dt="2026-07-06T08:27:46.643" v="96" actId="1076"/>
          <ac:graphicFrameMkLst>
            <pc:docMk/>
            <pc:sldMk cId="0" sldId="258"/>
            <ac:graphicFrameMk id="46" creationId="{5FCEFF2B-F9C3-C25E-89E1-69BFF1A3A805}"/>
          </ac:graphicFrameMkLst>
        </pc:graphicFrameChg>
        <pc:picChg chg="add del">
          <ac:chgData name="Tobias Mourier" userId="e8658e8513740b03" providerId="LiveId" clId="{26F648B5-EF13-52E1-AF0F-D13AE4EC2332}" dt="2026-07-06T08:27:19.577" v="64" actId="478"/>
          <ac:picMkLst>
            <pc:docMk/>
            <pc:sldMk cId="0" sldId="258"/>
            <ac:picMk id="28" creationId="{137EBFFA-6DE7-3352-16C0-5C6E0FE52812}"/>
          </ac:picMkLst>
        </pc:picChg>
        <pc:picChg chg="del">
          <ac:chgData name="Tobias Mourier" userId="e8658e8513740b03" providerId="LiveId" clId="{26F648B5-EF13-52E1-AF0F-D13AE4EC2332}" dt="2026-07-06T08:26:23.882" v="58" actId="478"/>
          <ac:picMkLst>
            <pc:docMk/>
            <pc:sldMk cId="0" sldId="258"/>
            <ac:picMk id="40" creationId="{D066B4EF-CF18-91A1-7017-A86AE285C374}"/>
          </ac:picMkLst>
        </pc:picChg>
      </pc:sldChg>
      <pc:sldChg chg="addSp modSp">
        <pc:chgData name="Tobias Mourier" userId="e8658e8513740b03" providerId="LiveId" clId="{26F648B5-EF13-52E1-AF0F-D13AE4EC2332}" dt="2026-07-06T14:13:33.586" v="2020" actId="164"/>
        <pc:sldMkLst>
          <pc:docMk/>
          <pc:sldMk cId="0" sldId="260"/>
        </pc:sldMkLst>
        <pc:spChg chg="mod">
          <ac:chgData name="Tobias Mourier" userId="e8658e8513740b03" providerId="LiveId" clId="{26F648B5-EF13-52E1-AF0F-D13AE4EC2332}" dt="2026-07-06T14:13:33.586" v="2020" actId="164"/>
          <ac:spMkLst>
            <pc:docMk/>
            <pc:sldMk cId="0" sldId="260"/>
            <ac:spMk id="33" creationId="{0EDC59D2-A420-643C-D8EA-9C0E9711EF60}"/>
          </ac:spMkLst>
        </pc:spChg>
        <pc:grpChg chg="mod">
          <ac:chgData name="Tobias Mourier" userId="e8658e8513740b03" providerId="LiveId" clId="{26F648B5-EF13-52E1-AF0F-D13AE4EC2332}" dt="2026-07-06T14:13:33.586" v="2020" actId="164"/>
          <ac:grpSpMkLst>
            <pc:docMk/>
            <pc:sldMk cId="0" sldId="260"/>
            <ac:grpSpMk id="4" creationId="{F55B37CB-C036-7061-87B0-8835DD0E9D0B}"/>
          </ac:grpSpMkLst>
        </pc:grpChg>
        <pc:grpChg chg="add mod">
          <ac:chgData name="Tobias Mourier" userId="e8658e8513740b03" providerId="LiveId" clId="{26F648B5-EF13-52E1-AF0F-D13AE4EC2332}" dt="2026-07-06T14:13:33.586" v="2020" actId="164"/>
          <ac:grpSpMkLst>
            <pc:docMk/>
            <pc:sldMk cId="0" sldId="260"/>
            <ac:grpSpMk id="7" creationId="{355F7E1B-F184-1494-33E9-6B7FDE94BF12}"/>
          </ac:grpSpMkLst>
        </pc:grpChg>
      </pc:sldChg>
      <pc:sldChg chg="addSp modSp">
        <pc:chgData name="Tobias Mourier" userId="e8658e8513740b03" providerId="LiveId" clId="{26F648B5-EF13-52E1-AF0F-D13AE4EC2332}" dt="2026-07-06T10:40:34.160" v="517"/>
        <pc:sldMkLst>
          <pc:docMk/>
          <pc:sldMk cId="0" sldId="262"/>
        </pc:sldMkLst>
        <pc:spChg chg="add mod">
          <ac:chgData name="Tobias Mourier" userId="e8658e8513740b03" providerId="LiveId" clId="{26F648B5-EF13-52E1-AF0F-D13AE4EC2332}" dt="2026-07-06T10:40:34.160" v="517"/>
          <ac:spMkLst>
            <pc:docMk/>
            <pc:sldMk cId="0" sldId="262"/>
            <ac:spMk id="4" creationId="{D528ABC8-AC6E-FFF9-490D-4C003D1EB496}"/>
          </ac:spMkLst>
        </pc:spChg>
        <pc:spChg chg="add mod">
          <ac:chgData name="Tobias Mourier" userId="e8658e8513740b03" providerId="LiveId" clId="{26F648B5-EF13-52E1-AF0F-D13AE4EC2332}" dt="2026-07-06T10:40:34.160" v="517"/>
          <ac:spMkLst>
            <pc:docMk/>
            <pc:sldMk cId="0" sldId="262"/>
            <ac:spMk id="7" creationId="{B761B306-D79E-AC69-9E4F-E60C8D6FB79A}"/>
          </ac:spMkLst>
        </pc:spChg>
      </pc:sldChg>
      <pc:sldChg chg="mod modShow">
        <pc:chgData name="Tobias Mourier" userId="e8658e8513740b03" providerId="LiveId" clId="{26F648B5-EF13-52E1-AF0F-D13AE4EC2332}" dt="2026-07-05T21:38:04.257" v="3" actId="729"/>
        <pc:sldMkLst>
          <pc:docMk/>
          <pc:sldMk cId="0" sldId="265"/>
        </pc:sldMkLst>
      </pc:sldChg>
      <pc:sldChg chg="mod modShow">
        <pc:chgData name="Tobias Mourier" userId="e8658e8513740b03" providerId="LiveId" clId="{26F648B5-EF13-52E1-AF0F-D13AE4EC2332}" dt="2026-07-06T13:45:08.805" v="1284" actId="729"/>
        <pc:sldMkLst>
          <pc:docMk/>
          <pc:sldMk cId="0" sldId="266"/>
        </pc:sldMkLst>
      </pc:sldChg>
      <pc:sldChg chg="delSp mod modAnim">
        <pc:chgData name="Tobias Mourier" userId="e8658e8513740b03" providerId="LiveId" clId="{26F648B5-EF13-52E1-AF0F-D13AE4EC2332}" dt="2026-07-06T08:23:53.391" v="44"/>
        <pc:sldMkLst>
          <pc:docMk/>
          <pc:sldMk cId="3000712335" sldId="269"/>
        </pc:sldMkLst>
        <pc:spChg chg="del">
          <ac:chgData name="Tobias Mourier" userId="e8658e8513740b03" providerId="LiveId" clId="{26F648B5-EF13-52E1-AF0F-D13AE4EC2332}" dt="2026-07-06T08:23:29.559" v="41" actId="478"/>
          <ac:spMkLst>
            <pc:docMk/>
            <pc:sldMk cId="3000712335" sldId="269"/>
            <ac:spMk id="39" creationId="{9B988DCC-8D6F-AC80-C380-D4B3140CEAC7}"/>
          </ac:spMkLst>
        </pc:spChg>
      </pc:sldChg>
      <pc:sldChg chg="addSp delSp modSp mod addAnim delAnim modAnim">
        <pc:chgData name="Tobias Mourier" userId="e8658e8513740b03" providerId="LiveId" clId="{26F648B5-EF13-52E1-AF0F-D13AE4EC2332}" dt="2026-07-06T08:24:14.238" v="46"/>
        <pc:sldMkLst>
          <pc:docMk/>
          <pc:sldMk cId="1445233193" sldId="270"/>
        </pc:sldMkLst>
        <pc:cxnChg chg="add del mod">
          <ac:chgData name="Tobias Mourier" userId="e8658e8513740b03" providerId="LiveId" clId="{26F648B5-EF13-52E1-AF0F-D13AE4EC2332}" dt="2026-07-06T08:21:37.364" v="40" actId="11529"/>
          <ac:cxnSpMkLst>
            <pc:docMk/>
            <pc:sldMk cId="1445233193" sldId="270"/>
            <ac:cxnSpMk id="6" creationId="{7E516998-F489-999C-7212-BEDA99D9A9D4}"/>
          </ac:cxnSpMkLst>
        </pc:cxnChg>
        <pc:cxnChg chg="add del mod">
          <ac:chgData name="Tobias Mourier" userId="e8658e8513740b03" providerId="LiveId" clId="{26F648B5-EF13-52E1-AF0F-D13AE4EC2332}" dt="2026-07-06T08:21:32.819" v="35" actId="478"/>
          <ac:cxnSpMkLst>
            <pc:docMk/>
            <pc:sldMk cId="1445233193" sldId="270"/>
            <ac:cxnSpMk id="27" creationId="{02C62F4B-0BDD-C945-F62F-FEA477E23994}"/>
          </ac:cxnSpMkLst>
        </pc:cxnChg>
        <pc:cxnChg chg="add del mod">
          <ac:chgData name="Tobias Mourier" userId="e8658e8513740b03" providerId="LiveId" clId="{26F648B5-EF13-52E1-AF0F-D13AE4EC2332}" dt="2026-07-06T08:21:29.289" v="27" actId="478"/>
          <ac:cxnSpMkLst>
            <pc:docMk/>
            <pc:sldMk cId="1445233193" sldId="270"/>
            <ac:cxnSpMk id="29" creationId="{7B2029E9-5806-691D-CE44-8ADAC71C2B5A}"/>
          </ac:cxnSpMkLst>
        </pc:cxnChg>
        <pc:cxnChg chg="add del mod">
          <ac:chgData name="Tobias Mourier" userId="e8658e8513740b03" providerId="LiveId" clId="{26F648B5-EF13-52E1-AF0F-D13AE4EC2332}" dt="2026-07-06T08:21:29.129" v="26" actId="478"/>
          <ac:cxnSpMkLst>
            <pc:docMk/>
            <pc:sldMk cId="1445233193" sldId="270"/>
            <ac:cxnSpMk id="31" creationId="{EB6AF2DD-CB03-AD69-FB21-2F0056A7106F}"/>
          </ac:cxnSpMkLst>
        </pc:cxnChg>
        <pc:cxnChg chg="add del mod">
          <ac:chgData name="Tobias Mourier" userId="e8658e8513740b03" providerId="LiveId" clId="{26F648B5-EF13-52E1-AF0F-D13AE4EC2332}" dt="2026-07-06T08:21:30.675" v="31" actId="14100"/>
          <ac:cxnSpMkLst>
            <pc:docMk/>
            <pc:sldMk cId="1445233193" sldId="270"/>
            <ac:cxnSpMk id="32" creationId="{DE267FE8-8D7D-1474-8EDA-E403CAF2B41F}"/>
          </ac:cxnSpMkLst>
        </pc:cxnChg>
        <pc:cxnChg chg="add del mod">
          <ac:chgData name="Tobias Mourier" userId="e8658e8513740b03" providerId="LiveId" clId="{26F648B5-EF13-52E1-AF0F-D13AE4EC2332}" dt="2026-07-06T08:21:33.309" v="36" actId="478"/>
          <ac:cxnSpMkLst>
            <pc:docMk/>
            <pc:sldMk cId="1445233193" sldId="270"/>
            <ac:cxnSpMk id="33" creationId="{515C89FF-BAD1-FF26-A511-19B5E108CBF8}"/>
          </ac:cxnSpMkLst>
        </pc:cxnChg>
      </pc:sldChg>
      <pc:sldChg chg="modAnim">
        <pc:chgData name="Tobias Mourier" userId="e8658e8513740b03" providerId="LiveId" clId="{26F648B5-EF13-52E1-AF0F-D13AE4EC2332}" dt="2026-07-06T08:25:11.418" v="49"/>
        <pc:sldMkLst>
          <pc:docMk/>
          <pc:sldMk cId="1198568747" sldId="271"/>
        </pc:sldMkLst>
      </pc:sldChg>
      <pc:sldChg chg="addSp delSp modSp mod">
        <pc:chgData name="Tobias Mourier" userId="e8658e8513740b03" providerId="LiveId" clId="{26F648B5-EF13-52E1-AF0F-D13AE4EC2332}" dt="2026-07-06T12:50:09.663" v="539" actId="1076"/>
        <pc:sldMkLst>
          <pc:docMk/>
          <pc:sldMk cId="0" sldId="274"/>
        </pc:sldMkLst>
        <pc:picChg chg="add mod">
          <ac:chgData name="Tobias Mourier" userId="e8658e8513740b03" providerId="LiveId" clId="{26F648B5-EF13-52E1-AF0F-D13AE4EC2332}" dt="2026-07-06T12:50:09.663" v="539" actId="1076"/>
          <ac:picMkLst>
            <pc:docMk/>
            <pc:sldMk cId="0" sldId="274"/>
            <ac:picMk id="6" creationId="{CF3FD0C1-9160-5A82-7A39-A11C02485DFD}"/>
          </ac:picMkLst>
        </pc:picChg>
        <pc:picChg chg="del mod">
          <ac:chgData name="Tobias Mourier" userId="e8658e8513740b03" providerId="LiveId" clId="{26F648B5-EF13-52E1-AF0F-D13AE4EC2332}" dt="2026-07-06T12:49:46.971" v="534" actId="478"/>
          <ac:picMkLst>
            <pc:docMk/>
            <pc:sldMk cId="0" sldId="274"/>
            <ac:picMk id="12" creationId="{C766B6D6-D0B1-7C63-3304-0AF47B33BBA7}"/>
          </ac:picMkLst>
        </pc:picChg>
      </pc:sldChg>
      <pc:sldChg chg="mod modShow">
        <pc:chgData name="Tobias Mourier" userId="e8658e8513740b03" providerId="LiveId" clId="{26F648B5-EF13-52E1-AF0F-D13AE4EC2332}" dt="2026-07-05T21:37:51.790" v="2" actId="729"/>
        <pc:sldMkLst>
          <pc:docMk/>
          <pc:sldMk cId="0" sldId="276"/>
        </pc:sldMkLst>
      </pc:sldChg>
      <pc:sldChg chg="mod modShow">
        <pc:chgData name="Tobias Mourier" userId="e8658e8513740b03" providerId="LiveId" clId="{26F648B5-EF13-52E1-AF0F-D13AE4EC2332}" dt="2026-07-05T21:37:49.012" v="1" actId="729"/>
        <pc:sldMkLst>
          <pc:docMk/>
          <pc:sldMk cId="0" sldId="279"/>
        </pc:sldMkLst>
      </pc:sldChg>
      <pc:sldChg chg="addSp modSp mod">
        <pc:chgData name="Tobias Mourier" userId="e8658e8513740b03" providerId="LiveId" clId="{26F648B5-EF13-52E1-AF0F-D13AE4EC2332}" dt="2026-07-06T14:22:55.230" v="2021" actId="108"/>
        <pc:sldMkLst>
          <pc:docMk/>
          <pc:sldMk cId="0" sldId="285"/>
        </pc:sldMkLst>
        <pc:spChg chg="add mod">
          <ac:chgData name="Tobias Mourier" userId="e8658e8513740b03" providerId="LiveId" clId="{26F648B5-EF13-52E1-AF0F-D13AE4EC2332}" dt="2026-07-06T10:41:20.075" v="518"/>
          <ac:spMkLst>
            <pc:docMk/>
            <pc:sldMk cId="0" sldId="285"/>
            <ac:spMk id="7" creationId="{F48F8FA3-DCA2-60E4-6D8C-B60E83EA1C93}"/>
          </ac:spMkLst>
        </pc:spChg>
        <pc:spChg chg="mod">
          <ac:chgData name="Tobias Mourier" userId="e8658e8513740b03" providerId="LiveId" clId="{26F648B5-EF13-52E1-AF0F-D13AE4EC2332}" dt="2026-07-06T14:22:55.230" v="2021" actId="108"/>
          <ac:spMkLst>
            <pc:docMk/>
            <pc:sldMk cId="0" sldId="285"/>
            <ac:spMk id="14" creationId="{00000000-0000-0000-0000-000000000000}"/>
          </ac:spMkLst>
        </pc:spChg>
      </pc:sldChg>
      <pc:sldChg chg="addSp modSp modAnim">
        <pc:chgData name="Tobias Mourier" userId="e8658e8513740b03" providerId="LiveId" clId="{26F648B5-EF13-52E1-AF0F-D13AE4EC2332}" dt="2026-07-06T10:36:15.664" v="515"/>
        <pc:sldMkLst>
          <pc:docMk/>
          <pc:sldMk cId="878804306" sldId="286"/>
        </pc:sldMkLst>
        <pc:spChg chg="add mod">
          <ac:chgData name="Tobias Mourier" userId="e8658e8513740b03" providerId="LiveId" clId="{26F648B5-EF13-52E1-AF0F-D13AE4EC2332}" dt="2026-07-06T10:36:15.664" v="515"/>
          <ac:spMkLst>
            <pc:docMk/>
            <pc:sldMk cId="878804306" sldId="286"/>
            <ac:spMk id="3" creationId="{11FFFB88-D877-5BEB-0C80-72BE2B982373}"/>
          </ac:spMkLst>
        </pc:spChg>
        <pc:spChg chg="add mod">
          <ac:chgData name="Tobias Mourier" userId="e8658e8513740b03" providerId="LiveId" clId="{26F648B5-EF13-52E1-AF0F-D13AE4EC2332}" dt="2026-07-06T10:36:15.664" v="515"/>
          <ac:spMkLst>
            <pc:docMk/>
            <pc:sldMk cId="878804306" sldId="286"/>
            <ac:spMk id="6" creationId="{62573C96-E8D3-4626-5DB5-3625293A6457}"/>
          </ac:spMkLst>
        </pc:spChg>
        <pc:spChg chg="add mod">
          <ac:chgData name="Tobias Mourier" userId="e8658e8513740b03" providerId="LiveId" clId="{26F648B5-EF13-52E1-AF0F-D13AE4EC2332}" dt="2026-07-06T10:36:15.664" v="515"/>
          <ac:spMkLst>
            <pc:docMk/>
            <pc:sldMk cId="878804306" sldId="286"/>
            <ac:spMk id="7" creationId="{FA7CB7D0-6D57-97AC-1511-7F01D26581A5}"/>
          </ac:spMkLst>
        </pc:spChg>
      </pc:sldChg>
      <pc:sldChg chg="addSp delSp modSp del mod">
        <pc:chgData name="Tobias Mourier" userId="e8658e8513740b03" providerId="LiveId" clId="{26F648B5-EF13-52E1-AF0F-D13AE4EC2332}" dt="2026-07-06T13:42:41.123" v="1281"/>
        <pc:sldMkLst>
          <pc:docMk/>
          <pc:sldMk cId="719069756" sldId="290"/>
        </pc:sldMkLst>
        <pc:spChg chg="mod">
          <ac:chgData name="Tobias Mourier" userId="e8658e8513740b03" providerId="LiveId" clId="{26F648B5-EF13-52E1-AF0F-D13AE4EC2332}" dt="2026-07-06T13:17:49.742" v="916" actId="14100"/>
          <ac:spMkLst>
            <pc:docMk/>
            <pc:sldMk cId="719069756" sldId="290"/>
            <ac:spMk id="7" creationId="{00000000-0000-0000-0000-000000000000}"/>
          </ac:spMkLst>
        </pc:spChg>
        <pc:spChg chg="mod">
          <ac:chgData name="Tobias Mourier" userId="e8658e8513740b03" providerId="LiveId" clId="{26F648B5-EF13-52E1-AF0F-D13AE4EC2332}" dt="2026-07-06T13:17:49.742" v="916" actId="14100"/>
          <ac:spMkLst>
            <pc:docMk/>
            <pc:sldMk cId="719069756" sldId="290"/>
            <ac:spMk id="8" creationId="{00000000-0000-0000-0000-000000000000}"/>
          </ac:spMkLst>
        </pc:spChg>
        <pc:spChg chg="mod">
          <ac:chgData name="Tobias Mourier" userId="e8658e8513740b03" providerId="LiveId" clId="{26F648B5-EF13-52E1-AF0F-D13AE4EC2332}" dt="2026-07-06T13:14:43.572" v="671" actId="14100"/>
          <ac:spMkLst>
            <pc:docMk/>
            <pc:sldMk cId="719069756" sldId="290"/>
            <ac:spMk id="9" creationId="{6531892E-E5F6-2C35-CACB-992F5F84BFCF}"/>
          </ac:spMkLst>
        </pc:spChg>
        <pc:spChg chg="mod">
          <ac:chgData name="Tobias Mourier" userId="e8658e8513740b03" providerId="LiveId" clId="{26F648B5-EF13-52E1-AF0F-D13AE4EC2332}" dt="2026-07-06T13:15:31.691" v="757" actId="1036"/>
          <ac:spMkLst>
            <pc:docMk/>
            <pc:sldMk cId="719069756" sldId="290"/>
            <ac:spMk id="10" creationId="{BCE3EBD0-AD79-50B7-7404-5515ADA9196A}"/>
          </ac:spMkLst>
        </pc:spChg>
        <pc:spChg chg="mod">
          <ac:chgData name="Tobias Mourier" userId="e8658e8513740b03" providerId="LiveId" clId="{26F648B5-EF13-52E1-AF0F-D13AE4EC2332}" dt="2026-07-06T13:14:47.791" v="680" actId="1036"/>
          <ac:spMkLst>
            <pc:docMk/>
            <pc:sldMk cId="719069756" sldId="290"/>
            <ac:spMk id="11" creationId="{60D3C51D-A5EE-2DF4-1AF8-A036A56DBC43}"/>
          </ac:spMkLst>
        </pc:spChg>
        <pc:spChg chg="mod">
          <ac:chgData name="Tobias Mourier" userId="e8658e8513740b03" providerId="LiveId" clId="{26F648B5-EF13-52E1-AF0F-D13AE4EC2332}" dt="2026-07-06T13:15:31.691" v="757" actId="1036"/>
          <ac:spMkLst>
            <pc:docMk/>
            <pc:sldMk cId="719069756" sldId="290"/>
            <ac:spMk id="12" creationId="{8D70BE7B-0330-0FEC-2C6D-55A52B1DE595}"/>
          </ac:spMkLst>
        </pc:spChg>
        <pc:spChg chg="mod">
          <ac:chgData name="Tobias Mourier" userId="e8658e8513740b03" providerId="LiveId" clId="{26F648B5-EF13-52E1-AF0F-D13AE4EC2332}" dt="2026-07-06T13:15:31.691" v="757" actId="1036"/>
          <ac:spMkLst>
            <pc:docMk/>
            <pc:sldMk cId="719069756" sldId="290"/>
            <ac:spMk id="15" creationId="{C1FEEA0A-C4FF-ED6F-8259-166B5980C00C}"/>
          </ac:spMkLst>
        </pc:spChg>
        <pc:spChg chg="mod">
          <ac:chgData name="Tobias Mourier" userId="e8658e8513740b03" providerId="LiveId" clId="{26F648B5-EF13-52E1-AF0F-D13AE4EC2332}" dt="2026-07-06T13:16:24.065" v="859" actId="14100"/>
          <ac:spMkLst>
            <pc:docMk/>
            <pc:sldMk cId="719069756" sldId="290"/>
            <ac:spMk id="16" creationId="{6DE35A49-C59A-3A9F-EE18-2EA59EFC0865}"/>
          </ac:spMkLst>
        </pc:spChg>
        <pc:spChg chg="mod">
          <ac:chgData name="Tobias Mourier" userId="e8658e8513740b03" providerId="LiveId" clId="{26F648B5-EF13-52E1-AF0F-D13AE4EC2332}" dt="2026-07-06T13:18:24.902" v="972" actId="1036"/>
          <ac:spMkLst>
            <pc:docMk/>
            <pc:sldMk cId="719069756" sldId="290"/>
            <ac:spMk id="17" creationId="{99978DA7-15D6-A869-313A-E4F473F9E570}"/>
          </ac:spMkLst>
        </pc:spChg>
        <pc:spChg chg="mod">
          <ac:chgData name="Tobias Mourier" userId="e8658e8513740b03" providerId="LiveId" clId="{26F648B5-EF13-52E1-AF0F-D13AE4EC2332}" dt="2026-07-06T13:18:29.766" v="980" actId="1036"/>
          <ac:spMkLst>
            <pc:docMk/>
            <pc:sldMk cId="719069756" sldId="290"/>
            <ac:spMk id="18" creationId="{E4DE2916-68B9-1B92-B272-5971D4327050}"/>
          </ac:spMkLst>
        </pc:spChg>
        <pc:spChg chg="add mod">
          <ac:chgData name="Tobias Mourier" userId="e8658e8513740b03" providerId="LiveId" clId="{26F648B5-EF13-52E1-AF0F-D13AE4EC2332}" dt="2026-07-06T13:18:05.254" v="937" actId="1035"/>
          <ac:spMkLst>
            <pc:docMk/>
            <pc:sldMk cId="719069756" sldId="290"/>
            <ac:spMk id="19" creationId="{A5B3359A-E685-1A4B-C1D1-08867E23B201}"/>
          </ac:spMkLst>
        </pc:spChg>
        <pc:spChg chg="add del mod">
          <ac:chgData name="Tobias Mourier" userId="e8658e8513740b03" providerId="LiveId" clId="{26F648B5-EF13-52E1-AF0F-D13AE4EC2332}" dt="2026-07-06T13:17:02.292" v="900" actId="478"/>
          <ac:spMkLst>
            <pc:docMk/>
            <pc:sldMk cId="719069756" sldId="290"/>
            <ac:spMk id="20" creationId="{7D782918-0C46-3F9F-3FFA-9DD673D6959F}"/>
          </ac:spMkLst>
        </pc:spChg>
        <pc:spChg chg="add mod">
          <ac:chgData name="Tobias Mourier" userId="e8658e8513740b03" providerId="LiveId" clId="{26F648B5-EF13-52E1-AF0F-D13AE4EC2332}" dt="2026-07-06T13:20:27.457" v="1055" actId="164"/>
          <ac:spMkLst>
            <pc:docMk/>
            <pc:sldMk cId="719069756" sldId="290"/>
            <ac:spMk id="21" creationId="{9F6AF40A-C524-5472-4C84-956504C37BEA}"/>
          </ac:spMkLst>
        </pc:spChg>
        <pc:spChg chg="add mod">
          <ac:chgData name="Tobias Mourier" userId="e8658e8513740b03" providerId="LiveId" clId="{26F648B5-EF13-52E1-AF0F-D13AE4EC2332}" dt="2026-07-06T13:20:27.457" v="1055" actId="164"/>
          <ac:spMkLst>
            <pc:docMk/>
            <pc:sldMk cId="719069756" sldId="290"/>
            <ac:spMk id="22" creationId="{A2D91EC6-9276-3529-5CAA-D3E84B61CAA9}"/>
          </ac:spMkLst>
        </pc:spChg>
        <pc:spChg chg="add mod">
          <ac:chgData name="Tobias Mourier" userId="e8658e8513740b03" providerId="LiveId" clId="{26F648B5-EF13-52E1-AF0F-D13AE4EC2332}" dt="2026-07-06T13:20:38.343" v="1056" actId="164"/>
          <ac:spMkLst>
            <pc:docMk/>
            <pc:sldMk cId="719069756" sldId="290"/>
            <ac:spMk id="23" creationId="{6FDC6EE3-E7F2-ED00-135A-44C9F90B4D19}"/>
          </ac:spMkLst>
        </pc:spChg>
        <pc:spChg chg="add mod">
          <ac:chgData name="Tobias Mourier" userId="e8658e8513740b03" providerId="LiveId" clId="{26F648B5-EF13-52E1-AF0F-D13AE4EC2332}" dt="2026-07-06T13:20:38.343" v="1056" actId="164"/>
          <ac:spMkLst>
            <pc:docMk/>
            <pc:sldMk cId="719069756" sldId="290"/>
            <ac:spMk id="24" creationId="{6946D516-6B77-EE33-B974-C9053B380BE3}"/>
          </ac:spMkLst>
        </pc:spChg>
        <pc:spChg chg="mod">
          <ac:chgData name="Tobias Mourier" userId="e8658e8513740b03" providerId="LiveId" clId="{26F648B5-EF13-52E1-AF0F-D13AE4EC2332}" dt="2026-07-06T13:15:31.691" v="757" actId="1036"/>
          <ac:spMkLst>
            <pc:docMk/>
            <pc:sldMk cId="719069756" sldId="290"/>
            <ac:spMk id="602" creationId="{00000000-0000-0000-0000-000000000000}"/>
          </ac:spMkLst>
        </pc:spChg>
        <pc:spChg chg="mod">
          <ac:chgData name="Tobias Mourier" userId="e8658e8513740b03" providerId="LiveId" clId="{26F648B5-EF13-52E1-AF0F-D13AE4EC2332}" dt="2026-07-06T13:15:31.691" v="757" actId="1036"/>
          <ac:spMkLst>
            <pc:docMk/>
            <pc:sldMk cId="719069756" sldId="290"/>
            <ac:spMk id="603" creationId="{00000000-0000-0000-0000-000000000000}"/>
          </ac:spMkLst>
        </pc:spChg>
        <pc:spChg chg="mod">
          <ac:chgData name="Tobias Mourier" userId="e8658e8513740b03" providerId="LiveId" clId="{26F648B5-EF13-52E1-AF0F-D13AE4EC2332}" dt="2026-07-06T13:15:31.691" v="757" actId="1036"/>
          <ac:spMkLst>
            <pc:docMk/>
            <pc:sldMk cId="719069756" sldId="290"/>
            <ac:spMk id="604" creationId="{00000000-0000-0000-0000-000000000000}"/>
          </ac:spMkLst>
        </pc:spChg>
        <pc:grpChg chg="add mod">
          <ac:chgData name="Tobias Mourier" userId="e8658e8513740b03" providerId="LiveId" clId="{26F648B5-EF13-52E1-AF0F-D13AE4EC2332}" dt="2026-07-06T13:17:56.207" v="917" actId="14100"/>
          <ac:grpSpMkLst>
            <pc:docMk/>
            <pc:sldMk cId="719069756" sldId="290"/>
            <ac:grpSpMk id="13" creationId="{B0B059F5-B5AC-3CB4-F65E-3E6DC21331CE}"/>
          </ac:grpSpMkLst>
        </pc:grpChg>
        <pc:grpChg chg="del">
          <ac:chgData name="Tobias Mourier" userId="e8658e8513740b03" providerId="LiveId" clId="{26F648B5-EF13-52E1-AF0F-D13AE4EC2332}" dt="2026-07-06T13:15:07.154" v="735" actId="478"/>
          <ac:grpSpMkLst>
            <pc:docMk/>
            <pc:sldMk cId="719069756" sldId="290"/>
            <ac:grpSpMk id="14" creationId="{495AFE09-C7B8-A0EF-8763-C41569A99F8E}"/>
          </ac:grpSpMkLst>
        </pc:grpChg>
        <pc:grpChg chg="add mod">
          <ac:chgData name="Tobias Mourier" userId="e8658e8513740b03" providerId="LiveId" clId="{26F648B5-EF13-52E1-AF0F-D13AE4EC2332}" dt="2026-07-06T13:20:27.457" v="1055" actId="164"/>
          <ac:grpSpMkLst>
            <pc:docMk/>
            <pc:sldMk cId="719069756" sldId="290"/>
            <ac:grpSpMk id="25" creationId="{5967A5ED-A9BC-04E5-1914-3DEE977FDE7E}"/>
          </ac:grpSpMkLst>
        </pc:grpChg>
        <pc:grpChg chg="add mod">
          <ac:chgData name="Tobias Mourier" userId="e8658e8513740b03" providerId="LiveId" clId="{26F648B5-EF13-52E1-AF0F-D13AE4EC2332}" dt="2026-07-06T13:20:38.343" v="1056" actId="164"/>
          <ac:grpSpMkLst>
            <pc:docMk/>
            <pc:sldMk cId="719069756" sldId="290"/>
            <ac:grpSpMk id="26" creationId="{22D0CEE1-2B58-6C0A-AE64-ECFD22E61926}"/>
          </ac:grpSpMkLst>
        </pc:grpChg>
        <pc:graphicFrameChg chg="mod">
          <ac:chgData name="Tobias Mourier" userId="e8658e8513740b03" providerId="LiveId" clId="{26F648B5-EF13-52E1-AF0F-D13AE4EC2332}" dt="2026-07-06T13:27:32.028" v="1208" actId="207"/>
          <ac:graphicFrameMkLst>
            <pc:docMk/>
            <pc:sldMk cId="719069756" sldId="290"/>
            <ac:graphicFrameMk id="501" creationId="{00000000-0000-0000-0000-000000000000}"/>
          </ac:graphicFrameMkLst>
        </pc:graphicFrameChg>
        <pc:cxnChg chg="mod">
          <ac:chgData name="Tobias Mourier" userId="e8658e8513740b03" providerId="LiveId" clId="{26F648B5-EF13-52E1-AF0F-D13AE4EC2332}" dt="2026-07-06T13:15:31.691" v="757" actId="1036"/>
          <ac:cxnSpMkLst>
            <pc:docMk/>
            <pc:sldMk cId="719069756" sldId="290"/>
            <ac:cxnSpMk id="601" creationId="{00000000-0000-0000-0000-000000000000}"/>
          </ac:cxnSpMkLst>
        </pc:cxnChg>
      </pc:sldChg>
      <pc:sldChg chg="addSp delSp modSp del mod modAnim">
        <pc:chgData name="Tobias Mourier" userId="e8658e8513740b03" providerId="LiveId" clId="{26F648B5-EF13-52E1-AF0F-D13AE4EC2332}" dt="2026-07-06T14:08:26.305" v="1935"/>
        <pc:sldMkLst>
          <pc:docMk/>
          <pc:sldMk cId="373924233" sldId="292"/>
        </pc:sldMkLst>
        <pc:spChg chg="add mod">
          <ac:chgData name="Tobias Mourier" userId="e8658e8513740b03" providerId="LiveId" clId="{26F648B5-EF13-52E1-AF0F-D13AE4EC2332}" dt="2026-07-06T13:39:05.014" v="1261"/>
          <ac:spMkLst>
            <pc:docMk/>
            <pc:sldMk cId="373924233" sldId="292"/>
            <ac:spMk id="8" creationId="{F10C6E6C-0361-0458-2753-AEA7004F83AD}"/>
          </ac:spMkLst>
        </pc:spChg>
        <pc:spChg chg="del">
          <ac:chgData name="Tobias Mourier" userId="e8658e8513740b03" providerId="LiveId" clId="{26F648B5-EF13-52E1-AF0F-D13AE4EC2332}" dt="2026-07-06T14:05:49.437" v="1758" actId="478"/>
          <ac:spMkLst>
            <pc:docMk/>
            <pc:sldMk cId="373924233" sldId="292"/>
            <ac:spMk id="10" creationId="{1C4BD6DF-0E74-E353-88FB-94DD8C069095}"/>
          </ac:spMkLst>
        </pc:spChg>
        <pc:spChg chg="add del mod">
          <ac:chgData name="Tobias Mourier" userId="e8658e8513740b03" providerId="LiveId" clId="{26F648B5-EF13-52E1-AF0F-D13AE4EC2332}" dt="2026-07-06T13:39:18.103" v="1264" actId="478"/>
          <ac:spMkLst>
            <pc:docMk/>
            <pc:sldMk cId="373924233" sldId="292"/>
            <ac:spMk id="12" creationId="{3C0BAD72-58A4-FC7B-5168-695C04556FBF}"/>
          </ac:spMkLst>
        </pc:spChg>
        <pc:spChg chg="del">
          <ac:chgData name="Tobias Mourier" userId="e8658e8513740b03" providerId="LiveId" clId="{26F648B5-EF13-52E1-AF0F-D13AE4EC2332}" dt="2026-07-06T13:39:15.469" v="1263" actId="478"/>
          <ac:spMkLst>
            <pc:docMk/>
            <pc:sldMk cId="373924233" sldId="292"/>
            <ac:spMk id="13" creationId="{AD42079C-DA00-E929-46EC-33148230D956}"/>
          </ac:spMkLst>
        </pc:spChg>
        <pc:spChg chg="mod">
          <ac:chgData name="Tobias Mourier" userId="e8658e8513740b03" providerId="LiveId" clId="{26F648B5-EF13-52E1-AF0F-D13AE4EC2332}" dt="2026-07-06T13:39:33.953" v="1279" actId="1076"/>
          <ac:spMkLst>
            <pc:docMk/>
            <pc:sldMk cId="373924233" sldId="292"/>
            <ac:spMk id="15" creationId="{46A8EF8F-C624-FA76-5BD4-923FC1C4789A}"/>
          </ac:spMkLst>
        </pc:spChg>
        <pc:spChg chg="mod">
          <ac:chgData name="Tobias Mourier" userId="e8658e8513740b03" providerId="LiveId" clId="{26F648B5-EF13-52E1-AF0F-D13AE4EC2332}" dt="2026-07-06T14:08:12.491" v="1930" actId="166"/>
          <ac:spMkLst>
            <pc:docMk/>
            <pc:sldMk cId="373924233" sldId="292"/>
            <ac:spMk id="23" creationId="{C87BF89A-9103-67D6-1DF8-54636BA18E65}"/>
          </ac:spMkLst>
        </pc:spChg>
        <pc:spChg chg="mod">
          <ac:chgData name="Tobias Mourier" userId="e8658e8513740b03" providerId="LiveId" clId="{26F648B5-EF13-52E1-AF0F-D13AE4EC2332}" dt="2026-07-06T13:39:05.014" v="1261"/>
          <ac:spMkLst>
            <pc:docMk/>
            <pc:sldMk cId="373924233" sldId="292"/>
            <ac:spMk id="25" creationId="{27FBEBDD-09FF-CC62-4CF4-6C37F06C9FE4}"/>
          </ac:spMkLst>
        </pc:spChg>
        <pc:spChg chg="mod">
          <ac:chgData name="Tobias Mourier" userId="e8658e8513740b03" providerId="LiveId" clId="{26F648B5-EF13-52E1-AF0F-D13AE4EC2332}" dt="2026-07-06T13:39:05.014" v="1261"/>
          <ac:spMkLst>
            <pc:docMk/>
            <pc:sldMk cId="373924233" sldId="292"/>
            <ac:spMk id="26" creationId="{1E36D3AF-241F-A235-0744-47E6E1F5A790}"/>
          </ac:spMkLst>
        </pc:spChg>
        <pc:spChg chg="mod">
          <ac:chgData name="Tobias Mourier" userId="e8658e8513740b03" providerId="LiveId" clId="{26F648B5-EF13-52E1-AF0F-D13AE4EC2332}" dt="2026-07-06T13:39:05.014" v="1261"/>
          <ac:spMkLst>
            <pc:docMk/>
            <pc:sldMk cId="373924233" sldId="292"/>
            <ac:spMk id="27" creationId="{C24ECB89-B2AF-460D-63AA-2AED42D4FD62}"/>
          </ac:spMkLst>
        </pc:spChg>
        <pc:spChg chg="add mod">
          <ac:chgData name="Tobias Mourier" userId="e8658e8513740b03" providerId="LiveId" clId="{26F648B5-EF13-52E1-AF0F-D13AE4EC2332}" dt="2026-07-06T13:39:05.014" v="1261"/>
          <ac:spMkLst>
            <pc:docMk/>
            <pc:sldMk cId="373924233" sldId="292"/>
            <ac:spMk id="28" creationId="{2C1F35D9-F88E-E5AD-2F91-B2A105800910}"/>
          </ac:spMkLst>
        </pc:spChg>
        <pc:spChg chg="mod">
          <ac:chgData name="Tobias Mourier" userId="e8658e8513740b03" providerId="LiveId" clId="{26F648B5-EF13-52E1-AF0F-D13AE4EC2332}" dt="2026-07-06T13:39:05.014" v="1261"/>
          <ac:spMkLst>
            <pc:docMk/>
            <pc:sldMk cId="373924233" sldId="292"/>
            <ac:spMk id="30" creationId="{1AE2473C-B7A2-2207-665E-9BAAD252072C}"/>
          </ac:spMkLst>
        </pc:spChg>
        <pc:spChg chg="mod">
          <ac:chgData name="Tobias Mourier" userId="e8658e8513740b03" providerId="LiveId" clId="{26F648B5-EF13-52E1-AF0F-D13AE4EC2332}" dt="2026-07-06T13:39:05.014" v="1261"/>
          <ac:spMkLst>
            <pc:docMk/>
            <pc:sldMk cId="373924233" sldId="292"/>
            <ac:spMk id="31" creationId="{A1A564CE-8E71-DD8B-87F8-CDF31163B294}"/>
          </ac:spMkLst>
        </pc:spChg>
        <pc:spChg chg="mod">
          <ac:chgData name="Tobias Mourier" userId="e8658e8513740b03" providerId="LiveId" clId="{26F648B5-EF13-52E1-AF0F-D13AE4EC2332}" dt="2026-07-06T13:39:05.014" v="1261"/>
          <ac:spMkLst>
            <pc:docMk/>
            <pc:sldMk cId="373924233" sldId="292"/>
            <ac:spMk id="33" creationId="{BE5A3158-8EE3-0630-615B-BF40EE7A2F2C}"/>
          </ac:spMkLst>
        </pc:spChg>
        <pc:spChg chg="mod">
          <ac:chgData name="Tobias Mourier" userId="e8658e8513740b03" providerId="LiveId" clId="{26F648B5-EF13-52E1-AF0F-D13AE4EC2332}" dt="2026-07-06T13:39:05.014" v="1261"/>
          <ac:spMkLst>
            <pc:docMk/>
            <pc:sldMk cId="373924233" sldId="292"/>
            <ac:spMk id="34" creationId="{84F1AE26-EBDD-15E1-7B5C-ACD347A5B51C}"/>
          </ac:spMkLst>
        </pc:spChg>
        <pc:spChg chg="add del mod">
          <ac:chgData name="Tobias Mourier" userId="e8658e8513740b03" providerId="LiveId" clId="{26F648B5-EF13-52E1-AF0F-D13AE4EC2332}" dt="2026-07-06T14:05:19.164" v="1757" actId="478"/>
          <ac:spMkLst>
            <pc:docMk/>
            <pc:sldMk cId="373924233" sldId="292"/>
            <ac:spMk id="38" creationId="{CF1BA31A-7B75-8D19-3EAB-6D35DA23A0CA}"/>
          </ac:spMkLst>
        </pc:spChg>
        <pc:spChg chg="add del mod">
          <ac:chgData name="Tobias Mourier" userId="e8658e8513740b03" providerId="LiveId" clId="{26F648B5-EF13-52E1-AF0F-D13AE4EC2332}" dt="2026-07-06T14:07:38.019" v="1929" actId="478"/>
          <ac:spMkLst>
            <pc:docMk/>
            <pc:sldMk cId="373924233" sldId="292"/>
            <ac:spMk id="39" creationId="{0225B056-D055-5D64-61D0-EAC3D72E0D75}"/>
          </ac:spMkLst>
        </pc:spChg>
        <pc:spChg chg="add del mod">
          <ac:chgData name="Tobias Mourier" userId="e8658e8513740b03" providerId="LiveId" clId="{26F648B5-EF13-52E1-AF0F-D13AE4EC2332}" dt="2026-07-06T14:05:11.605" v="1756" actId="478"/>
          <ac:spMkLst>
            <pc:docMk/>
            <pc:sldMk cId="373924233" sldId="292"/>
            <ac:spMk id="40" creationId="{D99EA5FA-C221-A44D-5657-C52D0F36FF70}"/>
          </ac:spMkLst>
        </pc:spChg>
        <pc:spChg chg="add mod">
          <ac:chgData name="Tobias Mourier" userId="e8658e8513740b03" providerId="LiveId" clId="{26F648B5-EF13-52E1-AF0F-D13AE4EC2332}" dt="2026-07-06T14:08:25.582" v="1933"/>
          <ac:spMkLst>
            <pc:docMk/>
            <pc:sldMk cId="373924233" sldId="292"/>
            <ac:spMk id="41" creationId="{AFEAFC05-8BF3-8A7E-3EBF-D2FC5D27D532}"/>
          </ac:spMkLst>
        </pc:spChg>
        <pc:spChg chg="add del mod">
          <ac:chgData name="Tobias Mourier" userId="e8658e8513740b03" providerId="LiveId" clId="{26F648B5-EF13-52E1-AF0F-D13AE4EC2332}" dt="2026-07-06T14:07:38.019" v="1929" actId="478"/>
          <ac:spMkLst>
            <pc:docMk/>
            <pc:sldMk cId="373924233" sldId="292"/>
            <ac:spMk id="42" creationId="{F849CCA0-5028-1933-4E69-C6F40A792D72}"/>
          </ac:spMkLst>
        </pc:spChg>
        <pc:spChg chg="add mod">
          <ac:chgData name="Tobias Mourier" userId="e8658e8513740b03" providerId="LiveId" clId="{26F648B5-EF13-52E1-AF0F-D13AE4EC2332}" dt="2026-07-06T14:04:49.116" v="1748"/>
          <ac:spMkLst>
            <pc:docMk/>
            <pc:sldMk cId="373924233" sldId="292"/>
            <ac:spMk id="43" creationId="{4885313F-50B7-E329-17EE-1F28550D720F}"/>
          </ac:spMkLst>
        </pc:spChg>
        <pc:graphicFrameChg chg="add del mod">
          <ac:chgData name="Tobias Mourier" userId="e8658e8513740b03" providerId="LiveId" clId="{26F648B5-EF13-52E1-AF0F-D13AE4EC2332}" dt="2026-07-06T14:04:43.815" v="1746" actId="478"/>
          <ac:graphicFrameMkLst>
            <pc:docMk/>
            <pc:sldMk cId="373924233" sldId="292"/>
            <ac:graphicFrameMk id="35" creationId="{8A284513-B9A0-8C43-0375-655F7C71B1B5}"/>
          </ac:graphicFrameMkLst>
        </pc:graphicFrameChg>
        <pc:graphicFrameChg chg="add mod">
          <ac:chgData name="Tobias Mourier" userId="e8658e8513740b03" providerId="LiveId" clId="{26F648B5-EF13-52E1-AF0F-D13AE4EC2332}" dt="2026-07-06T14:04:49.116" v="1748"/>
          <ac:graphicFrameMkLst>
            <pc:docMk/>
            <pc:sldMk cId="373924233" sldId="292"/>
            <ac:graphicFrameMk id="36" creationId="{0C8DE589-0BBE-51AF-0D88-BA8B2B24FBBA}"/>
          </ac:graphicFrameMkLst>
        </pc:graphicFrameChg>
        <pc:graphicFrameChg chg="del">
          <ac:chgData name="Tobias Mourier" userId="e8658e8513740b03" providerId="LiveId" clId="{26F648B5-EF13-52E1-AF0F-D13AE4EC2332}" dt="2026-07-06T14:04:46.503" v="1747" actId="478"/>
          <ac:graphicFrameMkLst>
            <pc:docMk/>
            <pc:sldMk cId="373924233" sldId="292"/>
            <ac:graphicFrameMk id="501" creationId="{0DB63EAD-7534-C947-73C8-21E9ED7ECC05}"/>
          </ac:graphicFrameMkLst>
        </pc:graphicFrameChg>
        <pc:cxnChg chg="mod">
          <ac:chgData name="Tobias Mourier" userId="e8658e8513740b03" providerId="LiveId" clId="{26F648B5-EF13-52E1-AF0F-D13AE4EC2332}" dt="2026-07-06T14:08:12.491" v="1930" actId="166"/>
          <ac:cxnSpMkLst>
            <pc:docMk/>
            <pc:sldMk cId="373924233" sldId="292"/>
            <ac:cxnSpMk id="20" creationId="{8E0D388A-CBE1-9C2D-34B8-9286DBBAA726}"/>
          </ac:cxnSpMkLst>
        </pc:cxnChg>
        <pc:cxnChg chg="mod">
          <ac:chgData name="Tobias Mourier" userId="e8658e8513740b03" providerId="LiveId" clId="{26F648B5-EF13-52E1-AF0F-D13AE4EC2332}" dt="2026-07-06T14:08:12.491" v="1930" actId="166"/>
          <ac:cxnSpMkLst>
            <pc:docMk/>
            <pc:sldMk cId="373924233" sldId="292"/>
            <ac:cxnSpMk id="21" creationId="{7BCCC8BC-B819-BDD5-BBA1-C1BDD7635CA8}"/>
          </ac:cxnSpMkLst>
        </pc:cxnChg>
        <pc:cxnChg chg="del mod">
          <ac:chgData name="Tobias Mourier" userId="e8658e8513740b03" providerId="LiveId" clId="{26F648B5-EF13-52E1-AF0F-D13AE4EC2332}" dt="2026-07-06T14:06:55.029" v="1846" actId="478"/>
          <ac:cxnSpMkLst>
            <pc:docMk/>
            <pc:sldMk cId="373924233" sldId="292"/>
            <ac:cxnSpMk id="22" creationId="{77CA50E0-7F4F-750A-F3A1-267108A9FBEA}"/>
          </ac:cxnSpMkLst>
        </pc:cxnChg>
        <pc:cxnChg chg="add mod">
          <ac:chgData name="Tobias Mourier" userId="e8658e8513740b03" providerId="LiveId" clId="{26F648B5-EF13-52E1-AF0F-D13AE4EC2332}" dt="2026-07-06T14:04:49.116" v="1748"/>
          <ac:cxnSpMkLst>
            <pc:docMk/>
            <pc:sldMk cId="373924233" sldId="292"/>
            <ac:cxnSpMk id="37" creationId="{9F4F457C-2636-E957-2735-02002288E7BA}"/>
          </ac:cxnSpMkLst>
        </pc:cxnChg>
        <pc:cxnChg chg="del">
          <ac:chgData name="Tobias Mourier" userId="e8658e8513740b03" providerId="LiveId" clId="{26F648B5-EF13-52E1-AF0F-D13AE4EC2332}" dt="2026-07-06T14:05:49.437" v="1758" actId="478"/>
          <ac:cxnSpMkLst>
            <pc:docMk/>
            <pc:sldMk cId="373924233" sldId="292"/>
            <ac:cxnSpMk id="601" creationId="{83F66AAD-09A2-1A17-F313-5CF3F3B7EF12}"/>
          </ac:cxnSpMkLst>
        </pc:cxnChg>
      </pc:sldChg>
      <pc:sldChg chg="modSp mod">
        <pc:chgData name="Tobias Mourier" userId="e8658e8513740b03" providerId="LiveId" clId="{26F648B5-EF13-52E1-AF0F-D13AE4EC2332}" dt="2026-07-06T11:03:24.426" v="529" actId="20577"/>
        <pc:sldMkLst>
          <pc:docMk/>
          <pc:sldMk cId="0" sldId="294"/>
        </pc:sldMkLst>
        <pc:spChg chg="mod">
          <ac:chgData name="Tobias Mourier" userId="e8658e8513740b03" providerId="LiveId" clId="{26F648B5-EF13-52E1-AF0F-D13AE4EC2332}" dt="2026-07-06T11:03:24.426" v="529" actId="20577"/>
          <ac:spMkLst>
            <pc:docMk/>
            <pc:sldMk cId="0" sldId="294"/>
            <ac:spMk id="60" creationId="{00000000-0000-0000-0000-000000000000}"/>
          </ac:spMkLst>
        </pc:spChg>
      </pc:sldChg>
      <pc:sldChg chg="modSp mod">
        <pc:chgData name="Tobias Mourier" userId="e8658e8513740b03" providerId="LiveId" clId="{26F648B5-EF13-52E1-AF0F-D13AE4EC2332}" dt="2026-07-06T12:41:09.198" v="532" actId="14826"/>
        <pc:sldMkLst>
          <pc:docMk/>
          <pc:sldMk cId="0" sldId="295"/>
        </pc:sldMkLst>
        <pc:picChg chg="mod">
          <ac:chgData name="Tobias Mourier" userId="e8658e8513740b03" providerId="LiveId" clId="{26F648B5-EF13-52E1-AF0F-D13AE4EC2332}" dt="2026-07-06T12:41:09.198" v="532" actId="14826"/>
          <ac:picMkLst>
            <pc:docMk/>
            <pc:sldMk cId="0" sldId="295"/>
            <ac:picMk id="8" creationId="{061F56C1-183F-5856-5CA7-7B380676D932}"/>
          </ac:picMkLst>
        </pc:picChg>
      </pc:sldChg>
      <pc:sldChg chg="addSp delSp modSp add del mod">
        <pc:chgData name="Tobias Mourier" userId="e8658e8513740b03" providerId="LiveId" clId="{26F648B5-EF13-52E1-AF0F-D13AE4EC2332}" dt="2026-07-06T08:40:00.720" v="258"/>
        <pc:sldMkLst>
          <pc:docMk/>
          <pc:sldMk cId="2281475191" sldId="298"/>
        </pc:sldMkLst>
        <pc:spChg chg="add mod">
          <ac:chgData name="Tobias Mourier" userId="e8658e8513740b03" providerId="LiveId" clId="{26F648B5-EF13-52E1-AF0F-D13AE4EC2332}" dt="2026-07-06T08:31:34.844" v="175" actId="1035"/>
          <ac:spMkLst>
            <pc:docMk/>
            <pc:sldMk cId="2281475191" sldId="298"/>
            <ac:spMk id="10" creationId="{7F27D714-2133-A68F-B704-FBA3B84E3010}"/>
          </ac:spMkLst>
        </pc:spChg>
        <pc:spChg chg="add mod">
          <ac:chgData name="Tobias Mourier" userId="e8658e8513740b03" providerId="LiveId" clId="{26F648B5-EF13-52E1-AF0F-D13AE4EC2332}" dt="2026-07-06T08:31:34.844" v="175" actId="1035"/>
          <ac:spMkLst>
            <pc:docMk/>
            <pc:sldMk cId="2281475191" sldId="298"/>
            <ac:spMk id="11" creationId="{CF1D647D-5B53-14EC-76B8-92801C0B330E}"/>
          </ac:spMkLst>
        </pc:spChg>
        <pc:spChg chg="add mod">
          <ac:chgData name="Tobias Mourier" userId="e8658e8513740b03" providerId="LiveId" clId="{26F648B5-EF13-52E1-AF0F-D13AE4EC2332}" dt="2026-07-06T08:31:34.844" v="175" actId="1035"/>
          <ac:spMkLst>
            <pc:docMk/>
            <pc:sldMk cId="2281475191" sldId="298"/>
            <ac:spMk id="12" creationId="{2167561F-AA5B-4CD3-A9CD-6FCDB97FBFD8}"/>
          </ac:spMkLst>
        </pc:spChg>
        <pc:spChg chg="mod">
          <ac:chgData name="Tobias Mourier" userId="e8658e8513740b03" providerId="LiveId" clId="{26F648B5-EF13-52E1-AF0F-D13AE4EC2332}" dt="2026-07-06T08:30:18.275" v="112"/>
          <ac:spMkLst>
            <pc:docMk/>
            <pc:sldMk cId="2281475191" sldId="298"/>
            <ac:spMk id="14" creationId="{8D64717C-C8DF-EC46-A021-856376F18800}"/>
          </ac:spMkLst>
        </pc:spChg>
        <pc:spChg chg="mod">
          <ac:chgData name="Tobias Mourier" userId="e8658e8513740b03" providerId="LiveId" clId="{26F648B5-EF13-52E1-AF0F-D13AE4EC2332}" dt="2026-07-06T08:30:18.275" v="112"/>
          <ac:spMkLst>
            <pc:docMk/>
            <pc:sldMk cId="2281475191" sldId="298"/>
            <ac:spMk id="17" creationId="{1750FAB9-838B-BE4A-6FB0-299D18E8E5D8}"/>
          </ac:spMkLst>
        </pc:spChg>
        <pc:spChg chg="mod">
          <ac:chgData name="Tobias Mourier" userId="e8658e8513740b03" providerId="LiveId" clId="{26F648B5-EF13-52E1-AF0F-D13AE4EC2332}" dt="2026-07-06T08:34:41.149" v="256" actId="14100"/>
          <ac:spMkLst>
            <pc:docMk/>
            <pc:sldMk cId="2281475191" sldId="298"/>
            <ac:spMk id="18" creationId="{D6048566-0A0C-E464-4D85-71E322DA237A}"/>
          </ac:spMkLst>
        </pc:spChg>
        <pc:spChg chg="mod">
          <ac:chgData name="Tobias Mourier" userId="e8658e8513740b03" providerId="LiveId" clId="{26F648B5-EF13-52E1-AF0F-D13AE4EC2332}" dt="2026-07-06T08:30:18.275" v="112"/>
          <ac:spMkLst>
            <pc:docMk/>
            <pc:sldMk cId="2281475191" sldId="298"/>
            <ac:spMk id="19" creationId="{7F34FE39-D052-33C5-6F4D-DADCA5D3ED75}"/>
          </ac:spMkLst>
        </pc:spChg>
        <pc:spChg chg="add mod">
          <ac:chgData name="Tobias Mourier" userId="e8658e8513740b03" providerId="LiveId" clId="{26F648B5-EF13-52E1-AF0F-D13AE4EC2332}" dt="2026-07-06T08:31:34.844" v="175" actId="1035"/>
          <ac:spMkLst>
            <pc:docMk/>
            <pc:sldMk cId="2281475191" sldId="298"/>
            <ac:spMk id="20" creationId="{BDFF257E-1BAA-7128-F865-016404798A8D}"/>
          </ac:spMkLst>
        </pc:spChg>
        <pc:spChg chg="add del mod">
          <ac:chgData name="Tobias Mourier" userId="e8658e8513740b03" providerId="LiveId" clId="{26F648B5-EF13-52E1-AF0F-D13AE4EC2332}" dt="2026-07-06T08:33:10.048" v="221" actId="14100"/>
          <ac:spMkLst>
            <pc:docMk/>
            <pc:sldMk cId="2281475191" sldId="298"/>
            <ac:spMk id="21" creationId="{F68A0CE0-0661-26D3-7FDA-6B5B588894F8}"/>
          </ac:spMkLst>
        </pc:spChg>
        <pc:spChg chg="add del mod">
          <ac:chgData name="Tobias Mourier" userId="e8658e8513740b03" providerId="LiveId" clId="{26F648B5-EF13-52E1-AF0F-D13AE4EC2332}" dt="2026-07-06T08:33:01.751" v="220" actId="1035"/>
          <ac:spMkLst>
            <pc:docMk/>
            <pc:sldMk cId="2281475191" sldId="298"/>
            <ac:spMk id="22" creationId="{E3172993-AFE9-C43F-DE06-89908982FA6F}"/>
          </ac:spMkLst>
        </pc:spChg>
        <pc:spChg chg="add del mod">
          <ac:chgData name="Tobias Mourier" userId="e8658e8513740b03" providerId="LiveId" clId="{26F648B5-EF13-52E1-AF0F-D13AE4EC2332}" dt="2026-07-06T08:32:44.209" v="206" actId="1076"/>
          <ac:spMkLst>
            <pc:docMk/>
            <pc:sldMk cId="2281475191" sldId="298"/>
            <ac:spMk id="23" creationId="{926ED2CD-393D-6AA8-1E71-50CCC2FB50C8}"/>
          </ac:spMkLst>
        </pc:spChg>
        <pc:spChg chg="mod">
          <ac:chgData name="Tobias Mourier" userId="e8658e8513740b03" providerId="LiveId" clId="{26F648B5-EF13-52E1-AF0F-D13AE4EC2332}" dt="2026-07-06T08:33:30.088" v="227" actId="1036"/>
          <ac:spMkLst>
            <pc:docMk/>
            <pc:sldMk cId="2281475191" sldId="298"/>
            <ac:spMk id="25" creationId="{A932F0C9-8BEA-F9A2-4743-92CC2D54EDBD}"/>
          </ac:spMkLst>
        </pc:spChg>
        <pc:spChg chg="mod">
          <ac:chgData name="Tobias Mourier" userId="e8658e8513740b03" providerId="LiveId" clId="{26F648B5-EF13-52E1-AF0F-D13AE4EC2332}" dt="2026-07-06T08:33:37.135" v="235" actId="1036"/>
          <ac:spMkLst>
            <pc:docMk/>
            <pc:sldMk cId="2281475191" sldId="298"/>
            <ac:spMk id="26" creationId="{E7286ABB-F126-41D6-F770-7B7C805A9444}"/>
          </ac:spMkLst>
        </pc:spChg>
        <pc:spChg chg="add mod">
          <ac:chgData name="Tobias Mourier" userId="e8658e8513740b03" providerId="LiveId" clId="{26F648B5-EF13-52E1-AF0F-D13AE4EC2332}" dt="2026-07-06T08:31:34.844" v="175" actId="1035"/>
          <ac:spMkLst>
            <pc:docMk/>
            <pc:sldMk cId="2281475191" sldId="298"/>
            <ac:spMk id="27" creationId="{B59B8DB6-0C46-86E0-9012-34A6E47358A5}"/>
          </ac:spMkLst>
        </pc:spChg>
        <pc:spChg chg="add del mod">
          <ac:chgData name="Tobias Mourier" userId="e8658e8513740b03" providerId="LiveId" clId="{26F648B5-EF13-52E1-AF0F-D13AE4EC2332}" dt="2026-07-06T08:34:29.328" v="255" actId="1038"/>
          <ac:spMkLst>
            <pc:docMk/>
            <pc:sldMk cId="2281475191" sldId="298"/>
            <ac:spMk id="36" creationId="{E6917884-BB24-2E8C-849F-9B2B44C4AFE9}"/>
          </ac:spMkLst>
        </pc:spChg>
        <pc:spChg chg="add del mod">
          <ac:chgData name="Tobias Mourier" userId="e8658e8513740b03" providerId="LiveId" clId="{26F648B5-EF13-52E1-AF0F-D13AE4EC2332}" dt="2026-07-06T08:34:20.164" v="254" actId="403"/>
          <ac:spMkLst>
            <pc:docMk/>
            <pc:sldMk cId="2281475191" sldId="298"/>
            <ac:spMk id="38" creationId="{DA4419F8-D8A4-3DCC-0097-9FAB6BEE0454}"/>
          </ac:spMkLst>
        </pc:spChg>
        <pc:grpChg chg="add del mod">
          <ac:chgData name="Tobias Mourier" userId="e8658e8513740b03" providerId="LiveId" clId="{26F648B5-EF13-52E1-AF0F-D13AE4EC2332}" dt="2026-07-06T08:33:23.016" v="222" actId="14100"/>
          <ac:grpSpMkLst>
            <pc:docMk/>
            <pc:sldMk cId="2281475191" sldId="298"/>
            <ac:grpSpMk id="4" creationId="{E8676382-04F1-3028-9E3B-0C7F63ECBCC9}"/>
          </ac:grpSpMkLst>
        </pc:grpChg>
        <pc:grpChg chg="add mod">
          <ac:chgData name="Tobias Mourier" userId="e8658e8513740b03" providerId="LiveId" clId="{26F648B5-EF13-52E1-AF0F-D13AE4EC2332}" dt="2026-07-06T08:31:34.844" v="175" actId="1035"/>
          <ac:grpSpMkLst>
            <pc:docMk/>
            <pc:sldMk cId="2281475191" sldId="298"/>
            <ac:grpSpMk id="13" creationId="{05F5F547-2FC5-B93B-9FFD-4DDAF112D3D9}"/>
          </ac:grpSpMkLst>
        </pc:grpChg>
        <pc:picChg chg="mod">
          <ac:chgData name="Tobias Mourier" userId="e8658e8513740b03" providerId="LiveId" clId="{26F648B5-EF13-52E1-AF0F-D13AE4EC2332}" dt="2026-07-06T08:34:41.149" v="256" actId="14100"/>
          <ac:picMkLst>
            <pc:docMk/>
            <pc:sldMk cId="2281475191" sldId="298"/>
            <ac:picMk id="40" creationId="{E37CBEC5-593B-A42F-2566-2D100750C7A9}"/>
          </ac:picMkLst>
        </pc:picChg>
      </pc:sldChg>
      <pc:sldChg chg="addSp modSp add del mod">
        <pc:chgData name="Tobias Mourier" userId="e8658e8513740b03" providerId="LiveId" clId="{26F648B5-EF13-52E1-AF0F-D13AE4EC2332}" dt="2026-07-06T08:41:55.066" v="320"/>
        <pc:sldMkLst>
          <pc:docMk/>
          <pc:sldMk cId="1551882754" sldId="299"/>
        </pc:sldMkLst>
        <pc:spChg chg="add mod">
          <ac:chgData name="Tobias Mourier" userId="e8658e8513740b03" providerId="LiveId" clId="{26F648B5-EF13-52E1-AF0F-D13AE4EC2332}" dt="2026-07-06T08:40:37.025" v="268"/>
          <ac:spMkLst>
            <pc:docMk/>
            <pc:sldMk cId="1551882754" sldId="299"/>
            <ac:spMk id="10" creationId="{4BBA15D3-9069-C44A-8DDA-6E31B9CFF90E}"/>
          </ac:spMkLst>
        </pc:spChg>
        <pc:spChg chg="add mod">
          <ac:chgData name="Tobias Mourier" userId="e8658e8513740b03" providerId="LiveId" clId="{26F648B5-EF13-52E1-AF0F-D13AE4EC2332}" dt="2026-07-06T08:40:37.027" v="278"/>
          <ac:spMkLst>
            <pc:docMk/>
            <pc:sldMk cId="1551882754" sldId="299"/>
            <ac:spMk id="11" creationId="{259C618D-9238-684E-982C-18F12DBD6F16}"/>
          </ac:spMkLst>
        </pc:spChg>
        <pc:spChg chg="add mod">
          <ac:chgData name="Tobias Mourier" userId="e8658e8513740b03" providerId="LiveId" clId="{26F648B5-EF13-52E1-AF0F-D13AE4EC2332}" dt="2026-07-06T08:40:37.029" v="288"/>
          <ac:spMkLst>
            <pc:docMk/>
            <pc:sldMk cId="1551882754" sldId="299"/>
            <ac:spMk id="12" creationId="{6AB39E64-C37B-714E-AFE4-5477961D0008}"/>
          </ac:spMkLst>
        </pc:spChg>
        <pc:spChg chg="add mod">
          <ac:chgData name="Tobias Mourier" userId="e8658e8513740b03" providerId="LiveId" clId="{26F648B5-EF13-52E1-AF0F-D13AE4EC2332}" dt="2026-07-06T08:40:37.031" v="298"/>
          <ac:spMkLst>
            <pc:docMk/>
            <pc:sldMk cId="1551882754" sldId="299"/>
            <ac:spMk id="13" creationId="{09B55778-A625-D047-B612-4B58B5479C00}"/>
          </ac:spMkLst>
        </pc:spChg>
        <pc:spChg chg="add mod">
          <ac:chgData name="Tobias Mourier" userId="e8658e8513740b03" providerId="LiveId" clId="{26F648B5-EF13-52E1-AF0F-D13AE4EC2332}" dt="2026-07-06T08:40:37.033" v="308"/>
          <ac:spMkLst>
            <pc:docMk/>
            <pc:sldMk cId="1551882754" sldId="299"/>
            <ac:spMk id="14" creationId="{07EA07D3-6CCB-264D-9A5E-1C07A3FC15D9}"/>
          </ac:spMkLst>
        </pc:spChg>
        <pc:spChg chg="add mod">
          <ac:chgData name="Tobias Mourier" userId="e8658e8513740b03" providerId="LiveId" clId="{26F648B5-EF13-52E1-AF0F-D13AE4EC2332}" dt="2026-07-06T08:40:37.035" v="318"/>
          <ac:spMkLst>
            <pc:docMk/>
            <pc:sldMk cId="1551882754" sldId="299"/>
            <ac:spMk id="17" creationId="{A8259536-A931-0E4A-9F06-E65B90237305}"/>
          </ac:spMkLst>
        </pc:spChg>
      </pc:sldChg>
      <pc:sldChg chg="addSp delSp modSp add mod modAnim">
        <pc:chgData name="Tobias Mourier" userId="e8658e8513740b03" providerId="LiveId" clId="{26F648B5-EF13-52E1-AF0F-D13AE4EC2332}" dt="2026-07-06T14:13:01.852" v="2019" actId="164"/>
        <pc:sldMkLst>
          <pc:docMk/>
          <pc:sldMk cId="463542643" sldId="300"/>
        </pc:sldMkLst>
        <pc:spChg chg="mod">
          <ac:chgData name="Tobias Mourier" userId="e8658e8513740b03" providerId="LiveId" clId="{26F648B5-EF13-52E1-AF0F-D13AE4EC2332}" dt="2026-07-06T13:58:25.037" v="1563" actId="164"/>
          <ac:spMkLst>
            <pc:docMk/>
            <pc:sldMk cId="463542643" sldId="300"/>
            <ac:spMk id="10" creationId="{4BBA15D3-9069-C44A-8DDA-6E31B9CFF90E}"/>
          </ac:spMkLst>
        </pc:spChg>
        <pc:spChg chg="mod">
          <ac:chgData name="Tobias Mourier" userId="e8658e8513740b03" providerId="LiveId" clId="{26F648B5-EF13-52E1-AF0F-D13AE4EC2332}" dt="2026-07-06T13:58:25.037" v="1563" actId="164"/>
          <ac:spMkLst>
            <pc:docMk/>
            <pc:sldMk cId="463542643" sldId="300"/>
            <ac:spMk id="11" creationId="{259C618D-9238-684E-982C-18F12DBD6F16}"/>
          </ac:spMkLst>
        </pc:spChg>
        <pc:spChg chg="del mod">
          <ac:chgData name="Tobias Mourier" userId="e8658e8513740b03" providerId="LiveId" clId="{26F648B5-EF13-52E1-AF0F-D13AE4EC2332}" dt="2026-07-06T08:45:45.291" v="464" actId="478"/>
          <ac:spMkLst>
            <pc:docMk/>
            <pc:sldMk cId="463542643" sldId="300"/>
            <ac:spMk id="12" creationId="{6AB39E64-C37B-714E-AFE4-5477961D0008}"/>
          </ac:spMkLst>
        </pc:spChg>
        <pc:spChg chg="mod">
          <ac:chgData name="Tobias Mourier" userId="e8658e8513740b03" providerId="LiveId" clId="{26F648B5-EF13-52E1-AF0F-D13AE4EC2332}" dt="2026-07-06T13:58:25.037" v="1563" actId="164"/>
          <ac:spMkLst>
            <pc:docMk/>
            <pc:sldMk cId="463542643" sldId="300"/>
            <ac:spMk id="13" creationId="{09B55778-A625-D047-B612-4B58B5479C00}"/>
          </ac:spMkLst>
        </pc:spChg>
        <pc:spChg chg="del mod">
          <ac:chgData name="Tobias Mourier" userId="e8658e8513740b03" providerId="LiveId" clId="{26F648B5-EF13-52E1-AF0F-D13AE4EC2332}" dt="2026-07-06T08:46:23.893" v="491" actId="478"/>
          <ac:spMkLst>
            <pc:docMk/>
            <pc:sldMk cId="463542643" sldId="300"/>
            <ac:spMk id="14" creationId="{07EA07D3-6CCB-264D-9A5E-1C07A3FC15D9}"/>
          </ac:spMkLst>
        </pc:spChg>
        <pc:spChg chg="mod">
          <ac:chgData name="Tobias Mourier" userId="e8658e8513740b03" providerId="LiveId" clId="{26F648B5-EF13-52E1-AF0F-D13AE4EC2332}" dt="2026-07-06T13:58:25.037" v="1563" actId="164"/>
          <ac:spMkLst>
            <pc:docMk/>
            <pc:sldMk cId="463542643" sldId="300"/>
            <ac:spMk id="17" creationId="{A8259536-A931-0E4A-9F06-E65B90237305}"/>
          </ac:spMkLst>
        </pc:spChg>
        <pc:spChg chg="mod">
          <ac:chgData name="Tobias Mourier" userId="e8658e8513740b03" providerId="LiveId" clId="{26F648B5-EF13-52E1-AF0F-D13AE4EC2332}" dt="2026-07-06T14:13:01.852" v="2019" actId="164"/>
          <ac:spMkLst>
            <pc:docMk/>
            <pc:sldMk cId="463542643" sldId="300"/>
            <ac:spMk id="18" creationId="{D6048566-0A0C-E464-4D85-71E322DA237A}"/>
          </ac:spMkLst>
        </pc:spChg>
        <pc:spChg chg="add mod">
          <ac:chgData name="Tobias Mourier" userId="e8658e8513740b03" providerId="LiveId" clId="{26F648B5-EF13-52E1-AF0F-D13AE4EC2332}" dt="2026-07-06T13:58:25.037" v="1563" actId="164"/>
          <ac:spMkLst>
            <pc:docMk/>
            <pc:sldMk cId="463542643" sldId="300"/>
            <ac:spMk id="19" creationId="{A9C830A1-6801-F143-867E-0E6F38005203}"/>
          </ac:spMkLst>
        </pc:spChg>
        <pc:spChg chg="add mod">
          <ac:chgData name="Tobias Mourier" userId="e8658e8513740b03" providerId="LiveId" clId="{26F648B5-EF13-52E1-AF0F-D13AE4EC2332}" dt="2026-07-06T13:58:25.037" v="1563" actId="164"/>
          <ac:spMkLst>
            <pc:docMk/>
            <pc:sldMk cId="463542643" sldId="300"/>
            <ac:spMk id="20" creationId="{BB25BCA2-9EBC-854A-BF47-BF4E587AEF4B}"/>
          </ac:spMkLst>
        </pc:spChg>
        <pc:spChg chg="mod">
          <ac:chgData name="Tobias Mourier" userId="e8658e8513740b03" providerId="LiveId" clId="{26F648B5-EF13-52E1-AF0F-D13AE4EC2332}" dt="2026-07-06T14:12:25.720" v="2017" actId="164"/>
          <ac:spMkLst>
            <pc:docMk/>
            <pc:sldMk cId="463542643" sldId="300"/>
            <ac:spMk id="21" creationId="{F68A0CE0-0661-26D3-7FDA-6B5B588894F8}"/>
          </ac:spMkLst>
        </pc:spChg>
        <pc:spChg chg="mod">
          <ac:chgData name="Tobias Mourier" userId="e8658e8513740b03" providerId="LiveId" clId="{26F648B5-EF13-52E1-AF0F-D13AE4EC2332}" dt="2026-07-06T14:12:25.720" v="2017" actId="164"/>
          <ac:spMkLst>
            <pc:docMk/>
            <pc:sldMk cId="463542643" sldId="300"/>
            <ac:spMk id="22" creationId="{E3172993-AFE9-C43F-DE06-89908982FA6F}"/>
          </ac:spMkLst>
        </pc:spChg>
        <pc:spChg chg="mod">
          <ac:chgData name="Tobias Mourier" userId="e8658e8513740b03" providerId="LiveId" clId="{26F648B5-EF13-52E1-AF0F-D13AE4EC2332}" dt="2026-07-06T14:12:25.720" v="2017" actId="164"/>
          <ac:spMkLst>
            <pc:docMk/>
            <pc:sldMk cId="463542643" sldId="300"/>
            <ac:spMk id="23" creationId="{926ED2CD-393D-6AA8-1E71-50CCC2FB50C8}"/>
          </ac:spMkLst>
        </pc:spChg>
        <pc:spChg chg="mod topLvl">
          <ac:chgData name="Tobias Mourier" userId="e8658e8513740b03" providerId="LiveId" clId="{26F648B5-EF13-52E1-AF0F-D13AE4EC2332}" dt="2026-07-06T13:59:21.702" v="1566" actId="338"/>
          <ac:spMkLst>
            <pc:docMk/>
            <pc:sldMk cId="463542643" sldId="300"/>
            <ac:spMk id="24" creationId="{82B11092-F267-9BF4-6647-0283AFF86022}"/>
          </ac:spMkLst>
        </pc:spChg>
        <pc:spChg chg="mod topLvl">
          <ac:chgData name="Tobias Mourier" userId="e8658e8513740b03" providerId="LiveId" clId="{26F648B5-EF13-52E1-AF0F-D13AE4EC2332}" dt="2026-07-06T13:59:21.702" v="1566" actId="338"/>
          <ac:spMkLst>
            <pc:docMk/>
            <pc:sldMk cId="463542643" sldId="300"/>
            <ac:spMk id="25" creationId="{A932F0C9-8BEA-F9A2-4743-92CC2D54EDBD}"/>
          </ac:spMkLst>
        </pc:spChg>
        <pc:spChg chg="mod topLvl">
          <ac:chgData name="Tobias Mourier" userId="e8658e8513740b03" providerId="LiveId" clId="{26F648B5-EF13-52E1-AF0F-D13AE4EC2332}" dt="2026-07-06T13:59:21.702" v="1566" actId="338"/>
          <ac:spMkLst>
            <pc:docMk/>
            <pc:sldMk cId="463542643" sldId="300"/>
            <ac:spMk id="26" creationId="{E7286ABB-F126-41D6-F770-7B7C805A9444}"/>
          </ac:spMkLst>
        </pc:spChg>
        <pc:spChg chg="add mod">
          <ac:chgData name="Tobias Mourier" userId="e8658e8513740b03" providerId="LiveId" clId="{26F648B5-EF13-52E1-AF0F-D13AE4EC2332}" dt="2026-07-06T13:58:25.037" v="1563" actId="164"/>
          <ac:spMkLst>
            <pc:docMk/>
            <pc:sldMk cId="463542643" sldId="300"/>
            <ac:spMk id="27" creationId="{4BF9CCEA-3CB5-3443-94FE-3A7E1449B148}"/>
          </ac:spMkLst>
        </pc:spChg>
        <pc:spChg chg="add mod">
          <ac:chgData name="Tobias Mourier" userId="e8658e8513740b03" providerId="LiveId" clId="{26F648B5-EF13-52E1-AF0F-D13AE4EC2332}" dt="2026-07-06T13:58:25.037" v="1563" actId="164"/>
          <ac:spMkLst>
            <pc:docMk/>
            <pc:sldMk cId="463542643" sldId="300"/>
            <ac:spMk id="28" creationId="{DCDAD30F-70E0-F049-A43F-3D904B9F8CE6}"/>
          </ac:spMkLst>
        </pc:spChg>
        <pc:spChg chg="add mod">
          <ac:chgData name="Tobias Mourier" userId="e8658e8513740b03" providerId="LiveId" clId="{26F648B5-EF13-52E1-AF0F-D13AE4EC2332}" dt="2026-07-06T13:58:25.037" v="1563" actId="164"/>
          <ac:spMkLst>
            <pc:docMk/>
            <pc:sldMk cId="463542643" sldId="300"/>
            <ac:spMk id="29" creationId="{21EEB388-D843-B046-8633-DBDEC5431DF2}"/>
          </ac:spMkLst>
        </pc:spChg>
        <pc:spChg chg="add del mod">
          <ac:chgData name="Tobias Mourier" userId="e8658e8513740b03" providerId="LiveId" clId="{26F648B5-EF13-52E1-AF0F-D13AE4EC2332}" dt="2026-07-06T13:26:10.083" v="1065" actId="478"/>
          <ac:spMkLst>
            <pc:docMk/>
            <pc:sldMk cId="463542643" sldId="300"/>
            <ac:spMk id="31" creationId="{6153CAB0-B9F6-72FB-C140-1F9104FC2126}"/>
          </ac:spMkLst>
        </pc:spChg>
        <pc:spChg chg="add mod">
          <ac:chgData name="Tobias Mourier" userId="e8658e8513740b03" providerId="LiveId" clId="{26F648B5-EF13-52E1-AF0F-D13AE4EC2332}" dt="2026-07-06T13:58:25.037" v="1563" actId="164"/>
          <ac:spMkLst>
            <pc:docMk/>
            <pc:sldMk cId="463542643" sldId="300"/>
            <ac:spMk id="33" creationId="{0BC4D2E5-98E2-7B10-7847-8DA3B56D6D89}"/>
          </ac:spMkLst>
        </pc:spChg>
        <pc:spChg chg="add del mod">
          <ac:chgData name="Tobias Mourier" userId="e8658e8513740b03" providerId="LiveId" clId="{26F648B5-EF13-52E1-AF0F-D13AE4EC2332}" dt="2026-07-06T13:55:09.141" v="1536"/>
          <ac:spMkLst>
            <pc:docMk/>
            <pc:sldMk cId="463542643" sldId="300"/>
            <ac:spMk id="37" creationId="{F4323B27-5F12-1486-FAB6-326BC340C0C6}"/>
          </ac:spMkLst>
        </pc:spChg>
        <pc:grpChg chg="del">
          <ac:chgData name="Tobias Mourier" userId="e8658e8513740b03" providerId="LiveId" clId="{26F648B5-EF13-52E1-AF0F-D13AE4EC2332}" dt="2026-07-06T13:55:20.760" v="1537" actId="165"/>
          <ac:grpSpMkLst>
            <pc:docMk/>
            <pc:sldMk cId="463542643" sldId="300"/>
            <ac:grpSpMk id="4" creationId="{E8676382-04F1-3028-9E3B-0C7F63ECBCC9}"/>
          </ac:grpSpMkLst>
        </pc:grpChg>
        <pc:grpChg chg="add mod">
          <ac:chgData name="Tobias Mourier" userId="e8658e8513740b03" providerId="LiveId" clId="{26F648B5-EF13-52E1-AF0F-D13AE4EC2332}" dt="2026-07-06T13:57:48.379" v="1550" actId="338"/>
          <ac:grpSpMkLst>
            <pc:docMk/>
            <pc:sldMk cId="463542643" sldId="300"/>
            <ac:grpSpMk id="39" creationId="{3583F119-FAE2-D4EF-F4E1-6AF86958079B}"/>
          </ac:grpSpMkLst>
        </pc:grpChg>
        <pc:grpChg chg="mod">
          <ac:chgData name="Tobias Mourier" userId="e8658e8513740b03" providerId="LiveId" clId="{26F648B5-EF13-52E1-AF0F-D13AE4EC2332}" dt="2026-07-06T14:13:01.852" v="2019" actId="164"/>
          <ac:grpSpMkLst>
            <pc:docMk/>
            <pc:sldMk cId="463542643" sldId="300"/>
            <ac:grpSpMk id="42" creationId="{A1700455-574F-E34E-6881-3AAE51D0251A}"/>
          </ac:grpSpMkLst>
        </pc:grpChg>
        <pc:grpChg chg="add mod">
          <ac:chgData name="Tobias Mourier" userId="e8658e8513740b03" providerId="LiveId" clId="{26F648B5-EF13-52E1-AF0F-D13AE4EC2332}" dt="2026-07-06T13:59:21.702" v="1566" actId="338"/>
          <ac:grpSpMkLst>
            <pc:docMk/>
            <pc:sldMk cId="463542643" sldId="300"/>
            <ac:grpSpMk id="43" creationId="{F4F11907-5747-B2F4-1148-3AA48A9D58B2}"/>
          </ac:grpSpMkLst>
        </pc:grpChg>
        <pc:grpChg chg="add mod">
          <ac:chgData name="Tobias Mourier" userId="e8658e8513740b03" providerId="LiveId" clId="{26F648B5-EF13-52E1-AF0F-D13AE4EC2332}" dt="2026-07-06T14:12:25.720" v="2017" actId="164"/>
          <ac:grpSpMkLst>
            <pc:docMk/>
            <pc:sldMk cId="463542643" sldId="300"/>
            <ac:grpSpMk id="44" creationId="{592C8C5F-D911-E77E-82C2-63ACD77252BB}"/>
          </ac:grpSpMkLst>
        </pc:grpChg>
        <pc:grpChg chg="add mod">
          <ac:chgData name="Tobias Mourier" userId="e8658e8513740b03" providerId="LiveId" clId="{26F648B5-EF13-52E1-AF0F-D13AE4EC2332}" dt="2026-07-06T14:13:01.852" v="2019" actId="164"/>
          <ac:grpSpMkLst>
            <pc:docMk/>
            <pc:sldMk cId="463542643" sldId="300"/>
            <ac:grpSpMk id="45" creationId="{B820DF7C-3987-FF92-1F10-1E584F69B777}"/>
          </ac:grpSpMkLst>
        </pc:grpChg>
        <pc:picChg chg="mod">
          <ac:chgData name="Tobias Mourier" userId="e8658e8513740b03" providerId="LiveId" clId="{26F648B5-EF13-52E1-AF0F-D13AE4EC2332}" dt="2026-07-06T13:28:46.925" v="1225" actId="1038"/>
          <ac:picMkLst>
            <pc:docMk/>
            <pc:sldMk cId="463542643" sldId="300"/>
            <ac:picMk id="40" creationId="{E37CBEC5-593B-A42F-2566-2D100750C7A9}"/>
          </ac:picMkLst>
        </pc:picChg>
      </pc:sldChg>
      <pc:sldChg chg="add">
        <pc:chgData name="Tobias Mourier" userId="e8658e8513740b03" providerId="LiveId" clId="{26F648B5-EF13-52E1-AF0F-D13AE4EC2332}" dt="2026-07-06T10:40:04.998" v="516"/>
        <pc:sldMkLst>
          <pc:docMk/>
          <pc:sldMk cId="0" sldId="301"/>
        </pc:sldMkLst>
      </pc:sldChg>
      <pc:sldChg chg="add">
        <pc:chgData name="Tobias Mourier" userId="e8658e8513740b03" providerId="LiveId" clId="{26F648B5-EF13-52E1-AF0F-D13AE4EC2332}" dt="2026-07-06T12:32:41.247" v="531"/>
        <pc:sldMkLst>
          <pc:docMk/>
          <pc:sldMk cId="0" sldId="302"/>
        </pc:sldMkLst>
      </pc:sldChg>
      <pc:sldChg chg="add del">
        <pc:chgData name="Tobias Mourier" userId="e8658e8513740b03" providerId="LiveId" clId="{26F648B5-EF13-52E1-AF0F-D13AE4EC2332}" dt="2026-07-06T13:45:12.091" v="1286"/>
        <pc:sldMkLst>
          <pc:docMk/>
          <pc:sldMk cId="3525290608" sldId="303"/>
        </pc:sldMkLst>
      </pc:sldChg>
      <pc:sldChg chg="add del">
        <pc:chgData name="Tobias Mourier" userId="e8658e8513740b03" providerId="LiveId" clId="{26F648B5-EF13-52E1-AF0F-D13AE4EC2332}" dt="2026-07-06T13:48:45.810" v="1288"/>
        <pc:sldMkLst>
          <pc:docMk/>
          <pc:sldMk cId="3970794205" sldId="304"/>
        </pc:sldMkLst>
      </pc:sldChg>
      <pc:sldChg chg="addSp delSp modSp add mod modAnim">
        <pc:chgData name="Tobias Mourier" userId="e8658e8513740b03" providerId="LiveId" clId="{26F648B5-EF13-52E1-AF0F-D13AE4EC2332}" dt="2026-07-06T14:12:41.886" v="2018" actId="165"/>
        <pc:sldMkLst>
          <pc:docMk/>
          <pc:sldMk cId="1443755911" sldId="305"/>
        </pc:sldMkLst>
        <pc:spChg chg="add del mod">
          <ac:chgData name="Tobias Mourier" userId="e8658e8513740b03" providerId="LiveId" clId="{26F648B5-EF13-52E1-AF0F-D13AE4EC2332}" dt="2026-07-06T13:52:36.985" v="1385" actId="478"/>
          <ac:spMkLst>
            <pc:docMk/>
            <pc:sldMk cId="1443755911" sldId="305"/>
            <ac:spMk id="4" creationId="{3B8D244F-5863-99AD-4404-93CC9BB41E0E}"/>
          </ac:spMkLst>
        </pc:spChg>
        <pc:spChg chg="mod topLvl">
          <ac:chgData name="Tobias Mourier" userId="e8658e8513740b03" providerId="LiveId" clId="{26F648B5-EF13-52E1-AF0F-D13AE4EC2332}" dt="2026-07-06T14:12:41.886" v="2018" actId="165"/>
          <ac:spMkLst>
            <pc:docMk/>
            <pc:sldMk cId="1443755911" sldId="305"/>
            <ac:spMk id="7" creationId="{00000000-0000-0000-0000-000000000000}"/>
          </ac:spMkLst>
        </pc:spChg>
        <pc:spChg chg="mod topLvl">
          <ac:chgData name="Tobias Mourier" userId="e8658e8513740b03" providerId="LiveId" clId="{26F648B5-EF13-52E1-AF0F-D13AE4EC2332}" dt="2026-07-06T14:12:41.886" v="2018" actId="165"/>
          <ac:spMkLst>
            <pc:docMk/>
            <pc:sldMk cId="1443755911" sldId="305"/>
            <ac:spMk id="8" creationId="{00000000-0000-0000-0000-000000000000}"/>
          </ac:spMkLst>
        </pc:spChg>
        <pc:spChg chg="mod">
          <ac:chgData name="Tobias Mourier" userId="e8658e8513740b03" providerId="LiveId" clId="{26F648B5-EF13-52E1-AF0F-D13AE4EC2332}" dt="2026-07-06T13:57:51.210" v="1554" actId="164"/>
          <ac:spMkLst>
            <pc:docMk/>
            <pc:sldMk cId="1443755911" sldId="305"/>
            <ac:spMk id="10" creationId="{BCE3EBD0-AD79-50B7-7404-5515ADA9196A}"/>
          </ac:spMkLst>
        </pc:spChg>
        <pc:spChg chg="mod">
          <ac:chgData name="Tobias Mourier" userId="e8658e8513740b03" providerId="LiveId" clId="{26F648B5-EF13-52E1-AF0F-D13AE4EC2332}" dt="2026-07-06T13:57:51.210" v="1554" actId="164"/>
          <ac:spMkLst>
            <pc:docMk/>
            <pc:sldMk cId="1443755911" sldId="305"/>
            <ac:spMk id="12" creationId="{8D70BE7B-0330-0FEC-2C6D-55A52B1DE595}"/>
          </ac:spMkLst>
        </pc:spChg>
        <pc:spChg chg="mod">
          <ac:chgData name="Tobias Mourier" userId="e8658e8513740b03" providerId="LiveId" clId="{26F648B5-EF13-52E1-AF0F-D13AE4EC2332}" dt="2026-07-06T13:57:51.210" v="1554" actId="164"/>
          <ac:spMkLst>
            <pc:docMk/>
            <pc:sldMk cId="1443755911" sldId="305"/>
            <ac:spMk id="15" creationId="{C1FEEA0A-C4FF-ED6F-8259-166B5980C00C}"/>
          </ac:spMkLst>
        </pc:spChg>
        <pc:spChg chg="add mod">
          <ac:chgData name="Tobias Mourier" userId="e8658e8513740b03" providerId="LiveId" clId="{26F648B5-EF13-52E1-AF0F-D13AE4EC2332}" dt="2026-07-06T14:00:14.478" v="1684" actId="1038"/>
          <ac:spMkLst>
            <pc:docMk/>
            <pc:sldMk cId="1443755911" sldId="305"/>
            <ac:spMk id="20" creationId="{371AD277-5CE0-CF37-A473-3304E132BDAE}"/>
          </ac:spMkLst>
        </pc:spChg>
        <pc:spChg chg="mod">
          <ac:chgData name="Tobias Mourier" userId="e8658e8513740b03" providerId="LiveId" clId="{26F648B5-EF13-52E1-AF0F-D13AE4EC2332}" dt="2026-07-06T14:03:59.673" v="1745" actId="1037"/>
          <ac:spMkLst>
            <pc:docMk/>
            <pc:sldMk cId="1443755911" sldId="305"/>
            <ac:spMk id="602" creationId="{00000000-0000-0000-0000-000000000000}"/>
          </ac:spMkLst>
        </pc:spChg>
        <pc:spChg chg="mod">
          <ac:chgData name="Tobias Mourier" userId="e8658e8513740b03" providerId="LiveId" clId="{26F648B5-EF13-52E1-AF0F-D13AE4EC2332}" dt="2026-07-06T13:57:51.210" v="1554" actId="164"/>
          <ac:spMkLst>
            <pc:docMk/>
            <pc:sldMk cId="1443755911" sldId="305"/>
            <ac:spMk id="603" creationId="{00000000-0000-0000-0000-000000000000}"/>
          </ac:spMkLst>
        </pc:spChg>
        <pc:spChg chg="mod">
          <ac:chgData name="Tobias Mourier" userId="e8658e8513740b03" providerId="LiveId" clId="{26F648B5-EF13-52E1-AF0F-D13AE4EC2332}" dt="2026-07-06T14:03:59.673" v="1745" actId="1037"/>
          <ac:spMkLst>
            <pc:docMk/>
            <pc:sldMk cId="1443755911" sldId="305"/>
            <ac:spMk id="604" creationId="{00000000-0000-0000-0000-000000000000}"/>
          </ac:spMkLst>
        </pc:spChg>
        <pc:grpChg chg="add mod">
          <ac:chgData name="Tobias Mourier" userId="e8658e8513740b03" providerId="LiveId" clId="{26F648B5-EF13-52E1-AF0F-D13AE4EC2332}" dt="2026-07-06T13:57:52.225" v="1555" actId="164"/>
          <ac:grpSpMkLst>
            <pc:docMk/>
            <pc:sldMk cId="1443755911" sldId="305"/>
            <ac:grpSpMk id="9" creationId="{7F2B2C78-D87E-4962-F59F-05C64DDDAD32}"/>
          </ac:grpSpMkLst>
        </pc:grpChg>
        <pc:grpChg chg="add mod">
          <ac:chgData name="Tobias Mourier" userId="e8658e8513740b03" providerId="LiveId" clId="{26F648B5-EF13-52E1-AF0F-D13AE4EC2332}" dt="2026-07-06T13:57:51.210" v="1554" actId="164"/>
          <ac:grpSpMkLst>
            <pc:docMk/>
            <pc:sldMk cId="1443755911" sldId="305"/>
            <ac:grpSpMk id="11" creationId="{0DD9DCC5-981C-EB94-31A9-F0BD835C80A6}"/>
          </ac:grpSpMkLst>
        </pc:grpChg>
        <pc:grpChg chg="add del mod">
          <ac:chgData name="Tobias Mourier" userId="e8658e8513740b03" providerId="LiveId" clId="{26F648B5-EF13-52E1-AF0F-D13AE4EC2332}" dt="2026-07-06T14:12:41.886" v="2018" actId="165"/>
          <ac:grpSpMkLst>
            <pc:docMk/>
            <pc:sldMk cId="1443755911" sldId="305"/>
            <ac:grpSpMk id="14" creationId="{4513C274-7CED-EE0A-C6D0-85336B31332E}"/>
          </ac:grpSpMkLst>
        </pc:grpChg>
        <pc:graphicFrameChg chg="mod">
          <ac:chgData name="Tobias Mourier" userId="e8658e8513740b03" providerId="LiveId" clId="{26F648B5-EF13-52E1-AF0F-D13AE4EC2332}" dt="2026-07-06T13:57:51.210" v="1554" actId="164"/>
          <ac:graphicFrameMkLst>
            <pc:docMk/>
            <pc:sldMk cId="1443755911" sldId="305"/>
            <ac:graphicFrameMk id="501" creationId="{00000000-0000-0000-0000-000000000000}"/>
          </ac:graphicFrameMkLst>
        </pc:graphicFrameChg>
        <pc:cxnChg chg="mod">
          <ac:chgData name="Tobias Mourier" userId="e8658e8513740b03" providerId="LiveId" clId="{26F648B5-EF13-52E1-AF0F-D13AE4EC2332}" dt="2026-07-06T13:57:51.210" v="1554" actId="164"/>
          <ac:cxnSpMkLst>
            <pc:docMk/>
            <pc:sldMk cId="1443755911" sldId="305"/>
            <ac:cxnSpMk id="601" creationId="{00000000-0000-0000-0000-000000000000}"/>
          </ac:cxnSpMkLst>
        </pc:cxnChg>
      </pc:sldChg>
      <pc:sldChg chg="delSp modSp add mod modAnim">
        <pc:chgData name="Tobias Mourier" userId="e8658e8513740b03" providerId="LiveId" clId="{26F648B5-EF13-52E1-AF0F-D13AE4EC2332}" dt="2026-07-06T14:11:47.330" v="2016"/>
        <pc:sldMkLst>
          <pc:docMk/>
          <pc:sldMk cId="2562925433" sldId="306"/>
        </pc:sldMkLst>
        <pc:spChg chg="del">
          <ac:chgData name="Tobias Mourier" userId="e8658e8513740b03" providerId="LiveId" clId="{26F648B5-EF13-52E1-AF0F-D13AE4EC2332}" dt="2026-07-06T14:11:32.009" v="2014" actId="478"/>
          <ac:spMkLst>
            <pc:docMk/>
            <pc:sldMk cId="2562925433" sldId="306"/>
            <ac:spMk id="7" creationId="{B3D616A4-3FEE-AFC8-543C-2E0F455E7B2B}"/>
          </ac:spMkLst>
        </pc:spChg>
        <pc:spChg chg="mod">
          <ac:chgData name="Tobias Mourier" userId="e8658e8513740b03" providerId="LiveId" clId="{26F648B5-EF13-52E1-AF0F-D13AE4EC2332}" dt="2026-07-06T14:09:18.307" v="1997" actId="1038"/>
          <ac:spMkLst>
            <pc:docMk/>
            <pc:sldMk cId="2562925433" sldId="306"/>
            <ac:spMk id="19" creationId="{9942469C-DB05-C1D8-5F99-0568CBCE3C33}"/>
          </ac:spMkLst>
        </pc:spChg>
        <pc:spChg chg="mod">
          <ac:chgData name="Tobias Mourier" userId="e8658e8513740b03" providerId="LiveId" clId="{26F648B5-EF13-52E1-AF0F-D13AE4EC2332}" dt="2026-07-06T14:09:45.951" v="2012" actId="1037"/>
          <ac:spMkLst>
            <pc:docMk/>
            <pc:sldMk cId="2562925433" sldId="306"/>
            <ac:spMk id="41" creationId="{AFEAFC05-8BF3-8A7E-3EBF-D2FC5D27D532}"/>
          </ac:spMkLst>
        </pc:spChg>
        <pc:grpChg chg="del">
          <ac:chgData name="Tobias Mourier" userId="e8658e8513740b03" providerId="LiveId" clId="{26F648B5-EF13-52E1-AF0F-D13AE4EC2332}" dt="2026-07-06T14:11:06.772" v="2013" actId="478"/>
          <ac:grpSpMkLst>
            <pc:docMk/>
            <pc:sldMk cId="2562925433" sldId="306"/>
            <ac:grpSpMk id="14" creationId="{59E07578-278C-FD13-C011-F445DCAA18B2}"/>
          </ac:grpSpMkLst>
        </pc:grpChg>
        <pc:cxnChg chg="mod">
          <ac:chgData name="Tobias Mourier" userId="e8658e8513740b03" providerId="LiveId" clId="{26F648B5-EF13-52E1-AF0F-D13AE4EC2332}" dt="2026-07-06T14:09:37.401" v="2006" actId="1038"/>
          <ac:cxnSpMkLst>
            <pc:docMk/>
            <pc:sldMk cId="2562925433" sldId="306"/>
            <ac:cxnSpMk id="16" creationId="{19101B1A-E308-A2C5-34CE-D8F7277FBFD2}"/>
          </ac:cxnSpMkLst>
        </pc:cxnChg>
        <pc:cxnChg chg="mod">
          <ac:chgData name="Tobias Mourier" userId="e8658e8513740b03" providerId="LiveId" clId="{26F648B5-EF13-52E1-AF0F-D13AE4EC2332}" dt="2026-07-06T14:09:37.401" v="2006" actId="1038"/>
          <ac:cxnSpMkLst>
            <pc:docMk/>
            <pc:sldMk cId="2562925433" sldId="306"/>
            <ac:cxnSpMk id="17" creationId="{67A37EF3-08E4-E1E5-41B2-52BC693105B2}"/>
          </ac:cxnSpMkLst>
        </pc:cxnChg>
        <pc:cxnChg chg="mod">
          <ac:chgData name="Tobias Mourier" userId="e8658e8513740b03" providerId="LiveId" clId="{26F648B5-EF13-52E1-AF0F-D13AE4EC2332}" dt="2026-07-06T14:09:37.401" v="2006" actId="1038"/>
          <ac:cxnSpMkLst>
            <pc:docMk/>
            <pc:sldMk cId="2562925433" sldId="306"/>
            <ac:cxnSpMk id="18" creationId="{F6C1F759-4EBC-BA94-1F4B-B635FAAFCE8C}"/>
          </ac:cxnSpMkLst>
        </pc:cxnChg>
      </pc:sldChg>
    </pc:docChg>
  </pc:docChgLst>
  <pc:docChgLst>
    <pc:chgData name="Christian Mourier" userId="4c212003125462e3" providerId="LiveId" clId="{BD5E12B6-1D0C-4A5A-BBF1-0A311A27B0D4}"/>
    <pc:docChg chg="custSel modSld">
      <pc:chgData name="Christian Mourier" userId="4c212003125462e3" providerId="LiveId" clId="{BD5E12B6-1D0C-4A5A-BBF1-0A311A27B0D4}" dt="2026-07-05T18:26:28.323" v="4" actId="1036"/>
      <pc:docMkLst>
        <pc:docMk/>
      </pc:docMkLst>
      <pc:sldChg chg="modAnim">
        <pc:chgData name="Christian Mourier" userId="4c212003125462e3" providerId="LiveId" clId="{BD5E12B6-1D0C-4A5A-BBF1-0A311A27B0D4}" dt="2026-07-05T18:23:46.570" v="3"/>
        <pc:sldMkLst>
          <pc:docMk/>
          <pc:sldMk cId="0" sldId="257"/>
        </pc:sldMkLst>
      </pc:sldChg>
      <pc:sldChg chg="modSp mod">
        <pc:chgData name="Christian Mourier" userId="4c212003125462e3" providerId="LiveId" clId="{BD5E12B6-1D0C-4A5A-BBF1-0A311A27B0D4}" dt="2026-07-05T18:26:28.323" v="4" actId="1036"/>
        <pc:sldMkLst>
          <pc:docMk/>
          <pc:sldMk cId="0" sldId="285"/>
        </pc:sldMkLst>
        <pc:spChg chg="mod">
          <ac:chgData name="Christian Mourier" userId="4c212003125462e3" providerId="LiveId" clId="{BD5E12B6-1D0C-4A5A-BBF1-0A311A27B0D4}" dt="2026-07-05T18:26:28.323" v="4" actId="1036"/>
          <ac:spMkLst>
            <pc:docMk/>
            <pc:sldMk cId="0" sldId="285"/>
            <ac:spMk id="52" creationId="{00000000-0000-0000-0000-000000000000}"/>
          </ac:spMkLst>
        </pc:spChg>
      </pc:sldChg>
      <pc:sldChg chg="delSp modSp mod delAnim">
        <pc:chgData name="Christian Mourier" userId="4c212003125462e3" providerId="LiveId" clId="{BD5E12B6-1D0C-4A5A-BBF1-0A311A27B0D4}" dt="2026-07-05T14:29:20.527" v="2" actId="20577"/>
        <pc:sldMkLst>
          <pc:docMk/>
          <pc:sldMk cId="719069756" sldId="290"/>
        </pc:sldMkLst>
        <pc:spChg chg="mod">
          <ac:chgData name="Christian Mourier" userId="4c212003125462e3" providerId="LiveId" clId="{BD5E12B6-1D0C-4A5A-BBF1-0A311A27B0D4}" dt="2026-07-05T14:29:20.527" v="2" actId="20577"/>
          <ac:spMkLst>
            <pc:docMk/>
            <pc:sldMk cId="719069756" sldId="290"/>
            <ac:spMk id="6" creationId="{00000000-0000-0000-0000-000000000000}"/>
          </ac:spMkLst>
        </pc:spChg>
        <pc:spChg chg="del mod">
          <ac:chgData name="Christian Mourier" userId="4c212003125462e3" providerId="LiveId" clId="{BD5E12B6-1D0C-4A5A-BBF1-0A311A27B0D4}" dt="2026-07-05T14:29:14.967" v="1" actId="478"/>
          <ac:spMkLst>
            <pc:docMk/>
            <pc:sldMk cId="719069756" sldId="290"/>
            <ac:spMk id="16" creationId="{B5B9AD8C-CC39-FD93-8562-4DFC6798321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Arbeitsblat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title>
      <c:tx>
        <c:rich>
          <a:bodyPr/>
          <a:lstStyle/>
          <a:p>
            <a:pPr>
              <a:defRPr sz="1600" b="1">
                <a:solidFill>
                  <a:srgbClr val="F2EFDA"/>
                </a:solidFill>
              </a:defRPr>
            </a:pPr>
            <a:r>
              <a:rPr lang="de-DE" sz="1600" b="1">
                <a:solidFill>
                  <a:srgbClr val="F2EFDA"/>
                </a:solidFill>
              </a:rPr>
              <a:t>Zeitreihe </a:t>
            </a:r>
            <a:r>
              <a:rPr lang="de-DE" sz="1600" b="1" err="1">
                <a:solidFill>
                  <a:srgbClr val="F2EFDA"/>
                </a:solidFill>
              </a:rPr>
              <a:t>ΔYt</a:t>
            </a:r>
            <a:endParaRPr lang="de-DE" sz="1600" b="1">
              <a:solidFill>
                <a:srgbClr val="F2EFDA"/>
              </a:solidFill>
            </a:endParaRPr>
          </a:p>
        </c:rich>
      </c:tx>
      <c:overlay val="0"/>
    </c:title>
    <c:autoTitleDeleted val="0"/>
    <c:plotArea>
      <c:layout/>
      <c:lineChart>
        <c:grouping val="standard"/>
        <c:varyColors val="0"/>
        <c:ser>
          <c:idx val="0"/>
          <c:order val="0"/>
          <c:tx>
            <c:strRef>
              <c:f>Tabelle1!$C$1</c:f>
              <c:strCache>
                <c:ptCount val="1"/>
                <c:pt idx="0">
                  <c:v>ΔYt (real)</c:v>
                </c:pt>
              </c:strCache>
            </c:strRef>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strRef>
              <c:f>Tabelle1!$A$2:$A$99</c:f>
              <c:strCache>
                <c:ptCount val="98"/>
                <c:pt idx="0">
                  <c:v>2000Q3</c:v>
                </c:pt>
                <c:pt idx="1">
                  <c:v>2000Q4</c:v>
                </c:pt>
                <c:pt idx="2">
                  <c:v>2001Q1</c:v>
                </c:pt>
                <c:pt idx="3">
                  <c:v>2001Q2</c:v>
                </c:pt>
                <c:pt idx="4">
                  <c:v>2001Q3</c:v>
                </c:pt>
                <c:pt idx="5">
                  <c:v>2001Q4</c:v>
                </c:pt>
                <c:pt idx="6">
                  <c:v>2002Q1</c:v>
                </c:pt>
                <c:pt idx="7">
                  <c:v>2002Q2</c:v>
                </c:pt>
                <c:pt idx="8">
                  <c:v>2002Q3</c:v>
                </c:pt>
                <c:pt idx="9">
                  <c:v>2002Q4</c:v>
                </c:pt>
                <c:pt idx="10">
                  <c:v>2003Q1</c:v>
                </c:pt>
                <c:pt idx="11">
                  <c:v>2003Q2</c:v>
                </c:pt>
                <c:pt idx="12">
                  <c:v>2003Q3</c:v>
                </c:pt>
                <c:pt idx="13">
                  <c:v>2003Q4</c:v>
                </c:pt>
                <c:pt idx="14">
                  <c:v>2004Q1</c:v>
                </c:pt>
                <c:pt idx="15">
                  <c:v>2004Q2</c:v>
                </c:pt>
                <c:pt idx="16">
                  <c:v>2004Q3</c:v>
                </c:pt>
                <c:pt idx="17">
                  <c:v>2004Q4</c:v>
                </c:pt>
                <c:pt idx="18">
                  <c:v>2005Q1</c:v>
                </c:pt>
                <c:pt idx="19">
                  <c:v>2005Q2</c:v>
                </c:pt>
                <c:pt idx="20">
                  <c:v>2005Q3</c:v>
                </c:pt>
                <c:pt idx="21">
                  <c:v>2005Q4</c:v>
                </c:pt>
                <c:pt idx="22">
                  <c:v>2006Q1</c:v>
                </c:pt>
                <c:pt idx="23">
                  <c:v>2006Q2</c:v>
                </c:pt>
                <c:pt idx="24">
                  <c:v>2006Q3</c:v>
                </c:pt>
                <c:pt idx="25">
                  <c:v>2006Q4</c:v>
                </c:pt>
                <c:pt idx="26">
                  <c:v>2007Q1</c:v>
                </c:pt>
                <c:pt idx="27">
                  <c:v>2007Q2</c:v>
                </c:pt>
                <c:pt idx="28">
                  <c:v>2007Q3</c:v>
                </c:pt>
                <c:pt idx="29">
                  <c:v>2007Q4</c:v>
                </c:pt>
                <c:pt idx="30">
                  <c:v>2008Q1</c:v>
                </c:pt>
                <c:pt idx="31">
                  <c:v>2008Q2</c:v>
                </c:pt>
                <c:pt idx="32">
                  <c:v>2008Q3</c:v>
                </c:pt>
                <c:pt idx="33">
                  <c:v>2008Q4</c:v>
                </c:pt>
                <c:pt idx="34">
                  <c:v>2009Q1</c:v>
                </c:pt>
                <c:pt idx="35">
                  <c:v>2009Q2</c:v>
                </c:pt>
                <c:pt idx="36">
                  <c:v>2009Q3</c:v>
                </c:pt>
                <c:pt idx="37">
                  <c:v>2009Q4</c:v>
                </c:pt>
                <c:pt idx="38">
                  <c:v>2010Q1</c:v>
                </c:pt>
                <c:pt idx="39">
                  <c:v>2010Q2</c:v>
                </c:pt>
                <c:pt idx="40">
                  <c:v>2010Q3</c:v>
                </c:pt>
                <c:pt idx="41">
                  <c:v>2010Q4</c:v>
                </c:pt>
                <c:pt idx="42">
                  <c:v>2011Q1</c:v>
                </c:pt>
                <c:pt idx="43">
                  <c:v>2011Q2</c:v>
                </c:pt>
                <c:pt idx="44">
                  <c:v>2011Q3</c:v>
                </c:pt>
                <c:pt idx="45">
                  <c:v>2011Q4</c:v>
                </c:pt>
                <c:pt idx="46">
                  <c:v>2012Q1</c:v>
                </c:pt>
                <c:pt idx="47">
                  <c:v>2012Q2</c:v>
                </c:pt>
                <c:pt idx="48">
                  <c:v>2012Q3</c:v>
                </c:pt>
                <c:pt idx="49">
                  <c:v>2012Q4</c:v>
                </c:pt>
                <c:pt idx="50">
                  <c:v>2013Q1</c:v>
                </c:pt>
                <c:pt idx="51">
                  <c:v>2013Q2</c:v>
                </c:pt>
                <c:pt idx="52">
                  <c:v>2013Q3</c:v>
                </c:pt>
                <c:pt idx="53">
                  <c:v>2013Q4</c:v>
                </c:pt>
                <c:pt idx="54">
                  <c:v>2014Q1</c:v>
                </c:pt>
                <c:pt idx="55">
                  <c:v>2014Q2</c:v>
                </c:pt>
                <c:pt idx="56">
                  <c:v>2014Q3</c:v>
                </c:pt>
                <c:pt idx="57">
                  <c:v>2014Q4</c:v>
                </c:pt>
                <c:pt idx="58">
                  <c:v>2015Q1</c:v>
                </c:pt>
                <c:pt idx="59">
                  <c:v>2015Q2</c:v>
                </c:pt>
                <c:pt idx="60">
                  <c:v>2015Q3</c:v>
                </c:pt>
                <c:pt idx="61">
                  <c:v>2015Q4</c:v>
                </c:pt>
                <c:pt idx="62">
                  <c:v>2016Q1</c:v>
                </c:pt>
                <c:pt idx="63">
                  <c:v>2016Q2</c:v>
                </c:pt>
                <c:pt idx="64">
                  <c:v>2016Q3</c:v>
                </c:pt>
                <c:pt idx="65">
                  <c:v>2016Q4</c:v>
                </c:pt>
                <c:pt idx="66">
                  <c:v>2017Q1</c:v>
                </c:pt>
                <c:pt idx="67">
                  <c:v>2017Q2</c:v>
                </c:pt>
                <c:pt idx="68">
                  <c:v>2017Q3</c:v>
                </c:pt>
                <c:pt idx="69">
                  <c:v>2017Q4</c:v>
                </c:pt>
                <c:pt idx="70">
                  <c:v>2018Q1</c:v>
                </c:pt>
                <c:pt idx="71">
                  <c:v>2018Q2</c:v>
                </c:pt>
                <c:pt idx="72">
                  <c:v>2018Q3</c:v>
                </c:pt>
                <c:pt idx="73">
                  <c:v>2018Q4</c:v>
                </c:pt>
                <c:pt idx="74">
                  <c:v>2019Q1</c:v>
                </c:pt>
                <c:pt idx="75">
                  <c:v>2019Q2</c:v>
                </c:pt>
                <c:pt idx="76">
                  <c:v>2019Q3</c:v>
                </c:pt>
                <c:pt idx="77">
                  <c:v>2019Q4</c:v>
                </c:pt>
                <c:pt idx="78">
                  <c:v>2020Q1</c:v>
                </c:pt>
                <c:pt idx="79">
                  <c:v>2020Q2</c:v>
                </c:pt>
                <c:pt idx="80">
                  <c:v>2020Q3</c:v>
                </c:pt>
                <c:pt idx="81">
                  <c:v>2020Q4</c:v>
                </c:pt>
                <c:pt idx="82">
                  <c:v>2021Q1</c:v>
                </c:pt>
                <c:pt idx="83">
                  <c:v>2021Q2</c:v>
                </c:pt>
                <c:pt idx="84">
                  <c:v>2021Q3</c:v>
                </c:pt>
                <c:pt idx="85">
                  <c:v>2021Q4</c:v>
                </c:pt>
                <c:pt idx="86">
                  <c:v>2022Q1</c:v>
                </c:pt>
                <c:pt idx="87">
                  <c:v>2022Q2</c:v>
                </c:pt>
                <c:pt idx="88">
                  <c:v>2022Q3</c:v>
                </c:pt>
                <c:pt idx="89">
                  <c:v>2022Q4</c:v>
                </c:pt>
                <c:pt idx="90">
                  <c:v>2023Q1</c:v>
                </c:pt>
                <c:pt idx="91">
                  <c:v>2023Q2</c:v>
                </c:pt>
                <c:pt idx="92">
                  <c:v>2023Q3</c:v>
                </c:pt>
                <c:pt idx="93">
                  <c:v>2023Q4</c:v>
                </c:pt>
                <c:pt idx="94">
                  <c:v>2024Q1</c:v>
                </c:pt>
                <c:pt idx="95">
                  <c:v>2024Q2</c:v>
                </c:pt>
                <c:pt idx="96">
                  <c:v>2024Q3</c:v>
                </c:pt>
                <c:pt idx="97">
                  <c:v>2024Q4</c:v>
                </c:pt>
              </c:strCache>
            </c:strRef>
          </c:cat>
          <c:val>
            <c:numRef>
              <c:f>Tabelle1!$B$2:$B$99</c:f>
              <c:numCache>
                <c:formatCode>0.0%</c:formatCode>
                <c:ptCount val="98"/>
                <c:pt idx="0">
                  <c:v>-6.1420000000000002E-2</c:v>
                </c:pt>
                <c:pt idx="1">
                  <c:v>3.6510000000000001E-2</c:v>
                </c:pt>
                <c:pt idx="2">
                  <c:v>-6.676E-2</c:v>
                </c:pt>
                <c:pt idx="3">
                  <c:v>9.731999999999999E-2</c:v>
                </c:pt>
                <c:pt idx="4">
                  <c:v>-6.2950000000000006E-2</c:v>
                </c:pt>
                <c:pt idx="5">
                  <c:v>2.9830000000000002E-2</c:v>
                </c:pt>
                <c:pt idx="6">
                  <c:v>-8.2430000000000003E-2</c:v>
                </c:pt>
                <c:pt idx="7">
                  <c:v>0.10215999999999999</c:v>
                </c:pt>
                <c:pt idx="8">
                  <c:v>-2.9350000000000001E-2</c:v>
                </c:pt>
                <c:pt idx="9">
                  <c:v>4.1680000000000002E-2</c:v>
                </c:pt>
                <c:pt idx="10">
                  <c:v>-7.1260000000000004E-2</c:v>
                </c:pt>
                <c:pt idx="11">
                  <c:v>8.2959999999999992E-2</c:v>
                </c:pt>
                <c:pt idx="12">
                  <c:v>-4.2969999999999994E-2</c:v>
                </c:pt>
                <c:pt idx="13">
                  <c:v>1.8110000000000001E-2</c:v>
                </c:pt>
                <c:pt idx="14">
                  <c:v>-5.3879999999999997E-2</c:v>
                </c:pt>
                <c:pt idx="15">
                  <c:v>7.5149999999999995E-2</c:v>
                </c:pt>
                <c:pt idx="16">
                  <c:v>-6.5040000000000001E-2</c:v>
                </c:pt>
                <c:pt idx="17">
                  <c:v>4.1779999999999998E-2</c:v>
                </c:pt>
                <c:pt idx="18">
                  <c:v>-6.6830000000000001E-2</c:v>
                </c:pt>
                <c:pt idx="19">
                  <c:v>8.7179999999999994E-2</c:v>
                </c:pt>
                <c:pt idx="20">
                  <c:v>-3.1480000000000001E-2</c:v>
                </c:pt>
                <c:pt idx="21">
                  <c:v>2.2360000000000001E-2</c:v>
                </c:pt>
                <c:pt idx="22">
                  <c:v>-7.8960000000000002E-2</c:v>
                </c:pt>
                <c:pt idx="23">
                  <c:v>9.2669999999999988E-2</c:v>
                </c:pt>
                <c:pt idx="24">
                  <c:v>-4.437E-2</c:v>
                </c:pt>
                <c:pt idx="25">
                  <c:v>2.4550000000000002E-2</c:v>
                </c:pt>
                <c:pt idx="26">
                  <c:v>-6.055E-2</c:v>
                </c:pt>
                <c:pt idx="27">
                  <c:v>7.3859999999999995E-2</c:v>
                </c:pt>
                <c:pt idx="28">
                  <c:v>-4.2750000000000003E-2</c:v>
                </c:pt>
                <c:pt idx="29">
                  <c:v>2.2370000000000001E-2</c:v>
                </c:pt>
                <c:pt idx="30">
                  <c:v>-7.0660000000000001E-2</c:v>
                </c:pt>
                <c:pt idx="31">
                  <c:v>8.6989999999999998E-2</c:v>
                </c:pt>
                <c:pt idx="32">
                  <c:v>-4.1589999999999995E-2</c:v>
                </c:pt>
                <c:pt idx="33">
                  <c:v>-1.098E-2</c:v>
                </c:pt>
                <c:pt idx="34">
                  <c:v>-3.3279999999999997E-2</c:v>
                </c:pt>
                <c:pt idx="35">
                  <c:v>9.3279999999999988E-2</c:v>
                </c:pt>
                <c:pt idx="36">
                  <c:v>-4.5410000000000006E-2</c:v>
                </c:pt>
                <c:pt idx="37">
                  <c:v>2.094E-2</c:v>
                </c:pt>
                <c:pt idx="38">
                  <c:v>-4.8529999999999997E-2</c:v>
                </c:pt>
                <c:pt idx="39">
                  <c:v>9.4499999999999987E-2</c:v>
                </c:pt>
                <c:pt idx="40">
                  <c:v>-5.3449999999999998E-2</c:v>
                </c:pt>
                <c:pt idx="41">
                  <c:v>1.4800000000000001E-2</c:v>
                </c:pt>
                <c:pt idx="42">
                  <c:v>-4.1749999999999995E-2</c:v>
                </c:pt>
                <c:pt idx="43">
                  <c:v>8.8040000000000007E-2</c:v>
                </c:pt>
                <c:pt idx="44">
                  <c:v>-5.2750000000000005E-2</c:v>
                </c:pt>
                <c:pt idx="45">
                  <c:v>2.0279999999999999E-2</c:v>
                </c:pt>
                <c:pt idx="46">
                  <c:v>-2.6849999999999999E-2</c:v>
                </c:pt>
                <c:pt idx="47">
                  <c:v>6.8360000000000004E-2</c:v>
                </c:pt>
                <c:pt idx="48">
                  <c:v>-5.8479999999999997E-2</c:v>
                </c:pt>
                <c:pt idx="49">
                  <c:v>2.4029999999999999E-2</c:v>
                </c:pt>
                <c:pt idx="50">
                  <c:v>-3.4460000000000005E-2</c:v>
                </c:pt>
                <c:pt idx="51">
                  <c:v>7.3440000000000005E-2</c:v>
                </c:pt>
                <c:pt idx="52">
                  <c:v>-5.1840000000000004E-2</c:v>
                </c:pt>
                <c:pt idx="53">
                  <c:v>1.9779999999999999E-2</c:v>
                </c:pt>
                <c:pt idx="54">
                  <c:v>-3.7420000000000002E-2</c:v>
                </c:pt>
                <c:pt idx="55">
                  <c:v>6.6729999999999998E-2</c:v>
                </c:pt>
                <c:pt idx="56">
                  <c:v>-4.3520000000000003E-2</c:v>
                </c:pt>
                <c:pt idx="57">
                  <c:v>2.2450000000000001E-2</c:v>
                </c:pt>
                <c:pt idx="58">
                  <c:v>-4.2430000000000002E-2</c:v>
                </c:pt>
                <c:pt idx="59">
                  <c:v>6.855E-2</c:v>
                </c:pt>
                <c:pt idx="60">
                  <c:v>-4.3949999999999996E-2</c:v>
                </c:pt>
                <c:pt idx="61">
                  <c:v>1.09E-2</c:v>
                </c:pt>
                <c:pt idx="62">
                  <c:v>-3.1530000000000002E-2</c:v>
                </c:pt>
                <c:pt idx="63">
                  <c:v>6.0830000000000002E-2</c:v>
                </c:pt>
                <c:pt idx="64">
                  <c:v>-4.249E-2</c:v>
                </c:pt>
                <c:pt idx="65">
                  <c:v>9.4900000000000002E-3</c:v>
                </c:pt>
                <c:pt idx="66">
                  <c:v>-3.9940000000000003E-2</c:v>
                </c:pt>
                <c:pt idx="67">
                  <c:v>6.6220000000000001E-2</c:v>
                </c:pt>
                <c:pt idx="68">
                  <c:v>-4.172E-2</c:v>
                </c:pt>
                <c:pt idx="69">
                  <c:v>8.0300000000000007E-3</c:v>
                </c:pt>
                <c:pt idx="70">
                  <c:v>-3.7839999999999999E-2</c:v>
                </c:pt>
                <c:pt idx="71">
                  <c:v>6.724999999999999E-2</c:v>
                </c:pt>
                <c:pt idx="72">
                  <c:v>-4.2160000000000003E-2</c:v>
                </c:pt>
                <c:pt idx="73">
                  <c:v>3.1700000000000001E-3</c:v>
                </c:pt>
                <c:pt idx="74">
                  <c:v>-2.7810000000000001E-2</c:v>
                </c:pt>
                <c:pt idx="75">
                  <c:v>6.5419999999999992E-2</c:v>
                </c:pt>
                <c:pt idx="76">
                  <c:v>-4.061E-2</c:v>
                </c:pt>
                <c:pt idx="77">
                  <c:v>5.3300000000000005E-3</c:v>
                </c:pt>
                <c:pt idx="78">
                  <c:v>-2.9449999999999997E-2</c:v>
                </c:pt>
                <c:pt idx="79">
                  <c:v>8.3519999999999997E-2</c:v>
                </c:pt>
                <c:pt idx="80">
                  <c:v>-4.4219999999999995E-2</c:v>
                </c:pt>
                <c:pt idx="81">
                  <c:v>-3.2660000000000002E-2</c:v>
                </c:pt>
                <c:pt idx="82">
                  <c:v>1.847E-2</c:v>
                </c:pt>
                <c:pt idx="83">
                  <c:v>5.2350000000000001E-2</c:v>
                </c:pt>
                <c:pt idx="84">
                  <c:v>-3.6420000000000001E-2</c:v>
                </c:pt>
                <c:pt idx="85">
                  <c:v>-1.0200000000000001E-2</c:v>
                </c:pt>
                <c:pt idx="86">
                  <c:v>-7.5100000000000002E-3</c:v>
                </c:pt>
                <c:pt idx="87">
                  <c:v>5.373E-2</c:v>
                </c:pt>
                <c:pt idx="88">
                  <c:v>-4.0830000000000005E-2</c:v>
                </c:pt>
                <c:pt idx="89">
                  <c:v>-4.0200000000000001E-3</c:v>
                </c:pt>
                <c:pt idx="90">
                  <c:v>-1.5569999999999999E-2</c:v>
                </c:pt>
                <c:pt idx="91">
                  <c:v>5.9569999999999998E-2</c:v>
                </c:pt>
                <c:pt idx="92">
                  <c:v>-3.3750000000000002E-2</c:v>
                </c:pt>
                <c:pt idx="93">
                  <c:v>-8.5900000000000004E-3</c:v>
                </c:pt>
                <c:pt idx="94">
                  <c:v>-1.3819999999999999E-2</c:v>
                </c:pt>
                <c:pt idx="95">
                  <c:v>5.4710000000000002E-2</c:v>
                </c:pt>
                <c:pt idx="96">
                  <c:v>-3.8620000000000002E-2</c:v>
                </c:pt>
                <c:pt idx="97">
                  <c:v>-9.2300000000000004E-3</c:v>
                </c:pt>
              </c:numCache>
            </c:numRef>
          </c:val>
          <c:smooth val="0"/>
          <c:extLst>
            <c:ext xmlns:c16="http://schemas.microsoft.com/office/drawing/2014/chart" uri="{C3380CC4-5D6E-409C-BE32-E72D297353CC}">
              <c16:uniqueId val="{00000000-01E6-7F45-BE0E-E823F4CA376D}"/>
            </c:ext>
          </c:extLst>
        </c:ser>
        <c:ser>
          <c:idx val="1"/>
          <c:order val="1"/>
          <c:tx>
            <c:strRef>
              <c:f>Tabelle1!$B$1</c:f>
              <c:strCache>
                <c:ptCount val="1"/>
                <c:pt idx="0">
                  <c:v>ŷt (Modell)</c:v>
                </c:pt>
              </c:strCache>
            </c:strRef>
          </c:tx>
          <c:spPr>
            <a:ln w="25400">
              <a:solidFill>
                <a:srgbClr val="C00000"/>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strRef>
              <c:f>Tabelle1!$A$2:$A$99</c:f>
              <c:strCache>
                <c:ptCount val="98"/>
                <c:pt idx="0">
                  <c:v>2000Q3</c:v>
                </c:pt>
                <c:pt idx="1">
                  <c:v>2000Q4</c:v>
                </c:pt>
                <c:pt idx="2">
                  <c:v>2001Q1</c:v>
                </c:pt>
                <c:pt idx="3">
                  <c:v>2001Q2</c:v>
                </c:pt>
                <c:pt idx="4">
                  <c:v>2001Q3</c:v>
                </c:pt>
                <c:pt idx="5">
                  <c:v>2001Q4</c:v>
                </c:pt>
                <c:pt idx="6">
                  <c:v>2002Q1</c:v>
                </c:pt>
                <c:pt idx="7">
                  <c:v>2002Q2</c:v>
                </c:pt>
                <c:pt idx="8">
                  <c:v>2002Q3</c:v>
                </c:pt>
                <c:pt idx="9">
                  <c:v>2002Q4</c:v>
                </c:pt>
                <c:pt idx="10">
                  <c:v>2003Q1</c:v>
                </c:pt>
                <c:pt idx="11">
                  <c:v>2003Q2</c:v>
                </c:pt>
                <c:pt idx="12">
                  <c:v>2003Q3</c:v>
                </c:pt>
                <c:pt idx="13">
                  <c:v>2003Q4</c:v>
                </c:pt>
                <c:pt idx="14">
                  <c:v>2004Q1</c:v>
                </c:pt>
                <c:pt idx="15">
                  <c:v>2004Q2</c:v>
                </c:pt>
                <c:pt idx="16">
                  <c:v>2004Q3</c:v>
                </c:pt>
                <c:pt idx="17">
                  <c:v>2004Q4</c:v>
                </c:pt>
                <c:pt idx="18">
                  <c:v>2005Q1</c:v>
                </c:pt>
                <c:pt idx="19">
                  <c:v>2005Q2</c:v>
                </c:pt>
                <c:pt idx="20">
                  <c:v>2005Q3</c:v>
                </c:pt>
                <c:pt idx="21">
                  <c:v>2005Q4</c:v>
                </c:pt>
                <c:pt idx="22">
                  <c:v>2006Q1</c:v>
                </c:pt>
                <c:pt idx="23">
                  <c:v>2006Q2</c:v>
                </c:pt>
                <c:pt idx="24">
                  <c:v>2006Q3</c:v>
                </c:pt>
                <c:pt idx="25">
                  <c:v>2006Q4</c:v>
                </c:pt>
                <c:pt idx="26">
                  <c:v>2007Q1</c:v>
                </c:pt>
                <c:pt idx="27">
                  <c:v>2007Q2</c:v>
                </c:pt>
                <c:pt idx="28">
                  <c:v>2007Q3</c:v>
                </c:pt>
                <c:pt idx="29">
                  <c:v>2007Q4</c:v>
                </c:pt>
                <c:pt idx="30">
                  <c:v>2008Q1</c:v>
                </c:pt>
                <c:pt idx="31">
                  <c:v>2008Q2</c:v>
                </c:pt>
                <c:pt idx="32">
                  <c:v>2008Q3</c:v>
                </c:pt>
                <c:pt idx="33">
                  <c:v>2008Q4</c:v>
                </c:pt>
                <c:pt idx="34">
                  <c:v>2009Q1</c:v>
                </c:pt>
                <c:pt idx="35">
                  <c:v>2009Q2</c:v>
                </c:pt>
                <c:pt idx="36">
                  <c:v>2009Q3</c:v>
                </c:pt>
                <c:pt idx="37">
                  <c:v>2009Q4</c:v>
                </c:pt>
                <c:pt idx="38">
                  <c:v>2010Q1</c:v>
                </c:pt>
                <c:pt idx="39">
                  <c:v>2010Q2</c:v>
                </c:pt>
                <c:pt idx="40">
                  <c:v>2010Q3</c:v>
                </c:pt>
                <c:pt idx="41">
                  <c:v>2010Q4</c:v>
                </c:pt>
                <c:pt idx="42">
                  <c:v>2011Q1</c:v>
                </c:pt>
                <c:pt idx="43">
                  <c:v>2011Q2</c:v>
                </c:pt>
                <c:pt idx="44">
                  <c:v>2011Q3</c:v>
                </c:pt>
                <c:pt idx="45">
                  <c:v>2011Q4</c:v>
                </c:pt>
                <c:pt idx="46">
                  <c:v>2012Q1</c:v>
                </c:pt>
                <c:pt idx="47">
                  <c:v>2012Q2</c:v>
                </c:pt>
                <c:pt idx="48">
                  <c:v>2012Q3</c:v>
                </c:pt>
                <c:pt idx="49">
                  <c:v>2012Q4</c:v>
                </c:pt>
                <c:pt idx="50">
                  <c:v>2013Q1</c:v>
                </c:pt>
                <c:pt idx="51">
                  <c:v>2013Q2</c:v>
                </c:pt>
                <c:pt idx="52">
                  <c:v>2013Q3</c:v>
                </c:pt>
                <c:pt idx="53">
                  <c:v>2013Q4</c:v>
                </c:pt>
                <c:pt idx="54">
                  <c:v>2014Q1</c:v>
                </c:pt>
                <c:pt idx="55">
                  <c:v>2014Q2</c:v>
                </c:pt>
                <c:pt idx="56">
                  <c:v>2014Q3</c:v>
                </c:pt>
                <c:pt idx="57">
                  <c:v>2014Q4</c:v>
                </c:pt>
                <c:pt idx="58">
                  <c:v>2015Q1</c:v>
                </c:pt>
                <c:pt idx="59">
                  <c:v>2015Q2</c:v>
                </c:pt>
                <c:pt idx="60">
                  <c:v>2015Q3</c:v>
                </c:pt>
                <c:pt idx="61">
                  <c:v>2015Q4</c:v>
                </c:pt>
                <c:pt idx="62">
                  <c:v>2016Q1</c:v>
                </c:pt>
                <c:pt idx="63">
                  <c:v>2016Q2</c:v>
                </c:pt>
                <c:pt idx="64">
                  <c:v>2016Q3</c:v>
                </c:pt>
                <c:pt idx="65">
                  <c:v>2016Q4</c:v>
                </c:pt>
                <c:pt idx="66">
                  <c:v>2017Q1</c:v>
                </c:pt>
                <c:pt idx="67">
                  <c:v>2017Q2</c:v>
                </c:pt>
                <c:pt idx="68">
                  <c:v>2017Q3</c:v>
                </c:pt>
                <c:pt idx="69">
                  <c:v>2017Q4</c:v>
                </c:pt>
                <c:pt idx="70">
                  <c:v>2018Q1</c:v>
                </c:pt>
                <c:pt idx="71">
                  <c:v>2018Q2</c:v>
                </c:pt>
                <c:pt idx="72">
                  <c:v>2018Q3</c:v>
                </c:pt>
                <c:pt idx="73">
                  <c:v>2018Q4</c:v>
                </c:pt>
                <c:pt idx="74">
                  <c:v>2019Q1</c:v>
                </c:pt>
                <c:pt idx="75">
                  <c:v>2019Q2</c:v>
                </c:pt>
                <c:pt idx="76">
                  <c:v>2019Q3</c:v>
                </c:pt>
                <c:pt idx="77">
                  <c:v>2019Q4</c:v>
                </c:pt>
                <c:pt idx="78">
                  <c:v>2020Q1</c:v>
                </c:pt>
                <c:pt idx="79">
                  <c:v>2020Q2</c:v>
                </c:pt>
                <c:pt idx="80">
                  <c:v>2020Q3</c:v>
                </c:pt>
                <c:pt idx="81">
                  <c:v>2020Q4</c:v>
                </c:pt>
                <c:pt idx="82">
                  <c:v>2021Q1</c:v>
                </c:pt>
                <c:pt idx="83">
                  <c:v>2021Q2</c:v>
                </c:pt>
                <c:pt idx="84">
                  <c:v>2021Q3</c:v>
                </c:pt>
                <c:pt idx="85">
                  <c:v>2021Q4</c:v>
                </c:pt>
                <c:pt idx="86">
                  <c:v>2022Q1</c:v>
                </c:pt>
                <c:pt idx="87">
                  <c:v>2022Q2</c:v>
                </c:pt>
                <c:pt idx="88">
                  <c:v>2022Q3</c:v>
                </c:pt>
                <c:pt idx="89">
                  <c:v>2022Q4</c:v>
                </c:pt>
                <c:pt idx="90">
                  <c:v>2023Q1</c:v>
                </c:pt>
                <c:pt idx="91">
                  <c:v>2023Q2</c:v>
                </c:pt>
                <c:pt idx="92">
                  <c:v>2023Q3</c:v>
                </c:pt>
                <c:pt idx="93">
                  <c:v>2023Q4</c:v>
                </c:pt>
                <c:pt idx="94">
                  <c:v>2024Q1</c:v>
                </c:pt>
                <c:pt idx="95">
                  <c:v>2024Q2</c:v>
                </c:pt>
                <c:pt idx="96">
                  <c:v>2024Q3</c:v>
                </c:pt>
                <c:pt idx="97">
                  <c:v>2024Q4</c:v>
                </c:pt>
              </c:strCache>
            </c:strRef>
          </c:cat>
          <c:val>
            <c:numRef>
              <c:f>Tabelle1!$C$2:$C$99</c:f>
              <c:numCache>
                <c:formatCode>0.0%</c:formatCode>
                <c:ptCount val="98"/>
                <c:pt idx="0">
                  <c:v>-6.4140000000000003E-2</c:v>
                </c:pt>
                <c:pt idx="1">
                  <c:v>4.8059999999999999E-2</c:v>
                </c:pt>
                <c:pt idx="2">
                  <c:v>-2.733E-2</c:v>
                </c:pt>
                <c:pt idx="3">
                  <c:v>5.2169999999999994E-2</c:v>
                </c:pt>
                <c:pt idx="4">
                  <c:v>-7.4130000000000001E-2</c:v>
                </c:pt>
                <c:pt idx="5">
                  <c:v>4.9230000000000003E-2</c:v>
                </c:pt>
                <c:pt idx="6">
                  <c:v>-2.2189999999999998E-2</c:v>
                </c:pt>
                <c:pt idx="7">
                  <c:v>6.4229999999999995E-2</c:v>
                </c:pt>
                <c:pt idx="8">
                  <c:v>-7.7859999999999999E-2</c:v>
                </c:pt>
                <c:pt idx="9">
                  <c:v>2.3370000000000002E-2</c:v>
                </c:pt>
                <c:pt idx="10">
                  <c:v>-3.1309999999999998E-2</c:v>
                </c:pt>
                <c:pt idx="11">
                  <c:v>5.5629999999999999E-2</c:v>
                </c:pt>
                <c:pt idx="12">
                  <c:v>-6.3090000000000007E-2</c:v>
                </c:pt>
                <c:pt idx="13">
                  <c:v>3.3860000000000001E-2</c:v>
                </c:pt>
                <c:pt idx="14">
                  <c:v>-1.3169999999999999E-2</c:v>
                </c:pt>
                <c:pt idx="15">
                  <c:v>4.2249999999999996E-2</c:v>
                </c:pt>
                <c:pt idx="16">
                  <c:v>-5.7069999999999996E-2</c:v>
                </c:pt>
                <c:pt idx="17">
                  <c:v>5.0839999999999996E-2</c:v>
                </c:pt>
                <c:pt idx="18">
                  <c:v>-3.1379999999999998E-2</c:v>
                </c:pt>
                <c:pt idx="19">
                  <c:v>5.2220000000000003E-2</c:v>
                </c:pt>
                <c:pt idx="20">
                  <c:v>-6.633E-2</c:v>
                </c:pt>
                <c:pt idx="21">
                  <c:v>2.5009999999999998E-2</c:v>
                </c:pt>
                <c:pt idx="22">
                  <c:v>-1.643E-2</c:v>
                </c:pt>
                <c:pt idx="23">
                  <c:v>6.1550000000000001E-2</c:v>
                </c:pt>
                <c:pt idx="24">
                  <c:v>-7.0559999999999998E-2</c:v>
                </c:pt>
                <c:pt idx="25">
                  <c:v>3.4929999999999996E-2</c:v>
                </c:pt>
                <c:pt idx="26">
                  <c:v>-1.8120000000000001E-2</c:v>
                </c:pt>
                <c:pt idx="27">
                  <c:v>4.7390000000000002E-2</c:v>
                </c:pt>
                <c:pt idx="28">
                  <c:v>-5.6079999999999998E-2</c:v>
                </c:pt>
                <c:pt idx="29">
                  <c:v>3.3680000000000002E-2</c:v>
                </c:pt>
                <c:pt idx="30">
                  <c:v>-1.644E-2</c:v>
                </c:pt>
                <c:pt idx="31">
                  <c:v>5.5170000000000004E-2</c:v>
                </c:pt>
                <c:pt idx="32">
                  <c:v>-6.6180000000000003E-2</c:v>
                </c:pt>
                <c:pt idx="33">
                  <c:v>3.279E-2</c:v>
                </c:pt>
                <c:pt idx="34">
                  <c:v>9.2300000000000004E-3</c:v>
                </c:pt>
                <c:pt idx="35">
                  <c:v>2.64E-2</c:v>
                </c:pt>
                <c:pt idx="36">
                  <c:v>-7.1029999999999996E-2</c:v>
                </c:pt>
                <c:pt idx="37">
                  <c:v>3.5729999999999998E-2</c:v>
                </c:pt>
                <c:pt idx="38">
                  <c:v>-1.5339999999999999E-2</c:v>
                </c:pt>
                <c:pt idx="39">
                  <c:v>3.814E-2</c:v>
                </c:pt>
                <c:pt idx="40">
                  <c:v>-7.1970000000000006E-2</c:v>
                </c:pt>
                <c:pt idx="41">
                  <c:v>4.1919999999999999E-2</c:v>
                </c:pt>
                <c:pt idx="42">
                  <c:v>-1.061E-2</c:v>
                </c:pt>
                <c:pt idx="43">
                  <c:v>3.2919999999999998E-2</c:v>
                </c:pt>
                <c:pt idx="44">
                  <c:v>-6.6989999999999994E-2</c:v>
                </c:pt>
                <c:pt idx="45">
                  <c:v>4.138E-2</c:v>
                </c:pt>
                <c:pt idx="46">
                  <c:v>-1.4830000000000001E-2</c:v>
                </c:pt>
                <c:pt idx="47">
                  <c:v>2.1440000000000001E-2</c:v>
                </c:pt>
                <c:pt idx="48">
                  <c:v>-5.1849999999999993E-2</c:v>
                </c:pt>
                <c:pt idx="49">
                  <c:v>4.5789999999999997E-2</c:v>
                </c:pt>
                <c:pt idx="50">
                  <c:v>-1.772E-2</c:v>
                </c:pt>
                <c:pt idx="51">
                  <c:v>2.7300000000000001E-2</c:v>
                </c:pt>
                <c:pt idx="52">
                  <c:v>-5.5759999999999997E-2</c:v>
                </c:pt>
                <c:pt idx="53">
                  <c:v>4.0679999999999994E-2</c:v>
                </c:pt>
                <c:pt idx="54">
                  <c:v>-1.4450000000000001E-2</c:v>
                </c:pt>
                <c:pt idx="55">
                  <c:v>2.9580000000000002E-2</c:v>
                </c:pt>
                <c:pt idx="56">
                  <c:v>-5.0590000000000003E-2</c:v>
                </c:pt>
                <c:pt idx="57">
                  <c:v>3.4279999999999998E-2</c:v>
                </c:pt>
                <c:pt idx="58">
                  <c:v>-1.6500000000000001E-2</c:v>
                </c:pt>
                <c:pt idx="59">
                  <c:v>3.3439999999999998E-2</c:v>
                </c:pt>
                <c:pt idx="60">
                  <c:v>-5.1990000000000001E-2</c:v>
                </c:pt>
                <c:pt idx="61">
                  <c:v>3.4610000000000002E-2</c:v>
                </c:pt>
                <c:pt idx="62">
                  <c:v>-7.62E-3</c:v>
                </c:pt>
                <c:pt idx="63">
                  <c:v>2.504E-2</c:v>
                </c:pt>
                <c:pt idx="64">
                  <c:v>-4.6050000000000008E-2</c:v>
                </c:pt>
                <c:pt idx="65">
                  <c:v>3.3479999999999996E-2</c:v>
                </c:pt>
                <c:pt idx="66">
                  <c:v>-6.5300000000000002E-3</c:v>
                </c:pt>
                <c:pt idx="67">
                  <c:v>3.1519999999999999E-2</c:v>
                </c:pt>
                <c:pt idx="68">
                  <c:v>-5.0189999999999999E-2</c:v>
                </c:pt>
                <c:pt idx="69">
                  <c:v>3.2890000000000003E-2</c:v>
                </c:pt>
                <c:pt idx="70">
                  <c:v>-5.4100000000000007E-3</c:v>
                </c:pt>
                <c:pt idx="71">
                  <c:v>2.9900000000000003E-2</c:v>
                </c:pt>
                <c:pt idx="72">
                  <c:v>-5.0990000000000001E-2</c:v>
                </c:pt>
                <c:pt idx="73">
                  <c:v>3.3230000000000003E-2</c:v>
                </c:pt>
                <c:pt idx="74">
                  <c:v>-1.66E-3</c:v>
                </c:pt>
                <c:pt idx="75">
                  <c:v>2.2179999999999998E-2</c:v>
                </c:pt>
                <c:pt idx="76">
                  <c:v>-4.9579999999999999E-2</c:v>
                </c:pt>
                <c:pt idx="77">
                  <c:v>3.2039999999999999E-2</c:v>
                </c:pt>
                <c:pt idx="78">
                  <c:v>-3.3300000000000001E-3</c:v>
                </c:pt>
                <c:pt idx="79">
                  <c:v>2.3439999999999999E-2</c:v>
                </c:pt>
                <c:pt idx="80">
                  <c:v>-6.3520000000000007E-2</c:v>
                </c:pt>
                <c:pt idx="81">
                  <c:v>3.4810000000000001E-2</c:v>
                </c:pt>
                <c:pt idx="82">
                  <c:v>2.5910000000000002E-2</c:v>
                </c:pt>
                <c:pt idx="83">
                  <c:v>-1.3440000000000001E-2</c:v>
                </c:pt>
                <c:pt idx="84">
                  <c:v>-3.952E-2</c:v>
                </c:pt>
                <c:pt idx="85">
                  <c:v>2.8809999999999999E-2</c:v>
                </c:pt>
                <c:pt idx="86">
                  <c:v>8.6300000000000005E-3</c:v>
                </c:pt>
                <c:pt idx="87">
                  <c:v>6.5599999999999999E-3</c:v>
                </c:pt>
                <c:pt idx="88">
                  <c:v>-4.0579999999999998E-2</c:v>
                </c:pt>
                <c:pt idx="89">
                  <c:v>3.2199999999999999E-2</c:v>
                </c:pt>
                <c:pt idx="90">
                  <c:v>3.8700000000000002E-3</c:v>
                </c:pt>
                <c:pt idx="91">
                  <c:v>1.2760000000000001E-2</c:v>
                </c:pt>
                <c:pt idx="92">
                  <c:v>-4.5080000000000002E-2</c:v>
                </c:pt>
                <c:pt idx="93">
                  <c:v>2.6749999999999999E-2</c:v>
                </c:pt>
                <c:pt idx="94">
                  <c:v>7.3899999999999999E-3</c:v>
                </c:pt>
                <c:pt idx="95">
                  <c:v>1.141E-2</c:v>
                </c:pt>
                <c:pt idx="96">
                  <c:v>-4.1329999999999999E-2</c:v>
                </c:pt>
                <c:pt idx="97">
                  <c:v>3.0510000000000002E-2</c:v>
                </c:pt>
              </c:numCache>
            </c:numRef>
          </c:val>
          <c:smooth val="0"/>
          <c:extLst>
            <c:ext xmlns:c16="http://schemas.microsoft.com/office/drawing/2014/chart" uri="{C3380CC4-5D6E-409C-BE32-E72D297353CC}">
              <c16:uniqueId val="{00000000-6098-F148-9299-7A8B4B8E11AC}"/>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0.00" sourceLinked="0"/>
        <c:majorTickMark val="out"/>
        <c:minorTickMark val="none"/>
        <c:tickLblPos val="nextTo"/>
        <c:spPr>
          <a:ln w="9525">
            <a:solidFill>
              <a:srgbClr val="B3BC9A"/>
            </a:solidFill>
          </a:ln>
        </c:spPr>
        <c:txPr>
          <a:bodyPr/>
          <a:lstStyle/>
          <a:p>
            <a:pPr>
              <a:defRPr sz="1400">
                <a:solidFill>
                  <a:srgbClr val="B4BD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b="1">
                <a:solidFill>
                  <a:srgbClr val="F2EFDA"/>
                </a:solidFill>
              </a:defRPr>
            </a:pPr>
            <a:r>
              <a:rPr lang="de-DE" sz="1600" b="1">
                <a:solidFill>
                  <a:srgbClr val="F2EFDA"/>
                </a:solidFill>
              </a:rPr>
              <a:t>Zeitreihe </a:t>
            </a:r>
            <a:r>
              <a:rPr lang="de-DE" sz="1600" b="1" err="1">
                <a:solidFill>
                  <a:srgbClr val="F2EFDA"/>
                </a:solidFill>
              </a:rPr>
              <a:t>ΔYt</a:t>
            </a:r>
            <a:endParaRPr lang="de-DE" sz="1600" b="1">
              <a:solidFill>
                <a:srgbClr val="F2EFDA"/>
              </a:solidFill>
            </a:endParaRPr>
          </a:p>
        </c:rich>
      </c:tx>
      <c:overlay val="0"/>
    </c:title>
    <c:autoTitleDeleted val="0"/>
    <c:plotArea>
      <c:layout/>
      <c:lineChart>
        <c:grouping val="standard"/>
        <c:varyColors val="0"/>
        <c:ser>
          <c:idx val="0"/>
          <c:order val="0"/>
          <c:tx>
            <c:strRef>
              <c:f>Tabelle1!$C$1</c:f>
              <c:strCache>
                <c:ptCount val="1"/>
                <c:pt idx="0">
                  <c:v>ΔYt (real)</c:v>
                </c:pt>
              </c:strCache>
            </c:strRef>
          </c:tx>
          <c:spPr>
            <a:ln w="25400">
              <a:solidFill>
                <a:srgbClr val="78A2F9"/>
              </a:solidFill>
            </a:ln>
          </c:spPr>
          <c:marker>
            <c:symbol val="none"/>
          </c:marker>
          <c:dLbls>
            <c:spPr>
              <a:noFill/>
              <a:ln>
                <a:noFill/>
              </a:ln>
              <a:effectLst/>
            </c:spPr>
            <c:showLegendKey val="0"/>
            <c:showVal val="0"/>
            <c:showCatName val="0"/>
            <c:showSerName val="0"/>
            <c:showPercent val="0"/>
            <c:showBubbleSize val="1"/>
            <c:showLeaderLines val="0"/>
            <c:extLst>
              <c:ext xmlns:c15="http://schemas.microsoft.com/office/drawing/2012/chart" uri="{CE6537A1-D6FC-4f65-9D91-7224C49458BB}">
                <c15:showLeaderLines val="0"/>
              </c:ext>
            </c:extLst>
          </c:dLbls>
          <c:cat>
            <c:strRef>
              <c:f>Tabelle1!$A$2:$A$99</c:f>
              <c:strCache>
                <c:ptCount val="98"/>
                <c:pt idx="0">
                  <c:v>2000Q3</c:v>
                </c:pt>
                <c:pt idx="1">
                  <c:v>2000Q4</c:v>
                </c:pt>
                <c:pt idx="2">
                  <c:v>2001Q1</c:v>
                </c:pt>
                <c:pt idx="3">
                  <c:v>2001Q2</c:v>
                </c:pt>
                <c:pt idx="4">
                  <c:v>2001Q3</c:v>
                </c:pt>
                <c:pt idx="5">
                  <c:v>2001Q4</c:v>
                </c:pt>
                <c:pt idx="6">
                  <c:v>2002Q1</c:v>
                </c:pt>
                <c:pt idx="7">
                  <c:v>2002Q2</c:v>
                </c:pt>
                <c:pt idx="8">
                  <c:v>2002Q3</c:v>
                </c:pt>
                <c:pt idx="9">
                  <c:v>2002Q4</c:v>
                </c:pt>
                <c:pt idx="10">
                  <c:v>2003Q1</c:v>
                </c:pt>
                <c:pt idx="11">
                  <c:v>2003Q2</c:v>
                </c:pt>
                <c:pt idx="12">
                  <c:v>2003Q3</c:v>
                </c:pt>
                <c:pt idx="13">
                  <c:v>2003Q4</c:v>
                </c:pt>
                <c:pt idx="14">
                  <c:v>2004Q1</c:v>
                </c:pt>
                <c:pt idx="15">
                  <c:v>2004Q2</c:v>
                </c:pt>
                <c:pt idx="16">
                  <c:v>2004Q3</c:v>
                </c:pt>
                <c:pt idx="17">
                  <c:v>2004Q4</c:v>
                </c:pt>
                <c:pt idx="18">
                  <c:v>2005Q1</c:v>
                </c:pt>
                <c:pt idx="19">
                  <c:v>2005Q2</c:v>
                </c:pt>
                <c:pt idx="20">
                  <c:v>2005Q3</c:v>
                </c:pt>
                <c:pt idx="21">
                  <c:v>2005Q4</c:v>
                </c:pt>
                <c:pt idx="22">
                  <c:v>2006Q1</c:v>
                </c:pt>
                <c:pt idx="23">
                  <c:v>2006Q2</c:v>
                </c:pt>
                <c:pt idx="24">
                  <c:v>2006Q3</c:v>
                </c:pt>
                <c:pt idx="25">
                  <c:v>2006Q4</c:v>
                </c:pt>
                <c:pt idx="26">
                  <c:v>2007Q1</c:v>
                </c:pt>
                <c:pt idx="27">
                  <c:v>2007Q2</c:v>
                </c:pt>
                <c:pt idx="28">
                  <c:v>2007Q3</c:v>
                </c:pt>
                <c:pt idx="29">
                  <c:v>2007Q4</c:v>
                </c:pt>
                <c:pt idx="30">
                  <c:v>2008Q1</c:v>
                </c:pt>
                <c:pt idx="31">
                  <c:v>2008Q2</c:v>
                </c:pt>
                <c:pt idx="32">
                  <c:v>2008Q3</c:v>
                </c:pt>
                <c:pt idx="33">
                  <c:v>2008Q4</c:v>
                </c:pt>
                <c:pt idx="34">
                  <c:v>2009Q1</c:v>
                </c:pt>
                <c:pt idx="35">
                  <c:v>2009Q2</c:v>
                </c:pt>
                <c:pt idx="36">
                  <c:v>2009Q3</c:v>
                </c:pt>
                <c:pt idx="37">
                  <c:v>2009Q4</c:v>
                </c:pt>
                <c:pt idx="38">
                  <c:v>2010Q1</c:v>
                </c:pt>
                <c:pt idx="39">
                  <c:v>2010Q2</c:v>
                </c:pt>
                <c:pt idx="40">
                  <c:v>2010Q3</c:v>
                </c:pt>
                <c:pt idx="41">
                  <c:v>2010Q4</c:v>
                </c:pt>
                <c:pt idx="42">
                  <c:v>2011Q1</c:v>
                </c:pt>
                <c:pt idx="43">
                  <c:v>2011Q2</c:v>
                </c:pt>
                <c:pt idx="44">
                  <c:v>2011Q3</c:v>
                </c:pt>
                <c:pt idx="45">
                  <c:v>2011Q4</c:v>
                </c:pt>
                <c:pt idx="46">
                  <c:v>2012Q1</c:v>
                </c:pt>
                <c:pt idx="47">
                  <c:v>2012Q2</c:v>
                </c:pt>
                <c:pt idx="48">
                  <c:v>2012Q3</c:v>
                </c:pt>
                <c:pt idx="49">
                  <c:v>2012Q4</c:v>
                </c:pt>
                <c:pt idx="50">
                  <c:v>2013Q1</c:v>
                </c:pt>
                <c:pt idx="51">
                  <c:v>2013Q2</c:v>
                </c:pt>
                <c:pt idx="52">
                  <c:v>2013Q3</c:v>
                </c:pt>
                <c:pt idx="53">
                  <c:v>2013Q4</c:v>
                </c:pt>
                <c:pt idx="54">
                  <c:v>2014Q1</c:v>
                </c:pt>
                <c:pt idx="55">
                  <c:v>2014Q2</c:v>
                </c:pt>
                <c:pt idx="56">
                  <c:v>2014Q3</c:v>
                </c:pt>
                <c:pt idx="57">
                  <c:v>2014Q4</c:v>
                </c:pt>
                <c:pt idx="58">
                  <c:v>2015Q1</c:v>
                </c:pt>
                <c:pt idx="59">
                  <c:v>2015Q2</c:v>
                </c:pt>
                <c:pt idx="60">
                  <c:v>2015Q3</c:v>
                </c:pt>
                <c:pt idx="61">
                  <c:v>2015Q4</c:v>
                </c:pt>
                <c:pt idx="62">
                  <c:v>2016Q1</c:v>
                </c:pt>
                <c:pt idx="63">
                  <c:v>2016Q2</c:v>
                </c:pt>
                <c:pt idx="64">
                  <c:v>2016Q3</c:v>
                </c:pt>
                <c:pt idx="65">
                  <c:v>2016Q4</c:v>
                </c:pt>
                <c:pt idx="66">
                  <c:v>2017Q1</c:v>
                </c:pt>
                <c:pt idx="67">
                  <c:v>2017Q2</c:v>
                </c:pt>
                <c:pt idx="68">
                  <c:v>2017Q3</c:v>
                </c:pt>
                <c:pt idx="69">
                  <c:v>2017Q4</c:v>
                </c:pt>
                <c:pt idx="70">
                  <c:v>2018Q1</c:v>
                </c:pt>
                <c:pt idx="71">
                  <c:v>2018Q2</c:v>
                </c:pt>
                <c:pt idx="72">
                  <c:v>2018Q3</c:v>
                </c:pt>
                <c:pt idx="73">
                  <c:v>2018Q4</c:v>
                </c:pt>
                <c:pt idx="74">
                  <c:v>2019Q1</c:v>
                </c:pt>
                <c:pt idx="75">
                  <c:v>2019Q2</c:v>
                </c:pt>
                <c:pt idx="76">
                  <c:v>2019Q3</c:v>
                </c:pt>
                <c:pt idx="77">
                  <c:v>2019Q4</c:v>
                </c:pt>
                <c:pt idx="78">
                  <c:v>2020Q1</c:v>
                </c:pt>
                <c:pt idx="79">
                  <c:v>2020Q2</c:v>
                </c:pt>
                <c:pt idx="80">
                  <c:v>2020Q3</c:v>
                </c:pt>
                <c:pt idx="81">
                  <c:v>2020Q4</c:v>
                </c:pt>
                <c:pt idx="82">
                  <c:v>2021Q1</c:v>
                </c:pt>
                <c:pt idx="83">
                  <c:v>2021Q2</c:v>
                </c:pt>
                <c:pt idx="84">
                  <c:v>2021Q3</c:v>
                </c:pt>
                <c:pt idx="85">
                  <c:v>2021Q4</c:v>
                </c:pt>
                <c:pt idx="86">
                  <c:v>2022Q1</c:v>
                </c:pt>
                <c:pt idx="87">
                  <c:v>2022Q2</c:v>
                </c:pt>
                <c:pt idx="88">
                  <c:v>2022Q3</c:v>
                </c:pt>
                <c:pt idx="89">
                  <c:v>2022Q4</c:v>
                </c:pt>
                <c:pt idx="90">
                  <c:v>2023Q1</c:v>
                </c:pt>
                <c:pt idx="91">
                  <c:v>2023Q2</c:v>
                </c:pt>
                <c:pt idx="92">
                  <c:v>2023Q3</c:v>
                </c:pt>
                <c:pt idx="93">
                  <c:v>2023Q4</c:v>
                </c:pt>
                <c:pt idx="94">
                  <c:v>2024Q1</c:v>
                </c:pt>
                <c:pt idx="95">
                  <c:v>2024Q2</c:v>
                </c:pt>
                <c:pt idx="96">
                  <c:v>2024Q3</c:v>
                </c:pt>
                <c:pt idx="97">
                  <c:v>2024Q4</c:v>
                </c:pt>
              </c:strCache>
            </c:strRef>
          </c:cat>
          <c:val>
            <c:numRef>
              <c:f>Tabelle1!$B$2:$B$99</c:f>
              <c:numCache>
                <c:formatCode>0.0%</c:formatCode>
                <c:ptCount val="98"/>
                <c:pt idx="0">
                  <c:v>-6.1420000000000002E-2</c:v>
                </c:pt>
                <c:pt idx="1">
                  <c:v>3.6510000000000001E-2</c:v>
                </c:pt>
                <c:pt idx="2">
                  <c:v>-6.676E-2</c:v>
                </c:pt>
                <c:pt idx="3">
                  <c:v>9.731999999999999E-2</c:v>
                </c:pt>
                <c:pt idx="4">
                  <c:v>-6.2950000000000006E-2</c:v>
                </c:pt>
                <c:pt idx="5">
                  <c:v>2.9830000000000002E-2</c:v>
                </c:pt>
                <c:pt idx="6">
                  <c:v>-8.2430000000000003E-2</c:v>
                </c:pt>
                <c:pt idx="7">
                  <c:v>0.10215999999999999</c:v>
                </c:pt>
                <c:pt idx="8">
                  <c:v>-2.9350000000000001E-2</c:v>
                </c:pt>
                <c:pt idx="9">
                  <c:v>4.1680000000000002E-2</c:v>
                </c:pt>
                <c:pt idx="10">
                  <c:v>-7.1260000000000004E-2</c:v>
                </c:pt>
                <c:pt idx="11">
                  <c:v>8.2959999999999992E-2</c:v>
                </c:pt>
                <c:pt idx="12">
                  <c:v>-4.2969999999999994E-2</c:v>
                </c:pt>
                <c:pt idx="13">
                  <c:v>1.8110000000000001E-2</c:v>
                </c:pt>
                <c:pt idx="14">
                  <c:v>-5.3879999999999997E-2</c:v>
                </c:pt>
                <c:pt idx="15">
                  <c:v>7.5149999999999995E-2</c:v>
                </c:pt>
                <c:pt idx="16">
                  <c:v>-6.5040000000000001E-2</c:v>
                </c:pt>
                <c:pt idx="17">
                  <c:v>4.1779999999999998E-2</c:v>
                </c:pt>
                <c:pt idx="18">
                  <c:v>-6.6830000000000001E-2</c:v>
                </c:pt>
                <c:pt idx="19">
                  <c:v>8.7179999999999994E-2</c:v>
                </c:pt>
                <c:pt idx="20">
                  <c:v>-3.1480000000000001E-2</c:v>
                </c:pt>
                <c:pt idx="21">
                  <c:v>2.2360000000000001E-2</c:v>
                </c:pt>
                <c:pt idx="22">
                  <c:v>-7.8960000000000002E-2</c:v>
                </c:pt>
                <c:pt idx="23">
                  <c:v>9.2669999999999988E-2</c:v>
                </c:pt>
                <c:pt idx="24">
                  <c:v>-4.437E-2</c:v>
                </c:pt>
                <c:pt idx="25">
                  <c:v>2.4550000000000002E-2</c:v>
                </c:pt>
                <c:pt idx="26">
                  <c:v>-6.055E-2</c:v>
                </c:pt>
                <c:pt idx="27">
                  <c:v>7.3859999999999995E-2</c:v>
                </c:pt>
                <c:pt idx="28">
                  <c:v>-4.2750000000000003E-2</c:v>
                </c:pt>
                <c:pt idx="29">
                  <c:v>2.2370000000000001E-2</c:v>
                </c:pt>
                <c:pt idx="30">
                  <c:v>-7.0660000000000001E-2</c:v>
                </c:pt>
                <c:pt idx="31">
                  <c:v>8.6989999999999998E-2</c:v>
                </c:pt>
                <c:pt idx="32">
                  <c:v>-4.1589999999999995E-2</c:v>
                </c:pt>
                <c:pt idx="33">
                  <c:v>-1.098E-2</c:v>
                </c:pt>
                <c:pt idx="34">
                  <c:v>-3.3279999999999997E-2</c:v>
                </c:pt>
                <c:pt idx="35">
                  <c:v>9.3279999999999988E-2</c:v>
                </c:pt>
                <c:pt idx="36">
                  <c:v>-4.5410000000000006E-2</c:v>
                </c:pt>
                <c:pt idx="37">
                  <c:v>2.094E-2</c:v>
                </c:pt>
                <c:pt idx="38">
                  <c:v>-4.8529999999999997E-2</c:v>
                </c:pt>
                <c:pt idx="39">
                  <c:v>9.4499999999999987E-2</c:v>
                </c:pt>
                <c:pt idx="40">
                  <c:v>-5.3449999999999998E-2</c:v>
                </c:pt>
                <c:pt idx="41">
                  <c:v>1.4800000000000001E-2</c:v>
                </c:pt>
                <c:pt idx="42">
                  <c:v>-4.1749999999999995E-2</c:v>
                </c:pt>
                <c:pt idx="43">
                  <c:v>8.8040000000000007E-2</c:v>
                </c:pt>
                <c:pt idx="44">
                  <c:v>-5.2750000000000005E-2</c:v>
                </c:pt>
                <c:pt idx="45">
                  <c:v>2.0279999999999999E-2</c:v>
                </c:pt>
                <c:pt idx="46">
                  <c:v>-2.6849999999999999E-2</c:v>
                </c:pt>
                <c:pt idx="47">
                  <c:v>6.8360000000000004E-2</c:v>
                </c:pt>
                <c:pt idx="48">
                  <c:v>-5.8479999999999997E-2</c:v>
                </c:pt>
                <c:pt idx="49">
                  <c:v>2.4029999999999999E-2</c:v>
                </c:pt>
                <c:pt idx="50">
                  <c:v>-3.4460000000000005E-2</c:v>
                </c:pt>
                <c:pt idx="51">
                  <c:v>7.3440000000000005E-2</c:v>
                </c:pt>
                <c:pt idx="52">
                  <c:v>-5.1840000000000004E-2</c:v>
                </c:pt>
                <c:pt idx="53">
                  <c:v>1.9779999999999999E-2</c:v>
                </c:pt>
                <c:pt idx="54">
                  <c:v>-3.7420000000000002E-2</c:v>
                </c:pt>
                <c:pt idx="55">
                  <c:v>6.6729999999999998E-2</c:v>
                </c:pt>
                <c:pt idx="56">
                  <c:v>-4.3520000000000003E-2</c:v>
                </c:pt>
                <c:pt idx="57">
                  <c:v>2.2450000000000001E-2</c:v>
                </c:pt>
                <c:pt idx="58">
                  <c:v>-4.2430000000000002E-2</c:v>
                </c:pt>
                <c:pt idx="59">
                  <c:v>6.855E-2</c:v>
                </c:pt>
                <c:pt idx="60">
                  <c:v>-4.3949999999999996E-2</c:v>
                </c:pt>
                <c:pt idx="61">
                  <c:v>1.09E-2</c:v>
                </c:pt>
                <c:pt idx="62">
                  <c:v>-3.1530000000000002E-2</c:v>
                </c:pt>
                <c:pt idx="63">
                  <c:v>6.0830000000000002E-2</c:v>
                </c:pt>
                <c:pt idx="64">
                  <c:v>-4.249E-2</c:v>
                </c:pt>
                <c:pt idx="65">
                  <c:v>9.4900000000000002E-3</c:v>
                </c:pt>
                <c:pt idx="66">
                  <c:v>-3.9940000000000003E-2</c:v>
                </c:pt>
                <c:pt idx="67">
                  <c:v>6.6220000000000001E-2</c:v>
                </c:pt>
                <c:pt idx="68">
                  <c:v>-4.172E-2</c:v>
                </c:pt>
                <c:pt idx="69">
                  <c:v>8.0300000000000007E-3</c:v>
                </c:pt>
                <c:pt idx="70">
                  <c:v>-3.7839999999999999E-2</c:v>
                </c:pt>
                <c:pt idx="71">
                  <c:v>6.724999999999999E-2</c:v>
                </c:pt>
                <c:pt idx="72">
                  <c:v>-4.2160000000000003E-2</c:v>
                </c:pt>
                <c:pt idx="73">
                  <c:v>3.1700000000000001E-3</c:v>
                </c:pt>
                <c:pt idx="74">
                  <c:v>-2.7810000000000001E-2</c:v>
                </c:pt>
                <c:pt idx="75">
                  <c:v>6.5419999999999992E-2</c:v>
                </c:pt>
                <c:pt idx="76">
                  <c:v>-4.061E-2</c:v>
                </c:pt>
                <c:pt idx="77">
                  <c:v>5.3300000000000005E-3</c:v>
                </c:pt>
                <c:pt idx="78">
                  <c:v>-2.9449999999999997E-2</c:v>
                </c:pt>
                <c:pt idx="79">
                  <c:v>8.3519999999999997E-2</c:v>
                </c:pt>
                <c:pt idx="80">
                  <c:v>-4.4219999999999995E-2</c:v>
                </c:pt>
                <c:pt idx="81">
                  <c:v>-3.2660000000000002E-2</c:v>
                </c:pt>
                <c:pt idx="82">
                  <c:v>1.847E-2</c:v>
                </c:pt>
                <c:pt idx="83">
                  <c:v>5.2350000000000001E-2</c:v>
                </c:pt>
                <c:pt idx="84">
                  <c:v>-3.6420000000000001E-2</c:v>
                </c:pt>
                <c:pt idx="85">
                  <c:v>-1.0200000000000001E-2</c:v>
                </c:pt>
                <c:pt idx="86">
                  <c:v>-7.5100000000000002E-3</c:v>
                </c:pt>
                <c:pt idx="87">
                  <c:v>5.373E-2</c:v>
                </c:pt>
                <c:pt idx="88">
                  <c:v>-4.0830000000000005E-2</c:v>
                </c:pt>
                <c:pt idx="89">
                  <c:v>-4.0200000000000001E-3</c:v>
                </c:pt>
                <c:pt idx="90">
                  <c:v>-1.5569999999999999E-2</c:v>
                </c:pt>
                <c:pt idx="91">
                  <c:v>5.9569999999999998E-2</c:v>
                </c:pt>
                <c:pt idx="92">
                  <c:v>-3.3750000000000002E-2</c:v>
                </c:pt>
                <c:pt idx="93">
                  <c:v>-8.5900000000000004E-3</c:v>
                </c:pt>
                <c:pt idx="94">
                  <c:v>-1.3819999999999999E-2</c:v>
                </c:pt>
                <c:pt idx="95">
                  <c:v>5.4710000000000002E-2</c:v>
                </c:pt>
                <c:pt idx="96">
                  <c:v>-3.8620000000000002E-2</c:v>
                </c:pt>
                <c:pt idx="97">
                  <c:v>-9.2300000000000004E-3</c:v>
                </c:pt>
              </c:numCache>
            </c:numRef>
          </c:val>
          <c:smooth val="0"/>
          <c:extLst>
            <c:ext xmlns:c16="http://schemas.microsoft.com/office/drawing/2014/chart" uri="{C3380CC4-5D6E-409C-BE32-E72D297353CC}">
              <c16:uniqueId val="{00000000-562C-ED44-B714-5284DB585611}"/>
            </c:ext>
          </c:extLst>
        </c:ser>
        <c:dLbls>
          <c:showLegendKey val="0"/>
          <c:showVal val="0"/>
          <c:showCatName val="0"/>
          <c:showSerName val="0"/>
          <c:showPercent val="0"/>
          <c:showBubbleSize val="0"/>
        </c:dLbls>
        <c:smooth val="0"/>
        <c:axId val="111111111"/>
        <c:axId val="222222222"/>
      </c:lineChart>
      <c:catAx>
        <c:axId val="111111111"/>
        <c:scaling>
          <c:orientation val="minMax"/>
        </c:scaling>
        <c:delete val="0"/>
        <c:axPos val="b"/>
        <c:numFmt formatCode="General" sourceLinked="0"/>
        <c:majorTickMark val="none"/>
        <c:minorTickMark val="none"/>
        <c:tickLblPos val="low"/>
        <c:spPr>
          <a:ln w="9525">
            <a:solidFill>
              <a:srgbClr val="B3BC9A"/>
            </a:solidFill>
          </a:ln>
        </c:spPr>
        <c:txPr>
          <a:bodyPr/>
          <a:lstStyle/>
          <a:p>
            <a:pPr>
              <a:defRPr sz="1400">
                <a:solidFill>
                  <a:srgbClr val="B3BC9A"/>
                </a:solidFill>
              </a:defRPr>
            </a:pPr>
            <a:endParaRPr lang="de-DE"/>
          </a:p>
        </c:txPr>
        <c:crossAx val="222222222"/>
        <c:crosses val="min"/>
        <c:auto val="1"/>
        <c:lblAlgn val="ctr"/>
        <c:lblOffset val="100"/>
        <c:tickLblSkip val="10"/>
        <c:tickMarkSkip val="10"/>
        <c:noMultiLvlLbl val="1"/>
      </c:catAx>
      <c:valAx>
        <c:axId val="222222222"/>
        <c:scaling>
          <c:orientation val="minMax"/>
        </c:scaling>
        <c:delete val="0"/>
        <c:axPos val="l"/>
        <c:numFmt formatCode="#,##0.00" sourceLinked="0"/>
        <c:majorTickMark val="out"/>
        <c:minorTickMark val="none"/>
        <c:tickLblPos val="nextTo"/>
        <c:spPr>
          <a:ln w="9525">
            <a:solidFill>
              <a:srgbClr val="B3BC9A"/>
            </a:solidFill>
          </a:ln>
        </c:spPr>
        <c:txPr>
          <a:bodyPr/>
          <a:lstStyle/>
          <a:p>
            <a:pPr>
              <a:defRPr sz="1400">
                <a:solidFill>
                  <a:srgbClr val="B4BD9A"/>
                </a:solidFill>
              </a:defRPr>
            </a:pPr>
            <a:endParaRPr lang="de-DE"/>
          </a:p>
        </c:txPr>
        <c:crossAx val="111111111"/>
        <c:crosses val="autoZero"/>
        <c:crossBetween val="between"/>
      </c:valAx>
    </c:plotArea>
    <c:plotVisOnly val="1"/>
    <c:dispBlanksAs val="zero"/>
    <c:showDLblsOverMax val="1"/>
  </c:chart>
  <c:spPr>
    <a:noFill/>
    <a:ln>
      <a:noFill/>
    </a:ln>
  </c:spPr>
  <c:txPr>
    <a:bodyPr/>
    <a:lstStyle/>
    <a:p>
      <a:pPr>
        <a:defRPr sz="1400">
          <a:solidFill>
            <a:srgbClr val="F2EFDA"/>
          </a:solidFill>
        </a:defRPr>
      </a:pPr>
      <a:endParaRPr lang="de-DE"/>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Sehr </a:t>
            </a:r>
            <a:r>
              <a:rPr lang="en-US" err="1"/>
              <a:t>geehrter</a:t>
            </a:r>
            <a:r>
              <a:rPr lang="en-US"/>
              <a:t> Professor Steglich, </a:t>
            </a:r>
            <a:r>
              <a:rPr lang="en-US" err="1"/>
              <a:t>sehr</a:t>
            </a:r>
            <a:r>
              <a:rPr lang="en-US"/>
              <a:t> </a:t>
            </a:r>
            <a:r>
              <a:rPr lang="en-US" err="1"/>
              <a:t>geehrter</a:t>
            </a:r>
            <a:r>
              <a:rPr lang="en-US"/>
              <a:t> Professor </a:t>
            </a:r>
            <a:r>
              <a:rPr lang="en-US" err="1"/>
              <a:t>Stollhoff</a:t>
            </a:r>
            <a:r>
              <a:rPr lang="en-US"/>
              <a:t>, ich </a:t>
            </a:r>
            <a:r>
              <a:rPr lang="en-US" err="1"/>
              <a:t>freue</a:t>
            </a:r>
            <a:r>
              <a:rPr lang="en-US"/>
              <a:t> </a:t>
            </a:r>
            <a:r>
              <a:rPr lang="en-US" err="1"/>
              <a:t>mich</a:t>
            </a:r>
            <a:r>
              <a:rPr lang="en-US"/>
              <a:t>, </a:t>
            </a:r>
            <a:r>
              <a:rPr lang="en-US" err="1"/>
              <a:t>dasss</a:t>
            </a:r>
            <a:r>
              <a:rPr lang="en-US"/>
              <a:t> ich </a:t>
            </a:r>
            <a:r>
              <a:rPr lang="en-US" err="1"/>
              <a:t>hier</a:t>
            </a:r>
            <a:r>
              <a:rPr lang="en-US"/>
              <a:t> </a:t>
            </a:r>
            <a:r>
              <a:rPr lang="en-US" err="1"/>
              <a:t>beim</a:t>
            </a:r>
            <a:r>
              <a:rPr lang="en-US"/>
              <a:t> </a:t>
            </a:r>
            <a:r>
              <a:rPr lang="en-US" err="1"/>
              <a:t>Kolloquium</a:t>
            </a:r>
            <a:r>
              <a:rPr lang="en-US"/>
              <a:t> die Möglichkeit </a:t>
            </a:r>
            <a:r>
              <a:rPr lang="en-US" err="1"/>
              <a:t>habe</a:t>
            </a:r>
            <a:r>
              <a:rPr lang="en-US"/>
              <a:t>, meine </a:t>
            </a:r>
            <a:r>
              <a:rPr lang="en-US" err="1"/>
              <a:t>Masterarbeit</a:t>
            </a:r>
            <a:r>
              <a:rPr lang="en-US"/>
              <a:t> “</a:t>
            </a:r>
            <a:r>
              <a:rPr lang="en-US" err="1"/>
              <a:t>Zeitreihenbasierte</a:t>
            </a:r>
            <a:r>
              <a:rPr lang="en-US"/>
              <a:t> </a:t>
            </a:r>
            <a:r>
              <a:rPr lang="en-US" err="1"/>
              <a:t>Analyse</a:t>
            </a:r>
            <a:r>
              <a:rPr lang="en-US"/>
              <a:t> der Dynamik von </a:t>
            </a:r>
            <a:r>
              <a:rPr lang="en-US" err="1"/>
              <a:t>Finanzkennzahlen</a:t>
            </a:r>
            <a:r>
              <a:rPr lang="en-US"/>
              <a:t> </a:t>
            </a:r>
            <a:r>
              <a:rPr lang="en-US" err="1"/>
              <a:t>börsennotierter</a:t>
            </a:r>
            <a:r>
              <a:rPr lang="en-US"/>
              <a:t> </a:t>
            </a:r>
            <a:r>
              <a:rPr lang="en-US" err="1"/>
              <a:t>Unternehmen</a:t>
            </a:r>
            <a:r>
              <a:rPr lang="en-US"/>
              <a:t>” </a:t>
            </a:r>
            <a:r>
              <a:rPr lang="en-US" err="1"/>
              <a:t>vorzustellen</a:t>
            </a:r>
            <a:r>
              <a:rPr lang="en-US"/>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FE76-30F9-E81D-C609-6B8957764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A0220-4F89-3882-C2A0-AD703044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5A11-6F13-E27F-3D78-3BCB54C24CC6}"/>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6714EC63-BC69-1CB4-4049-FB44C62C6C0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4211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1930-6BC8-FEF0-1AF1-DE584EC0A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27FD-479D-BBA6-E597-DD42073E4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106F-01DB-1314-4EF5-1A3D13F047F5}"/>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E2B0CADC-1360-0509-CABF-E77757AE30F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6794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A5CB-29CD-04CA-9734-CD726E4A0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C9F-F995-FF4A-F4F7-B629997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77D6-A7D4-0A3D-986A-43CDC82D4BB8}"/>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C40521D6-27E5-BCF1-534A-0FBB76A8C51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880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a:t>
            </a:r>
            <a:r>
              <a:rPr lang="en-US" dirty="0" err="1"/>
              <a:t>Datengrundlage</a:t>
            </a:r>
            <a:r>
              <a:rPr lang="en-US" dirty="0"/>
              <a:t> </a:t>
            </a:r>
            <a:r>
              <a:rPr lang="en-US" dirty="0" err="1"/>
              <a:t>sind</a:t>
            </a:r>
            <a:r>
              <a:rPr lang="en-US" dirty="0"/>
              <a:t> </a:t>
            </a:r>
            <a:r>
              <a:rPr lang="en-US" dirty="0" err="1"/>
              <a:t>Quartalsabschlüsse</a:t>
            </a:r>
            <a:r>
              <a:rPr lang="en-US" dirty="0"/>
              <a:t> US-</a:t>
            </a:r>
            <a:r>
              <a:rPr lang="en-US" dirty="0" err="1"/>
              <a:t>amerikanischer</a:t>
            </a:r>
            <a:r>
              <a:rPr lang="en-US" dirty="0"/>
              <a:t> </a:t>
            </a:r>
            <a:r>
              <a:rPr lang="en-US" dirty="0" err="1"/>
              <a:t>börsennotierter</a:t>
            </a:r>
            <a:r>
              <a:rPr lang="en-US" dirty="0"/>
              <a:t> </a:t>
            </a:r>
            <a:r>
              <a:rPr lang="en-US" dirty="0" err="1"/>
              <a:t>Unternehmen</a:t>
            </a:r>
            <a:r>
              <a:rPr lang="en-US" dirty="0"/>
              <a:t> </a:t>
            </a:r>
            <a:r>
              <a:rPr lang="en-US" dirty="0" err="1"/>
              <a:t>über</a:t>
            </a:r>
            <a:r>
              <a:rPr lang="en-US" dirty="0"/>
              <a:t> 25 Jahre — 100 </a:t>
            </a:r>
            <a:r>
              <a:rPr lang="en-US" dirty="0" err="1"/>
              <a:t>Quartale</a:t>
            </a:r>
            <a:r>
              <a:rPr lang="en-US" dirty="0"/>
              <a:t>, 2000–2024, via EODHD-API. Aus </a:t>
            </a:r>
            <a:r>
              <a:rPr lang="en-US" dirty="0" err="1"/>
              <a:t>knapp</a:t>
            </a:r>
            <a:r>
              <a:rPr lang="en-US" dirty="0"/>
              <a:t> 5.900 </a:t>
            </a:r>
            <a:r>
              <a:rPr lang="en-US" dirty="0" err="1"/>
              <a:t>Unternehmen</a:t>
            </a:r>
            <a:r>
              <a:rPr lang="en-US" dirty="0"/>
              <a:t> </a:t>
            </a:r>
            <a:r>
              <a:rPr lang="en-US" dirty="0" err="1"/>
              <a:t>entsteht</a:t>
            </a:r>
            <a:r>
              <a:rPr lang="en-US" dirty="0"/>
              <a:t> </a:t>
            </a:r>
            <a:r>
              <a:rPr lang="en-US" dirty="0" err="1"/>
              <a:t>über</a:t>
            </a:r>
            <a:r>
              <a:rPr lang="en-US" dirty="0"/>
              <a:t> </a:t>
            </a:r>
            <a:r>
              <a:rPr lang="en-US" dirty="0" err="1"/>
              <a:t>eine</a:t>
            </a:r>
            <a:r>
              <a:rPr lang="en-US" dirty="0"/>
              <a:t> </a:t>
            </a:r>
            <a:r>
              <a:rPr lang="en-US" dirty="0" err="1"/>
              <a:t>Filterkette</a:t>
            </a:r>
            <a:r>
              <a:rPr lang="en-US" dirty="0"/>
              <a:t> die finale </a:t>
            </a:r>
            <a:r>
              <a:rPr lang="en-US" dirty="0" err="1"/>
              <a:t>Stichprobe</a:t>
            </a:r>
            <a:r>
              <a:rPr lang="en-US" dirty="0"/>
              <a:t> von 932: </a:t>
            </a:r>
            <a:r>
              <a:rPr lang="en-US" dirty="0" err="1"/>
              <a:t>Finanzsektor</a:t>
            </a:r>
            <a:r>
              <a:rPr lang="en-US" dirty="0"/>
              <a:t> </a:t>
            </a:r>
            <a:r>
              <a:rPr lang="en-US" dirty="0" err="1"/>
              <a:t>ausgeschlossen</a:t>
            </a:r>
            <a:r>
              <a:rPr lang="en-US" dirty="0"/>
              <a:t>, ADRs </a:t>
            </a:r>
            <a:r>
              <a:rPr lang="en-US" dirty="0" err="1"/>
              <a:t>entfernt</a:t>
            </a:r>
            <a:r>
              <a:rPr lang="en-US" dirty="0"/>
              <a:t>, </a:t>
            </a:r>
            <a:r>
              <a:rPr lang="en-US" dirty="0" err="1"/>
              <a:t>Vollständigkeit</a:t>
            </a:r>
            <a:r>
              <a:rPr lang="en-US" dirty="0"/>
              <a:t>, </a:t>
            </a:r>
            <a:r>
              <a:rPr lang="en-US" dirty="0" err="1"/>
              <a:t>Winsorisierung</a:t>
            </a:r>
            <a:r>
              <a:rPr lang="en-US" dirty="0"/>
              <a:t>. Der </a:t>
            </a:r>
            <a:r>
              <a:rPr lang="en-US" dirty="0" err="1"/>
              <a:t>Vollständigkeitsfilter</a:t>
            </a:r>
            <a:r>
              <a:rPr lang="en-US" dirty="0"/>
              <a:t> </a:t>
            </a:r>
            <a:r>
              <a:rPr lang="en-US" dirty="0" err="1"/>
              <a:t>erzeugt</a:t>
            </a:r>
            <a:r>
              <a:rPr lang="en-US" dirty="0"/>
              <a:t> </a:t>
            </a:r>
            <a:r>
              <a:rPr lang="en-US" dirty="0" err="1"/>
              <a:t>einen</a:t>
            </a:r>
            <a:r>
              <a:rPr lang="en-US" dirty="0"/>
              <a:t> Survivorship Bias — </a:t>
            </a:r>
            <a:r>
              <a:rPr lang="en-US" dirty="0" err="1"/>
              <a:t>quantifiziert</a:t>
            </a:r>
            <a:r>
              <a:rPr lang="en-US" dirty="0"/>
              <a:t> und </a:t>
            </a:r>
            <a:r>
              <a:rPr lang="en-US" dirty="0" err="1"/>
              <a:t>getestet</a:t>
            </a:r>
            <a:r>
              <a:rPr lang="en-US" dirty="0"/>
              <a:t>. </a:t>
            </a:r>
            <a:r>
              <a:rPr lang="en-US" dirty="0" err="1"/>
              <a:t>Insgesamt</a:t>
            </a:r>
            <a:r>
              <a:rPr lang="en-US" dirty="0"/>
              <a:t> 6.521 </a:t>
            </a:r>
            <a:r>
              <a:rPr lang="en-US" dirty="0" err="1"/>
              <a:t>Unternehmen-Kennzahl-Kombinationen</a:t>
            </a:r>
            <a:r>
              <a:rPr lang="en-US" dirty="0"/>
              <a:t> für </a:t>
            </a:r>
            <a:r>
              <a:rPr lang="en-US" dirty="0" err="1"/>
              <a:t>sieben</a:t>
            </a:r>
            <a:r>
              <a:rPr lang="en-US" dirty="0"/>
              <a:t> </a:t>
            </a:r>
            <a:r>
              <a:rPr lang="en-US" dirty="0" err="1"/>
              <a:t>Kennzahlen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4686-FB5A-2506-28EB-A71512158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03CFF-F554-C060-35C2-B3B0018BD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E0CFA-5270-B5C5-D0E9-75523C6B8E6E}"/>
              </a:ext>
            </a:extLst>
          </p:cNvPr>
          <p:cNvSpPr>
            <a:spLocks noGrp="1"/>
          </p:cNvSpPr>
          <p:nvPr>
            <p:ph type="body" idx="1"/>
          </p:nvPr>
        </p:nvSpPr>
        <p:spPr/>
        <p:txBody>
          <a:bodyPr/>
          <a:lstStyle/>
          <a:p>
            <a:r>
              <a:rPr lang="en-US" dirty="0"/>
              <a:t>[Zeit: 1:00] </a:t>
            </a:r>
            <a:r>
              <a:rPr lang="en-US" dirty="0" err="1"/>
              <a:t>Datengrundlage</a:t>
            </a:r>
            <a:r>
              <a:rPr lang="en-US" dirty="0"/>
              <a:t> </a:t>
            </a:r>
            <a:r>
              <a:rPr lang="en-US" dirty="0" err="1"/>
              <a:t>sind</a:t>
            </a:r>
            <a:r>
              <a:rPr lang="en-US" dirty="0"/>
              <a:t> </a:t>
            </a:r>
            <a:r>
              <a:rPr lang="en-US" dirty="0" err="1"/>
              <a:t>Quartalsabschlüsse</a:t>
            </a:r>
            <a:r>
              <a:rPr lang="en-US" dirty="0"/>
              <a:t> US-</a:t>
            </a:r>
            <a:r>
              <a:rPr lang="en-US" dirty="0" err="1"/>
              <a:t>amerikanischer</a:t>
            </a:r>
            <a:r>
              <a:rPr lang="en-US" dirty="0"/>
              <a:t> </a:t>
            </a:r>
            <a:r>
              <a:rPr lang="en-US" dirty="0" err="1"/>
              <a:t>börsennotierter</a:t>
            </a:r>
            <a:r>
              <a:rPr lang="en-US" dirty="0"/>
              <a:t> </a:t>
            </a:r>
            <a:r>
              <a:rPr lang="en-US" dirty="0" err="1"/>
              <a:t>Unternehmen</a:t>
            </a:r>
            <a:r>
              <a:rPr lang="en-US" dirty="0"/>
              <a:t> </a:t>
            </a:r>
            <a:r>
              <a:rPr lang="en-US" dirty="0" err="1"/>
              <a:t>über</a:t>
            </a:r>
            <a:r>
              <a:rPr lang="en-US" dirty="0"/>
              <a:t> 25 Jahre — 100 </a:t>
            </a:r>
            <a:r>
              <a:rPr lang="en-US" dirty="0" err="1"/>
              <a:t>Quartale</a:t>
            </a:r>
            <a:r>
              <a:rPr lang="en-US" dirty="0"/>
              <a:t>, 2000–2024, via EODHD-API. Aus </a:t>
            </a:r>
            <a:r>
              <a:rPr lang="en-US" dirty="0" err="1"/>
              <a:t>knapp</a:t>
            </a:r>
            <a:r>
              <a:rPr lang="en-US" dirty="0"/>
              <a:t> 5.900 </a:t>
            </a:r>
            <a:r>
              <a:rPr lang="en-US" dirty="0" err="1"/>
              <a:t>Unternehmen</a:t>
            </a:r>
            <a:r>
              <a:rPr lang="en-US" dirty="0"/>
              <a:t> </a:t>
            </a:r>
            <a:r>
              <a:rPr lang="en-US" dirty="0" err="1"/>
              <a:t>entsteht</a:t>
            </a:r>
            <a:r>
              <a:rPr lang="en-US" dirty="0"/>
              <a:t> </a:t>
            </a:r>
            <a:r>
              <a:rPr lang="en-US" dirty="0" err="1"/>
              <a:t>über</a:t>
            </a:r>
            <a:r>
              <a:rPr lang="en-US" dirty="0"/>
              <a:t> </a:t>
            </a:r>
            <a:r>
              <a:rPr lang="en-US" dirty="0" err="1"/>
              <a:t>eine</a:t>
            </a:r>
            <a:r>
              <a:rPr lang="en-US" dirty="0"/>
              <a:t> </a:t>
            </a:r>
            <a:r>
              <a:rPr lang="en-US" dirty="0" err="1"/>
              <a:t>Filterkette</a:t>
            </a:r>
            <a:r>
              <a:rPr lang="en-US" dirty="0"/>
              <a:t> die finale </a:t>
            </a:r>
            <a:r>
              <a:rPr lang="en-US" dirty="0" err="1"/>
              <a:t>Stichprobe</a:t>
            </a:r>
            <a:r>
              <a:rPr lang="en-US" dirty="0"/>
              <a:t> von 932: </a:t>
            </a:r>
            <a:r>
              <a:rPr lang="en-US" dirty="0" err="1"/>
              <a:t>Finanzsektor</a:t>
            </a:r>
            <a:r>
              <a:rPr lang="en-US" dirty="0"/>
              <a:t> </a:t>
            </a:r>
            <a:r>
              <a:rPr lang="en-US" dirty="0" err="1"/>
              <a:t>ausgeschlossen</a:t>
            </a:r>
            <a:r>
              <a:rPr lang="en-US" dirty="0"/>
              <a:t>, ADRs </a:t>
            </a:r>
            <a:r>
              <a:rPr lang="en-US" dirty="0" err="1"/>
              <a:t>entfernt</a:t>
            </a:r>
            <a:r>
              <a:rPr lang="en-US" dirty="0"/>
              <a:t>, </a:t>
            </a:r>
            <a:r>
              <a:rPr lang="en-US" dirty="0" err="1"/>
              <a:t>Vollständigkeit</a:t>
            </a:r>
            <a:r>
              <a:rPr lang="en-US" dirty="0"/>
              <a:t>, </a:t>
            </a:r>
            <a:r>
              <a:rPr lang="en-US" dirty="0" err="1"/>
              <a:t>Winsorisierung</a:t>
            </a:r>
            <a:r>
              <a:rPr lang="en-US" dirty="0"/>
              <a:t>. Der </a:t>
            </a:r>
            <a:r>
              <a:rPr lang="en-US" dirty="0" err="1"/>
              <a:t>Vollständigkeitsfilter</a:t>
            </a:r>
            <a:r>
              <a:rPr lang="en-US" dirty="0"/>
              <a:t> </a:t>
            </a:r>
            <a:r>
              <a:rPr lang="en-US" dirty="0" err="1"/>
              <a:t>erzeugt</a:t>
            </a:r>
            <a:r>
              <a:rPr lang="en-US" dirty="0"/>
              <a:t> </a:t>
            </a:r>
            <a:r>
              <a:rPr lang="en-US" dirty="0" err="1"/>
              <a:t>einen</a:t>
            </a:r>
            <a:r>
              <a:rPr lang="en-US" dirty="0"/>
              <a:t> Survivorship Bias — </a:t>
            </a:r>
            <a:r>
              <a:rPr lang="en-US" dirty="0" err="1"/>
              <a:t>quantifiziert</a:t>
            </a:r>
            <a:r>
              <a:rPr lang="en-US" dirty="0"/>
              <a:t> und </a:t>
            </a:r>
            <a:r>
              <a:rPr lang="en-US" dirty="0" err="1"/>
              <a:t>getestet</a:t>
            </a:r>
            <a:r>
              <a:rPr lang="en-US" dirty="0"/>
              <a:t>. </a:t>
            </a:r>
            <a:r>
              <a:rPr lang="en-US" dirty="0" err="1"/>
              <a:t>Insgesamt</a:t>
            </a:r>
            <a:r>
              <a:rPr lang="en-US" dirty="0"/>
              <a:t> 6.521 </a:t>
            </a:r>
            <a:r>
              <a:rPr lang="en-US" dirty="0" err="1"/>
              <a:t>Unternehmen-Kennzahl-Kombinationen</a:t>
            </a:r>
            <a:r>
              <a:rPr lang="en-US" dirty="0"/>
              <a:t> für </a:t>
            </a:r>
            <a:r>
              <a:rPr lang="en-US" dirty="0" err="1"/>
              <a:t>sieben</a:t>
            </a:r>
            <a:r>
              <a:rPr lang="en-US" dirty="0"/>
              <a:t> </a:t>
            </a:r>
            <a:r>
              <a:rPr lang="en-US" dirty="0" err="1"/>
              <a:t>Kennzahlen</a:t>
            </a:r>
            <a:r>
              <a:rPr lang="en-US" dirty="0"/>
              <a:t>.</a:t>
            </a:r>
          </a:p>
        </p:txBody>
      </p:sp>
      <p:sp>
        <p:nvSpPr>
          <p:cNvPr id="4" name="Slide Number Placeholder 3">
            <a:extLst>
              <a:ext uri="{FF2B5EF4-FFF2-40B4-BE49-F238E27FC236}">
                <a16:creationId xmlns:a16="http://schemas.microsoft.com/office/drawing/2014/main" id="{BA6F71AB-51E4-015F-DBA0-9A35461AE67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53680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Für </a:t>
            </a:r>
            <a:r>
              <a:rPr lang="en-US" err="1"/>
              <a:t>jede</a:t>
            </a:r>
            <a:r>
              <a:rPr lang="en-US"/>
              <a:t> der 6.521 </a:t>
            </a:r>
            <a:r>
              <a:rPr lang="en-US" err="1"/>
              <a:t>Kombinationen</a:t>
            </a:r>
            <a:r>
              <a:rPr lang="en-US"/>
              <a:t> </a:t>
            </a:r>
            <a:r>
              <a:rPr lang="en-US" err="1"/>
              <a:t>schätze</a:t>
            </a:r>
            <a:r>
              <a:rPr lang="en-US"/>
              <a:t> ich </a:t>
            </a:r>
            <a:r>
              <a:rPr lang="en-US" err="1"/>
              <a:t>ein</a:t>
            </a:r>
            <a:r>
              <a:rPr lang="en-US"/>
              <a:t> AR(1)-Modell — nicht auf </a:t>
            </a:r>
            <a:r>
              <a:rPr lang="en-US" err="1"/>
              <a:t>Niveaus</a:t>
            </a:r>
            <a:r>
              <a:rPr lang="en-US"/>
              <a:t>, </a:t>
            </a:r>
            <a:r>
              <a:rPr lang="en-US" err="1"/>
              <a:t>sondern</a:t>
            </a:r>
            <a:r>
              <a:rPr lang="en-US"/>
              <a:t> auf </a:t>
            </a:r>
            <a:r>
              <a:rPr lang="en-US" err="1"/>
              <a:t>ersten</a:t>
            </a:r>
            <a:r>
              <a:rPr lang="en-US"/>
              <a:t> </a:t>
            </a:r>
            <a:r>
              <a:rPr lang="en-US" err="1"/>
              <a:t>Differenzen</a:t>
            </a:r>
            <a:r>
              <a:rPr lang="en-US"/>
              <a:t>. Drei </a:t>
            </a:r>
            <a:r>
              <a:rPr lang="en-US" err="1"/>
              <a:t>Gründe</a:t>
            </a:r>
            <a:r>
              <a:rPr lang="en-US"/>
              <a:t>: </a:t>
            </a:r>
            <a:r>
              <a:rPr lang="en-US" err="1"/>
              <a:t>direkte</a:t>
            </a:r>
            <a:r>
              <a:rPr lang="en-US"/>
              <a:t> </a:t>
            </a:r>
            <a:r>
              <a:rPr lang="en-US" err="1"/>
              <a:t>ökonomische</a:t>
            </a:r>
            <a:r>
              <a:rPr lang="en-US"/>
              <a:t> Interpretation, </a:t>
            </a:r>
            <a:r>
              <a:rPr lang="en-US" err="1"/>
              <a:t>Stationarität</a:t>
            </a:r>
            <a:r>
              <a:rPr lang="en-US"/>
              <a:t>, </a:t>
            </a:r>
            <a:r>
              <a:rPr lang="en-US" err="1"/>
              <a:t>Vergleichbarkeit</a:t>
            </a:r>
            <a:r>
              <a:rPr lang="en-US"/>
              <a:t>. Phi </a:t>
            </a:r>
            <a:r>
              <a:rPr lang="en-US" err="1"/>
              <a:t>misst</a:t>
            </a:r>
            <a:r>
              <a:rPr lang="en-US"/>
              <a:t> die </a:t>
            </a:r>
            <a:r>
              <a:rPr lang="en-US" err="1"/>
              <a:t>Autokorrelation</a:t>
            </a:r>
            <a:r>
              <a:rPr lang="en-US"/>
              <a:t> der </a:t>
            </a:r>
            <a:r>
              <a:rPr lang="en-US" err="1"/>
              <a:t>Veränderungen</a:t>
            </a:r>
            <a:r>
              <a:rPr lang="en-US"/>
              <a:t>, nicht die </a:t>
            </a:r>
            <a:r>
              <a:rPr lang="en-US" err="1"/>
              <a:t>Persistenz</a:t>
            </a:r>
            <a:r>
              <a:rPr lang="en-US"/>
              <a:t> der </a:t>
            </a:r>
            <a:r>
              <a:rPr lang="en-US" err="1"/>
              <a:t>Niveaus</a:t>
            </a:r>
            <a:r>
              <a:rPr lang="en-US"/>
              <a:t>. Aus </a:t>
            </a:r>
            <a:r>
              <a:rPr lang="en-US" err="1"/>
              <a:t>jeder</a:t>
            </a:r>
            <a:r>
              <a:rPr lang="en-US"/>
              <a:t> </a:t>
            </a:r>
            <a:r>
              <a:rPr lang="en-US" err="1"/>
              <a:t>Schätzung</a:t>
            </a:r>
            <a:r>
              <a:rPr lang="en-US"/>
              <a:t>: Phi (</a:t>
            </a:r>
            <a:r>
              <a:rPr lang="en-US" err="1"/>
              <a:t>negativ</a:t>
            </a:r>
            <a:r>
              <a:rPr lang="en-US"/>
              <a:t> = Mean-Reversion) und Sigma (</a:t>
            </a:r>
            <a:r>
              <a:rPr lang="en-US" err="1"/>
              <a:t>Volatilität</a:t>
            </a:r>
            <a:r>
              <a:rPr lang="en-US"/>
              <a:t>). Mean-Group-Ansatz </a:t>
            </a:r>
            <a:r>
              <a:rPr lang="en-US" err="1"/>
              <a:t>nach</a:t>
            </a:r>
            <a:r>
              <a:rPr lang="en-US"/>
              <a:t> </a:t>
            </a:r>
            <a:r>
              <a:rPr lang="en-US" err="1"/>
              <a:t>Pesaran</a:t>
            </a:r>
            <a:r>
              <a:rPr lang="en-US"/>
              <a:t>/Smith.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7C06-0B9B-0C67-FA9B-3F1228081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54333-E8B6-4B15-A97B-09F1D6931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29877-DFDB-8DF8-3EDE-0C50AEF34FA8}"/>
              </a:ext>
            </a:extLst>
          </p:cNvPr>
          <p:cNvSpPr>
            <a:spLocks noGrp="1"/>
          </p:cNvSpPr>
          <p:nvPr>
            <p:ph type="body" idx="1"/>
          </p:nvPr>
        </p:nvSpPr>
        <p:spPr/>
        <p:txBody>
          <a:bodyPr/>
          <a:lstStyle/>
          <a:p>
            <a:r>
              <a:rPr lang="en-US" dirty="0"/>
              <a:t>[Zeit: 1:30] Für </a:t>
            </a:r>
            <a:r>
              <a:rPr lang="en-US" dirty="0" err="1"/>
              <a:t>jede</a:t>
            </a:r>
            <a:r>
              <a:rPr lang="en-US" dirty="0"/>
              <a:t> der 6.521 </a:t>
            </a:r>
            <a:r>
              <a:rPr lang="en-US" dirty="0" err="1"/>
              <a:t>Kombinationen</a:t>
            </a:r>
            <a:r>
              <a:rPr lang="en-US" dirty="0"/>
              <a:t> </a:t>
            </a:r>
            <a:r>
              <a:rPr lang="en-US" dirty="0" err="1"/>
              <a:t>schätze</a:t>
            </a:r>
            <a:r>
              <a:rPr lang="en-US" dirty="0"/>
              <a:t> ich </a:t>
            </a:r>
            <a:r>
              <a:rPr lang="en-US" dirty="0" err="1"/>
              <a:t>ein</a:t>
            </a:r>
            <a:r>
              <a:rPr lang="en-US" dirty="0"/>
              <a:t> AR(1)-Modell — nicht auf </a:t>
            </a:r>
            <a:r>
              <a:rPr lang="en-US" dirty="0" err="1"/>
              <a:t>Niveaus</a:t>
            </a:r>
            <a:r>
              <a:rPr lang="en-US" dirty="0"/>
              <a:t>, </a:t>
            </a:r>
            <a:r>
              <a:rPr lang="en-US" dirty="0" err="1"/>
              <a:t>sondern</a:t>
            </a:r>
            <a:r>
              <a:rPr lang="en-US" dirty="0"/>
              <a:t> auf </a:t>
            </a:r>
            <a:r>
              <a:rPr lang="en-US" dirty="0" err="1"/>
              <a:t>ersten</a:t>
            </a:r>
            <a:r>
              <a:rPr lang="en-US" dirty="0"/>
              <a:t> </a:t>
            </a:r>
            <a:r>
              <a:rPr lang="en-US" dirty="0" err="1"/>
              <a:t>Differenzen</a:t>
            </a:r>
            <a:r>
              <a:rPr lang="en-US" dirty="0"/>
              <a:t>. Drei </a:t>
            </a:r>
            <a:r>
              <a:rPr lang="en-US" dirty="0" err="1"/>
              <a:t>Gründe</a:t>
            </a:r>
            <a:r>
              <a:rPr lang="en-US" dirty="0"/>
              <a:t>: </a:t>
            </a:r>
            <a:r>
              <a:rPr lang="en-US" dirty="0" err="1"/>
              <a:t>direkte</a:t>
            </a:r>
            <a:r>
              <a:rPr lang="en-US" dirty="0"/>
              <a:t> </a:t>
            </a:r>
            <a:r>
              <a:rPr lang="en-US" dirty="0" err="1"/>
              <a:t>ökonomische</a:t>
            </a:r>
            <a:r>
              <a:rPr lang="en-US" dirty="0"/>
              <a:t> Interpretation, </a:t>
            </a:r>
            <a:r>
              <a:rPr lang="en-US" dirty="0" err="1"/>
              <a:t>Stationarität</a:t>
            </a:r>
            <a:r>
              <a:rPr lang="en-US" dirty="0"/>
              <a:t>, </a:t>
            </a:r>
            <a:r>
              <a:rPr lang="en-US" dirty="0" err="1"/>
              <a:t>Vergleichbarkeit</a:t>
            </a:r>
            <a:r>
              <a:rPr lang="en-US" dirty="0"/>
              <a:t>. Phi </a:t>
            </a:r>
            <a:r>
              <a:rPr lang="en-US" dirty="0" err="1"/>
              <a:t>misst</a:t>
            </a:r>
            <a:r>
              <a:rPr lang="en-US" dirty="0"/>
              <a:t> die </a:t>
            </a:r>
            <a:r>
              <a:rPr lang="en-US" dirty="0" err="1"/>
              <a:t>Autokorrelation</a:t>
            </a:r>
            <a:r>
              <a:rPr lang="en-US" dirty="0"/>
              <a:t> der </a:t>
            </a:r>
            <a:r>
              <a:rPr lang="en-US" dirty="0" err="1"/>
              <a:t>Veränderungen</a:t>
            </a:r>
            <a:r>
              <a:rPr lang="en-US" dirty="0"/>
              <a:t>, nicht die </a:t>
            </a:r>
            <a:r>
              <a:rPr lang="en-US" dirty="0" err="1"/>
              <a:t>Persistenz</a:t>
            </a:r>
            <a:r>
              <a:rPr lang="en-US" dirty="0"/>
              <a:t> der </a:t>
            </a:r>
            <a:r>
              <a:rPr lang="en-US" dirty="0" err="1"/>
              <a:t>Niveaus</a:t>
            </a:r>
            <a:r>
              <a:rPr lang="en-US" dirty="0"/>
              <a:t>. Aus </a:t>
            </a:r>
            <a:r>
              <a:rPr lang="en-US" dirty="0" err="1"/>
              <a:t>jeder</a:t>
            </a:r>
            <a:r>
              <a:rPr lang="en-US" dirty="0"/>
              <a:t> </a:t>
            </a:r>
            <a:r>
              <a:rPr lang="en-US" dirty="0" err="1"/>
              <a:t>Schätzung</a:t>
            </a:r>
            <a:r>
              <a:rPr lang="en-US" dirty="0"/>
              <a:t>: Phi (</a:t>
            </a:r>
            <a:r>
              <a:rPr lang="en-US" dirty="0" err="1"/>
              <a:t>negativ</a:t>
            </a:r>
            <a:r>
              <a:rPr lang="en-US" dirty="0"/>
              <a:t> = Mean-Reversion) und Sigma (</a:t>
            </a:r>
            <a:r>
              <a:rPr lang="en-US" dirty="0" err="1"/>
              <a:t>Volatilität</a:t>
            </a:r>
            <a:r>
              <a:rPr lang="en-US" dirty="0"/>
              <a:t>). Mean-Group-Ansatz </a:t>
            </a:r>
            <a:r>
              <a:rPr lang="en-US" dirty="0" err="1"/>
              <a:t>nach</a:t>
            </a:r>
            <a:r>
              <a:rPr lang="en-US" dirty="0"/>
              <a:t> </a:t>
            </a:r>
            <a:r>
              <a:rPr lang="en-US" dirty="0" err="1"/>
              <a:t>Pesaran</a:t>
            </a:r>
            <a:r>
              <a:rPr lang="en-US" dirty="0"/>
              <a:t>/Smith.</a:t>
            </a:r>
          </a:p>
        </p:txBody>
      </p:sp>
      <p:sp>
        <p:nvSpPr>
          <p:cNvPr id="4" name="Slide Number Placeholder 3">
            <a:extLst>
              <a:ext uri="{FF2B5EF4-FFF2-40B4-BE49-F238E27FC236}">
                <a16:creationId xmlns:a16="http://schemas.microsoft.com/office/drawing/2014/main" id="{830003DC-4D32-48B6-CDCB-9042938184F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3366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E75A-BB37-C13D-BB92-C44330AB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260-E4F3-8611-9D04-B84F70A49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B4BC-AE4A-2415-82EC-2B20AD747123}"/>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74F70F19-3D68-9FA9-4024-C029F3658F2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24935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2E7B-470A-3CE5-C3CA-09AF0E28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F912E-5F3E-32C7-BA56-73707F3C8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7DBE-A15F-82D1-655D-EF7C9756EC97}"/>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E540E400-C29F-D0D6-0C42-55B0DCC6DA5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29684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92A4-4920-065B-7234-FEFA7229A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BED5-A8CE-05B9-D514-27E156CD1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8BEDA-7EFD-6F82-BAD0-77172F7D658A}"/>
              </a:ext>
            </a:extLst>
          </p:cNvPr>
          <p:cNvSpPr>
            <a:spLocks noGrp="1"/>
          </p:cNvSpPr>
          <p:nvPr>
            <p:ph type="body" idx="1"/>
          </p:nvPr>
        </p:nvSpPr>
        <p:spPr/>
        <p:txBody>
          <a:bodyPr/>
          <a:lstStyle/>
          <a:p>
            <a:r>
              <a:rPr lang="en-US" dirty="0"/>
              <a:t>[Zeit: 1:00] Phi und Sigma </a:t>
            </a:r>
            <a:r>
              <a:rPr lang="en-US" dirty="0" err="1"/>
              <a:t>spannen</a:t>
            </a:r>
            <a:r>
              <a:rPr lang="en-US" dirty="0"/>
              <a:t> pro </a:t>
            </a:r>
            <a:r>
              <a:rPr lang="en-US" dirty="0" err="1"/>
              <a:t>Kennzahl</a:t>
            </a:r>
            <a:r>
              <a:rPr lang="en-US" dirty="0"/>
              <a:t> </a:t>
            </a:r>
            <a:r>
              <a:rPr lang="en-US" dirty="0" err="1"/>
              <a:t>einen</a:t>
            </a:r>
            <a:r>
              <a:rPr lang="en-US" dirty="0"/>
              <a:t> Raum auf, in dem </a:t>
            </a:r>
            <a:r>
              <a:rPr lang="en-US" dirty="0" err="1"/>
              <a:t>jedes</a:t>
            </a:r>
            <a:r>
              <a:rPr lang="en-US" dirty="0"/>
              <a:t> </a:t>
            </a:r>
            <a:r>
              <a:rPr lang="en-US" dirty="0" err="1"/>
              <a:t>Unternehmen</a:t>
            </a:r>
            <a:r>
              <a:rPr lang="en-US" dirty="0"/>
              <a:t> </a:t>
            </a:r>
            <a:r>
              <a:rPr lang="en-US" dirty="0" err="1"/>
              <a:t>ein</a:t>
            </a:r>
            <a:r>
              <a:rPr lang="en-US" dirty="0"/>
              <a:t> </a:t>
            </a:r>
            <a:r>
              <a:rPr lang="en-US" dirty="0" err="1"/>
              <a:t>Punkt</a:t>
            </a:r>
            <a:r>
              <a:rPr lang="en-US" dirty="0"/>
              <a:t> </a:t>
            </a:r>
            <a:r>
              <a:rPr lang="en-US" dirty="0" err="1"/>
              <a:t>ist</a:t>
            </a:r>
            <a:r>
              <a:rPr lang="en-US" dirty="0"/>
              <a:t>. Ein Median-Split </a:t>
            </a:r>
            <a:r>
              <a:rPr lang="en-US" dirty="0" err="1"/>
              <a:t>erzeugt</a:t>
            </a:r>
            <a:r>
              <a:rPr lang="en-US" dirty="0"/>
              <a:t> vier </a:t>
            </a:r>
            <a:r>
              <a:rPr lang="en-US" dirty="0" err="1"/>
              <a:t>Dynamiktypen</a:t>
            </a:r>
            <a:r>
              <a:rPr lang="en-US" dirty="0"/>
              <a:t>: </a:t>
            </a:r>
            <a:r>
              <a:rPr lang="en-US" dirty="0" err="1"/>
              <a:t>korrektiv-stabil</a:t>
            </a:r>
            <a:r>
              <a:rPr lang="en-US" dirty="0"/>
              <a:t>, </a:t>
            </a:r>
            <a:r>
              <a:rPr lang="en-US" dirty="0" err="1"/>
              <a:t>korrektiv-volatil</a:t>
            </a:r>
            <a:r>
              <a:rPr lang="en-US" dirty="0"/>
              <a:t>, persistent-</a:t>
            </a:r>
            <a:r>
              <a:rPr lang="en-US" dirty="0" err="1"/>
              <a:t>stabil</a:t>
            </a:r>
            <a:r>
              <a:rPr lang="en-US" dirty="0"/>
              <a:t>, persistent-</a:t>
            </a:r>
            <a:r>
              <a:rPr lang="en-US" dirty="0" err="1"/>
              <a:t>volatil</a:t>
            </a:r>
            <a:r>
              <a:rPr lang="en-US" dirty="0"/>
              <a:t>. Portfolio-Sort-</a:t>
            </a:r>
            <a:r>
              <a:rPr lang="en-US" dirty="0" err="1"/>
              <a:t>Logik</a:t>
            </a:r>
            <a:r>
              <a:rPr lang="en-US" dirty="0"/>
              <a:t> </a:t>
            </a:r>
            <a:r>
              <a:rPr lang="en-US" dirty="0" err="1"/>
              <a:t>nach</a:t>
            </a:r>
            <a:r>
              <a:rPr lang="en-US" dirty="0"/>
              <a:t> Fama/French. Die </a:t>
            </a:r>
            <a:r>
              <a:rPr lang="en-US" dirty="0" err="1"/>
              <a:t>Achsen</a:t>
            </a:r>
            <a:r>
              <a:rPr lang="en-US" dirty="0"/>
              <a:t> </a:t>
            </a:r>
            <a:r>
              <a:rPr lang="en-US" dirty="0" err="1"/>
              <a:t>sind</a:t>
            </a:r>
            <a:r>
              <a:rPr lang="en-US" dirty="0"/>
              <a:t> </a:t>
            </a:r>
            <a:r>
              <a:rPr lang="en-US" dirty="0" err="1"/>
              <a:t>unabhängig</a:t>
            </a:r>
            <a:r>
              <a:rPr lang="en-US" dirty="0"/>
              <a:t>: </a:t>
            </a:r>
            <a:r>
              <a:rPr lang="en-US" dirty="0" err="1"/>
              <a:t>gemeinsame</a:t>
            </a:r>
            <a:r>
              <a:rPr lang="en-US" dirty="0"/>
              <a:t> Variation maximal </a:t>
            </a:r>
            <a:r>
              <a:rPr lang="en-US" dirty="0" err="1"/>
              <a:t>sechs</a:t>
            </a:r>
            <a:r>
              <a:rPr lang="en-US" dirty="0"/>
              <a:t> </a:t>
            </a:r>
            <a:r>
              <a:rPr lang="en-US" dirty="0" err="1"/>
              <a:t>Prozent</a:t>
            </a:r>
            <a:r>
              <a:rPr lang="en-US" dirty="0"/>
              <a:t>.</a:t>
            </a:r>
          </a:p>
        </p:txBody>
      </p:sp>
      <p:sp>
        <p:nvSpPr>
          <p:cNvPr id="4" name="Slide Number Placeholder 3">
            <a:extLst>
              <a:ext uri="{FF2B5EF4-FFF2-40B4-BE49-F238E27FC236}">
                <a16:creationId xmlns:a16="http://schemas.microsoft.com/office/drawing/2014/main" id="{53502475-0BC8-B4B3-6F88-5F4B0D0DAF9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0467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[1:00] Jetzt die Gegenprobe — und sie hat mich selbst überrascht. Die Erwartung wäre: Die Branche dominiert die Dynamik. Die Daten sagen etwas anderes: Innerhalb der Profitabilität liegen alle zehn Sektor-Mediane in einem Band von nur 0,12 — sobald die Kennzahl feststeht, rücken die Sektoren eng zusammen. Die Kennzahl schlägt den Sektor. In der Liquidität ist das Band mit 0,24 doppelt so breit, in der Kapitalstruktur wieder eng. Und die Ausnahmen bestätigen den Mechanismus: Sie treten genau dort auf, wo eine externe Mechanik eingreift — Immobilien mit 2,6-facher Liquiditäts-Volatilität durch REIT-Refinanzierungen, Versorger als einziger Sektor mit konsistenter Kapitalstruktur-Korrektur, erzwungen durch Regulierung. Verdichtet ergeben sich drei Sektor-Profile: das stabile, das persistente, das korrektiv-volatile — fünf Sektoren bündeln sich in nur zwei Quadranten, einzig der zyklische Konsum streut über alle vier.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Verdichtet in die Quadranten gruppieren sich die Sektoren in drei Profile: das stabile — Versorger, Industrie, Basiskonsum; das persistente — Technologie und Grundstoffe, wo Wachstums- und Rohstofftrends nachwirken; und das korrektiv-volatile — Immobilien, Kommunikation, Energie: große Ausschläge, schnelle Korrektur. Fünf Sektoren bündeln sich in nur zwei Quadranten — einzig der Zyklische Konsum besetzt alle vier.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1:00] Forschungsfrage zwei. Ich korreliere die firmenspezifisch geschätzten Parameter paarweise über die 932 Unternehmen — Spearman, 21 Paare je Matrix. Die Phi-Matrix zeigt: Die starken Kopplungen liegen ausschließlich in der Profitabilität — ROA und ROE mit 0,78, mit der EBIT-Marge 0,56 und 0,54. Wer in einer Profitabilitätskennzahl schnell korrigiert, tut es auch in den anderen — die Korrekturgeschwindigkeit ist dort ein konsistentes Firmenmerkmal. Die FCF-Marge fällt heraus: nur 0,14 bis 0,19 — Periodenabgrenzungen glätten Buchgewinne, den Cashflow nicht; das ist die Accrual-Mechanik nach Sloan und Dechow. Und zwischen den Blöcken ist nach Bonferroni nur ein einziges von zwölf Paaren signifikant.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Ergänzungen. Innerhalb jeder Kennzahl korrelieren Phi und Sigma zwischen minus 0,09 und minus 0,24 — volatilere Unternehmen korrigieren schneller, das bestätigt Dichev und Tang. Aber alle Werte unter 0,25: Die Achsen bleiben trennbar, die Quadranten sind gerechtfertigt. Und die Lead-Lag-Analyse: 13 von 21 Paaren erreichen ihren Peak bei Lag null — Schocks laufen synchron, eine gestaffelte Transmission ist auf Quartalsfrequenz nicht nachweisbar. Ein ehrliches Nullergebnis.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[~0:50] Zur zeitlichen Dimension — zuerst der langfristige Trend. Sie sehen die AR(1)-Drift-Konstante c: pro Unternehmen im rollierenden 25-Quartal-Fenster geschätzt, als Median je Sektor — der Trend direkt aus den Quartalsveränderungen, unabhängig von jeder Glättung. Das Ergebnis für Debt/Equity: c liegt in allen zehn Sektoren im Zeitmittel über null — die Verschuldungsexpansion der letzten 25 Jahre, und sie ist kein Glättungsartefakt. Über alle 70 Kombinationen sind 44 c-Werte positiv — die FCF-Marge in neun von zehn Sektoren, die EBIT-Marge in acht; die Eigenkapitalquote dagegen in sieben von zehn negativ. Und die Validierung: Niveau-Trend und c messen denselben Pfad, r gleich 0,86 — zwei unabhängige Messungen, ein Ergebnis.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[~1:20] Jetzt der Stresstest. Krisen definiere ich datengetrieben: Ein Quartal zählt, wenn mindestens drei der sieben Kennzahlen über dem 90. Perzentil ihrer rollierenden Querschnittsvolatilität liegen — ohne jede Vorgabe fallen die elf Treffer-Quartale exakt in Dot-Com, Finanzkrise und COVID. Die Boxplots zeigen die Reaktionsstärke: Betrag der Veränderung am Peak-Quartal, logarithmisch, identische Achsen. Das Ergebnis: In allen drei Krisen liegen die volatil klassifizierten Unternehmen über den stabilen — Finanzkrise minus 0,36, COVID minus 0,27, Dot-Com minus 0,28. Dieselbe Methodik, dieselbe Trennung — die Klassifikation trägt durchgängig. Wichtig bleibt die Einordnung: Die Klassifikation stammt aus demselben Zeitraum — eine In-Sample-Konsistenzprüfung, keine Prognose. Zu den Signaturen unten: Die EBIT-Marge reagiert in Finanzkrise und COVID am stärksten — der operative Hebel: Umsatz bricht, die Kosten bleiben. Debt/Equity springt in Dot-Com und COVID — der Kurs-Crash vernichtet Eigenkapital mechanisch. Die FCF-Marge bleibt in der Finanzkrise fast still — die Accrual-Sonderstellung. Und die Current Ratio ist überall am trägsten. Der Blick nach vorn: Der Sektor entscheidet stärker als der Krisen-Zeitpunkt — das führt direkt zu Forschungsfrage drei. (Absicherung bei Nachfrage: Die Arbeit berichtet Dot-Com als nicht signifikant — die Nachrechnung mit dem einheitlichen ±1-Quartal-Fenster zeigt Trennung auch dort; die Arbeit ist an dieser Stelle konservativ.)</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Zwei </a:t>
            </a:r>
            <a:r>
              <a:rPr dirty="0" err="1"/>
              <a:t>weitere</a:t>
            </a:r>
            <a:r>
              <a:rPr dirty="0"/>
              <a:t> </a:t>
            </a:r>
            <a:r>
              <a:rPr dirty="0" err="1"/>
              <a:t>Variablen</a:t>
            </a:r>
            <a:r>
              <a:rPr dirty="0"/>
              <a:t>. Das </a:t>
            </a:r>
            <a:r>
              <a:rPr dirty="0" err="1"/>
              <a:t>Profitabilitätsniveau</a:t>
            </a:r>
            <a:r>
              <a:rPr dirty="0"/>
              <a:t>: Profitable </a:t>
            </a:r>
            <a:r>
              <a:rPr dirty="0" err="1"/>
              <a:t>Unternehmen</a:t>
            </a:r>
            <a:r>
              <a:rPr dirty="0"/>
              <a:t> </a:t>
            </a:r>
            <a:r>
              <a:rPr dirty="0" err="1"/>
              <a:t>schwanken</a:t>
            </a:r>
            <a:r>
              <a:rPr dirty="0"/>
              <a:t> </a:t>
            </a:r>
            <a:r>
              <a:rPr dirty="0" err="1"/>
              <a:t>weniger</a:t>
            </a:r>
            <a:r>
              <a:rPr dirty="0"/>
              <a:t> — EBIT-Marge minus 0,44 — und </a:t>
            </a:r>
            <a:r>
              <a:rPr dirty="0" err="1"/>
              <a:t>revertieren</a:t>
            </a:r>
            <a:r>
              <a:rPr dirty="0"/>
              <a:t> </a:t>
            </a:r>
            <a:r>
              <a:rPr dirty="0" err="1"/>
              <a:t>sogar</a:t>
            </a:r>
            <a:r>
              <a:rPr dirty="0"/>
              <a:t> </a:t>
            </a:r>
            <a:r>
              <a:rPr dirty="0" err="1"/>
              <a:t>etwas</a:t>
            </a:r>
            <a:r>
              <a:rPr dirty="0"/>
              <a:t> </a:t>
            </a:r>
            <a:r>
              <a:rPr dirty="0" err="1"/>
              <a:t>langsamer</a:t>
            </a:r>
            <a:r>
              <a:rPr dirty="0"/>
              <a:t>: </a:t>
            </a:r>
            <a:r>
              <a:rPr dirty="0" err="1"/>
              <a:t>weniger</a:t>
            </a:r>
            <a:r>
              <a:rPr dirty="0"/>
              <a:t> </a:t>
            </a:r>
            <a:r>
              <a:rPr dirty="0" err="1"/>
              <a:t>Schwankung</a:t>
            </a:r>
            <a:r>
              <a:rPr dirty="0"/>
              <a:t>, </a:t>
            </a:r>
            <a:r>
              <a:rPr dirty="0" err="1"/>
              <a:t>weniger</a:t>
            </a:r>
            <a:r>
              <a:rPr dirty="0"/>
              <a:t> </a:t>
            </a:r>
            <a:r>
              <a:rPr dirty="0" err="1"/>
              <a:t>Korrekturbedarf</a:t>
            </a:r>
            <a:r>
              <a:rPr dirty="0"/>
              <a:t>. Und die </a:t>
            </a:r>
            <a:r>
              <a:rPr dirty="0" err="1"/>
              <a:t>Periodenabgrenzungen</a:t>
            </a:r>
            <a:r>
              <a:rPr dirty="0"/>
              <a:t> </a:t>
            </a:r>
            <a:r>
              <a:rPr dirty="0" err="1"/>
              <a:t>nach</a:t>
            </a:r>
            <a:r>
              <a:rPr dirty="0"/>
              <a:t> Sloan: Sie </a:t>
            </a:r>
            <a:r>
              <a:rPr dirty="0" err="1"/>
              <a:t>dämpfen</a:t>
            </a:r>
            <a:r>
              <a:rPr dirty="0"/>
              <a:t> die </a:t>
            </a:r>
            <a:r>
              <a:rPr dirty="0" err="1"/>
              <a:t>Volatilität</a:t>
            </a:r>
            <a:r>
              <a:rPr dirty="0"/>
              <a:t> der </a:t>
            </a:r>
            <a:r>
              <a:rPr dirty="0" err="1"/>
              <a:t>Buchgewinne</a:t>
            </a:r>
            <a:r>
              <a:rPr dirty="0"/>
              <a:t> — ROA minus 0,27 — </a:t>
            </a:r>
            <a:r>
              <a:rPr dirty="0" err="1"/>
              <a:t>aber</a:t>
            </a:r>
            <a:r>
              <a:rPr dirty="0"/>
              <a:t> nicht die der FCF-Marge. Damit </a:t>
            </a:r>
            <a:r>
              <a:rPr dirty="0" err="1"/>
              <a:t>ist</a:t>
            </a:r>
            <a:r>
              <a:rPr dirty="0"/>
              <a:t> der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 </a:t>
            </a:r>
            <a:r>
              <a:rPr dirty="0" err="1"/>
              <a:t>direkt</a:t>
            </a:r>
            <a:r>
              <a:rPr dirty="0"/>
              <a:t> </a:t>
            </a:r>
            <a:r>
              <a:rPr dirty="0" err="1"/>
              <a:t>nachgewiesen</a:t>
            </a:r>
            <a:r>
              <a:rPr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Und die härteste Prüfung: Aus jeder Sektor-Cluster-Mechanik aus Forschungsfrage eins habe ich eine falsifizierbare Vorhersage zur Quadranten-Verteilung abgeleitet. Drei von vier Clustern bestätigen sich mit 60 bis 66 Prozent Konformität. Das schwächste benenne ich offen: Kommunikation und Energie mit 43 Prozent — bei der FCF-Marge nur 30 Prozent, weil Investitionszyklen den Cashflow länger als ein Quartal persistieren lassen. Und das fünfte Cluster, Gesundheit und zyklischer Konsum, bleibt diffus — genau wie vorhergesagt.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0:30] </a:t>
            </a:r>
            <a:r>
              <a:rPr dirty="0" err="1"/>
              <a:t>Forschungsfrage</a:t>
            </a:r>
            <a:r>
              <a:rPr dirty="0"/>
              <a:t> </a:t>
            </a:r>
            <a:r>
              <a:rPr dirty="0" err="1"/>
              <a:t>drei</a:t>
            </a:r>
            <a:r>
              <a:rPr dirty="0"/>
              <a:t> </a:t>
            </a:r>
            <a:r>
              <a:rPr dirty="0" err="1"/>
              <a:t>prüfe</a:t>
            </a:r>
            <a:r>
              <a:rPr dirty="0"/>
              <a:t> ich auf </a:t>
            </a:r>
            <a:r>
              <a:rPr dirty="0" err="1"/>
              <a:t>drei</a:t>
            </a:r>
            <a:r>
              <a:rPr dirty="0"/>
              <a:t> </a:t>
            </a:r>
            <a:r>
              <a:rPr dirty="0" err="1"/>
              <a:t>Ebenen</a:t>
            </a:r>
            <a:r>
              <a:rPr dirty="0"/>
              <a:t> — das </a:t>
            </a:r>
            <a:r>
              <a:rPr dirty="0" err="1"/>
              <a:t>ist</a:t>
            </a:r>
            <a:r>
              <a:rPr dirty="0"/>
              <a:t> das </a:t>
            </a:r>
            <a:r>
              <a:rPr dirty="0" err="1"/>
              <a:t>Testprogramm</a:t>
            </a:r>
            <a:r>
              <a:rPr dirty="0"/>
              <a:t>: </a:t>
            </a:r>
            <a:r>
              <a:rPr dirty="0" err="1"/>
              <a:t>Erstens</a:t>
            </a:r>
            <a:r>
              <a:rPr dirty="0"/>
              <a:t> die </a:t>
            </a:r>
            <a:r>
              <a:rPr dirty="0" err="1"/>
              <a:t>Unternehmensmerkmale</a:t>
            </a:r>
            <a:r>
              <a:rPr dirty="0"/>
              <a:t> — </a:t>
            </a:r>
            <a:r>
              <a:rPr dirty="0" err="1"/>
              <a:t>fünf</a:t>
            </a:r>
            <a:r>
              <a:rPr dirty="0"/>
              <a:t> </a:t>
            </a:r>
            <a:r>
              <a:rPr dirty="0" err="1"/>
              <a:t>Strukturvariablen</a:t>
            </a:r>
            <a:r>
              <a:rPr dirty="0"/>
              <a:t> </a:t>
            </a:r>
            <a:r>
              <a:rPr dirty="0" err="1"/>
              <a:t>gegen</a:t>
            </a:r>
            <a:r>
              <a:rPr dirty="0"/>
              <a:t> Phi und Sigma </a:t>
            </a:r>
            <a:r>
              <a:rPr dirty="0" err="1"/>
              <a:t>jeder</a:t>
            </a:r>
            <a:r>
              <a:rPr dirty="0"/>
              <a:t> </a:t>
            </a:r>
            <a:r>
              <a:rPr dirty="0" err="1"/>
              <a:t>Kennzahl</a:t>
            </a:r>
            <a:r>
              <a:rPr dirty="0"/>
              <a:t>, 98 Spearman-Tests plus </a:t>
            </a:r>
            <a:r>
              <a:rPr dirty="0" err="1"/>
              <a:t>Quintilvergleiche</a:t>
            </a:r>
            <a:r>
              <a:rPr dirty="0"/>
              <a:t>. </a:t>
            </a:r>
            <a:r>
              <a:rPr dirty="0" err="1"/>
              <a:t>Zweitens</a:t>
            </a:r>
            <a:r>
              <a:rPr dirty="0"/>
              <a:t> der Sektor — Kruskal-Wallis </a:t>
            </a:r>
            <a:r>
              <a:rPr dirty="0" err="1"/>
              <a:t>über</a:t>
            </a:r>
            <a:r>
              <a:rPr dirty="0"/>
              <a:t> die </a:t>
            </a:r>
            <a:r>
              <a:rPr dirty="0" err="1"/>
              <a:t>zehn</a:t>
            </a:r>
            <a:r>
              <a:rPr dirty="0"/>
              <a:t> GICS-</a:t>
            </a:r>
            <a:r>
              <a:rPr dirty="0" err="1"/>
              <a:t>Sektoren</a:t>
            </a:r>
            <a:r>
              <a:rPr dirty="0"/>
              <a:t>, </a:t>
            </a:r>
            <a:r>
              <a:rPr dirty="0" err="1"/>
              <a:t>dazu</a:t>
            </a:r>
            <a:r>
              <a:rPr dirty="0"/>
              <a:t> die </a:t>
            </a:r>
            <a:r>
              <a:rPr dirty="0" err="1"/>
              <a:t>Falsifikation</a:t>
            </a:r>
            <a:r>
              <a:rPr dirty="0"/>
              <a:t> der </a:t>
            </a:r>
            <a:r>
              <a:rPr dirty="0" err="1"/>
              <a:t>fünf</a:t>
            </a:r>
            <a:r>
              <a:rPr dirty="0"/>
              <a:t> Sektor-Cluster und die </a:t>
            </a:r>
            <a:r>
              <a:rPr dirty="0" err="1"/>
              <a:t>Parallelschätzung</a:t>
            </a:r>
            <a:r>
              <a:rPr dirty="0"/>
              <a:t> der 451 </a:t>
            </a:r>
            <a:r>
              <a:rPr dirty="0" err="1"/>
              <a:t>Finanzdienstleister</a:t>
            </a:r>
            <a:r>
              <a:rPr dirty="0"/>
              <a:t>. </a:t>
            </a:r>
            <a:r>
              <a:rPr dirty="0" err="1"/>
              <a:t>Drittens</a:t>
            </a:r>
            <a:r>
              <a:rPr dirty="0"/>
              <a:t> die </a:t>
            </a:r>
            <a:r>
              <a:rPr dirty="0" err="1"/>
              <a:t>Synthese</a:t>
            </a:r>
            <a:r>
              <a:rPr dirty="0"/>
              <a:t> — 14 multivariate </a:t>
            </a:r>
            <a:r>
              <a:rPr dirty="0" err="1"/>
              <a:t>Regressionen</a:t>
            </a:r>
            <a:r>
              <a:rPr dirty="0"/>
              <a:t> </a:t>
            </a:r>
            <a:r>
              <a:rPr dirty="0" err="1"/>
              <a:t>mit</a:t>
            </a:r>
            <a:r>
              <a:rPr dirty="0"/>
              <a:t> </a:t>
            </a:r>
            <a:r>
              <a:rPr dirty="0" err="1"/>
              <a:t>allen</a:t>
            </a:r>
            <a:r>
              <a:rPr dirty="0"/>
              <a:t> </a:t>
            </a:r>
            <a:r>
              <a:rPr dirty="0" err="1"/>
              <a:t>Variablen</a:t>
            </a:r>
            <a:r>
              <a:rPr dirty="0"/>
              <a:t> </a:t>
            </a:r>
            <a:r>
              <a:rPr dirty="0" err="1"/>
              <a:t>gemeinsam</a:t>
            </a:r>
            <a:r>
              <a:rPr dirty="0"/>
              <a:t>. </a:t>
            </a:r>
            <a:r>
              <a:rPr dirty="0" err="1"/>
              <a:t>Durchgängig</a:t>
            </a:r>
            <a:r>
              <a:rPr dirty="0"/>
              <a:t> Bonferroni-</a:t>
            </a:r>
            <a:r>
              <a:rPr dirty="0" err="1"/>
              <a:t>korrigiert</a:t>
            </a:r>
            <a:r>
              <a:rPr dirty="0"/>
              <a:t>. Der Reihe </a:t>
            </a:r>
            <a:r>
              <a:rPr dirty="0" err="1"/>
              <a:t>nach</a:t>
            </a:r>
            <a:r>
              <a:rPr dirty="0"/>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Die bivariate Ebene: Links Sigma, </a:t>
            </a:r>
            <a:r>
              <a:rPr dirty="0" err="1"/>
              <a:t>rechts</a:t>
            </a:r>
            <a:r>
              <a:rPr dirty="0"/>
              <a:t> Phi — und das Muster </a:t>
            </a:r>
            <a:r>
              <a:rPr dirty="0" err="1"/>
              <a:t>springt</a:t>
            </a:r>
            <a:r>
              <a:rPr dirty="0"/>
              <a:t> ins Auge: 31 von 49 Sigma-Tests </a:t>
            </a:r>
            <a:r>
              <a:rPr dirty="0" err="1"/>
              <a:t>signifikant</a:t>
            </a:r>
            <a:r>
              <a:rPr dirty="0"/>
              <a:t>, </a:t>
            </a:r>
            <a:r>
              <a:rPr dirty="0" err="1"/>
              <a:t>nur</a:t>
            </a:r>
            <a:r>
              <a:rPr dirty="0"/>
              <a:t> 10 von 49 </a:t>
            </a:r>
            <a:r>
              <a:rPr dirty="0" err="1"/>
              <a:t>bei</a:t>
            </a:r>
            <a:r>
              <a:rPr dirty="0"/>
              <a:t> Phi; die </a:t>
            </a:r>
            <a:r>
              <a:rPr dirty="0" err="1"/>
              <a:t>zehn</a:t>
            </a:r>
            <a:r>
              <a:rPr dirty="0"/>
              <a:t> </a:t>
            </a:r>
            <a:r>
              <a:rPr dirty="0" err="1"/>
              <a:t>stärksten</a:t>
            </a:r>
            <a:r>
              <a:rPr dirty="0"/>
              <a:t> </a:t>
            </a:r>
            <a:r>
              <a:rPr dirty="0" err="1"/>
              <a:t>Effekte</a:t>
            </a:r>
            <a:r>
              <a:rPr dirty="0"/>
              <a:t> </a:t>
            </a:r>
            <a:r>
              <a:rPr dirty="0" err="1"/>
              <a:t>betreffen</a:t>
            </a:r>
            <a:r>
              <a:rPr dirty="0"/>
              <a:t> </a:t>
            </a:r>
            <a:r>
              <a:rPr dirty="0" err="1"/>
              <a:t>ausnahmslos</a:t>
            </a:r>
            <a:r>
              <a:rPr dirty="0"/>
              <a:t> Sigma. Am </a:t>
            </a:r>
            <a:r>
              <a:rPr dirty="0" err="1"/>
              <a:t>stärksten</a:t>
            </a:r>
            <a:r>
              <a:rPr dirty="0"/>
              <a:t> </a:t>
            </a:r>
            <a:r>
              <a:rPr dirty="0" err="1"/>
              <a:t>wirkt</a:t>
            </a:r>
            <a:r>
              <a:rPr dirty="0"/>
              <a:t> die </a:t>
            </a:r>
            <a:r>
              <a:rPr dirty="0" err="1"/>
              <a:t>Größe</a:t>
            </a:r>
            <a:r>
              <a:rPr dirty="0"/>
              <a:t>: Die </a:t>
            </a:r>
            <a:r>
              <a:rPr dirty="0" err="1"/>
              <a:t>Mitarbeiterzahl</a:t>
            </a:r>
            <a:r>
              <a:rPr dirty="0"/>
              <a:t> </a:t>
            </a:r>
            <a:r>
              <a:rPr dirty="0" err="1"/>
              <a:t>dämpft</a:t>
            </a:r>
            <a:r>
              <a:rPr dirty="0"/>
              <a:t> die </a:t>
            </a:r>
            <a:r>
              <a:rPr dirty="0" err="1"/>
              <a:t>Volatilität</a:t>
            </a:r>
            <a:r>
              <a:rPr dirty="0"/>
              <a:t> von FCF-Marge und Current Ratio </a:t>
            </a:r>
            <a:r>
              <a:rPr dirty="0" err="1"/>
              <a:t>mit</a:t>
            </a:r>
            <a:r>
              <a:rPr dirty="0"/>
              <a:t> minus 0,53 — </a:t>
            </a:r>
            <a:r>
              <a:rPr dirty="0" err="1"/>
              <a:t>vom</a:t>
            </a:r>
            <a:r>
              <a:rPr dirty="0"/>
              <a:t> </a:t>
            </a:r>
            <a:r>
              <a:rPr dirty="0" err="1"/>
              <a:t>kleinsten</a:t>
            </a:r>
            <a:r>
              <a:rPr dirty="0"/>
              <a:t> </a:t>
            </a:r>
            <a:r>
              <a:rPr dirty="0" err="1"/>
              <a:t>zum</a:t>
            </a:r>
            <a:r>
              <a:rPr dirty="0"/>
              <a:t> </a:t>
            </a:r>
            <a:r>
              <a:rPr dirty="0" err="1"/>
              <a:t>größten</a:t>
            </a:r>
            <a:r>
              <a:rPr dirty="0"/>
              <a:t> Quintil </a:t>
            </a:r>
            <a:r>
              <a:rPr dirty="0" err="1"/>
              <a:t>fällt</a:t>
            </a:r>
            <a:r>
              <a:rPr dirty="0"/>
              <a:t> der Sigma-Median von 0,45 auf 0,11, Cohens r 0,80, der </a:t>
            </a:r>
            <a:r>
              <a:rPr dirty="0" err="1"/>
              <a:t>stärkste</a:t>
            </a:r>
            <a:r>
              <a:rPr dirty="0"/>
              <a:t> </a:t>
            </a:r>
            <a:r>
              <a:rPr dirty="0" err="1"/>
              <a:t>Effekt</a:t>
            </a:r>
            <a:r>
              <a:rPr dirty="0"/>
              <a:t> der </a:t>
            </a:r>
            <a:r>
              <a:rPr dirty="0" err="1"/>
              <a:t>Analyse</a:t>
            </a:r>
            <a:r>
              <a:rPr dirty="0"/>
              <a:t>. Die </a:t>
            </a:r>
            <a:r>
              <a:rPr dirty="0" err="1"/>
              <a:t>Anlagenintensität</a:t>
            </a:r>
            <a:r>
              <a:rPr dirty="0"/>
              <a:t> </a:t>
            </a:r>
            <a:r>
              <a:rPr dirty="0" err="1"/>
              <a:t>zeigt</a:t>
            </a:r>
            <a:r>
              <a:rPr dirty="0"/>
              <a:t> das </a:t>
            </a:r>
            <a:r>
              <a:rPr dirty="0" err="1"/>
              <a:t>feinste</a:t>
            </a:r>
            <a:r>
              <a:rPr dirty="0"/>
              <a:t> Muster: </a:t>
            </a:r>
            <a:r>
              <a:rPr dirty="0" err="1"/>
              <a:t>Bilanzgrößen</a:t>
            </a:r>
            <a:r>
              <a:rPr dirty="0"/>
              <a:t> </a:t>
            </a:r>
            <a:r>
              <a:rPr dirty="0" err="1"/>
              <a:t>stabiler</a:t>
            </a:r>
            <a:r>
              <a:rPr dirty="0"/>
              <a:t>, Strom-</a:t>
            </a:r>
            <a:r>
              <a:rPr dirty="0" err="1"/>
              <a:t>Margen</a:t>
            </a:r>
            <a:r>
              <a:rPr dirty="0"/>
              <a:t> </a:t>
            </a:r>
            <a:r>
              <a:rPr dirty="0" err="1"/>
              <a:t>volatiler</a:t>
            </a:r>
            <a:r>
              <a:rPr dirty="0"/>
              <a:t> — die Strom-</a:t>
            </a:r>
            <a:r>
              <a:rPr dirty="0" err="1"/>
              <a:t>Bestand</a:t>
            </a:r>
            <a:r>
              <a:rPr dirty="0"/>
              <a:t>-Mechanik </a:t>
            </a:r>
            <a:r>
              <a:rPr dirty="0" err="1"/>
              <a:t>aus</a:t>
            </a:r>
            <a:r>
              <a:rPr dirty="0"/>
              <a:t> </a:t>
            </a:r>
            <a:r>
              <a:rPr dirty="0" err="1"/>
              <a:t>Forschungsfrage</a:t>
            </a:r>
            <a:r>
              <a:rPr dirty="0"/>
              <a:t> </a:t>
            </a:r>
            <a:r>
              <a:rPr dirty="0" err="1"/>
              <a:t>eins</a:t>
            </a:r>
            <a:r>
              <a:rPr dirty="0"/>
              <a:t> auf </a:t>
            </a:r>
            <a:r>
              <a:rPr dirty="0" err="1"/>
              <a:t>Unternehmensebene</a:t>
            </a:r>
            <a:r>
              <a:rPr dirty="0"/>
              <a:t>. Und die </a:t>
            </a:r>
            <a:r>
              <a:rPr dirty="0" err="1"/>
              <a:t>Periodenabgrenzungen</a:t>
            </a:r>
            <a:r>
              <a:rPr dirty="0"/>
              <a:t> </a:t>
            </a:r>
            <a:r>
              <a:rPr dirty="0" err="1"/>
              <a:t>dämpfen</a:t>
            </a:r>
            <a:r>
              <a:rPr dirty="0"/>
              <a:t> die </a:t>
            </a:r>
            <a:r>
              <a:rPr dirty="0" err="1"/>
              <a:t>Buchgewinne</a:t>
            </a:r>
            <a:r>
              <a:rPr dirty="0"/>
              <a:t>, </a:t>
            </a:r>
            <a:r>
              <a:rPr dirty="0" err="1"/>
              <a:t>aber</a:t>
            </a:r>
            <a:r>
              <a:rPr dirty="0"/>
              <a:t> nicht die FCF-Marge — der </a:t>
            </a:r>
            <a:r>
              <a:rPr dirty="0" err="1"/>
              <a:t>direkte</a:t>
            </a:r>
            <a:r>
              <a:rPr dirty="0"/>
              <a:t> </a:t>
            </a:r>
            <a:r>
              <a:rPr dirty="0" err="1"/>
              <a:t>Nachweis</a:t>
            </a:r>
            <a:r>
              <a:rPr dirty="0"/>
              <a:t> des </a:t>
            </a:r>
            <a:r>
              <a:rPr dirty="0" err="1"/>
              <a:t>Mechanismus</a:t>
            </a:r>
            <a:r>
              <a:rPr dirty="0"/>
              <a:t> hinter der FCF-</a:t>
            </a:r>
            <a:r>
              <a:rPr dirty="0" err="1"/>
              <a:t>Sonderstellung</a:t>
            </a:r>
            <a:r>
              <a:rPr dirty="0"/>
              <a:t> </a:t>
            </a:r>
            <a:r>
              <a:rPr dirty="0" err="1"/>
              <a:t>aus</a:t>
            </a:r>
            <a:r>
              <a:rPr dirty="0"/>
              <a:t> </a:t>
            </a:r>
            <a:r>
              <a:rPr dirty="0" err="1"/>
              <a:t>Forschungsfrage</a:t>
            </a:r>
            <a:r>
              <a:rPr dirty="0"/>
              <a:t> </a:t>
            </a:r>
            <a:r>
              <a:rPr dirty="0" err="1"/>
              <a:t>zwei</a:t>
            </a:r>
            <a:r>
              <a:rPr dirty="0"/>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[Zeit: 1:00] Das </a:t>
            </a:r>
            <a:r>
              <a:rPr dirty="0" err="1"/>
              <a:t>kategoriale</a:t>
            </a:r>
            <a:r>
              <a:rPr dirty="0"/>
              <a:t> </a:t>
            </a:r>
            <a:r>
              <a:rPr dirty="0" err="1"/>
              <a:t>Gegenstück</a:t>
            </a:r>
            <a:r>
              <a:rPr dirty="0"/>
              <a:t>: der Sektor. Auf der Sigma-</a:t>
            </a:r>
            <a:r>
              <a:rPr dirty="0" err="1"/>
              <a:t>Seite</a:t>
            </a:r>
            <a:r>
              <a:rPr dirty="0"/>
              <a:t> </a:t>
            </a:r>
            <a:r>
              <a:rPr dirty="0" err="1"/>
              <a:t>erklärt</a:t>
            </a:r>
            <a:r>
              <a:rPr dirty="0"/>
              <a:t> die </a:t>
            </a:r>
            <a:r>
              <a:rPr dirty="0" err="1"/>
              <a:t>Sektorzugehörigkeit</a:t>
            </a:r>
            <a:r>
              <a:rPr dirty="0"/>
              <a:t> bis </a:t>
            </a:r>
            <a:r>
              <a:rPr dirty="0" err="1"/>
              <a:t>zu</a:t>
            </a:r>
            <a:r>
              <a:rPr dirty="0"/>
              <a:t> 22 </a:t>
            </a:r>
            <a:r>
              <a:rPr dirty="0" err="1"/>
              <a:t>Prozent</a:t>
            </a:r>
            <a:r>
              <a:rPr dirty="0"/>
              <a:t> der Variation — FCF-Marge und Current Ratio </a:t>
            </a:r>
            <a:r>
              <a:rPr dirty="0" err="1"/>
              <a:t>vorn</a:t>
            </a:r>
            <a:r>
              <a:rPr dirty="0"/>
              <a:t>, alle </a:t>
            </a:r>
            <a:r>
              <a:rPr dirty="0" err="1"/>
              <a:t>sieben</a:t>
            </a:r>
            <a:r>
              <a:rPr dirty="0"/>
              <a:t> </a:t>
            </a:r>
            <a:r>
              <a:rPr dirty="0" err="1"/>
              <a:t>signifikant</a:t>
            </a:r>
            <a:r>
              <a:rPr dirty="0"/>
              <a:t>. Auf der Phi-</a:t>
            </a:r>
            <a:r>
              <a:rPr dirty="0" err="1"/>
              <a:t>Seite</a:t>
            </a:r>
            <a:r>
              <a:rPr dirty="0"/>
              <a:t> maximal </a:t>
            </a:r>
            <a:r>
              <a:rPr dirty="0" err="1"/>
              <a:t>sieben</a:t>
            </a:r>
            <a:r>
              <a:rPr dirty="0"/>
              <a:t> </a:t>
            </a:r>
            <a:r>
              <a:rPr dirty="0" err="1"/>
              <a:t>Prozent</a:t>
            </a:r>
            <a:r>
              <a:rPr dirty="0"/>
              <a:t> — </a:t>
            </a:r>
            <a:r>
              <a:rPr dirty="0" err="1"/>
              <a:t>dieselbe</a:t>
            </a:r>
            <a:r>
              <a:rPr dirty="0"/>
              <a:t> </a:t>
            </a:r>
            <a:r>
              <a:rPr dirty="0" err="1"/>
              <a:t>Asymmetrie</a:t>
            </a:r>
            <a:r>
              <a:rPr dirty="0"/>
              <a:t> </a:t>
            </a:r>
            <a:r>
              <a:rPr dirty="0" err="1"/>
              <a:t>wie</a:t>
            </a:r>
            <a:r>
              <a:rPr dirty="0"/>
              <a:t> </a:t>
            </a:r>
            <a:r>
              <a:rPr dirty="0" err="1"/>
              <a:t>bei</a:t>
            </a:r>
            <a:r>
              <a:rPr dirty="0"/>
              <a:t> den </a:t>
            </a:r>
            <a:r>
              <a:rPr dirty="0" err="1"/>
              <a:t>Strukturvariablen</a:t>
            </a:r>
            <a:r>
              <a:rPr dirty="0"/>
              <a:t>. Der </a:t>
            </a:r>
            <a:r>
              <a:rPr dirty="0" err="1"/>
              <a:t>schärfste</a:t>
            </a:r>
            <a:r>
              <a:rPr dirty="0"/>
              <a:t> </a:t>
            </a:r>
            <a:r>
              <a:rPr dirty="0" err="1"/>
              <a:t>Kontrast</a:t>
            </a:r>
            <a:r>
              <a:rPr dirty="0"/>
              <a:t>: die 451 parallel </a:t>
            </a:r>
            <a:r>
              <a:rPr dirty="0" err="1"/>
              <a:t>geschätzten</a:t>
            </a:r>
            <a:r>
              <a:rPr dirty="0"/>
              <a:t> </a:t>
            </a:r>
            <a:r>
              <a:rPr dirty="0" err="1"/>
              <a:t>Finanzdienstleister</a:t>
            </a:r>
            <a:r>
              <a:rPr dirty="0"/>
              <a:t> — Current-Ratio-</a:t>
            </a:r>
            <a:r>
              <a:rPr dirty="0" err="1"/>
              <a:t>Volatilität</a:t>
            </a:r>
            <a:r>
              <a:rPr dirty="0"/>
              <a:t> </a:t>
            </a:r>
            <a:r>
              <a:rPr dirty="0" err="1"/>
              <a:t>beim</a:t>
            </a:r>
            <a:r>
              <a:rPr dirty="0"/>
              <a:t> 29-fachen, und die Bilanz-</a:t>
            </a:r>
            <a:r>
              <a:rPr dirty="0" err="1"/>
              <a:t>Kennzahlen</a:t>
            </a:r>
            <a:r>
              <a:rPr dirty="0"/>
              <a:t> </a:t>
            </a:r>
            <a:r>
              <a:rPr dirty="0" err="1"/>
              <a:t>revertieren</a:t>
            </a:r>
            <a:r>
              <a:rPr dirty="0"/>
              <a:t> </a:t>
            </a:r>
            <a:r>
              <a:rPr dirty="0" err="1"/>
              <a:t>deutlich</a:t>
            </a:r>
            <a:r>
              <a:rPr dirty="0"/>
              <a:t> </a:t>
            </a:r>
            <a:r>
              <a:rPr dirty="0" err="1"/>
              <a:t>stärker</a:t>
            </a:r>
            <a:r>
              <a:rPr dirty="0"/>
              <a:t>, </a:t>
            </a:r>
            <a:r>
              <a:rPr dirty="0" err="1"/>
              <a:t>weil</a:t>
            </a:r>
            <a:r>
              <a:rPr dirty="0"/>
              <a:t> </a:t>
            </a:r>
            <a:r>
              <a:rPr dirty="0" err="1"/>
              <a:t>Mindestquoten</a:t>
            </a:r>
            <a:r>
              <a:rPr dirty="0"/>
              <a:t> die </a:t>
            </a:r>
            <a:r>
              <a:rPr dirty="0" err="1"/>
              <a:t>Korrektur</a:t>
            </a:r>
            <a:r>
              <a:rPr dirty="0"/>
              <a:t> </a:t>
            </a:r>
            <a:r>
              <a:rPr dirty="0" err="1"/>
              <a:t>erzwingen</a:t>
            </a:r>
            <a:r>
              <a:rPr dirty="0"/>
              <a:t>: Der </a:t>
            </a:r>
            <a:r>
              <a:rPr dirty="0" err="1"/>
              <a:t>Ausschluss</a:t>
            </a:r>
            <a:r>
              <a:rPr dirty="0"/>
              <a:t> </a:t>
            </a:r>
            <a:r>
              <a:rPr dirty="0" err="1"/>
              <a:t>ist</a:t>
            </a:r>
            <a:r>
              <a:rPr dirty="0"/>
              <a:t> </a:t>
            </a:r>
            <a:r>
              <a:rPr dirty="0" err="1"/>
              <a:t>empirisch</a:t>
            </a:r>
            <a:r>
              <a:rPr dirty="0"/>
              <a:t> </a:t>
            </a:r>
            <a:r>
              <a:rPr dirty="0" err="1"/>
              <a:t>begründet</a:t>
            </a:r>
            <a:r>
              <a:rPr dirty="0"/>
              <a:t>. Und die </a:t>
            </a:r>
            <a:r>
              <a:rPr dirty="0" err="1"/>
              <a:t>härteste</a:t>
            </a:r>
            <a:r>
              <a:rPr dirty="0"/>
              <a:t> </a:t>
            </a:r>
            <a:r>
              <a:rPr dirty="0" err="1"/>
              <a:t>Prüfung</a:t>
            </a:r>
            <a:r>
              <a:rPr dirty="0"/>
              <a:t>: Aus </a:t>
            </a:r>
            <a:r>
              <a:rPr dirty="0" err="1"/>
              <a:t>jeder</a:t>
            </a:r>
            <a:r>
              <a:rPr dirty="0"/>
              <a:t> Cluster-Mechanik </a:t>
            </a:r>
            <a:r>
              <a:rPr dirty="0" err="1"/>
              <a:t>eine</a:t>
            </a:r>
            <a:r>
              <a:rPr dirty="0"/>
              <a:t> </a:t>
            </a:r>
            <a:r>
              <a:rPr dirty="0" err="1"/>
              <a:t>falsifizierbare</a:t>
            </a:r>
            <a:r>
              <a:rPr dirty="0"/>
              <a:t> </a:t>
            </a:r>
            <a:r>
              <a:rPr dirty="0" err="1"/>
              <a:t>Vorhersage</a:t>
            </a:r>
            <a:r>
              <a:rPr dirty="0"/>
              <a:t> — </a:t>
            </a:r>
            <a:r>
              <a:rPr dirty="0" err="1"/>
              <a:t>drei</a:t>
            </a:r>
            <a:r>
              <a:rPr dirty="0"/>
              <a:t> von vier </a:t>
            </a:r>
            <a:r>
              <a:rPr dirty="0" err="1"/>
              <a:t>bestätigt</a:t>
            </a:r>
            <a:r>
              <a:rPr dirty="0"/>
              <a:t>, das </a:t>
            </a:r>
            <a:r>
              <a:rPr dirty="0" err="1"/>
              <a:t>schwächste</a:t>
            </a:r>
            <a:r>
              <a:rPr dirty="0"/>
              <a:t> </a:t>
            </a:r>
            <a:r>
              <a:rPr dirty="0" err="1"/>
              <a:t>offen</a:t>
            </a:r>
            <a:r>
              <a:rPr dirty="0"/>
              <a:t> </a:t>
            </a:r>
            <a:r>
              <a:rPr dirty="0" err="1"/>
              <a:t>benannt</a:t>
            </a:r>
            <a:r>
              <a:rPr dirty="0"/>
              <a:t>: 43 </a:t>
            </a:r>
            <a:r>
              <a:rPr dirty="0" err="1"/>
              <a:t>Prozent</a:t>
            </a:r>
            <a:r>
              <a:rPr dirty="0"/>
              <a:t>, FCF </a:t>
            </a:r>
            <a:r>
              <a:rPr dirty="0" err="1"/>
              <a:t>sogar</a:t>
            </a:r>
            <a:r>
              <a:rPr dirty="0"/>
              <a:t> </a:t>
            </a:r>
            <a:r>
              <a:rPr dirty="0" err="1"/>
              <a:t>nur</a:t>
            </a:r>
            <a:r>
              <a:rPr dirty="0"/>
              <a:t> 30 — </a:t>
            </a:r>
            <a:r>
              <a:rPr dirty="0" err="1"/>
              <a:t>Investitionszyklen</a:t>
            </a:r>
            <a:r>
              <a:rPr dirty="0"/>
              <a:t> </a:t>
            </a:r>
            <a:r>
              <a:rPr dirty="0" err="1"/>
              <a:t>persistieren</a:t>
            </a:r>
            <a:r>
              <a:rPr dirty="0"/>
              <a:t> </a:t>
            </a:r>
            <a:r>
              <a:rPr dirty="0" err="1"/>
              <a:t>länger</a:t>
            </a:r>
            <a:r>
              <a:rPr dirty="0"/>
              <a:t> </a:t>
            </a:r>
            <a:r>
              <a:rPr dirty="0" err="1"/>
              <a:t>als</a:t>
            </a:r>
            <a:r>
              <a:rPr dirty="0"/>
              <a:t> </a:t>
            </a:r>
            <a:r>
              <a:rPr dirty="0" err="1"/>
              <a:t>ein</a:t>
            </a:r>
            <a:r>
              <a:rPr dirty="0"/>
              <a:t> Quartal.</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Ich komme zum Schluss — die drei Fragen vom Anfang, jetzt mit ihren Antworten. Erstens: Ja — Finanzkennzahlen unterscheiden sich systematisch in ihrer Dynamik, in drei Dynamiktypen entlang der Kennzahlgruppen: Profitabilität korrigiert stark, Liquidität moderat, Kapitalstruktur driftet. Zweitens: Volatilität ist eine gekoppelte Unternehmenseigenschaft — Schocks treffen die Kennzahlen gemeinsam, korrigiert wird kennzahlspezifisch; in zwei von drei Krisen trennt die Taxonomie das Reaktionsverhalten. Drittens: Strukturmerkmale erklären rund 30 Prozent der Volatilität, aber nur fünf Prozent der Korrekturgeschwindigkeit — Phi ist ein eigenständiges, idiosynkratisches Firmenmerkmal. Für die Forschung ergeben sich vier Anschlusslinien: der Out-of-Sample-Test der Quadranten, die Lead-Lag-Analyse auf AR-Residuen, höhere Datenfrequenz und Märkte jenseits der USA. Vielen Dank — ich freue mich auf Ihre Fragen.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chart" Target="../charts/chart2.xml"/><Relationship Id="rId5" Type="http://schemas.openxmlformats.org/officeDocument/2006/relationships/image" Target="../media/image8.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a:solidFill>
                  <a:srgbClr val="E6D44F"/>
                </a:solidFill>
                <a:latin typeface="Courier New" pitchFamily="34" charset="0"/>
                <a:ea typeface="Courier New" pitchFamily="34" charset="-122"/>
                <a:cs typeface="Courier New" pitchFamily="34" charset="-120"/>
              </a:rPr>
              <a:t>MASTERKOLLOQUIUM</a:t>
            </a:r>
            <a:endParaRPr lang="en-US" sz="100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PRÜFER</a:t>
            </a: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endParaRPr lang="en-US" sz="900" kern="0" spc="200">
              <a:solidFill>
                <a:srgbClr val="E6D44F"/>
              </a:solidFill>
              <a:latin typeface="Courier New" pitchFamily="34" charset="0"/>
              <a:cs typeface="Courier New" pitchFamily="34" charset="-120"/>
            </a:endParaRPr>
          </a:p>
          <a:p>
            <a:pPr marL="0" indent="0" algn="r">
              <a:lnSpc>
                <a:spcPct val="105000"/>
              </a:lnSpc>
              <a:buNone/>
            </a:pPr>
            <a:r>
              <a:rPr lang="en-US" sz="1200" b="1" kern="0" spc="200">
                <a:solidFill>
                  <a:srgbClr val="E6D44F"/>
                </a:solidFill>
                <a:latin typeface="Courier New" pitchFamily="34" charset="0"/>
                <a:cs typeface="Courier New" pitchFamily="34" charset="-120"/>
              </a:rPr>
              <a:t>DATUM</a:t>
            </a:r>
            <a:endParaRPr lang="en-US" sz="900" b="1" kern="0" spc="20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Tobias Mourier</a:t>
            </a:r>
            <a:endParaRPr lang="en-US" sz="140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err="1">
                <a:solidFill>
                  <a:srgbClr val="F2EFDA"/>
                </a:solidFill>
                <a:latin typeface="Arial" pitchFamily="34" charset="0"/>
                <a:ea typeface="Arial" pitchFamily="34" charset="-122"/>
                <a:cs typeface="Arial" pitchFamily="34" charset="-120"/>
              </a:rPr>
              <a:t>Technische</a:t>
            </a:r>
            <a:r>
              <a:rPr lang="en-US" sz="1400" b="1">
                <a:solidFill>
                  <a:srgbClr val="F2EFDA"/>
                </a:solidFill>
                <a:latin typeface="Arial" pitchFamily="34" charset="0"/>
                <a:ea typeface="Arial" pitchFamily="34" charset="-122"/>
                <a:cs typeface="Arial" pitchFamily="34" charset="-120"/>
              </a:rPr>
              <a:t> Hochschule Wildau</a:t>
            </a:r>
            <a:endParaRPr lang="en-US" sz="140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a:solidFill>
                  <a:srgbClr val="F2EFDA"/>
                </a:solidFill>
                <a:latin typeface="Arial" pitchFamily="34" charset="0"/>
                <a:cs typeface="Arial" pitchFamily="34" charset="-120"/>
              </a:rPr>
              <a:t>Prof. Dr. R. </a:t>
            </a:r>
            <a:r>
              <a:rPr lang="en-US" sz="1400" b="1" err="1">
                <a:solidFill>
                  <a:srgbClr val="F2EFDA"/>
                </a:solidFill>
                <a:latin typeface="Arial" pitchFamily="34" charset="0"/>
                <a:cs typeface="Arial" pitchFamily="34" charset="-120"/>
              </a:rPr>
              <a:t>Stollhoff</a:t>
            </a:r>
            <a:endParaRPr lang="en-US" sz="140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07.07.2026</a:t>
            </a:r>
            <a:endParaRPr lang="en-US" sz="140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2" name="Shape 16">
            <a:extLst>
              <a:ext uri="{FF2B5EF4-FFF2-40B4-BE49-F238E27FC236}">
                <a16:creationId xmlns:a16="http://schemas.microsoft.com/office/drawing/2014/main" id="{2B8ADCE8-FECF-5BB8-7B22-6B49F29FDF66}"/>
              </a:ext>
            </a:extLst>
          </p:cNvPr>
          <p:cNvSpPr/>
          <p:nvPr/>
        </p:nvSpPr>
        <p:spPr>
          <a:xfrm>
            <a:off x="876198" y="3835908"/>
            <a:ext cx="10579202" cy="194259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p:cNvSpPr/>
          <p:nvPr/>
        </p:nvSpPr>
        <p:spPr>
          <a:xfrm>
            <a:off x="634595" y="41024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sp>
        <p:nvSpPr>
          <p:cNvPr id="54" name="Text 2">
            <a:extLst>
              <a:ext uri="{FF2B5EF4-FFF2-40B4-BE49-F238E27FC236}">
                <a16:creationId xmlns:a16="http://schemas.microsoft.com/office/drawing/2014/main" id="{148FA918-77A5-D32A-008B-BBD14EAC800D}"/>
              </a:ext>
            </a:extLst>
          </p:cNvPr>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0" name="Text 2">
            <a:extLst>
              <a:ext uri="{FF2B5EF4-FFF2-40B4-BE49-F238E27FC236}">
                <a16:creationId xmlns:a16="http://schemas.microsoft.com/office/drawing/2014/main" id="{69DDE473-F5E2-CC75-B428-49DDEF93D32F}"/>
              </a:ext>
            </a:extLst>
          </p:cNvPr>
          <p:cNvSpPr/>
          <p:nvPr/>
        </p:nvSpPr>
        <p:spPr>
          <a:xfrm>
            <a:off x="634594" y="1990685"/>
            <a:ext cx="10933951" cy="701716"/>
          </a:xfrm>
          <a:prstGeom prst="rect">
            <a:avLst/>
          </a:prstGeom>
          <a:noFill/>
          <a:ln/>
        </p:spPr>
        <p:txBody>
          <a:bodyPr wrap="square" rtlCol="0" anchor="t"/>
          <a:lstStyle/>
          <a:p>
            <a:pPr marL="0" indent="0" algn="ctr">
              <a:lnSpc>
                <a:spcPct val="102000"/>
              </a:lnSpc>
              <a:buNone/>
            </a:pPr>
            <a:r>
              <a:rPr lang="en-US" sz="3600" b="1" kern="0" spc="-100" err="1">
                <a:solidFill>
                  <a:srgbClr val="F3EFDA"/>
                </a:solidFill>
                <a:latin typeface="Arial" pitchFamily="34" charset="0"/>
                <a:ea typeface="Arial" pitchFamily="34" charset="-122"/>
                <a:cs typeface="Arial" pitchFamily="34" charset="-120"/>
              </a:rPr>
              <a:t>Finanzkennzahlen</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börsennotierter</a:t>
            </a:r>
            <a:r>
              <a:rPr lang="en-US" sz="3600" b="1" kern="0" spc="-100">
                <a:solidFill>
                  <a:srgbClr val="F3EFDA"/>
                </a:solidFill>
                <a:latin typeface="Arial" pitchFamily="34" charset="0"/>
                <a:ea typeface="Arial" pitchFamily="34" charset="-122"/>
                <a:cs typeface="Arial" pitchFamily="34" charset="-120"/>
              </a:rPr>
              <a:t> </a:t>
            </a:r>
            <a:r>
              <a:rPr lang="en-US" sz="3600" b="1" kern="0" spc="-100" err="1">
                <a:solidFill>
                  <a:srgbClr val="F3EFDA"/>
                </a:solidFill>
                <a:latin typeface="Arial" pitchFamily="34" charset="0"/>
                <a:ea typeface="Arial" pitchFamily="34" charset="-122"/>
                <a:cs typeface="Arial" pitchFamily="34" charset="-120"/>
              </a:rPr>
              <a:t>Unternehmen</a:t>
            </a:r>
            <a:endParaRPr lang="en-US" sz="3600">
              <a:solidFill>
                <a:srgbClr val="F3EFDA"/>
              </a:solidFill>
            </a:endParaRPr>
          </a:p>
        </p:txBody>
      </p:sp>
      <p:sp>
        <p:nvSpPr>
          <p:cNvPr id="61" name="Text 2">
            <a:extLst>
              <a:ext uri="{FF2B5EF4-FFF2-40B4-BE49-F238E27FC236}">
                <a16:creationId xmlns:a16="http://schemas.microsoft.com/office/drawing/2014/main" id="{9EC68522-C9FF-7A32-A0AE-BA8ED81B805A}"/>
              </a:ext>
            </a:extLst>
          </p:cNvPr>
          <p:cNvSpPr/>
          <p:nvPr/>
        </p:nvSpPr>
        <p:spPr>
          <a:xfrm>
            <a:off x="1307695" y="1428517"/>
            <a:ext cx="4204106" cy="673407"/>
          </a:xfrm>
          <a:prstGeom prst="rect">
            <a:avLst/>
          </a:prstGeom>
          <a:noFill/>
          <a:ln/>
        </p:spPr>
        <p:txBody>
          <a:bodyPr wrap="square" rtlCol="0" anchor="t"/>
          <a:lstStyle/>
          <a:p>
            <a:pPr marL="0" indent="0" algn="ctr">
              <a:lnSpc>
                <a:spcPct val="102000"/>
              </a:lnSpc>
              <a:buNone/>
            </a:pPr>
            <a:r>
              <a:rPr lang="en-US" sz="3600" b="1" kern="0" spc="-100" dirty="0" err="1">
                <a:solidFill>
                  <a:srgbClr val="F3EFDA"/>
                </a:solidFill>
                <a:latin typeface="Arial" pitchFamily="34" charset="0"/>
                <a:ea typeface="Arial" pitchFamily="34" charset="-122"/>
                <a:cs typeface="Arial" pitchFamily="34" charset="-120"/>
              </a:rPr>
              <a:t>Zeitreihenbasierte</a:t>
            </a:r>
            <a:endParaRPr lang="en-US" sz="3600" dirty="0">
              <a:solidFill>
                <a:srgbClr val="F3EFDA"/>
              </a:solidFil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60"/>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61"/>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0"/>
                                        <p:tgtEl>
                                          <p:spTgt spid="62"/>
                                        </p:tgtEl>
                                      </p:cBhvr>
                                    </p:animEffect>
                                    <p:anim calcmode="lin" valueType="num">
                                      <p:cBhvr>
                                        <p:cTn id="21" dur="1000" fill="hold"/>
                                        <p:tgtEl>
                                          <p:spTgt spid="62"/>
                                        </p:tgtEl>
                                        <p:attrNameLst>
                                          <p:attrName>ppt_x</p:attrName>
                                        </p:attrNameLst>
                                      </p:cBhvr>
                                      <p:tavLst>
                                        <p:tav tm="0">
                                          <p:val>
                                            <p:strVal val="#ppt_x"/>
                                          </p:val>
                                        </p:tav>
                                        <p:tav tm="100000">
                                          <p:val>
                                            <p:strVal val="#ppt_x"/>
                                          </p:val>
                                        </p:tav>
                                      </p:tavLst>
                                    </p:anim>
                                    <p:anim calcmode="lin" valueType="num">
                                      <p:cBhvr>
                                        <p:cTn id="22"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 grpId="0" animBg="1"/>
      <p:bldP spid="60" grpId="0" animBg="1"/>
      <p:bldP spid="6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0392-D8FD-AB43-4548-396C5376A9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C93CB7-BFC6-5F81-12D1-8EDF8E2A0969}"/>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7BD67CBC-CFD2-7759-2701-94AE434A129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CE23936F-8BA2-8997-99CD-2528654F06A1}"/>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2" name="Shape 16">
            <a:extLst>
              <a:ext uri="{FF2B5EF4-FFF2-40B4-BE49-F238E27FC236}">
                <a16:creationId xmlns:a16="http://schemas.microsoft.com/office/drawing/2014/main" id="{C7EDC60F-7F90-DF13-575D-D95D30387624}"/>
              </a:ext>
            </a:extLst>
          </p:cNvPr>
          <p:cNvSpPr/>
          <p:nvPr/>
        </p:nvSpPr>
        <p:spPr>
          <a:xfrm>
            <a:off x="876198" y="1130807"/>
            <a:ext cx="10452202" cy="3301493"/>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3" name="Text 3">
            <a:extLst>
              <a:ext uri="{FF2B5EF4-FFF2-40B4-BE49-F238E27FC236}">
                <a16:creationId xmlns:a16="http://schemas.microsoft.com/office/drawing/2014/main" id="{360353AB-1EA1-9E84-2F10-D120C64F5CE3}"/>
              </a:ext>
            </a:extLst>
          </p:cNvPr>
          <p:cNvSpPr/>
          <p:nvPr/>
        </p:nvSpPr>
        <p:spPr>
          <a:xfrm>
            <a:off x="634595" y="1397307"/>
            <a:ext cx="10921592"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4" name="Gruppieren 13">
            <a:extLst>
              <a:ext uri="{FF2B5EF4-FFF2-40B4-BE49-F238E27FC236}">
                <a16:creationId xmlns:a16="http://schemas.microsoft.com/office/drawing/2014/main" id="{94E9CA68-9714-CD5A-46A2-3A73EADDEF8C}"/>
              </a:ext>
            </a:extLst>
          </p:cNvPr>
          <p:cNvGrpSpPr/>
          <p:nvPr/>
        </p:nvGrpSpPr>
        <p:grpSpPr>
          <a:xfrm>
            <a:off x="3462652" y="3178966"/>
            <a:ext cx="5266696" cy="952805"/>
            <a:chOff x="3462652" y="3178966"/>
            <a:chExt cx="5266696" cy="952805"/>
          </a:xfrm>
        </p:grpSpPr>
        <p:sp>
          <p:nvSpPr>
            <p:cNvPr id="15" name="Shape 8">
              <a:extLst>
                <a:ext uri="{FF2B5EF4-FFF2-40B4-BE49-F238E27FC236}">
                  <a16:creationId xmlns:a16="http://schemas.microsoft.com/office/drawing/2014/main" id="{A479BB1A-2830-5E92-BF44-7EF85F5646EC}"/>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6" name="Text 10">
              <a:extLst>
                <a:ext uri="{FF2B5EF4-FFF2-40B4-BE49-F238E27FC236}">
                  <a16:creationId xmlns:a16="http://schemas.microsoft.com/office/drawing/2014/main" id="{C61362DC-9124-FC43-4BD4-8B5FC70D87A5}"/>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17" name="Text 11">
              <a:extLst>
                <a:ext uri="{FF2B5EF4-FFF2-40B4-BE49-F238E27FC236}">
                  <a16:creationId xmlns:a16="http://schemas.microsoft.com/office/drawing/2014/main" id="{8FC9A8A6-5943-CBB4-F0E0-AC3B06F0A402}"/>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18" name="Grafik 17" descr="Aufwärtstrend mit einfarbiger Füllung">
              <a:extLst>
                <a:ext uri="{FF2B5EF4-FFF2-40B4-BE49-F238E27FC236}">
                  <a16:creationId xmlns:a16="http://schemas.microsoft.com/office/drawing/2014/main" id="{07E0A666-31E2-AF25-06DE-EF0E45A1F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sp>
        <p:nvSpPr>
          <p:cNvPr id="3" name="Freihandform 2">
            <a:extLst>
              <a:ext uri="{FF2B5EF4-FFF2-40B4-BE49-F238E27FC236}">
                <a16:creationId xmlns:a16="http://schemas.microsoft.com/office/drawing/2014/main" id="{11FFFB88-D877-5BEB-0C80-72BE2B982373}"/>
              </a:ext>
            </a:extLst>
          </p:cNvPr>
          <p:cNvSpPr/>
          <p:nvPr/>
        </p:nvSpPr>
        <p:spPr>
          <a:xfrm>
            <a:off x="1173476" y="5460693"/>
            <a:ext cx="987833" cy="610273"/>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Lst>
            <a:ahLst/>
            <a:cxnLst>
              <a:cxn ang="0">
                <a:pos x="csX0" y="csY0"/>
              </a:cxn>
              <a:cxn ang="0">
                <a:pos x="csX1" y="csY1"/>
              </a:cxn>
              <a:cxn ang="0">
                <a:pos x="csX2" y="csY2"/>
              </a:cxn>
              <a:cxn ang="0">
                <a:pos x="csX3" y="csY3"/>
              </a:cxn>
            </a:cxnLst>
            <a:rect l="l" t="t" r="r" b="b"/>
            <a:pathLst>
              <a:path w="2476500" h="610273">
                <a:moveTo>
                  <a:pt x="0" y="610273"/>
                </a:moveTo>
                <a:cubicBezTo>
                  <a:pt x="305858" y="316056"/>
                  <a:pt x="611717" y="21840"/>
                  <a:pt x="927100" y="673"/>
                </a:cubicBezTo>
                <a:cubicBezTo>
                  <a:pt x="1242483" y="-20494"/>
                  <a:pt x="1634067" y="464223"/>
                  <a:pt x="1892300" y="483273"/>
                </a:cubicBezTo>
                <a:cubicBezTo>
                  <a:pt x="2150533" y="502323"/>
                  <a:pt x="2313516" y="308648"/>
                  <a:pt x="2476500" y="114973"/>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reihandform 5">
            <a:extLst>
              <a:ext uri="{FF2B5EF4-FFF2-40B4-BE49-F238E27FC236}">
                <a16:creationId xmlns:a16="http://schemas.microsoft.com/office/drawing/2014/main" id="{62573C96-E8D3-4626-5DB5-3625293A6457}"/>
              </a:ext>
            </a:extLst>
          </p:cNvPr>
          <p:cNvSpPr/>
          <p:nvPr/>
        </p:nvSpPr>
        <p:spPr>
          <a:xfrm rot="755032">
            <a:off x="4983477" y="4927904"/>
            <a:ext cx="773088" cy="1295461"/>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 name="csX0" fmla="*/ 0 w 2476500"/>
              <a:gd name="csY0" fmla="*/ 495300 h 495300"/>
              <a:gd name="csX1" fmla="*/ 927100 w 2476500"/>
              <a:gd name="csY1" fmla="*/ 159821 h 495300"/>
              <a:gd name="csX2" fmla="*/ 1892300 w 2476500"/>
              <a:gd name="csY2" fmla="*/ 368300 h 495300"/>
              <a:gd name="csX3" fmla="*/ 2476500 w 2476500"/>
              <a:gd name="csY3" fmla="*/ 0 h 495300"/>
              <a:gd name="csX0" fmla="*/ 0 w 3328554"/>
              <a:gd name="csY0" fmla="*/ 1072911 h 1072911"/>
              <a:gd name="csX1" fmla="*/ 927100 w 3328554"/>
              <a:gd name="csY1" fmla="*/ 737432 h 1072911"/>
              <a:gd name="csX2" fmla="*/ 1892300 w 3328554"/>
              <a:gd name="csY2" fmla="*/ 9459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Lst>
            <a:ahLst/>
            <a:cxnLst>
              <a:cxn ang="0">
                <a:pos x="csX0" y="csY0"/>
              </a:cxn>
              <a:cxn ang="0">
                <a:pos x="csX1" y="csY1"/>
              </a:cxn>
              <a:cxn ang="0">
                <a:pos x="csX2" y="csY2"/>
              </a:cxn>
              <a:cxn ang="0">
                <a:pos x="csX3" y="csY3"/>
              </a:cxn>
            </a:cxnLst>
            <a:rect l="l" t="t" r="r" b="b"/>
            <a:pathLst>
              <a:path w="3328554" h="1072911">
                <a:moveTo>
                  <a:pt x="0" y="1072911"/>
                </a:moveTo>
                <a:cubicBezTo>
                  <a:pt x="305858" y="778694"/>
                  <a:pt x="514735" y="624802"/>
                  <a:pt x="927100" y="737432"/>
                </a:cubicBezTo>
                <a:cubicBezTo>
                  <a:pt x="1339465" y="850062"/>
                  <a:pt x="1571722" y="1073711"/>
                  <a:pt x="2349500" y="1043811"/>
                </a:cubicBezTo>
                <a:cubicBezTo>
                  <a:pt x="3044151" y="994331"/>
                  <a:pt x="3165570" y="193675"/>
                  <a:pt x="3328554" y="0"/>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Freihandform 6">
            <a:extLst>
              <a:ext uri="{FF2B5EF4-FFF2-40B4-BE49-F238E27FC236}">
                <a16:creationId xmlns:a16="http://schemas.microsoft.com/office/drawing/2014/main" id="{FA7CB7D0-6D57-97AC-1511-7F01D26581A5}"/>
              </a:ext>
            </a:extLst>
          </p:cNvPr>
          <p:cNvSpPr/>
          <p:nvPr/>
        </p:nvSpPr>
        <p:spPr>
          <a:xfrm rot="755032">
            <a:off x="7068888" y="4731873"/>
            <a:ext cx="1685806" cy="1499208"/>
          </a:xfrm>
          <a:custGeom>
            <a:avLst/>
            <a:gdLst>
              <a:gd name="csX0" fmla="*/ 0 w 2476500"/>
              <a:gd name="csY0" fmla="*/ 610273 h 610273"/>
              <a:gd name="csX1" fmla="*/ 927100 w 2476500"/>
              <a:gd name="csY1" fmla="*/ 673 h 610273"/>
              <a:gd name="csX2" fmla="*/ 1892300 w 2476500"/>
              <a:gd name="csY2" fmla="*/ 483273 h 610273"/>
              <a:gd name="csX3" fmla="*/ 2476500 w 2476500"/>
              <a:gd name="csY3" fmla="*/ 114973 h 610273"/>
              <a:gd name="csX0" fmla="*/ 0 w 2476500"/>
              <a:gd name="csY0" fmla="*/ 495300 h 495300"/>
              <a:gd name="csX1" fmla="*/ 927100 w 2476500"/>
              <a:gd name="csY1" fmla="*/ 159821 h 495300"/>
              <a:gd name="csX2" fmla="*/ 1892300 w 2476500"/>
              <a:gd name="csY2" fmla="*/ 368300 h 495300"/>
              <a:gd name="csX3" fmla="*/ 2476500 w 2476500"/>
              <a:gd name="csY3" fmla="*/ 0 h 495300"/>
              <a:gd name="csX0" fmla="*/ 0 w 3328554"/>
              <a:gd name="csY0" fmla="*/ 1072911 h 1072911"/>
              <a:gd name="csX1" fmla="*/ 927100 w 3328554"/>
              <a:gd name="csY1" fmla="*/ 737432 h 1072911"/>
              <a:gd name="csX2" fmla="*/ 1892300 w 3328554"/>
              <a:gd name="csY2" fmla="*/ 9459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28554"/>
              <a:gd name="csY0" fmla="*/ 1072911 h 1072911"/>
              <a:gd name="csX1" fmla="*/ 927100 w 3328554"/>
              <a:gd name="csY1" fmla="*/ 737432 h 1072911"/>
              <a:gd name="csX2" fmla="*/ 2349500 w 3328554"/>
              <a:gd name="csY2" fmla="*/ 1043811 h 1072911"/>
              <a:gd name="csX3" fmla="*/ 3328554 w 3328554"/>
              <a:gd name="csY3" fmla="*/ 0 h 1072911"/>
              <a:gd name="csX0" fmla="*/ 0 w 3374270"/>
              <a:gd name="csY0" fmla="*/ 1072911 h 1072911"/>
              <a:gd name="csX1" fmla="*/ 927100 w 3374270"/>
              <a:gd name="csY1" fmla="*/ 737432 h 1072911"/>
              <a:gd name="csX2" fmla="*/ 3007544 w 3374270"/>
              <a:gd name="csY2" fmla="*/ 662849 h 1072911"/>
              <a:gd name="csX3" fmla="*/ 3328554 w 3374270"/>
              <a:gd name="csY3" fmla="*/ 0 h 1072911"/>
              <a:gd name="csX0" fmla="*/ 0 w 5443908"/>
              <a:gd name="csY0" fmla="*/ 1146110 h 1146110"/>
              <a:gd name="csX1" fmla="*/ 927100 w 5443908"/>
              <a:gd name="csY1" fmla="*/ 810631 h 1146110"/>
              <a:gd name="csX2" fmla="*/ 3007544 w 5443908"/>
              <a:gd name="csY2" fmla="*/ 736048 h 1146110"/>
              <a:gd name="csX3" fmla="*/ 5443910 w 5443908"/>
              <a:gd name="csY3" fmla="*/ 0 h 1146110"/>
              <a:gd name="csX0" fmla="*/ 0 w 5443908"/>
              <a:gd name="csY0" fmla="*/ 1146110 h 1146110"/>
              <a:gd name="csX1" fmla="*/ 927100 w 5443908"/>
              <a:gd name="csY1" fmla="*/ 810631 h 1146110"/>
              <a:gd name="csX2" fmla="*/ 4093669 w 5443908"/>
              <a:gd name="csY2" fmla="*/ 565962 h 1146110"/>
              <a:gd name="csX3" fmla="*/ 5443910 w 5443908"/>
              <a:gd name="csY3" fmla="*/ 0 h 1146110"/>
              <a:gd name="csX0" fmla="*/ -1 w 7258289"/>
              <a:gd name="csY0" fmla="*/ 1241656 h 1241656"/>
              <a:gd name="csX1" fmla="*/ 2741481 w 7258289"/>
              <a:gd name="csY1" fmla="*/ 810631 h 1241656"/>
              <a:gd name="csX2" fmla="*/ 5908050 w 7258289"/>
              <a:gd name="csY2" fmla="*/ 565962 h 1241656"/>
              <a:gd name="csX3" fmla="*/ 7258291 w 7258289"/>
              <a:gd name="csY3" fmla="*/ 0 h 1241656"/>
              <a:gd name="csX0" fmla="*/ -1 w 7258289"/>
              <a:gd name="csY0" fmla="*/ 1241656 h 1241656"/>
              <a:gd name="csX1" fmla="*/ 2741481 w 7258289"/>
              <a:gd name="csY1" fmla="*/ 810631 h 1241656"/>
              <a:gd name="csX2" fmla="*/ 5908050 w 7258289"/>
              <a:gd name="csY2" fmla="*/ 565962 h 1241656"/>
              <a:gd name="csX3" fmla="*/ 7258291 w 7258289"/>
              <a:gd name="csY3" fmla="*/ 0 h 1241656"/>
            </a:gdLst>
            <a:ahLst/>
            <a:cxnLst>
              <a:cxn ang="0">
                <a:pos x="csX0" y="csY0"/>
              </a:cxn>
              <a:cxn ang="0">
                <a:pos x="csX1" y="csY1"/>
              </a:cxn>
              <a:cxn ang="0">
                <a:pos x="csX2" y="csY2"/>
              </a:cxn>
              <a:cxn ang="0">
                <a:pos x="csX3" y="csY3"/>
              </a:cxn>
            </a:cxnLst>
            <a:rect l="l" t="t" r="r" b="b"/>
            <a:pathLst>
              <a:path w="7258289" h="1241656">
                <a:moveTo>
                  <a:pt x="-1" y="1241656"/>
                </a:moveTo>
                <a:cubicBezTo>
                  <a:pt x="2655139" y="1075820"/>
                  <a:pt x="1756806" y="923247"/>
                  <a:pt x="2741481" y="810631"/>
                </a:cubicBezTo>
                <a:cubicBezTo>
                  <a:pt x="3726156" y="698015"/>
                  <a:pt x="5130272" y="595862"/>
                  <a:pt x="5908050" y="565962"/>
                </a:cubicBezTo>
                <a:cubicBezTo>
                  <a:pt x="6602701" y="516482"/>
                  <a:pt x="7095307" y="193675"/>
                  <a:pt x="7258291" y="0"/>
                </a:cubicBezTo>
              </a:path>
            </a:pathLst>
          </a:custGeom>
          <a:noFill/>
          <a:ln w="38100">
            <a:solidFill>
              <a:srgbClr val="E6D4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78804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xit" presetSubtype="8" fill="hold" grpId="0" nodeType="afterEffect">
                                  <p:stCondLst>
                                    <p:cond delay="1000"/>
                                  </p:stCondLst>
                                  <p:childTnLst>
                                    <p:animEffect transition="out" filter="wipe(left)">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2" presetClass="exit" presetSubtype="8" fill="hold" grpId="0" nodeType="afterEffect">
                                  <p:stCondLst>
                                    <p:cond delay="1000"/>
                                  </p:stCondLst>
                                  <p:childTnLst>
                                    <p:animEffect transition="out" filter="wipe(left)">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1"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par>
                          <p:cTn id="26" fill="hold">
                            <p:stCondLst>
                              <p:cond delay="500"/>
                            </p:stCondLst>
                            <p:childTnLst>
                              <p:par>
                                <p:cTn id="27" presetID="22" presetClass="exit" presetSubtype="8" fill="hold" grpId="0" nodeType="afterEffect">
                                  <p:stCondLst>
                                    <p:cond delay="1000"/>
                                  </p:stCondLst>
                                  <p:childTnLst>
                                    <p:animEffect transition="out" filter="wipe(left)">
                                      <p:cBhvr>
                                        <p:cTn id="28" dur="500"/>
                                        <p:tgtEl>
                                          <p:spTgt spid="7"/>
                                        </p:tgtEl>
                                      </p:cBhvr>
                                    </p:animEffect>
                                    <p:set>
                                      <p:cBhvr>
                                        <p:cTn id="29"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7" grpId="0" animBg="1"/>
      <p:bldP spid="7"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25D7-FDF0-5C23-5771-3650123D96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C37D20-3A10-B0EB-64DC-BE304FC3A233}"/>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50B0DCAE-1D7F-6427-7BCC-81AC5CD1AC87}"/>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EE368D7-56D7-BDE4-15D8-7514BD2B977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6" name="Text 3">
            <a:extLst>
              <a:ext uri="{FF2B5EF4-FFF2-40B4-BE49-F238E27FC236}">
                <a16:creationId xmlns:a16="http://schemas.microsoft.com/office/drawing/2014/main" id="{7AC0A42C-C39A-9B4B-AB6B-085A6C41A2D4}"/>
              </a:ext>
            </a:extLst>
          </p:cNvPr>
          <p:cNvSpPr/>
          <p:nvPr/>
        </p:nvSpPr>
        <p:spPr>
          <a:xfrm>
            <a:off x="634594" y="1410007"/>
            <a:ext cx="10921593" cy="1283828"/>
          </a:xfrm>
          <a:prstGeom prst="rect">
            <a:avLst/>
          </a:prstGeom>
          <a:noFill/>
          <a:ln/>
        </p:spPr>
        <p:txBody>
          <a:bodyPr wrap="square" rtlCol="0" anchor="t"/>
          <a:lstStyle/>
          <a:p>
            <a:pPr marL="0" indent="0" algn="ctr">
              <a:lnSpc>
                <a:spcPct val="150000"/>
              </a:lnSpc>
              <a:buNone/>
            </a:pPr>
            <a:r>
              <a:rPr lang="en-US" sz="2400" b="1">
                <a:solidFill>
                  <a:srgbClr val="F2EFDA"/>
                </a:solidFill>
                <a:latin typeface="Arial" pitchFamily="34" charset="0"/>
                <a:ea typeface="Arial" pitchFamily="34" charset="-122"/>
                <a:cs typeface="Arial" pitchFamily="34" charset="-120"/>
              </a:rPr>
              <a:t>Eine Kennzahl ist </a:t>
            </a:r>
            <a:r>
              <a:rPr lang="en-US" sz="2400" b="1" err="1">
                <a:solidFill>
                  <a:srgbClr val="F2EFDA"/>
                </a:solidFill>
                <a:latin typeface="Arial" pitchFamily="34" charset="0"/>
                <a:ea typeface="Arial" pitchFamily="34" charset="-122"/>
                <a:cs typeface="Arial" pitchFamily="34" charset="-120"/>
              </a:rPr>
              <a:t>eine</a:t>
            </a:r>
            <a:r>
              <a:rPr lang="en-US" sz="2400" b="1">
                <a:solidFill>
                  <a:srgbClr val="F2EFDA"/>
                </a:solidFill>
                <a:latin typeface="Arial" pitchFamily="34" charset="0"/>
                <a:ea typeface="Arial" pitchFamily="34" charset="-122"/>
                <a:cs typeface="Arial" pitchFamily="34" charset="-120"/>
              </a:rPr>
              <a:t> </a:t>
            </a:r>
            <a:r>
              <a:rPr lang="en-US" sz="2400" b="1" err="1">
                <a:solidFill>
                  <a:srgbClr val="F2EFDA"/>
                </a:solidFill>
                <a:latin typeface="Arial" pitchFamily="34" charset="0"/>
                <a:ea typeface="Arial" pitchFamily="34" charset="-122"/>
                <a:cs typeface="Arial" pitchFamily="34" charset="-120"/>
              </a:rPr>
              <a:t>Momentaufnahme</a:t>
            </a:r>
            <a:r>
              <a:rPr lang="en-US" sz="2400" b="1">
                <a:solidFill>
                  <a:srgbClr val="F2EFDA"/>
                </a:solidFill>
                <a:latin typeface="Arial" pitchFamily="34" charset="0"/>
                <a:ea typeface="Arial" pitchFamily="34" charset="-122"/>
                <a:cs typeface="Arial" pitchFamily="34" charset="-120"/>
              </a:rPr>
              <a:t>, die Information steckt in der </a:t>
            </a:r>
            <a:r>
              <a:rPr lang="en-US" sz="3200" b="1" err="1">
                <a:solidFill>
                  <a:srgbClr val="78A2F9"/>
                </a:solidFill>
                <a:latin typeface="Arial" pitchFamily="34" charset="0"/>
                <a:ea typeface="Arial" pitchFamily="34" charset="-122"/>
                <a:cs typeface="Arial" pitchFamily="34" charset="-120"/>
              </a:rPr>
              <a:t>Veränderung</a:t>
            </a:r>
            <a:r>
              <a:rPr lang="en-US" sz="3200" b="1">
                <a:solidFill>
                  <a:srgbClr val="78A2F9"/>
                </a:solidFill>
                <a:latin typeface="Arial" pitchFamily="34" charset="0"/>
                <a:ea typeface="Arial" pitchFamily="34" charset="-122"/>
                <a:cs typeface="Arial" pitchFamily="34" charset="-120"/>
              </a:rPr>
              <a:t> / Dynamik</a:t>
            </a:r>
            <a:endParaRPr lang="en-US" sz="2400"/>
          </a:p>
        </p:txBody>
      </p:sp>
      <p:grpSp>
        <p:nvGrpSpPr>
          <p:cNvPr id="15" name="Gruppieren 14">
            <a:extLst>
              <a:ext uri="{FF2B5EF4-FFF2-40B4-BE49-F238E27FC236}">
                <a16:creationId xmlns:a16="http://schemas.microsoft.com/office/drawing/2014/main" id="{F48EC34E-5C0C-123E-855E-D0FE2FE3AD92}"/>
              </a:ext>
            </a:extLst>
          </p:cNvPr>
          <p:cNvGrpSpPr/>
          <p:nvPr/>
        </p:nvGrpSpPr>
        <p:grpSpPr>
          <a:xfrm>
            <a:off x="634594" y="4820018"/>
            <a:ext cx="5266695" cy="952805"/>
            <a:chOff x="634594" y="4820018"/>
            <a:chExt cx="5266695" cy="952805"/>
          </a:xfrm>
        </p:grpSpPr>
        <p:sp>
          <p:nvSpPr>
            <p:cNvPr id="7" name="Shape 4">
              <a:extLst>
                <a:ext uri="{FF2B5EF4-FFF2-40B4-BE49-F238E27FC236}">
                  <a16:creationId xmlns:a16="http://schemas.microsoft.com/office/drawing/2014/main" id="{2451CCD6-5F43-4207-EDFC-BC142E67F31D}"/>
                </a:ext>
              </a:extLst>
            </p:cNvPr>
            <p:cNvSpPr/>
            <p:nvPr/>
          </p:nvSpPr>
          <p:spPr>
            <a:xfrm>
              <a:off x="634594" y="4820018"/>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8C261A6A-7A71-6FC2-CA7A-60031356759B}"/>
                </a:ext>
              </a:extLst>
            </p:cNvPr>
            <p:cNvSpPr/>
            <p:nvPr/>
          </p:nvSpPr>
          <p:spPr>
            <a:xfrm>
              <a:off x="952806" y="5011128"/>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FE7B232F-7009-15DA-52A6-73B1B8FEF839}"/>
                </a:ext>
              </a:extLst>
            </p:cNvPr>
            <p:cNvSpPr/>
            <p:nvPr/>
          </p:nvSpPr>
          <p:spPr>
            <a:xfrm>
              <a:off x="1714501" y="5011128"/>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71DE3C69-4297-AC3F-FC64-7518BEAF47C7}"/>
                </a:ext>
              </a:extLst>
            </p:cNvPr>
            <p:cNvSpPr/>
            <p:nvPr/>
          </p:nvSpPr>
          <p:spPr>
            <a:xfrm>
              <a:off x="1714501" y="5315623"/>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 name="Gruppieren 2">
            <a:extLst>
              <a:ext uri="{FF2B5EF4-FFF2-40B4-BE49-F238E27FC236}">
                <a16:creationId xmlns:a16="http://schemas.microsoft.com/office/drawing/2014/main" id="{47DAF238-00C2-6622-981D-613DCDB81374}"/>
              </a:ext>
            </a:extLst>
          </p:cNvPr>
          <p:cNvGrpSpPr/>
          <p:nvPr/>
        </p:nvGrpSpPr>
        <p:grpSpPr>
          <a:xfrm>
            <a:off x="6290715" y="4820018"/>
            <a:ext cx="5266696" cy="952805"/>
            <a:chOff x="6290715" y="4820018"/>
            <a:chExt cx="5266696" cy="952805"/>
          </a:xfrm>
        </p:grpSpPr>
        <p:sp>
          <p:nvSpPr>
            <p:cNvPr id="11" name="Shape 8">
              <a:extLst>
                <a:ext uri="{FF2B5EF4-FFF2-40B4-BE49-F238E27FC236}">
                  <a16:creationId xmlns:a16="http://schemas.microsoft.com/office/drawing/2014/main" id="{4086EA3F-A978-2D25-8677-0BBBA68145E1}"/>
                </a:ext>
              </a:extLst>
            </p:cNvPr>
            <p:cNvSpPr/>
            <p:nvPr/>
          </p:nvSpPr>
          <p:spPr>
            <a:xfrm>
              <a:off x="6290715" y="4820018"/>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E78499B-0088-8C2B-BF2F-4A0A8CE10A58}"/>
                </a:ext>
              </a:extLst>
            </p:cNvPr>
            <p:cNvSpPr/>
            <p:nvPr/>
          </p:nvSpPr>
          <p:spPr>
            <a:xfrm>
              <a:off x="6608012" y="4947120"/>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E6483B8E-97EC-D192-D25F-1714F3BCE9AB}"/>
                </a:ext>
              </a:extLst>
            </p:cNvPr>
            <p:cNvSpPr/>
            <p:nvPr/>
          </p:nvSpPr>
          <p:spPr>
            <a:xfrm>
              <a:off x="7369707" y="5011128"/>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6FB592D6-6B5B-AFCC-57BA-F1ACE4CC3C12}"/>
                </a:ext>
              </a:extLst>
            </p:cNvPr>
            <p:cNvSpPr/>
            <p:nvPr/>
          </p:nvSpPr>
          <p:spPr>
            <a:xfrm>
              <a:off x="7369707" y="5315623"/>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grpSp>
        <p:nvGrpSpPr>
          <p:cNvPr id="45" name="Gruppieren 44">
            <a:extLst>
              <a:ext uri="{FF2B5EF4-FFF2-40B4-BE49-F238E27FC236}">
                <a16:creationId xmlns:a16="http://schemas.microsoft.com/office/drawing/2014/main" id="{928B4D57-F59F-7C6B-DBD9-574286438805}"/>
              </a:ext>
            </a:extLst>
          </p:cNvPr>
          <p:cNvGrpSpPr/>
          <p:nvPr/>
        </p:nvGrpSpPr>
        <p:grpSpPr>
          <a:xfrm>
            <a:off x="3462652" y="3178966"/>
            <a:ext cx="5266696" cy="952805"/>
            <a:chOff x="3462652" y="3178966"/>
            <a:chExt cx="5266696" cy="952805"/>
          </a:xfrm>
        </p:grpSpPr>
        <p:sp>
          <p:nvSpPr>
            <p:cNvPr id="39" name="Shape 8">
              <a:extLst>
                <a:ext uri="{FF2B5EF4-FFF2-40B4-BE49-F238E27FC236}">
                  <a16:creationId xmlns:a16="http://schemas.microsoft.com/office/drawing/2014/main" id="{DD1B9EFF-261D-51CF-9FC3-11836FAD152B}"/>
                </a:ext>
              </a:extLst>
            </p:cNvPr>
            <p:cNvSpPr/>
            <p:nvPr/>
          </p:nvSpPr>
          <p:spPr>
            <a:xfrm>
              <a:off x="3462652" y="31789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41" name="Text 10">
              <a:extLst>
                <a:ext uri="{FF2B5EF4-FFF2-40B4-BE49-F238E27FC236}">
                  <a16:creationId xmlns:a16="http://schemas.microsoft.com/office/drawing/2014/main" id="{8C0CD161-CEAC-6651-E084-2F75ACF396A8}"/>
                </a:ext>
              </a:extLst>
            </p:cNvPr>
            <p:cNvSpPr/>
            <p:nvPr/>
          </p:nvSpPr>
          <p:spPr>
            <a:xfrm>
              <a:off x="4541644" y="33700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Dynamik</a:t>
              </a:r>
              <a:endParaRPr lang="en-US" sz="1400"/>
            </a:p>
          </p:txBody>
        </p:sp>
        <p:sp>
          <p:nvSpPr>
            <p:cNvPr id="42" name="Text 11">
              <a:extLst>
                <a:ext uri="{FF2B5EF4-FFF2-40B4-BE49-F238E27FC236}">
                  <a16:creationId xmlns:a16="http://schemas.microsoft.com/office/drawing/2014/main" id="{08ECA982-588D-B53B-0703-D8A0D6EB93EA}"/>
                </a:ext>
              </a:extLst>
            </p:cNvPr>
            <p:cNvSpPr/>
            <p:nvPr/>
          </p:nvSpPr>
          <p:spPr>
            <a:xfrm>
              <a:off x="4541644" y="3674571"/>
              <a:ext cx="4187704" cy="305719"/>
            </a:xfrm>
            <a:prstGeom prst="rect">
              <a:avLst/>
            </a:prstGeom>
            <a:noFill/>
            <a:ln/>
          </p:spPr>
          <p:txBody>
            <a:bodyPr wrap="square" rtlCol="0" anchor="t"/>
            <a:lstStyle/>
            <a:p>
              <a:pPr marL="0" indent="0" algn="l">
                <a:lnSpc>
                  <a:spcPct val="105000"/>
                </a:lnSpc>
                <a:buNone/>
              </a:pPr>
              <a:r>
                <a:rPr lang="en-US" sz="1200" err="1">
                  <a:solidFill>
                    <a:srgbClr val="B3BC9A"/>
                  </a:solidFill>
                  <a:latin typeface="Arial" pitchFamily="34" charset="0"/>
                  <a:ea typeface="Arial" pitchFamily="34" charset="-122"/>
                  <a:cs typeface="Arial" pitchFamily="34" charset="-120"/>
                </a:rPr>
                <a:t>Verhalten</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einer</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Kennzahl</a:t>
              </a:r>
              <a:r>
                <a:rPr lang="en-US" sz="1200">
                  <a:solidFill>
                    <a:srgbClr val="B3BC9A"/>
                  </a:solidFill>
                  <a:latin typeface="Arial" pitchFamily="34" charset="0"/>
                  <a:ea typeface="Arial" pitchFamily="34" charset="-122"/>
                  <a:cs typeface="Arial" pitchFamily="34" charset="-120"/>
                </a:rPr>
                <a:t> </a:t>
              </a:r>
              <a:r>
                <a:rPr lang="en-US" sz="1200" err="1">
                  <a:solidFill>
                    <a:srgbClr val="B3BC9A"/>
                  </a:solidFill>
                  <a:latin typeface="Arial" pitchFamily="34" charset="0"/>
                  <a:ea typeface="Arial" pitchFamily="34" charset="-122"/>
                  <a:cs typeface="Arial" pitchFamily="34" charset="-120"/>
                </a:rPr>
                <a:t>über</a:t>
              </a:r>
              <a:r>
                <a:rPr lang="en-US" sz="1200">
                  <a:solidFill>
                    <a:srgbClr val="B3BC9A"/>
                  </a:solidFill>
                  <a:latin typeface="Arial" pitchFamily="34" charset="0"/>
                  <a:ea typeface="Arial" pitchFamily="34" charset="-122"/>
                  <a:cs typeface="Arial" pitchFamily="34" charset="-120"/>
                </a:rPr>
                <a:t> die Zeit</a:t>
              </a:r>
              <a:endParaRPr lang="en-US" sz="1200"/>
            </a:p>
          </p:txBody>
        </p:sp>
        <p:pic>
          <p:nvPicPr>
            <p:cNvPr id="44" name="Grafik 43" descr="Aufwärtstrend mit einfarbiger Füllung">
              <a:extLst>
                <a:ext uri="{FF2B5EF4-FFF2-40B4-BE49-F238E27FC236}">
                  <a16:creationId xmlns:a16="http://schemas.microsoft.com/office/drawing/2014/main" id="{24D64D48-6A16-2786-7C82-AED8F4A3B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9976" y="3370076"/>
              <a:ext cx="625033" cy="625033"/>
            </a:xfrm>
            <a:prstGeom prst="rect">
              <a:avLst/>
            </a:prstGeom>
          </p:spPr>
        </p:pic>
      </p:grpSp>
      <p:cxnSp>
        <p:nvCxnSpPr>
          <p:cNvPr id="46" name="Gewinkelte Verbindung 45">
            <a:extLst>
              <a:ext uri="{FF2B5EF4-FFF2-40B4-BE49-F238E27FC236}">
                <a16:creationId xmlns:a16="http://schemas.microsoft.com/office/drawing/2014/main" id="{26DA133E-1058-3591-FB3A-B6E033BB1576}"/>
              </a:ext>
            </a:extLst>
          </p:cNvPr>
          <p:cNvCxnSpPr>
            <a:cxnSpLocks/>
            <a:stCxn id="39" idx="2"/>
            <a:endCxn id="7" idx="0"/>
          </p:cNvCxnSpPr>
          <p:nvPr/>
        </p:nvCxnSpPr>
        <p:spPr>
          <a:xfrm rot="5400000">
            <a:off x="4337848" y="3061865"/>
            <a:ext cx="688247" cy="2828058"/>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winkelte Verbindung 48">
            <a:extLst>
              <a:ext uri="{FF2B5EF4-FFF2-40B4-BE49-F238E27FC236}">
                <a16:creationId xmlns:a16="http://schemas.microsoft.com/office/drawing/2014/main" id="{684DF1C6-C32B-49F3-DB40-CDCDE7806DD8}"/>
              </a:ext>
            </a:extLst>
          </p:cNvPr>
          <p:cNvCxnSpPr>
            <a:cxnSpLocks/>
            <a:stCxn id="39" idx="2"/>
            <a:endCxn id="11" idx="0"/>
          </p:cNvCxnSpPr>
          <p:nvPr/>
        </p:nvCxnSpPr>
        <p:spPr>
          <a:xfrm rot="16200000" flipH="1">
            <a:off x="7165908" y="3061862"/>
            <a:ext cx="688247" cy="2828063"/>
          </a:xfrm>
          <a:prstGeom prst="bentConnector3">
            <a:avLst>
              <a:gd name="adj1" fmla="val 50000"/>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87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par>
                                <p:cTn id="8" presetID="22" presetClass="entr" presetSubtype="1"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up)">
                                      <p:cBhvr>
                                        <p:cTn id="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9C14-B51D-0216-737F-740F386C7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3A4A10-7F25-EF39-BAEF-DA9E4524417B}"/>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469CB94D-3082-21EE-E366-DBF73557BB0A}"/>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0B529815-CC56-9E8A-CE39-7DC360FBEA68}"/>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grpSp>
        <p:nvGrpSpPr>
          <p:cNvPr id="35" name="Gruppieren 34">
            <a:extLst>
              <a:ext uri="{FF2B5EF4-FFF2-40B4-BE49-F238E27FC236}">
                <a16:creationId xmlns:a16="http://schemas.microsoft.com/office/drawing/2014/main" id="{3586E0AB-5A61-06DC-79A8-A387C14F456D}"/>
              </a:ext>
            </a:extLst>
          </p:cNvPr>
          <p:cNvGrpSpPr/>
          <p:nvPr/>
        </p:nvGrpSpPr>
        <p:grpSpPr>
          <a:xfrm>
            <a:off x="634593" y="1187066"/>
            <a:ext cx="5266695" cy="952805"/>
            <a:chOff x="634593" y="1187066"/>
            <a:chExt cx="5266695" cy="952805"/>
          </a:xfrm>
        </p:grpSpPr>
        <p:sp>
          <p:nvSpPr>
            <p:cNvPr id="7" name="Shape 4">
              <a:extLst>
                <a:ext uri="{FF2B5EF4-FFF2-40B4-BE49-F238E27FC236}">
                  <a16:creationId xmlns:a16="http://schemas.microsoft.com/office/drawing/2014/main" id="{EBF44CF2-9361-B17E-7E1E-F1F282FFE6F4}"/>
                </a:ext>
              </a:extLst>
            </p:cNvPr>
            <p:cNvSpPr/>
            <p:nvPr/>
          </p:nvSpPr>
          <p:spPr>
            <a:xfrm>
              <a:off x="634593" y="1187066"/>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C1C9EC93-F886-0FEB-10FA-7162C273CED6}"/>
                </a:ext>
              </a:extLst>
            </p:cNvPr>
            <p:cNvSpPr/>
            <p:nvPr/>
          </p:nvSpPr>
          <p:spPr>
            <a:xfrm>
              <a:off x="952805" y="1378176"/>
              <a:ext cx="571500" cy="558698"/>
            </a:xfrm>
            <a:prstGeom prst="rect">
              <a:avLst/>
            </a:prstGeom>
            <a:noFill/>
            <a:ln/>
          </p:spPr>
          <p:txBody>
            <a:bodyPr wrap="square" rtlCol="0" anchor="ctr"/>
            <a:lstStyle/>
            <a:p>
              <a:pPr marL="0" indent="0" algn="l">
                <a:lnSpc>
                  <a:spcPct val="105000"/>
                </a:lnSpc>
                <a:buNone/>
              </a:pPr>
              <a:r>
                <a:rPr lang="en-US" sz="3200" b="1">
                  <a:solidFill>
                    <a:srgbClr val="78A2F9"/>
                  </a:solidFill>
                  <a:latin typeface="Courier New" pitchFamily="34" charset="0"/>
                  <a:ea typeface="Courier New" pitchFamily="34" charset="-122"/>
                  <a:cs typeface="Courier New" pitchFamily="34" charset="-120"/>
                </a:rPr>
                <a:t>φ</a:t>
              </a:r>
              <a:endParaRPr lang="en-US" sz="3200">
                <a:solidFill>
                  <a:srgbClr val="78A2F9"/>
                </a:solidFill>
              </a:endParaRPr>
            </a:p>
          </p:txBody>
        </p:sp>
        <p:sp>
          <p:nvSpPr>
            <p:cNvPr id="9" name="Text 6">
              <a:extLst>
                <a:ext uri="{FF2B5EF4-FFF2-40B4-BE49-F238E27FC236}">
                  <a16:creationId xmlns:a16="http://schemas.microsoft.com/office/drawing/2014/main" id="{AFD26D88-7A8C-070A-23F4-C5224BF81050}"/>
                </a:ext>
              </a:extLst>
            </p:cNvPr>
            <p:cNvSpPr/>
            <p:nvPr/>
          </p:nvSpPr>
          <p:spPr>
            <a:xfrm>
              <a:off x="1714500" y="1378176"/>
              <a:ext cx="3873398"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Korrekturgeschwindigkeit</a:t>
              </a:r>
              <a:endParaRPr lang="en-US" sz="1400"/>
            </a:p>
          </p:txBody>
        </p:sp>
        <p:sp>
          <p:nvSpPr>
            <p:cNvPr id="10" name="Text 7">
              <a:extLst>
                <a:ext uri="{FF2B5EF4-FFF2-40B4-BE49-F238E27FC236}">
                  <a16:creationId xmlns:a16="http://schemas.microsoft.com/office/drawing/2014/main" id="{956A0472-0642-45C0-55BC-03938B4FD80D}"/>
                </a:ext>
              </a:extLst>
            </p:cNvPr>
            <p:cNvSpPr/>
            <p:nvPr/>
          </p:nvSpPr>
          <p:spPr>
            <a:xfrm>
              <a:off x="1714500" y="1682671"/>
              <a:ext cx="4063594" cy="305614"/>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Kehrt eine Quartalsveränderung im Folgequartal </a:t>
              </a:r>
              <a:r>
                <a:rPr lang="en-US" sz="1200" err="1">
                  <a:solidFill>
                    <a:srgbClr val="B3BC9A"/>
                  </a:solidFill>
                  <a:latin typeface="Arial" pitchFamily="34" charset="0"/>
                  <a:ea typeface="Arial" pitchFamily="34" charset="-122"/>
                  <a:cs typeface="Arial" pitchFamily="34" charset="-120"/>
                </a:rPr>
                <a:t>zurück</a:t>
              </a:r>
              <a:r>
                <a:rPr lang="en-US" sz="1200">
                  <a:solidFill>
                    <a:srgbClr val="B3BC9A"/>
                  </a:solidFill>
                  <a:latin typeface="Arial" pitchFamily="34" charset="0"/>
                  <a:ea typeface="Arial" pitchFamily="34" charset="-122"/>
                  <a:cs typeface="Arial" pitchFamily="34" charset="-120"/>
                </a:rPr>
                <a:t>?</a:t>
              </a:r>
            </a:p>
          </p:txBody>
        </p:sp>
      </p:grpSp>
      <p:grpSp>
        <p:nvGrpSpPr>
          <p:cNvPr id="34" name="Gruppieren 33">
            <a:extLst>
              <a:ext uri="{FF2B5EF4-FFF2-40B4-BE49-F238E27FC236}">
                <a16:creationId xmlns:a16="http://schemas.microsoft.com/office/drawing/2014/main" id="{9185C676-6C2A-35FA-907F-AD52B0CA8709}"/>
              </a:ext>
            </a:extLst>
          </p:cNvPr>
          <p:cNvGrpSpPr/>
          <p:nvPr/>
        </p:nvGrpSpPr>
        <p:grpSpPr>
          <a:xfrm>
            <a:off x="6290714" y="1187066"/>
            <a:ext cx="5266696" cy="952805"/>
            <a:chOff x="6290714" y="1187066"/>
            <a:chExt cx="5266696" cy="952805"/>
          </a:xfrm>
        </p:grpSpPr>
        <p:sp>
          <p:nvSpPr>
            <p:cNvPr id="11" name="Shape 8">
              <a:extLst>
                <a:ext uri="{FF2B5EF4-FFF2-40B4-BE49-F238E27FC236}">
                  <a16:creationId xmlns:a16="http://schemas.microsoft.com/office/drawing/2014/main" id="{C1ADF452-6B3F-5D09-2040-586DB02E9E7C}"/>
                </a:ext>
              </a:extLst>
            </p:cNvPr>
            <p:cNvSpPr/>
            <p:nvPr/>
          </p:nvSpPr>
          <p:spPr>
            <a:xfrm>
              <a:off x="6290714" y="1187066"/>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731C39D2-4E43-407F-0988-04629E064595}"/>
                </a:ext>
              </a:extLst>
            </p:cNvPr>
            <p:cNvSpPr/>
            <p:nvPr/>
          </p:nvSpPr>
          <p:spPr>
            <a:xfrm>
              <a:off x="6608011" y="1314168"/>
              <a:ext cx="571500" cy="622706"/>
            </a:xfrm>
            <a:prstGeom prst="rect">
              <a:avLst/>
            </a:prstGeom>
            <a:noFill/>
            <a:ln/>
          </p:spPr>
          <p:txBody>
            <a:bodyPr wrap="square" rtlCol="0" anchor="ctr"/>
            <a:lstStyle/>
            <a:p>
              <a:pPr marL="0" indent="0" algn="l">
                <a:lnSpc>
                  <a:spcPct val="105000"/>
                </a:lnSpc>
                <a:buNone/>
              </a:pPr>
              <a:r>
                <a:rPr lang="en-US" sz="3200" b="1">
                  <a:solidFill>
                    <a:srgbClr val="79A2F9"/>
                  </a:solidFill>
                  <a:latin typeface="Courier New" pitchFamily="34" charset="0"/>
                  <a:ea typeface="Courier New" pitchFamily="34" charset="-122"/>
                  <a:cs typeface="Courier New" pitchFamily="34" charset="-120"/>
                </a:rPr>
                <a:t>σ</a:t>
              </a:r>
              <a:endParaRPr lang="en-US" sz="3200"/>
            </a:p>
          </p:txBody>
        </p:sp>
        <p:sp>
          <p:nvSpPr>
            <p:cNvPr id="13" name="Text 10">
              <a:extLst>
                <a:ext uri="{FF2B5EF4-FFF2-40B4-BE49-F238E27FC236}">
                  <a16:creationId xmlns:a16="http://schemas.microsoft.com/office/drawing/2014/main" id="{66791E79-A1DF-2EA2-C60E-9F296CC020A7}"/>
                </a:ext>
              </a:extLst>
            </p:cNvPr>
            <p:cNvSpPr/>
            <p:nvPr/>
          </p:nvSpPr>
          <p:spPr>
            <a:xfrm>
              <a:off x="7369706" y="1378176"/>
              <a:ext cx="3746297" cy="254203"/>
            </a:xfrm>
            <a:prstGeom prst="rect">
              <a:avLst/>
            </a:prstGeom>
            <a:noFill/>
            <a:ln/>
          </p:spPr>
          <p:txBody>
            <a:bodyPr wrap="square" rtlCol="0" anchor="t"/>
            <a:lstStyle/>
            <a:p>
              <a:pPr marL="0" indent="0" algn="l">
                <a:lnSpc>
                  <a:spcPct val="105000"/>
                </a:lnSpc>
                <a:buNone/>
              </a:pPr>
              <a:r>
                <a:rPr lang="en-US" sz="1400" b="1">
                  <a:solidFill>
                    <a:srgbClr val="F2EFDA"/>
                  </a:solidFill>
                  <a:latin typeface="Arial" pitchFamily="34" charset="0"/>
                  <a:ea typeface="Arial" pitchFamily="34" charset="-122"/>
                  <a:cs typeface="Arial" pitchFamily="34" charset="-120"/>
                </a:rPr>
                <a:t>Veränderungsvolatilität σ(ΔY)</a:t>
              </a:r>
              <a:endParaRPr lang="en-US" sz="1400"/>
            </a:p>
          </p:txBody>
        </p:sp>
        <p:sp>
          <p:nvSpPr>
            <p:cNvPr id="14" name="Text 11">
              <a:extLst>
                <a:ext uri="{FF2B5EF4-FFF2-40B4-BE49-F238E27FC236}">
                  <a16:creationId xmlns:a16="http://schemas.microsoft.com/office/drawing/2014/main" id="{EE94BBEA-15DA-D4B6-8955-237BBD13EA62}"/>
                </a:ext>
              </a:extLst>
            </p:cNvPr>
            <p:cNvSpPr/>
            <p:nvPr/>
          </p:nvSpPr>
          <p:spPr>
            <a:xfrm>
              <a:off x="7369706" y="1682671"/>
              <a:ext cx="4187704" cy="305719"/>
            </a:xfrm>
            <a:prstGeom prst="rect">
              <a:avLst/>
            </a:prstGeom>
            <a:noFill/>
            <a:ln/>
          </p:spPr>
          <p:txBody>
            <a:bodyPr wrap="square" rtlCol="0" anchor="t"/>
            <a:lstStyle/>
            <a:p>
              <a:pPr marL="0" indent="0" algn="l">
                <a:lnSpc>
                  <a:spcPct val="105000"/>
                </a:lnSpc>
                <a:buNone/>
              </a:pPr>
              <a:r>
                <a:rPr lang="en-US" sz="1200">
                  <a:solidFill>
                    <a:srgbClr val="B3BC9A"/>
                  </a:solidFill>
                  <a:latin typeface="Arial" pitchFamily="34" charset="0"/>
                  <a:ea typeface="Arial" pitchFamily="34" charset="-122"/>
                  <a:cs typeface="Arial" pitchFamily="34" charset="-120"/>
                </a:rPr>
                <a:t>Wie stark schwankt eine Kennzahl von Quartal zu Quartal?</a:t>
              </a:r>
              <a:endParaRPr lang="en-US" sz="1200"/>
            </a:p>
          </p:txBody>
        </p:sp>
      </p:grpSp>
      <p:sp>
        <p:nvSpPr>
          <p:cNvPr id="15" name="Shape 12">
            <a:extLst>
              <a:ext uri="{FF2B5EF4-FFF2-40B4-BE49-F238E27FC236}">
                <a16:creationId xmlns:a16="http://schemas.microsoft.com/office/drawing/2014/main" id="{9BFD8FCB-DA08-6496-726B-05792DB3650F}"/>
              </a:ext>
            </a:extLst>
          </p:cNvPr>
          <p:cNvSpPr/>
          <p:nvPr/>
        </p:nvSpPr>
        <p:spPr>
          <a:xfrm>
            <a:off x="634594"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16" name="Text 13">
            <a:extLst>
              <a:ext uri="{FF2B5EF4-FFF2-40B4-BE49-F238E27FC236}">
                <a16:creationId xmlns:a16="http://schemas.microsoft.com/office/drawing/2014/main" id="{6C25C326-784E-207C-C96A-EC49D9BE1D0D}"/>
              </a:ext>
            </a:extLst>
          </p:cNvPr>
          <p:cNvSpPr/>
          <p:nvPr/>
        </p:nvSpPr>
        <p:spPr>
          <a:xfrm>
            <a:off x="838505" y="3284188"/>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F9E7DB07-9DE8-82D1-22AB-D66FB251A1F1}"/>
              </a:ext>
            </a:extLst>
          </p:cNvPr>
          <p:cNvSpPr/>
          <p:nvPr/>
        </p:nvSpPr>
        <p:spPr>
          <a:xfrm>
            <a:off x="1206094" y="34222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4DA35E5E-8654-21B0-27CE-1A175310E094}"/>
              </a:ext>
            </a:extLst>
          </p:cNvPr>
          <p:cNvSpPr/>
          <p:nvPr/>
        </p:nvSpPr>
        <p:spPr>
          <a:xfrm>
            <a:off x="838505"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2C6BDE1-A9EF-2569-6ABE-1E0946594962}"/>
              </a:ext>
            </a:extLst>
          </p:cNvPr>
          <p:cNvSpPr/>
          <p:nvPr/>
        </p:nvSpPr>
        <p:spPr>
          <a:xfrm>
            <a:off x="4482998"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0" name="Text 17">
            <a:extLst>
              <a:ext uri="{FF2B5EF4-FFF2-40B4-BE49-F238E27FC236}">
                <a16:creationId xmlns:a16="http://schemas.microsoft.com/office/drawing/2014/main" id="{9666CFD0-64F3-AE31-EF77-CA546E12EFE7}"/>
              </a:ext>
            </a:extLst>
          </p:cNvPr>
          <p:cNvSpPr/>
          <p:nvPr/>
        </p:nvSpPr>
        <p:spPr>
          <a:xfrm>
            <a:off x="4685995"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DA5A3B3A-4484-6DB5-60B4-D3B2201111D8}"/>
              </a:ext>
            </a:extLst>
          </p:cNvPr>
          <p:cNvSpPr/>
          <p:nvPr/>
        </p:nvSpPr>
        <p:spPr>
          <a:xfrm>
            <a:off x="5054498" y="34222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71777E05-924F-1469-1E4A-04D10DD1E5D9}"/>
              </a:ext>
            </a:extLst>
          </p:cNvPr>
          <p:cNvSpPr/>
          <p:nvPr/>
        </p:nvSpPr>
        <p:spPr>
          <a:xfrm>
            <a:off x="4685995" y="3764884"/>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6B9BA81-E333-256E-7144-6785FA5AEB7D}"/>
              </a:ext>
            </a:extLst>
          </p:cNvPr>
          <p:cNvSpPr/>
          <p:nvPr/>
        </p:nvSpPr>
        <p:spPr>
          <a:xfrm>
            <a:off x="8330183" y="3066283"/>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8D56924E-5BCF-A449-657E-771953E1C94E}"/>
              </a:ext>
            </a:extLst>
          </p:cNvPr>
          <p:cNvSpPr/>
          <p:nvPr/>
        </p:nvSpPr>
        <p:spPr>
          <a:xfrm>
            <a:off x="8534094" y="3270333"/>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657967A6-169D-A03A-A654-1638E53D46C2}"/>
              </a:ext>
            </a:extLst>
          </p:cNvPr>
          <p:cNvSpPr/>
          <p:nvPr/>
        </p:nvSpPr>
        <p:spPr>
          <a:xfrm>
            <a:off x="8901683" y="34222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DDDE5884-773F-4E85-4031-29C7E92937C5}"/>
              </a:ext>
            </a:extLst>
          </p:cNvPr>
          <p:cNvSpPr/>
          <p:nvPr/>
        </p:nvSpPr>
        <p:spPr>
          <a:xfrm>
            <a:off x="8534094" y="3764884"/>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cxnSp>
        <p:nvCxnSpPr>
          <p:cNvPr id="27" name="Gewinkelte Verbindung 26">
            <a:extLst>
              <a:ext uri="{FF2B5EF4-FFF2-40B4-BE49-F238E27FC236}">
                <a16:creationId xmlns:a16="http://schemas.microsoft.com/office/drawing/2014/main" id="{02C62F4B-0BDD-C945-F62F-FEA477E23994}"/>
              </a:ext>
            </a:extLst>
          </p:cNvPr>
          <p:cNvCxnSpPr>
            <a:cxnSpLocks/>
            <a:stCxn id="7" idx="2"/>
            <a:endCxn id="23" idx="0"/>
          </p:cNvCxnSpPr>
          <p:nvPr/>
        </p:nvCxnSpPr>
        <p:spPr>
          <a:xfrm rot="16200000" flipH="1">
            <a:off x="6142357" y="-734545"/>
            <a:ext cx="926412" cy="6675244"/>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winkelte Verbindung 28">
            <a:extLst>
              <a:ext uri="{FF2B5EF4-FFF2-40B4-BE49-F238E27FC236}">
                <a16:creationId xmlns:a16="http://schemas.microsoft.com/office/drawing/2014/main" id="{7B2029E9-5806-691D-CE44-8ADAC71C2B5A}"/>
              </a:ext>
            </a:extLst>
          </p:cNvPr>
          <p:cNvCxnSpPr>
            <a:cxnSpLocks/>
            <a:stCxn id="7" idx="2"/>
            <a:endCxn id="19" idx="0"/>
          </p:cNvCxnSpPr>
          <p:nvPr/>
        </p:nvCxnSpPr>
        <p:spPr>
          <a:xfrm rot="16200000" flipH="1">
            <a:off x="4218764" y="1189047"/>
            <a:ext cx="926412" cy="2828059"/>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1" name="Gewinkelte Verbindung 30">
            <a:extLst>
              <a:ext uri="{FF2B5EF4-FFF2-40B4-BE49-F238E27FC236}">
                <a16:creationId xmlns:a16="http://schemas.microsoft.com/office/drawing/2014/main" id="{EB6AF2DD-CB03-AD69-FB21-2F0056A7106F}"/>
              </a:ext>
            </a:extLst>
          </p:cNvPr>
          <p:cNvCxnSpPr>
            <a:cxnSpLocks/>
            <a:stCxn id="7" idx="2"/>
            <a:endCxn id="15" idx="0"/>
          </p:cNvCxnSpPr>
          <p:nvPr/>
        </p:nvCxnSpPr>
        <p:spPr>
          <a:xfrm rot="5400000">
            <a:off x="2294563" y="2092905"/>
            <a:ext cx="926412" cy="1020345"/>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winkelte Verbindung 32">
            <a:extLst>
              <a:ext uri="{FF2B5EF4-FFF2-40B4-BE49-F238E27FC236}">
                <a16:creationId xmlns:a16="http://schemas.microsoft.com/office/drawing/2014/main" id="{515C89FF-BAD1-FF26-A511-19B5E108CBF8}"/>
              </a:ext>
            </a:extLst>
          </p:cNvPr>
          <p:cNvCxnSpPr>
            <a:cxnSpLocks/>
            <a:stCxn id="11" idx="2"/>
            <a:endCxn id="19" idx="0"/>
          </p:cNvCxnSpPr>
          <p:nvPr/>
        </p:nvCxnSpPr>
        <p:spPr>
          <a:xfrm rot="5400000">
            <a:off x="7046825" y="1189046"/>
            <a:ext cx="926412" cy="2828062"/>
          </a:xfrm>
          <a:prstGeom prst="bentConnector3">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33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par>
                                <p:cTn id="8" presetID="22" presetClass="entr" presetSubtype="1"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1"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up)">
                                      <p:cBhvr>
                                        <p:cTn id="13" dur="500"/>
                                        <p:tgtEl>
                                          <p:spTgt spid="31"/>
                                        </p:tgtEl>
                                      </p:cBhvr>
                                    </p:animEffect>
                                  </p:childTnLst>
                                </p:cTn>
                              </p:par>
                              <p:par>
                                <p:cTn id="14" presetID="22" presetClass="entr" presetSubtype="1"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up)">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02 / 13</a:t>
            </a:r>
            <a:endParaRPr lang="en-US" sz="1200"/>
          </a:p>
        </p:txBody>
      </p:sp>
      <p:sp>
        <p:nvSpPr>
          <p:cNvPr id="15" name="Shape 12">
            <a:extLst>
              <a:ext uri="{FF2B5EF4-FFF2-40B4-BE49-F238E27FC236}">
                <a16:creationId xmlns:a16="http://schemas.microsoft.com/office/drawing/2014/main" id="{C0C842C1-28E1-8117-453A-FE4D9A2E37E3}"/>
              </a:ext>
            </a:extLst>
          </p:cNvPr>
          <p:cNvSpPr/>
          <p:nvPr/>
        </p:nvSpPr>
        <p:spPr>
          <a:xfrm>
            <a:off x="634594"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0" name="Gruppieren 49">
            <a:extLst>
              <a:ext uri="{FF2B5EF4-FFF2-40B4-BE49-F238E27FC236}">
                <a16:creationId xmlns:a16="http://schemas.microsoft.com/office/drawing/2014/main" id="{6551550D-EAFF-77BD-C781-4934F36804BA}"/>
              </a:ext>
            </a:extLst>
          </p:cNvPr>
          <p:cNvGrpSpPr/>
          <p:nvPr/>
        </p:nvGrpSpPr>
        <p:grpSpPr>
          <a:xfrm>
            <a:off x="838505" y="1405102"/>
            <a:ext cx="2818181" cy="381305"/>
            <a:chOff x="838505" y="1405102"/>
            <a:chExt cx="2818181" cy="381305"/>
          </a:xfrm>
        </p:grpSpPr>
        <p:sp>
          <p:nvSpPr>
            <p:cNvPr id="16" name="Text 13">
              <a:extLst>
                <a:ext uri="{FF2B5EF4-FFF2-40B4-BE49-F238E27FC236}">
                  <a16:creationId xmlns:a16="http://schemas.microsoft.com/office/drawing/2014/main" id="{3D3EDEFC-7B1F-80B8-83D8-C4919306094D}"/>
                </a:ext>
              </a:extLst>
            </p:cNvPr>
            <p:cNvSpPr/>
            <p:nvPr/>
          </p:nvSpPr>
          <p:spPr>
            <a:xfrm>
              <a:off x="838505" y="1405102"/>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17" name="Shape 14">
              <a:extLst>
                <a:ext uri="{FF2B5EF4-FFF2-40B4-BE49-F238E27FC236}">
                  <a16:creationId xmlns:a16="http://schemas.microsoft.com/office/drawing/2014/main" id="{D1573499-103B-973A-EBF5-C2C877705862}"/>
                </a:ext>
              </a:extLst>
            </p:cNvPr>
            <p:cNvSpPr/>
            <p:nvPr/>
          </p:nvSpPr>
          <p:spPr>
            <a:xfrm>
              <a:off x="1206094" y="1543208"/>
              <a:ext cx="2450592" cy="19202"/>
            </a:xfrm>
            <a:prstGeom prst="rect">
              <a:avLst/>
            </a:prstGeom>
            <a:solidFill>
              <a:srgbClr val="DBDEE2"/>
            </a:solidFill>
            <a:ln/>
          </p:spPr>
          <p:txBody>
            <a:bodyPr/>
            <a:lstStyle/>
            <a:p>
              <a:endParaRPr lang="de-DE"/>
            </a:p>
          </p:txBody>
        </p:sp>
      </p:grpSp>
      <p:sp>
        <p:nvSpPr>
          <p:cNvPr id="18" name="Text 15">
            <a:extLst>
              <a:ext uri="{FF2B5EF4-FFF2-40B4-BE49-F238E27FC236}">
                <a16:creationId xmlns:a16="http://schemas.microsoft.com/office/drawing/2014/main" id="{37B58CCC-869E-70F8-DBBB-D3008AFE245D}"/>
              </a:ext>
            </a:extLst>
          </p:cNvPr>
          <p:cNvSpPr/>
          <p:nvPr/>
        </p:nvSpPr>
        <p:spPr>
          <a:xfrm>
            <a:off x="838505"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Weisen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über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hinweg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systematische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Unterschiede</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ihrer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zeitlichen</a:t>
            </a:r>
            <a:r>
              <a:rPr lang="en-US" sz="140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1" name="Gruppieren 50">
            <a:extLst>
              <a:ext uri="{FF2B5EF4-FFF2-40B4-BE49-F238E27FC236}">
                <a16:creationId xmlns:a16="http://schemas.microsoft.com/office/drawing/2014/main" id="{E1DF1117-ED2C-F815-4283-512EC161B396}"/>
              </a:ext>
            </a:extLst>
          </p:cNvPr>
          <p:cNvGrpSpPr/>
          <p:nvPr/>
        </p:nvGrpSpPr>
        <p:grpSpPr>
          <a:xfrm>
            <a:off x="4685995" y="1391247"/>
            <a:ext cx="2819095" cy="381305"/>
            <a:chOff x="4685995" y="1391247"/>
            <a:chExt cx="2819095" cy="381305"/>
          </a:xfrm>
        </p:grpSpPr>
        <p:sp>
          <p:nvSpPr>
            <p:cNvPr id="20" name="Text 17">
              <a:extLst>
                <a:ext uri="{FF2B5EF4-FFF2-40B4-BE49-F238E27FC236}">
                  <a16:creationId xmlns:a16="http://schemas.microsoft.com/office/drawing/2014/main" id="{4A74AC5B-8081-0105-FEF8-21F2AB8C3CB4}"/>
                </a:ext>
              </a:extLst>
            </p:cNvPr>
            <p:cNvSpPr/>
            <p:nvPr/>
          </p:nvSpPr>
          <p:spPr>
            <a:xfrm>
              <a:off x="4685995"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2</a:t>
              </a:r>
              <a:endParaRPr lang="en-US" sz="1400"/>
            </a:p>
          </p:txBody>
        </p:sp>
        <p:sp>
          <p:nvSpPr>
            <p:cNvPr id="21" name="Shape 18">
              <a:extLst>
                <a:ext uri="{FF2B5EF4-FFF2-40B4-BE49-F238E27FC236}">
                  <a16:creationId xmlns:a16="http://schemas.microsoft.com/office/drawing/2014/main" id="{48C2227C-B444-6F31-BE01-07746C211DE5}"/>
                </a:ext>
              </a:extLst>
            </p:cNvPr>
            <p:cNvSpPr/>
            <p:nvPr/>
          </p:nvSpPr>
          <p:spPr>
            <a:xfrm>
              <a:off x="5054498" y="1543208"/>
              <a:ext cx="2450592" cy="19202"/>
            </a:xfrm>
            <a:prstGeom prst="rect">
              <a:avLst/>
            </a:prstGeom>
            <a:solidFill>
              <a:srgbClr val="DBDEE2"/>
            </a:solidFill>
            <a:ln/>
          </p:spPr>
          <p:txBody>
            <a:bodyPr/>
            <a:lstStyle/>
            <a:p>
              <a:endParaRPr lang="de-DE"/>
            </a:p>
          </p:txBody>
        </p:sp>
      </p:grpSp>
      <p:sp>
        <p:nvSpPr>
          <p:cNvPr id="22" name="Text 19">
            <a:extLst>
              <a:ext uri="{FF2B5EF4-FFF2-40B4-BE49-F238E27FC236}">
                <a16:creationId xmlns:a16="http://schemas.microsoft.com/office/drawing/2014/main" id="{8FB349CB-7CE5-0805-5005-721DCEC87515}"/>
              </a:ext>
            </a:extLst>
          </p:cNvPr>
          <p:cNvSpPr/>
          <p:nvPr/>
        </p:nvSpPr>
        <p:spPr>
          <a:xfrm>
            <a:off x="4685995" y="1541310"/>
            <a:ext cx="2819095" cy="1533035"/>
          </a:xfrm>
          <a:prstGeom prst="rect">
            <a:avLst/>
          </a:prstGeom>
          <a:noFill/>
          <a:ln/>
        </p:spPr>
        <p:txBody>
          <a:bodyPr wrap="square" rtlCol="0" anchor="ctr"/>
          <a:lstStyle/>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Welche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Interdependenzen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bestehen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und </a:t>
            </a:r>
            <a:r>
              <a:rPr lang="en-US" sz="1400" err="1">
                <a:solidFill>
                  <a:srgbClr val="F2EFDA"/>
                </a:solidFill>
                <a:latin typeface="Arial" pitchFamily="34" charset="0"/>
                <a:ea typeface="Arial" pitchFamily="34" charset="-122"/>
                <a:cs typeface="Arial" pitchFamily="34" charset="-120"/>
              </a:rPr>
              <a:t>inwieweit</a:t>
            </a:r>
            <a:endParaRPr lang="en-US" sz="140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err="1">
                <a:solidFill>
                  <a:srgbClr val="F2EFDA"/>
                </a:solidFill>
                <a:latin typeface="Arial" pitchFamily="34" charset="0"/>
                <a:ea typeface="Arial" pitchFamily="34" charset="-122"/>
                <a:cs typeface="Arial" pitchFamily="34" charset="-120"/>
              </a:rPr>
              <a:t>unterscheiden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sich</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diese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zwischen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a:t>
            </a:r>
            <a:r>
              <a:rPr lang="en-US" sz="140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1187197"/>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52" name="Gruppieren 51">
            <a:extLst>
              <a:ext uri="{FF2B5EF4-FFF2-40B4-BE49-F238E27FC236}">
                <a16:creationId xmlns:a16="http://schemas.microsoft.com/office/drawing/2014/main" id="{38C85DA3-B449-5A99-42EB-45AD577D8A41}"/>
              </a:ext>
            </a:extLst>
          </p:cNvPr>
          <p:cNvGrpSpPr/>
          <p:nvPr/>
        </p:nvGrpSpPr>
        <p:grpSpPr>
          <a:xfrm>
            <a:off x="8534094" y="1391247"/>
            <a:ext cx="2818181" cy="381305"/>
            <a:chOff x="8534094" y="1391247"/>
            <a:chExt cx="2818181" cy="381305"/>
          </a:xfrm>
        </p:grpSpPr>
        <p:sp>
          <p:nvSpPr>
            <p:cNvPr id="24" name="Text 21">
              <a:extLst>
                <a:ext uri="{FF2B5EF4-FFF2-40B4-BE49-F238E27FC236}">
                  <a16:creationId xmlns:a16="http://schemas.microsoft.com/office/drawing/2014/main" id="{5138326C-55F9-C391-0AA6-8363869A3312}"/>
                </a:ext>
              </a:extLst>
            </p:cNvPr>
            <p:cNvSpPr/>
            <p:nvPr/>
          </p:nvSpPr>
          <p:spPr>
            <a:xfrm>
              <a:off x="8534094" y="1391247"/>
              <a:ext cx="508406" cy="381305"/>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3</a:t>
              </a:r>
              <a:endParaRPr lang="en-US" sz="1400"/>
            </a:p>
          </p:txBody>
        </p:sp>
        <p:sp>
          <p:nvSpPr>
            <p:cNvPr id="25" name="Shape 22">
              <a:extLst>
                <a:ext uri="{FF2B5EF4-FFF2-40B4-BE49-F238E27FC236}">
                  <a16:creationId xmlns:a16="http://schemas.microsoft.com/office/drawing/2014/main" id="{DF06B852-C3B8-A933-7DDC-D4C5066B1367}"/>
                </a:ext>
              </a:extLst>
            </p:cNvPr>
            <p:cNvSpPr/>
            <p:nvPr/>
          </p:nvSpPr>
          <p:spPr>
            <a:xfrm>
              <a:off x="8901683" y="1543208"/>
              <a:ext cx="2450592" cy="19202"/>
            </a:xfrm>
            <a:prstGeom prst="rect">
              <a:avLst/>
            </a:prstGeom>
            <a:solidFill>
              <a:srgbClr val="DBDEE2"/>
            </a:solidFill>
            <a:ln/>
          </p:spPr>
          <p:txBody>
            <a:bodyPr/>
            <a:lstStyle/>
            <a:p>
              <a:endParaRPr lang="de-DE"/>
            </a:p>
          </p:txBody>
        </p:sp>
      </p:grpSp>
      <p:sp>
        <p:nvSpPr>
          <p:cNvPr id="26" name="Text 23">
            <a:extLst>
              <a:ext uri="{FF2B5EF4-FFF2-40B4-BE49-F238E27FC236}">
                <a16:creationId xmlns:a16="http://schemas.microsoft.com/office/drawing/2014/main" id="{9611075A-C01C-B3FA-29DD-CFC18AFA4CE4}"/>
              </a:ext>
            </a:extLst>
          </p:cNvPr>
          <p:cNvSpPr/>
          <p:nvPr/>
        </p:nvSpPr>
        <p:spPr>
          <a:xfrm>
            <a:off x="8533180" y="1438758"/>
            <a:ext cx="2819095" cy="1533035"/>
          </a:xfrm>
          <a:prstGeom prst="rect">
            <a:avLst/>
          </a:prstGeom>
          <a:noFill/>
          <a:ln/>
        </p:spPr>
        <p:txBody>
          <a:bodyPr wrap="square" rtlCol="0" anchor="ctr"/>
          <a:lstStyle/>
          <a:p>
            <a:pPr marL="0" indent="0" algn="l">
              <a:lnSpc>
                <a:spcPct val="125000"/>
              </a:lnSpc>
              <a:buNone/>
            </a:pPr>
            <a:r>
              <a:rPr lang="en-US" sz="1400">
                <a:solidFill>
                  <a:srgbClr val="F2EFDA"/>
                </a:solidFill>
                <a:latin typeface="Arial" pitchFamily="34" charset="0"/>
                <a:ea typeface="Arial" pitchFamily="34" charset="-122"/>
                <a:cs typeface="Arial" pitchFamily="34" charset="-120"/>
              </a:rPr>
              <a:t>Stehen </a:t>
            </a:r>
            <a:r>
              <a:rPr lang="en-US" sz="1400" err="1">
                <a:solidFill>
                  <a:srgbClr val="F2EFDA"/>
                </a:solidFill>
                <a:latin typeface="Arial" pitchFamily="34" charset="0"/>
                <a:ea typeface="Arial" pitchFamily="34" charset="-122"/>
                <a:cs typeface="Arial" pitchFamily="34" charset="-120"/>
              </a:rPr>
              <a:t>zeitliche</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Dynamiken</a:t>
            </a:r>
            <a:r>
              <a:rPr lang="en-US" sz="1400">
                <a:solidFill>
                  <a:srgbClr val="F2EFDA"/>
                </a:solidFill>
                <a:latin typeface="Arial" pitchFamily="34" charset="0"/>
                <a:ea typeface="Arial" pitchFamily="34" charset="-122"/>
                <a:cs typeface="Arial" pitchFamily="34" charset="-120"/>
              </a:rPr>
              <a:t> von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in </a:t>
            </a:r>
            <a:r>
              <a:rPr lang="en-US" sz="1400" err="1">
                <a:solidFill>
                  <a:srgbClr val="F2EFDA"/>
                </a:solidFill>
                <a:latin typeface="Arial" pitchFamily="34" charset="0"/>
                <a:ea typeface="Arial" pitchFamily="34" charset="-122"/>
                <a:cs typeface="Arial" pitchFamily="34" charset="-120"/>
              </a:rPr>
              <a:t>Zusammenhang</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mit</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strukturellen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Unternehmensmerkmalen</a:t>
            </a:r>
            <a:r>
              <a:rPr lang="en-US" sz="1400">
                <a:solidFill>
                  <a:srgbClr val="F2EFDA"/>
                </a:solidFill>
                <a:latin typeface="Arial" pitchFamily="34" charset="0"/>
                <a:ea typeface="Arial" pitchFamily="34" charset="-122"/>
                <a:cs typeface="Arial" pitchFamily="34" charset="-120"/>
              </a:rPr>
              <a:t>?</a:t>
            </a:r>
          </a:p>
        </p:txBody>
      </p:sp>
      <p:grpSp>
        <p:nvGrpSpPr>
          <p:cNvPr id="49" name="Gruppieren 48">
            <a:extLst>
              <a:ext uri="{FF2B5EF4-FFF2-40B4-BE49-F238E27FC236}">
                <a16:creationId xmlns:a16="http://schemas.microsoft.com/office/drawing/2014/main" id="{D5997860-115B-5DA0-1459-E598ADA76A37}"/>
              </a:ext>
            </a:extLst>
          </p:cNvPr>
          <p:cNvGrpSpPr/>
          <p:nvPr/>
        </p:nvGrpSpPr>
        <p:grpSpPr>
          <a:xfrm>
            <a:off x="509287" y="3761773"/>
            <a:ext cx="11142000" cy="2910304"/>
            <a:chOff x="509287" y="3761773"/>
            <a:chExt cx="11142000" cy="2910304"/>
          </a:xfrm>
        </p:grpSpPr>
        <p:sp>
          <p:nvSpPr>
            <p:cNvPr id="35" name="Shape 20">
              <a:extLst>
                <a:ext uri="{FF2B5EF4-FFF2-40B4-BE49-F238E27FC236}">
                  <a16:creationId xmlns:a16="http://schemas.microsoft.com/office/drawing/2014/main" id="{104C78D8-7E69-2FD4-B7D1-02508CD1C9DF}"/>
                </a:ext>
              </a:extLst>
            </p:cNvPr>
            <p:cNvSpPr/>
            <p:nvPr/>
          </p:nvSpPr>
          <p:spPr>
            <a:xfrm>
              <a:off x="509287" y="3761773"/>
              <a:ext cx="11142000" cy="2910304"/>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mc:AlternateContent xmlns:mc="http://schemas.openxmlformats.org/markup-compatibility/2006" xmlns:a14="http://schemas.microsoft.com/office/drawing/2010/main">
          <mc:Choice Requires="a14">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27" name="Text 5">
                  <a:extLst>
                    <a:ext uri="{FF2B5EF4-FFF2-40B4-BE49-F238E27FC236}">
                      <a16:creationId xmlns:a16="http://schemas.microsoft.com/office/drawing/2014/main" id="{F300F6F1-63EF-EB25-19BB-4D465FDE9C89}"/>
                    </a:ext>
                  </a:extLst>
                </p:cNvPr>
                <p:cNvSpPr>
                  <a:spLocks noRot="1" noChangeAspect="1" noMove="1" noResize="1" noEditPoints="1" noAdjustHandles="1" noChangeArrowheads="1" noChangeShapeType="1" noTextEdit="1"/>
                </p:cNvSpPr>
                <p:nvPr/>
              </p:nvSpPr>
              <p:spPr>
                <a:xfrm>
                  <a:off x="888797" y="4500397"/>
                  <a:ext cx="381305" cy="609905"/>
                </a:xfrm>
                <a:prstGeom prst="rect">
                  <a:avLst/>
                </a:prstGeom>
                <a:blipFill>
                  <a:blip r:embed="rId4"/>
                  <a:stretch>
                    <a:fillRect/>
                  </a:stretch>
                </a:blipFill>
                <a:ln/>
              </p:spPr>
              <p:txBody>
                <a:bodyPr/>
                <a:lstStyle/>
                <a:p>
                  <a:r>
                    <a:rPr lang="en-US">
                      <a:noFill/>
                    </a:rPr>
                    <a:t> </a:t>
                  </a:r>
                </a:p>
              </p:txBody>
            </p:sp>
          </mc:Fallback>
        </mc:AlternateContent>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a:lnSpc>
                  <a:spcPct val="115000"/>
                </a:lnSpc>
              </a:pPr>
              <a:r>
                <a:rPr lang="en-US" sz="1400" err="1">
                  <a:solidFill>
                    <a:srgbClr val="F2EFDA"/>
                  </a:solidFill>
                  <a:latin typeface="Arial" pitchFamily="34" charset="0"/>
                  <a:ea typeface="Arial" pitchFamily="34" charset="-122"/>
                  <a:cs typeface="Arial" pitchFamily="34" charset="-120"/>
                </a:rPr>
                <a:t>Anwendung</a:t>
              </a:r>
              <a:r>
                <a:rPr lang="en-US" sz="1400">
                  <a:solidFill>
                    <a:srgbClr val="F2EFDA"/>
                  </a:solidFill>
                  <a:latin typeface="Arial" pitchFamily="34" charset="0"/>
                  <a:ea typeface="Arial" pitchFamily="34" charset="-122"/>
                  <a:cs typeface="Arial" pitchFamily="34" charset="-120"/>
                </a:rPr>
                <a:t> der Mean-Reversion auf </a:t>
              </a:r>
              <a:r>
                <a:rPr lang="en-US" sz="1400" err="1">
                  <a:solidFill>
                    <a:srgbClr val="F2EFDA"/>
                  </a:solidFill>
                  <a:latin typeface="Arial" pitchFamily="34" charset="0"/>
                  <a:ea typeface="Arial" pitchFamily="34" charset="-122"/>
                  <a:cs typeface="Arial" pitchFamily="34" charset="-120"/>
                </a:rPr>
                <a:t>Finanzkennzahlen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zur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individuellen</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Betrachtung</a:t>
              </a:r>
              <a:r>
                <a:rPr lang="en-US" sz="1400">
                  <a:solidFill>
                    <a:srgbClr val="F2EFDA"/>
                  </a:solidFill>
                  <a:latin typeface="Arial" pitchFamily="34" charset="0"/>
                  <a:ea typeface="Arial" pitchFamily="34" charset="-122"/>
                  <a:cs typeface="Arial" pitchFamily="34" charset="-120"/>
                </a:rPr>
                <a:t> pro </a:t>
              </a:r>
              <a:r>
                <a:rPr lang="en-US" sz="1400" err="1">
                  <a:solidFill>
                    <a:srgbClr val="F2EFDA"/>
                  </a:solidFill>
                  <a:latin typeface="Arial" pitchFamily="34" charset="0"/>
                  <a:ea typeface="Arial" pitchFamily="34" charset="-122"/>
                  <a:cs typeface="Arial" pitchFamily="34" charset="-120"/>
                </a:rPr>
                <a:t>Unternehmen</a:t>
              </a:r>
              <a:endParaRPr lang="en-US" sz="140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Untersuchung</a:t>
              </a:r>
              <a:r>
                <a:rPr lang="en-US" sz="1400">
                  <a:solidFill>
                    <a:srgbClr val="F2EFDA"/>
                  </a:solidFill>
                  <a:latin typeface="Arial" pitchFamily="34" charset="0"/>
                  <a:ea typeface="Arial" pitchFamily="34" charset="-122"/>
                  <a:cs typeface="Arial" pitchFamily="34" charset="-120"/>
                </a:rPr>
                <a:t> der Dynamik </a:t>
              </a:r>
              <a:r>
                <a:rPr lang="en-US" sz="1400" err="1">
                  <a:solidFill>
                    <a:srgbClr val="F2EFDA"/>
                  </a:solidFill>
                  <a:latin typeface="Arial" pitchFamily="34" charset="0"/>
                  <a:ea typeface="Arial" pitchFamily="34" charset="-122"/>
                  <a:cs typeface="Arial" pitchFamily="34" charset="-120"/>
                </a:rPr>
                <a:t>unterschiedlicher</a:t>
              </a:r>
              <a:r>
                <a:rPr lang="en-US" sz="1400">
                  <a:solidFill>
                    <a:srgbClr val="F2EFDA"/>
                  </a:solidFill>
                  <a:latin typeface="Arial" pitchFamily="34" charset="0"/>
                  <a:ea typeface="Arial" pitchFamily="34" charset="-122"/>
                  <a:cs typeface="Arial" pitchFamily="34" charset="-120"/>
                </a:rPr>
                <a:t> </a:t>
              </a:r>
              <a:r>
                <a:rPr lang="en-US" sz="1400" err="1">
                  <a:solidFill>
                    <a:srgbClr val="F2EFDA"/>
                  </a:solidFill>
                  <a:latin typeface="Arial" pitchFamily="34" charset="0"/>
                  <a:ea typeface="Arial" pitchFamily="34" charset="-122"/>
                  <a:cs typeface="Arial" pitchFamily="34" charset="-120"/>
                </a:rPr>
                <a:t>Finanzkennzahlen</a:t>
              </a:r>
              <a:endParaRPr lang="en-US" sz="140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400" err="1">
                  <a:solidFill>
                    <a:srgbClr val="F2EFDA"/>
                  </a:solidFill>
                  <a:latin typeface="Arial" pitchFamily="34" charset="0"/>
                  <a:ea typeface="Arial" pitchFamily="34" charset="-122"/>
                  <a:cs typeface="Arial" pitchFamily="34" charset="-120"/>
                </a:rPr>
                <a:t>Einfluss</a:t>
              </a:r>
              <a:r>
                <a:rPr lang="en-US" sz="1400">
                  <a:solidFill>
                    <a:srgbClr val="F2EFDA"/>
                  </a:solidFill>
                  <a:latin typeface="Arial" pitchFamily="34" charset="0"/>
                  <a:ea typeface="Arial" pitchFamily="34" charset="-122"/>
                  <a:cs typeface="Arial" pitchFamily="34" charset="-120"/>
                </a:rPr>
                <a:t> der </a:t>
              </a:r>
              <a:r>
                <a:rPr lang="en-US" sz="1400" err="1">
                  <a:solidFill>
                    <a:srgbClr val="F2EFDA"/>
                  </a:solidFill>
                  <a:latin typeface="Arial" pitchFamily="34" charset="0"/>
                  <a:ea typeface="Arial" pitchFamily="34" charset="-122"/>
                  <a:cs typeface="Arial" pitchFamily="34" charset="-120"/>
                </a:rPr>
                <a:t>Strukturmerkmale</a:t>
              </a:r>
              <a:r>
                <a:rPr lang="en-US" sz="1400">
                  <a:solidFill>
                    <a:srgbClr val="F2EFDA"/>
                  </a:solidFill>
                  <a:latin typeface="Arial" pitchFamily="34" charset="0"/>
                  <a:ea typeface="Arial" pitchFamily="34" charset="-122"/>
                  <a:cs typeface="Arial" pitchFamily="34" charset="-120"/>
                </a:rPr>
                <a:t> auf Mean-Reversion und </a:t>
              </a:r>
              <a:r>
                <a:rPr lang="en-US" sz="1400" err="1">
                  <a:solidFill>
                    <a:srgbClr val="F2EFDA"/>
                  </a:solidFill>
                  <a:latin typeface="Arial" pitchFamily="34" charset="0"/>
                  <a:ea typeface="Arial" pitchFamily="34" charset="-122"/>
                  <a:cs typeface="Arial" pitchFamily="34" charset="-120"/>
                </a:rPr>
                <a:t>Volatilität</a:t>
              </a:r>
              <a:endParaRPr lang="en-US" sz="1400">
                <a:solidFill>
                  <a:srgbClr val="FF0000"/>
                </a:solidFill>
              </a:endParaRPr>
            </a:p>
          </p:txBody>
        </p:sp>
        <p:sp>
          <p:nvSpPr>
            <p:cNvPr id="36" name="Textfeld 35">
              <a:extLst>
                <a:ext uri="{FF2B5EF4-FFF2-40B4-BE49-F238E27FC236}">
                  <a16:creationId xmlns:a16="http://schemas.microsoft.com/office/drawing/2014/main" id="{A130EE69-BC72-68AF-30E8-B49AB542B86C}"/>
                </a:ext>
              </a:extLst>
            </p:cNvPr>
            <p:cNvSpPr txBox="1"/>
            <p:nvPr/>
          </p:nvSpPr>
          <p:spPr>
            <a:xfrm>
              <a:off x="686001" y="3900253"/>
              <a:ext cx="2970685" cy="461665"/>
            </a:xfrm>
            <a:prstGeom prst="rect">
              <a:avLst/>
            </a:prstGeom>
            <a:noFill/>
          </p:spPr>
          <p:txBody>
            <a:bodyPr wrap="none" rtlCol="0">
              <a:spAutoFit/>
            </a:bodyPr>
            <a:lstStyle/>
            <a:p>
              <a:r>
                <a:rPr lang="de-DE" sz="2400" b="1">
                  <a:solidFill>
                    <a:srgbClr val="78A2F9"/>
                  </a:solidFill>
                  <a:latin typeface="Arial" pitchFamily="34" charset="0"/>
                  <a:cs typeface="Arial" pitchFamily="34" charset="-120"/>
                </a:rPr>
                <a:t>Forschungsbeitrag</a:t>
              </a:r>
            </a:p>
          </p:txBody>
        </p:sp>
        <mc:AlternateContent xmlns:mc="http://schemas.openxmlformats.org/markup-compatibility/2006" xmlns:a14="http://schemas.microsoft.com/office/drawing/2010/main">
          <mc:Choice Requires="a14">
            <p:sp>
              <p:nvSpPr>
                <p:cNvPr id="40" name="Text 5">
                  <a:extLst>
                    <a:ext uri="{FF2B5EF4-FFF2-40B4-BE49-F238E27FC236}">
                      <a16:creationId xmlns:a16="http://schemas.microsoft.com/office/drawing/2014/main" id="{52838BB0-C7CE-EFCA-FE68-111E396272EE}"/>
                    </a:ext>
                  </a:extLst>
                </p:cNvPr>
                <p:cNvSpPr/>
                <p:nvPr/>
              </p:nvSpPr>
              <p:spPr>
                <a:xfrm>
                  <a:off x="888796" y="51861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0" name="Text 5">
                  <a:extLst>
                    <a:ext uri="{FF2B5EF4-FFF2-40B4-BE49-F238E27FC236}">
                      <a16:creationId xmlns:a16="http://schemas.microsoft.com/office/drawing/2014/main" id="{52838BB0-C7CE-EFCA-FE68-111E396272EE}"/>
                    </a:ext>
                  </a:extLst>
                </p:cNvPr>
                <p:cNvSpPr>
                  <a:spLocks noRot="1" noChangeAspect="1" noMove="1" noResize="1" noEditPoints="1" noAdjustHandles="1" noChangeArrowheads="1" noChangeShapeType="1" noTextEdit="1"/>
                </p:cNvSpPr>
                <p:nvPr/>
              </p:nvSpPr>
              <p:spPr>
                <a:xfrm>
                  <a:off x="888796" y="5186197"/>
                  <a:ext cx="381305" cy="609905"/>
                </a:xfrm>
                <a:prstGeom prst="rect">
                  <a:avLst/>
                </a:prstGeom>
                <a:blipFill>
                  <a:blip r:embed="rId5"/>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5">
                  <a:extLst>
                    <a:ext uri="{FF2B5EF4-FFF2-40B4-BE49-F238E27FC236}">
                      <a16:creationId xmlns:a16="http://schemas.microsoft.com/office/drawing/2014/main" id="{173030AA-CE19-5411-C01F-5B1E6F9672A4}"/>
                    </a:ext>
                  </a:extLst>
                </p:cNvPr>
                <p:cNvSpPr/>
                <p:nvPr/>
              </p:nvSpPr>
              <p:spPr>
                <a:xfrm>
                  <a:off x="888796" y="5871997"/>
                  <a:ext cx="381305" cy="609905"/>
                </a:xfrm>
                <a:prstGeom prst="rect">
                  <a:avLst/>
                </a:prstGeom>
                <a:noFill/>
                <a:ln/>
              </p:spPr>
              <p:txBody>
                <a:bodyPr wrap="square" rtlCol="0" anchor="ctr"/>
                <a:lstStyle/>
                <a:p>
                  <a:pPr marL="0" indent="0" algn="l">
                    <a:lnSpc>
                      <a:spcPct val="105000"/>
                    </a:lnSpc>
                    <a:buNone/>
                  </a:pPr>
                  <a14:m>
                    <m:oMathPara xmlns:m="http://schemas.openxmlformats.org/officeDocument/2006/math">
                      <m:oMathParaPr>
                        <m:jc m:val="centerGroup"/>
                      </m:oMathParaPr>
                      <m:oMath xmlns:m="http://schemas.openxmlformats.org/officeDocument/2006/math">
                        <m:r>
                          <a:rPr lang="en-US" sz="4400" b="1" dirty="0" smtClean="0">
                            <a:solidFill>
                              <a:srgbClr val="E6D44F"/>
                            </a:solidFill>
                            <a:latin typeface="Cambria Math" panose="02040503050406030204" pitchFamily="18" charset="0"/>
                          </a:rPr>
                          <m:t>∙</m:t>
                        </m:r>
                      </m:oMath>
                    </m:oMathPara>
                  </a14:m>
                  <a:endParaRPr lang="en-US" sz="4400" b="1">
                    <a:solidFill>
                      <a:srgbClr val="E6D44F"/>
                    </a:solidFill>
                  </a:endParaRPr>
                </a:p>
              </p:txBody>
            </p:sp>
          </mc:Choice>
          <mc:Fallback xmlns="">
            <p:sp>
              <p:nvSpPr>
                <p:cNvPr id="41" name="Text 5">
                  <a:extLst>
                    <a:ext uri="{FF2B5EF4-FFF2-40B4-BE49-F238E27FC236}">
                      <a16:creationId xmlns:a16="http://schemas.microsoft.com/office/drawing/2014/main" id="{173030AA-CE19-5411-C01F-5B1E6F9672A4}"/>
                    </a:ext>
                  </a:extLst>
                </p:cNvPr>
                <p:cNvSpPr>
                  <a:spLocks noRot="1" noChangeAspect="1" noMove="1" noResize="1" noEditPoints="1" noAdjustHandles="1" noChangeArrowheads="1" noChangeShapeType="1" noTextEdit="1"/>
                </p:cNvSpPr>
                <p:nvPr/>
              </p:nvSpPr>
              <p:spPr>
                <a:xfrm>
                  <a:off x="888796" y="5871997"/>
                  <a:ext cx="381305" cy="609905"/>
                </a:xfrm>
                <a:prstGeom prst="rect">
                  <a:avLst/>
                </a:prstGeom>
                <a:blipFill>
                  <a:blip r:embed="rId4"/>
                  <a:stretch>
                    <a:fillRect/>
                  </a:stretch>
                </a:blipFill>
                <a:ln/>
              </p:spPr>
              <p:txBody>
                <a:bodyPr/>
                <a:lstStyle/>
                <a:p>
                  <a:r>
                    <a:rPr lang="en-US">
                      <a:noFill/>
                    </a:rPr>
                    <a:t> </a:t>
                  </a:r>
                </a:p>
              </p:txBody>
            </p:sp>
          </mc:Fallback>
        </mc:AlternateContent>
      </p:grpSp>
      <p:cxnSp>
        <p:nvCxnSpPr>
          <p:cNvPr id="43" name="Gerade Verbindung mit Pfeil 42">
            <a:extLst>
              <a:ext uri="{FF2B5EF4-FFF2-40B4-BE49-F238E27FC236}">
                <a16:creationId xmlns:a16="http://schemas.microsoft.com/office/drawing/2014/main" id="{F9F5C56D-E0DE-A2DC-10A6-8AC066BCD89F}"/>
              </a:ext>
            </a:extLst>
          </p:cNvPr>
          <p:cNvCxnSpPr>
            <a:stCxn id="15" idx="2"/>
          </p:cNvCxnSpPr>
          <p:nvPr/>
        </p:nvCxnSpPr>
        <p:spPr>
          <a:xfrm>
            <a:off x="2247596"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2F72D3AB-A6D2-479F-A087-1780EA8BCE0C}"/>
              </a:ext>
            </a:extLst>
          </p:cNvPr>
          <p:cNvCxnSpPr>
            <a:cxnSpLocks/>
          </p:cNvCxnSpPr>
          <p:nvPr/>
        </p:nvCxnSpPr>
        <p:spPr>
          <a:xfrm>
            <a:off x="6078459" y="3189744"/>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3970CE8D-0B3C-24B8-2B18-D9D0C78FEC07}"/>
              </a:ext>
            </a:extLst>
          </p:cNvPr>
          <p:cNvCxnSpPr>
            <a:cxnSpLocks/>
          </p:cNvCxnSpPr>
          <p:nvPr/>
        </p:nvCxnSpPr>
        <p:spPr>
          <a:xfrm>
            <a:off x="9981286" y="3189743"/>
            <a:ext cx="1828" cy="572029"/>
          </a:xfrm>
          <a:prstGeom prst="straightConnector1">
            <a:avLst/>
          </a:prstGeom>
          <a:ln w="38100">
            <a:solidFill>
              <a:srgbClr val="E6D44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par>
                                <p:cTn id="8" presetID="22" presetClass="entr" presetSubtype="1"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wipe(up)">
                                      <p:cBhvr>
                                        <p:cTn id="10" dur="500"/>
                                        <p:tgtEl>
                                          <p:spTgt spid="44"/>
                                        </p:tgtEl>
                                      </p:cBhvr>
                                    </p:animEffect>
                                  </p:childTnLst>
                                </p:cTn>
                              </p:par>
                              <p:par>
                                <p:cTn id="11" presetID="22" presetClass="entr" presetSubtype="1"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up)">
                                      <p:cBhvr>
                                        <p:cTn id="1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29" name="Gruppieren 28">
            <a:extLst>
              <a:ext uri="{FF2B5EF4-FFF2-40B4-BE49-F238E27FC236}">
                <a16:creationId xmlns:a16="http://schemas.microsoft.com/office/drawing/2014/main" id="{E431E068-0BD2-8BA8-1355-AEF62B2554B3}"/>
              </a:ext>
            </a:extLst>
          </p:cNvPr>
          <p:cNvGrpSpPr/>
          <p:nvPr/>
        </p:nvGrpSpPr>
        <p:grpSpPr>
          <a:xfrm>
            <a:off x="3206375" y="1730043"/>
            <a:ext cx="5779249" cy="4366262"/>
            <a:chOff x="341036" y="1730044"/>
            <a:chExt cx="5779249" cy="4366262"/>
          </a:xfrm>
        </p:grpSpPr>
        <p:sp>
          <p:nvSpPr>
            <p:cNvPr id="31" name="Shape 16">
              <a:extLst>
                <a:ext uri="{FF2B5EF4-FFF2-40B4-BE49-F238E27FC236}">
                  <a16:creationId xmlns:a16="http://schemas.microsoft.com/office/drawing/2014/main" id="{362255C9-2D7F-4CA9-D5F0-9AFA2BA2C026}"/>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3" name="Shape 4">
              <a:extLst>
                <a:ext uri="{FF2B5EF4-FFF2-40B4-BE49-F238E27FC236}">
                  <a16:creationId xmlns:a16="http://schemas.microsoft.com/office/drawing/2014/main" id="{B253C0A7-69D1-1642-6C75-57F490690EB8}"/>
                </a:ext>
              </a:extLst>
            </p:cNvPr>
            <p:cNvSpPr/>
            <p:nvPr/>
          </p:nvSpPr>
          <p:spPr>
            <a:xfrm>
              <a:off x="634594" y="1904695"/>
              <a:ext cx="5206594" cy="457200"/>
            </a:xfrm>
            <a:prstGeom prst="rect">
              <a:avLst/>
            </a:prstGeom>
            <a:solidFill>
              <a:srgbClr val="2B513D"/>
            </a:solidFill>
            <a:ln/>
          </p:spPr>
          <p:txBody>
            <a:bodyPr/>
            <a:lstStyle/>
            <a:p>
              <a:endParaRPr lang="de-DE"/>
            </a:p>
          </p:txBody>
        </p:sp>
        <p:sp>
          <p:nvSpPr>
            <p:cNvPr id="37" name="Text 5">
              <a:extLst>
                <a:ext uri="{FF2B5EF4-FFF2-40B4-BE49-F238E27FC236}">
                  <a16:creationId xmlns:a16="http://schemas.microsoft.com/office/drawing/2014/main" id="{C9173538-3153-9E08-524C-2015EBCF1AEF}"/>
                </a:ext>
              </a:extLst>
            </p:cNvPr>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39" name="Text 6">
              <a:extLst>
                <a:ext uri="{FF2B5EF4-FFF2-40B4-BE49-F238E27FC236}">
                  <a16:creationId xmlns:a16="http://schemas.microsoft.com/office/drawing/2014/main" id="{F185905B-394B-C020-24EA-9F9AAF7C01B2}"/>
                </a:ext>
              </a:extLst>
            </p:cNvPr>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42" name="Text 12">
              <a:extLst>
                <a:ext uri="{FF2B5EF4-FFF2-40B4-BE49-F238E27FC236}">
                  <a16:creationId xmlns:a16="http://schemas.microsoft.com/office/drawing/2014/main" id="{EFD8D093-EE4D-60CE-252A-6120AC43BDB0}"/>
                </a:ext>
              </a:extLst>
            </p:cNvPr>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43" name="Shape 4">
              <a:extLst>
                <a:ext uri="{FF2B5EF4-FFF2-40B4-BE49-F238E27FC236}">
                  <a16:creationId xmlns:a16="http://schemas.microsoft.com/office/drawing/2014/main" id="{3A78A9BC-8198-C160-F91F-45BEB3EBC3FC}"/>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44" name="Text 5">
              <a:extLst>
                <a:ext uri="{FF2B5EF4-FFF2-40B4-BE49-F238E27FC236}">
                  <a16:creationId xmlns:a16="http://schemas.microsoft.com/office/drawing/2014/main" id="{645E24E4-B517-530C-2118-E365438F773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45" name="Text 13">
              <a:extLst>
                <a:ext uri="{FF2B5EF4-FFF2-40B4-BE49-F238E27FC236}">
                  <a16:creationId xmlns:a16="http://schemas.microsoft.com/office/drawing/2014/main" id="{EA20DF95-9947-B92E-BD66-76251039B217}"/>
                </a:ext>
              </a:extLst>
            </p:cNvPr>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a:solidFill>
                    <a:srgbClr val="78A2F9"/>
                  </a:solidFill>
                  <a:latin typeface="Courier New" pitchFamily="34" charset="0"/>
                  <a:ea typeface="Courier New" pitchFamily="34" charset="-122"/>
                  <a:cs typeface="Courier New" pitchFamily="34" charset="-120"/>
                </a:rPr>
                <a:t>932</a:t>
              </a:r>
              <a:endParaRPr lang="en-US" sz="1700">
                <a:solidFill>
                  <a:srgbClr val="78A2F9"/>
                </a:solidFill>
              </a:endParaRPr>
            </a:p>
          </p:txBody>
        </p:sp>
      </p:grpSp>
      <p:graphicFrame>
        <p:nvGraphicFramePr>
          <p:cNvPr id="46" name="Tabelle 45">
            <a:extLst>
              <a:ext uri="{FF2B5EF4-FFF2-40B4-BE49-F238E27FC236}">
                <a16:creationId xmlns:a16="http://schemas.microsoft.com/office/drawing/2014/main" id="{5FCEFF2B-F9C3-C25E-89E1-69BFF1A3A805}"/>
              </a:ext>
            </a:extLst>
          </p:cNvPr>
          <p:cNvGraphicFramePr>
            <a:graphicFrameLocks noGrp="1"/>
          </p:cNvGraphicFramePr>
          <p:nvPr>
            <p:extLst>
              <p:ext uri="{D42A27DB-BD31-4B8C-83A1-F6EECF244321}">
                <p14:modId xmlns:p14="http://schemas.microsoft.com/office/powerpoint/2010/main" val="2012072816"/>
              </p:ext>
            </p:extLst>
          </p:nvPr>
        </p:nvGraphicFramePr>
        <p:xfrm>
          <a:off x="3520034" y="2501798"/>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6E29-9A5C-C9E2-93E9-90B383F999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2648DB-F5FC-49BC-5562-F3A7A0F23FFF}"/>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69C2631B-9929-F26B-FCA4-3F343583F35A}"/>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03 / 13</a:t>
            </a:r>
            <a:endParaRPr lang="en-US" sz="1200"/>
          </a:p>
        </p:txBody>
      </p:sp>
      <p:sp>
        <p:nvSpPr>
          <p:cNvPr id="6" name="Text 3">
            <a:extLst>
              <a:ext uri="{FF2B5EF4-FFF2-40B4-BE49-F238E27FC236}">
                <a16:creationId xmlns:a16="http://schemas.microsoft.com/office/drawing/2014/main" id="{CCEB9B49-4B72-1A72-7227-7DD7B54E5264}"/>
              </a:ext>
            </a:extLst>
          </p:cNvPr>
          <p:cNvSpPr/>
          <p:nvPr/>
        </p:nvSpPr>
        <p:spPr>
          <a:xfrm>
            <a:off x="634594" y="761695"/>
            <a:ext cx="10921594" cy="495605"/>
          </a:xfrm>
          <a:prstGeom prst="rect">
            <a:avLst/>
          </a:prstGeom>
          <a:noFill/>
          <a:ln/>
        </p:spPr>
        <p:txBody>
          <a:bodyPr wrap="square" rtlCol="0" anchor="t"/>
          <a:lstStyle/>
          <a:p>
            <a:pPr marL="0" indent="0" algn="ctr">
              <a:lnSpc>
                <a:spcPct val="100000"/>
              </a:lnSpc>
              <a:buNone/>
            </a:pPr>
            <a:r>
              <a:rPr lang="en-US" sz="2600" b="1" kern="0" spc="-50" err="1">
                <a:solidFill>
                  <a:srgbClr val="F2EFDA"/>
                </a:solidFill>
                <a:latin typeface="Arial" pitchFamily="34" charset="0"/>
                <a:ea typeface="Arial" pitchFamily="34" charset="-122"/>
                <a:cs typeface="Arial" pitchFamily="34" charset="-120"/>
              </a:rPr>
              <a:t>Filterkette</a:t>
            </a:r>
            <a:r>
              <a:rPr lang="en-US" sz="2600" b="1" kern="0" spc="-50">
                <a:solidFill>
                  <a:srgbClr val="F2EFDA"/>
                </a:solidFill>
                <a:latin typeface="Arial" pitchFamily="34" charset="0"/>
                <a:ea typeface="Arial" pitchFamily="34" charset="-122"/>
                <a:cs typeface="Arial" pitchFamily="34" charset="-120"/>
              </a:rPr>
              <a:t> für </a:t>
            </a:r>
            <a:r>
              <a:rPr lang="en-US" sz="2600" b="1" kern="0" spc="-50" err="1">
                <a:solidFill>
                  <a:srgbClr val="78A2F9"/>
                </a:solidFill>
                <a:latin typeface="Arial" pitchFamily="34" charset="0"/>
                <a:ea typeface="Arial" pitchFamily="34" charset="-122"/>
                <a:cs typeface="Arial" pitchFamily="34" charset="-120"/>
              </a:rPr>
              <a:t>Datenqualität</a:t>
            </a:r>
            <a:endParaRPr lang="en-US" sz="2600">
              <a:solidFill>
                <a:srgbClr val="78A2F9"/>
              </a:solidFill>
            </a:endParaRPr>
          </a:p>
        </p:txBody>
      </p:sp>
      <p:grpSp>
        <p:nvGrpSpPr>
          <p:cNvPr id="44" name="Gruppieren 43">
            <a:extLst>
              <a:ext uri="{FF2B5EF4-FFF2-40B4-BE49-F238E27FC236}">
                <a16:creationId xmlns:a16="http://schemas.microsoft.com/office/drawing/2014/main" id="{592C8C5F-D911-E77E-82C2-63ACD77252BB}"/>
              </a:ext>
            </a:extLst>
          </p:cNvPr>
          <p:cNvGrpSpPr/>
          <p:nvPr/>
        </p:nvGrpSpPr>
        <p:grpSpPr>
          <a:xfrm>
            <a:off x="6575930" y="5254277"/>
            <a:ext cx="2308586" cy="842028"/>
            <a:chOff x="6575930" y="5254277"/>
            <a:chExt cx="2308586" cy="842028"/>
          </a:xfrm>
        </p:grpSpPr>
        <p:sp>
          <p:nvSpPr>
            <p:cNvPr id="21" name="Shape 18">
              <a:extLst>
                <a:ext uri="{FF2B5EF4-FFF2-40B4-BE49-F238E27FC236}">
                  <a16:creationId xmlns:a16="http://schemas.microsoft.com/office/drawing/2014/main" id="{F68A0CE0-0661-26D3-7FDA-6B5B588894F8}"/>
                </a:ext>
              </a:extLst>
            </p:cNvPr>
            <p:cNvSpPr/>
            <p:nvPr/>
          </p:nvSpPr>
          <p:spPr>
            <a:xfrm>
              <a:off x="6575930" y="5254277"/>
              <a:ext cx="2308586" cy="842028"/>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a:extLst>
                <a:ext uri="{FF2B5EF4-FFF2-40B4-BE49-F238E27FC236}">
                  <a16:creationId xmlns:a16="http://schemas.microsoft.com/office/drawing/2014/main" id="{E3172993-AFE9-C43F-DE06-89908982FA6F}"/>
                </a:ext>
              </a:extLst>
            </p:cNvPr>
            <p:cNvSpPr/>
            <p:nvPr/>
          </p:nvSpPr>
          <p:spPr>
            <a:xfrm>
              <a:off x="6840442" y="5254277"/>
              <a:ext cx="1865766" cy="777676"/>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7</a:t>
              </a:r>
              <a:endParaRPr lang="en-US" sz="2600" dirty="0"/>
            </a:p>
          </p:txBody>
        </p:sp>
        <p:sp>
          <p:nvSpPr>
            <p:cNvPr id="23" name="Text 20">
              <a:extLst>
                <a:ext uri="{FF2B5EF4-FFF2-40B4-BE49-F238E27FC236}">
                  <a16:creationId xmlns:a16="http://schemas.microsoft.com/office/drawing/2014/main" id="{926ED2CD-393D-6AA8-1E71-50CCC2FB50C8}"/>
                </a:ext>
              </a:extLst>
            </p:cNvPr>
            <p:cNvSpPr/>
            <p:nvPr/>
          </p:nvSpPr>
          <p:spPr>
            <a:xfrm>
              <a:off x="6840442" y="5565534"/>
              <a:ext cx="1865766" cy="332833"/>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ohne</a:t>
              </a:r>
              <a:r>
                <a:rPr lang="en-US" sz="1200" dirty="0">
                  <a:solidFill>
                    <a:srgbClr val="B3BC9A"/>
                  </a:solidFill>
                  <a:latin typeface="Arial" pitchFamily="34" charset="0"/>
                  <a:ea typeface="Arial" pitchFamily="34" charset="-122"/>
                  <a:cs typeface="Arial" pitchFamily="34" charset="-120"/>
                </a:rPr>
                <a:t> </a:t>
              </a:r>
              <a:r>
                <a:rPr lang="en-US" sz="1200" dirty="0" err="1">
                  <a:solidFill>
                    <a:srgbClr val="B3BC9A"/>
                  </a:solidFill>
                  <a:latin typeface="Arial" pitchFamily="34" charset="0"/>
                  <a:ea typeface="Arial" pitchFamily="34" charset="-122"/>
                  <a:cs typeface="Arial" pitchFamily="34" charset="-120"/>
                </a:rPr>
                <a:t>Ausreißer</a:t>
              </a:r>
              <a:endParaRPr lang="en-US" sz="1200" dirty="0"/>
            </a:p>
          </p:txBody>
        </p:sp>
      </p:grpSp>
      <p:grpSp>
        <p:nvGrpSpPr>
          <p:cNvPr id="43" name="Gruppieren 42">
            <a:extLst>
              <a:ext uri="{FF2B5EF4-FFF2-40B4-BE49-F238E27FC236}">
                <a16:creationId xmlns:a16="http://schemas.microsoft.com/office/drawing/2014/main" id="{F4F11907-5747-B2F4-1148-3AA48A9D58B2}"/>
              </a:ext>
            </a:extLst>
          </p:cNvPr>
          <p:cNvGrpSpPr/>
          <p:nvPr/>
        </p:nvGrpSpPr>
        <p:grpSpPr>
          <a:xfrm>
            <a:off x="9149028" y="5254277"/>
            <a:ext cx="2701936" cy="842028"/>
            <a:chOff x="9149028" y="5254277"/>
            <a:chExt cx="2701936" cy="842028"/>
          </a:xfrm>
        </p:grpSpPr>
        <p:sp>
          <p:nvSpPr>
            <p:cNvPr id="24" name="Shape 21">
              <a:extLst>
                <a:ext uri="{FF2B5EF4-FFF2-40B4-BE49-F238E27FC236}">
                  <a16:creationId xmlns:a16="http://schemas.microsoft.com/office/drawing/2014/main" id="{82B11092-F267-9BF4-6647-0283AFF86022}"/>
                </a:ext>
              </a:extLst>
            </p:cNvPr>
            <p:cNvSpPr/>
            <p:nvPr/>
          </p:nvSpPr>
          <p:spPr>
            <a:xfrm>
              <a:off x="9149028" y="5254277"/>
              <a:ext cx="2701936" cy="842028"/>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a:extLst>
                <a:ext uri="{FF2B5EF4-FFF2-40B4-BE49-F238E27FC236}">
                  <a16:creationId xmlns:a16="http://schemas.microsoft.com/office/drawing/2014/main" id="{A932F0C9-8BEA-F9A2-4743-92CC2D54EDBD}"/>
                </a:ext>
              </a:extLst>
            </p:cNvPr>
            <p:cNvSpPr/>
            <p:nvPr/>
          </p:nvSpPr>
          <p:spPr>
            <a:xfrm>
              <a:off x="9414678" y="5307369"/>
              <a:ext cx="2267238" cy="610080"/>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a:extLst>
                <a:ext uri="{FF2B5EF4-FFF2-40B4-BE49-F238E27FC236}">
                  <a16:creationId xmlns:a16="http://schemas.microsoft.com/office/drawing/2014/main" id="{E7286ABB-F126-41D6-F770-7B7C805A9444}"/>
                </a:ext>
              </a:extLst>
            </p:cNvPr>
            <p:cNvSpPr/>
            <p:nvPr/>
          </p:nvSpPr>
          <p:spPr>
            <a:xfrm>
              <a:off x="9414678" y="5636870"/>
              <a:ext cx="2267237" cy="35241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3" name="Text 1">
            <a:extLst>
              <a:ext uri="{FF2B5EF4-FFF2-40B4-BE49-F238E27FC236}">
                <a16:creationId xmlns:a16="http://schemas.microsoft.com/office/drawing/2014/main" id="{6A385AA4-17DF-7005-6E90-714E2BDFA98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pSp>
        <p:nvGrpSpPr>
          <p:cNvPr id="41" name="Gruppieren 40">
            <a:extLst>
              <a:ext uri="{FF2B5EF4-FFF2-40B4-BE49-F238E27FC236}">
                <a16:creationId xmlns:a16="http://schemas.microsoft.com/office/drawing/2014/main" id="{65666AB0-0404-7126-B20A-F2F3355F7487}"/>
              </a:ext>
            </a:extLst>
          </p:cNvPr>
          <p:cNvGrpSpPr/>
          <p:nvPr/>
        </p:nvGrpSpPr>
        <p:grpSpPr>
          <a:xfrm>
            <a:off x="341036" y="1730044"/>
            <a:ext cx="5779249" cy="4366262"/>
            <a:chOff x="341036" y="1730044"/>
            <a:chExt cx="5779249" cy="4366262"/>
          </a:xfrm>
        </p:grpSpPr>
        <p:sp>
          <p:nvSpPr>
            <p:cNvPr id="35" name="Shape 16">
              <a:extLst>
                <a:ext uri="{FF2B5EF4-FFF2-40B4-BE49-F238E27FC236}">
                  <a16:creationId xmlns:a16="http://schemas.microsoft.com/office/drawing/2014/main" id="{1B7AFB5B-F4CA-0259-C491-B85F709A6264}"/>
                </a:ext>
              </a:extLst>
            </p:cNvPr>
            <p:cNvSpPr/>
            <p:nvPr/>
          </p:nvSpPr>
          <p:spPr>
            <a:xfrm>
              <a:off x="341036" y="1730044"/>
              <a:ext cx="5779249" cy="436626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7" name="Shape 4">
              <a:extLst>
                <a:ext uri="{FF2B5EF4-FFF2-40B4-BE49-F238E27FC236}">
                  <a16:creationId xmlns:a16="http://schemas.microsoft.com/office/drawing/2014/main" id="{0E492ACF-9DFD-86E1-343E-3BC50D3C57B7}"/>
                </a:ext>
              </a:extLst>
            </p:cNvPr>
            <p:cNvSpPr/>
            <p:nvPr/>
          </p:nvSpPr>
          <p:spPr>
            <a:xfrm>
              <a:off x="634594" y="1904695"/>
              <a:ext cx="5206594" cy="457200"/>
            </a:xfrm>
            <a:prstGeom prst="rect">
              <a:avLst/>
            </a:prstGeom>
            <a:solidFill>
              <a:srgbClr val="2B513D"/>
            </a:solidFill>
            <a:ln/>
          </p:spPr>
          <p:txBody>
            <a:bodyPr/>
            <a:lstStyle/>
            <a:p>
              <a:endParaRPr lang="de-DE"/>
            </a:p>
          </p:txBody>
        </p:sp>
        <p:sp>
          <p:nvSpPr>
            <p:cNvPr id="8" name="Text 5">
              <a:extLst>
                <a:ext uri="{FF2B5EF4-FFF2-40B4-BE49-F238E27FC236}">
                  <a16:creationId xmlns:a16="http://schemas.microsoft.com/office/drawing/2014/main" id="{CED4A529-3FE6-73B0-D910-8070EBC7B608}"/>
                </a:ext>
              </a:extLst>
            </p:cNvPr>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Unternehmen mit Bilanz, GuV &amp; Cashflow</a:t>
              </a:r>
              <a:endParaRPr lang="en-US" sz="1200"/>
            </a:p>
          </p:txBody>
        </p:sp>
        <p:sp>
          <p:nvSpPr>
            <p:cNvPr id="9" name="Text 6">
              <a:extLst>
                <a:ext uri="{FF2B5EF4-FFF2-40B4-BE49-F238E27FC236}">
                  <a16:creationId xmlns:a16="http://schemas.microsoft.com/office/drawing/2014/main" id="{C6FEA826-D2C4-C971-FFE2-6C3FCFD904FC}"/>
                </a:ext>
              </a:extLst>
            </p:cNvPr>
            <p:cNvSpPr/>
            <p:nvPr/>
          </p:nvSpPr>
          <p:spPr>
            <a:xfrm>
              <a:off x="4556034" y="1904695"/>
              <a:ext cx="1270102" cy="457200"/>
            </a:xfrm>
            <a:prstGeom prst="rect">
              <a:avLst/>
            </a:prstGeom>
            <a:noFill/>
            <a:ln/>
          </p:spPr>
          <p:txBody>
            <a:bodyPr wrap="square" rtlCol="0" anchor="ctr"/>
            <a:lstStyle/>
            <a:p>
              <a:pPr algn="r">
                <a:lnSpc>
                  <a:spcPct val="105000"/>
                </a:lnSpc>
              </a:pPr>
              <a:r>
                <a:rPr lang="en-US" sz="1700" b="1">
                  <a:solidFill>
                    <a:srgbClr val="78A2F9"/>
                  </a:solidFill>
                  <a:latin typeface="Courier New" pitchFamily="34" charset="0"/>
                  <a:cs typeface="Courier New" pitchFamily="34" charset="-120"/>
                </a:rPr>
                <a:t>5.871</a:t>
              </a:r>
            </a:p>
          </p:txBody>
        </p:sp>
        <p:sp>
          <p:nvSpPr>
            <p:cNvPr id="15" name="Text 12">
              <a:extLst>
                <a:ext uri="{FF2B5EF4-FFF2-40B4-BE49-F238E27FC236}">
                  <a16:creationId xmlns:a16="http://schemas.microsoft.com/office/drawing/2014/main" id="{3527861A-9E55-9954-80FE-F072924FBB97}"/>
                </a:ext>
              </a:extLst>
            </p:cNvPr>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a:solidFill>
                    <a:srgbClr val="092E1D"/>
                  </a:solidFill>
                  <a:latin typeface="Arial" pitchFamily="34" charset="0"/>
                  <a:ea typeface="Arial" pitchFamily="34" charset="-122"/>
                  <a:cs typeface="Arial" pitchFamily="34" charset="-120"/>
                </a:rPr>
                <a:t>Finale Stichprobe</a:t>
              </a:r>
              <a:endParaRPr lang="en-US" sz="1200"/>
            </a:p>
          </p:txBody>
        </p:sp>
        <p:sp>
          <p:nvSpPr>
            <p:cNvPr id="30" name="Shape 4">
              <a:extLst>
                <a:ext uri="{FF2B5EF4-FFF2-40B4-BE49-F238E27FC236}">
                  <a16:creationId xmlns:a16="http://schemas.microsoft.com/office/drawing/2014/main" id="{303309C1-5407-670D-7558-09ACBBC6FBE5}"/>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6E4A8435-0D22-D9D3-4114-DECDE5A1C690}"/>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a:solidFill>
                    <a:srgbClr val="F2EFDA"/>
                  </a:solidFill>
                  <a:latin typeface="Arial" pitchFamily="34" charset="0"/>
                  <a:ea typeface="Arial" pitchFamily="34" charset="-122"/>
                  <a:cs typeface="Arial" pitchFamily="34" charset="-120"/>
                </a:rPr>
                <a:t>Finale </a:t>
              </a:r>
              <a:r>
                <a:rPr lang="en-US" sz="1200" b="1" err="1">
                  <a:solidFill>
                    <a:srgbClr val="F2EFDA"/>
                  </a:solidFill>
                  <a:latin typeface="Arial" pitchFamily="34" charset="0"/>
                  <a:ea typeface="Arial" pitchFamily="34" charset="-122"/>
                  <a:cs typeface="Arial" pitchFamily="34" charset="-120"/>
                </a:rPr>
                <a:t>Stichprobe</a:t>
              </a:r>
              <a:endParaRPr lang="en-US" sz="1200"/>
            </a:p>
          </p:txBody>
        </p:sp>
        <p:sp>
          <p:nvSpPr>
            <p:cNvPr id="16" name="Text 13">
              <a:extLst>
                <a:ext uri="{FF2B5EF4-FFF2-40B4-BE49-F238E27FC236}">
                  <a16:creationId xmlns:a16="http://schemas.microsoft.com/office/drawing/2014/main" id="{32E721D3-DD92-8724-25A3-84D28C536AE8}"/>
                </a:ext>
              </a:extLst>
            </p:cNvPr>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dirty="0">
                  <a:solidFill>
                    <a:srgbClr val="78A2F9"/>
                  </a:solidFill>
                  <a:latin typeface="Courier New" pitchFamily="34" charset="0"/>
                  <a:ea typeface="Courier New" pitchFamily="34" charset="-122"/>
                  <a:cs typeface="Courier New" pitchFamily="34" charset="-120"/>
                </a:rPr>
                <a:t>932</a:t>
              </a:r>
              <a:endParaRPr lang="en-US" sz="1700" dirty="0">
                <a:solidFill>
                  <a:srgbClr val="78A2F9"/>
                </a:solidFill>
              </a:endParaRPr>
            </a:p>
          </p:txBody>
        </p:sp>
      </p:grpSp>
      <p:graphicFrame>
        <p:nvGraphicFramePr>
          <p:cNvPr id="34" name="Tabelle 33">
            <a:extLst>
              <a:ext uri="{FF2B5EF4-FFF2-40B4-BE49-F238E27FC236}">
                <a16:creationId xmlns:a16="http://schemas.microsoft.com/office/drawing/2014/main" id="{A192B39A-DCED-914F-8BA3-EF153E29CC3E}"/>
              </a:ext>
            </a:extLst>
          </p:cNvPr>
          <p:cNvGraphicFramePr>
            <a:graphicFrameLocks noGrp="1"/>
          </p:cNvGraphicFramePr>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ctr">
                        <a:lnSpc>
                          <a:spcPct val="130000"/>
                        </a:lnSpc>
                        <a:spcBef>
                          <a:spcPts val="600"/>
                        </a:spcBef>
                        <a:buNone/>
                      </a:pPr>
                      <a:r>
                        <a:rPr lang="nb-NO" sz="1200" kern="1200">
                          <a:solidFill>
                            <a:srgbClr val="B3BC9A"/>
                          </a:solidFill>
                          <a:latin typeface="Arial" pitchFamily="34" charset="0"/>
                          <a:cs typeface="Arial" pitchFamily="34" charset="-120"/>
                        </a:rPr>
                        <a:t>Sektor-Filter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883</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47583215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ADR-Filter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dirty="0">
                          <a:solidFill>
                            <a:srgbClr val="B3BC9A"/>
                          </a:solidFill>
                          <a:latin typeface="Arial" pitchFamily="34" charset="0"/>
                          <a:cs typeface="Arial" pitchFamily="34" charset="-120"/>
                        </a:rPr>
                        <a:t>646</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5776230"/>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Vollständigkeitsfilter (100 Quartale)</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62203985"/>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Outlier-Detection</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2056506140"/>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NaN</a:t>
                      </a:r>
                      <a:r>
                        <a:rPr lang="de-DE" sz="1200" kern="1200">
                          <a:solidFill>
                            <a:srgbClr val="B3BC9A"/>
                          </a:solidFill>
                          <a:latin typeface="Arial" pitchFamily="34" charset="0"/>
                          <a:cs typeface="Arial" pitchFamily="34" charset="-120"/>
                        </a:rPr>
                        <a:t>-/Qualitätsfilter</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44</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269198846"/>
                  </a:ext>
                </a:extLst>
              </a:tr>
              <a:tr h="397343">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1765662456"/>
                  </a:ext>
                </a:extLst>
              </a:tr>
              <a:tr h="397343">
                <a:tc>
                  <a:txBody>
                    <a:bodyPr/>
                    <a:lstStyle/>
                    <a:p>
                      <a:pPr marL="19050" algn="ctr">
                        <a:lnSpc>
                          <a:spcPct val="130000"/>
                        </a:lnSpc>
                        <a:spcBef>
                          <a:spcPts val="600"/>
                        </a:spcBef>
                        <a:buNone/>
                      </a:pPr>
                      <a:r>
                        <a:rPr lang="de-DE" sz="1200" kern="1200" err="1">
                          <a:solidFill>
                            <a:srgbClr val="B3BC9A"/>
                          </a:solidFill>
                          <a:latin typeface="Arial" pitchFamily="34" charset="0"/>
                          <a:cs typeface="Arial" pitchFamily="34" charset="-120"/>
                        </a:rPr>
                        <a:t>Winsorisierung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tc>
                  <a:txBody>
                    <a:bodyPr/>
                    <a:lstStyle/>
                    <a:p>
                      <a:pPr marL="19050" algn="ctr">
                        <a:lnSpc>
                          <a:spcPct val="130000"/>
                        </a:lnSpc>
                        <a:spcBef>
                          <a:spcPts val="600"/>
                        </a:spcBef>
                        <a:buNone/>
                      </a:pPr>
                      <a:r>
                        <a:rPr lang="de-DE" sz="1200" kern="1200" dirty="0">
                          <a:solidFill>
                            <a:srgbClr val="B3BC9A"/>
                          </a:solidFill>
                          <a:latin typeface="Arial" pitchFamily="34" charset="0"/>
                          <a:cs typeface="Arial" pitchFamily="34" charset="-120"/>
                        </a:rPr>
                        <a:t>932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chor="ctr">
                    <a:noFill/>
                  </a:tcPr>
                </a:tc>
                <a:extLst>
                  <a:ext uri="{0D108BD9-81ED-4DB2-BD59-A6C34878D82A}">
                    <a16:rowId xmlns:a16="http://schemas.microsoft.com/office/drawing/2014/main" val="3719891346"/>
                  </a:ext>
                </a:extLst>
              </a:tr>
            </a:tbl>
          </a:graphicData>
        </a:graphic>
      </p:graphicFrame>
      <p:sp>
        <p:nvSpPr>
          <p:cNvPr id="36" name="Textfeld 35">
            <a:extLst>
              <a:ext uri="{FF2B5EF4-FFF2-40B4-BE49-F238E27FC236}">
                <a16:creationId xmlns:a16="http://schemas.microsoft.com/office/drawing/2014/main" id="{E6917884-BB24-2E8C-849F-9B2B44C4AFE9}"/>
              </a:ext>
            </a:extLst>
          </p:cNvPr>
          <p:cNvSpPr txBox="1"/>
          <p:nvPr/>
        </p:nvSpPr>
        <p:spPr>
          <a:xfrm>
            <a:off x="6171849" y="5454786"/>
            <a:ext cx="354584" cy="461665"/>
          </a:xfrm>
          <a:prstGeom prst="rect">
            <a:avLst/>
          </a:prstGeom>
          <a:noFill/>
        </p:spPr>
        <p:txBody>
          <a:bodyPr wrap="none" rtlCol="0">
            <a:spAutoFit/>
          </a:bodyPr>
          <a:lstStyle/>
          <a:p>
            <a:r>
              <a:rPr lang="de-DE" sz="2400" b="1" dirty="0">
                <a:solidFill>
                  <a:srgbClr val="F3EFDA"/>
                </a:solidFill>
              </a:rPr>
              <a:t>X</a:t>
            </a:r>
          </a:p>
        </p:txBody>
      </p:sp>
      <p:sp>
        <p:nvSpPr>
          <p:cNvPr id="38" name="Textfeld 37">
            <a:extLst>
              <a:ext uri="{FF2B5EF4-FFF2-40B4-BE49-F238E27FC236}">
                <a16:creationId xmlns:a16="http://schemas.microsoft.com/office/drawing/2014/main" id="{DA4419F8-D8A4-3DCC-0097-9FAB6BEE0454}"/>
              </a:ext>
            </a:extLst>
          </p:cNvPr>
          <p:cNvSpPr txBox="1"/>
          <p:nvPr/>
        </p:nvSpPr>
        <p:spPr>
          <a:xfrm>
            <a:off x="8850857" y="5432658"/>
            <a:ext cx="364202" cy="523220"/>
          </a:xfrm>
          <a:prstGeom prst="rect">
            <a:avLst/>
          </a:prstGeom>
          <a:noFill/>
        </p:spPr>
        <p:txBody>
          <a:bodyPr wrap="none" rtlCol="0">
            <a:spAutoFit/>
          </a:bodyPr>
          <a:lstStyle/>
          <a:p>
            <a:r>
              <a:rPr lang="de-DE" sz="2800" b="1" dirty="0">
                <a:solidFill>
                  <a:srgbClr val="F3EFDA"/>
                </a:solidFill>
              </a:rPr>
              <a:t>=</a:t>
            </a:r>
          </a:p>
        </p:txBody>
      </p:sp>
      <p:grpSp>
        <p:nvGrpSpPr>
          <p:cNvPr id="45" name="Gruppieren 44">
            <a:extLst>
              <a:ext uri="{FF2B5EF4-FFF2-40B4-BE49-F238E27FC236}">
                <a16:creationId xmlns:a16="http://schemas.microsoft.com/office/drawing/2014/main" id="{B820DF7C-3987-FF92-1F10-1E584F69B777}"/>
              </a:ext>
            </a:extLst>
          </p:cNvPr>
          <p:cNvGrpSpPr/>
          <p:nvPr/>
        </p:nvGrpSpPr>
        <p:grpSpPr>
          <a:xfrm>
            <a:off x="6493759" y="1730044"/>
            <a:ext cx="5729800" cy="3055146"/>
            <a:chOff x="6493759" y="1730044"/>
            <a:chExt cx="5729800" cy="3055146"/>
          </a:xfrm>
        </p:grpSpPr>
        <p:sp>
          <p:nvSpPr>
            <p:cNvPr id="18" name="Shape 15">
              <a:extLst>
                <a:ext uri="{FF2B5EF4-FFF2-40B4-BE49-F238E27FC236}">
                  <a16:creationId xmlns:a16="http://schemas.microsoft.com/office/drawing/2014/main" id="{D6048566-0A0C-E464-4D85-71E322DA237A}"/>
                </a:ext>
              </a:extLst>
            </p:cNvPr>
            <p:cNvSpPr/>
            <p:nvPr/>
          </p:nvSpPr>
          <p:spPr>
            <a:xfrm>
              <a:off x="6493759" y="1730044"/>
              <a:ext cx="5522229" cy="3055146"/>
            </a:xfrm>
            <a:prstGeom prst="roundRect">
              <a:avLst>
                <a:gd name="adj" fmla="val 11100"/>
              </a:avLst>
            </a:prstGeom>
            <a:solidFill>
              <a:srgbClr val="1E402E"/>
            </a:solidFill>
            <a:ln w="12700">
              <a:solidFill>
                <a:srgbClr val="4A6D56"/>
              </a:solidFill>
              <a:prstDash val="solid"/>
            </a:ln>
          </p:spPr>
          <p:txBody>
            <a:bodyPr/>
            <a:lstStyle/>
            <a:p>
              <a:endParaRPr lang="de-DE">
                <a:solidFill>
                  <a:srgbClr val="F3EFDA"/>
                </a:solidFill>
              </a:endParaRPr>
            </a:p>
          </p:txBody>
        </p:sp>
        <p:grpSp>
          <p:nvGrpSpPr>
            <p:cNvPr id="42" name="Gruppieren 41">
              <a:extLst>
                <a:ext uri="{FF2B5EF4-FFF2-40B4-BE49-F238E27FC236}">
                  <a16:creationId xmlns:a16="http://schemas.microsoft.com/office/drawing/2014/main" id="{A1700455-574F-E34E-6881-3AAE51D0251A}"/>
                </a:ext>
              </a:extLst>
            </p:cNvPr>
            <p:cNvGrpSpPr/>
            <p:nvPr/>
          </p:nvGrpSpPr>
          <p:grpSpPr>
            <a:xfrm>
              <a:off x="6527526" y="2138239"/>
              <a:ext cx="5696033" cy="2339000"/>
              <a:chOff x="6527526" y="2138239"/>
              <a:chExt cx="5696033" cy="2339000"/>
            </a:xfrm>
          </p:grpSpPr>
          <p:pic>
            <p:nvPicPr>
              <p:cNvPr id="40" name="Grafik 39">
                <a:extLst>
                  <a:ext uri="{FF2B5EF4-FFF2-40B4-BE49-F238E27FC236}">
                    <a16:creationId xmlns:a16="http://schemas.microsoft.com/office/drawing/2014/main" id="{E37CBEC5-593B-A42F-2566-2D100750C7A9}"/>
                  </a:ext>
                </a:extLst>
              </p:cNvPr>
              <p:cNvPicPr>
                <a:picLocks noChangeAspect="1"/>
              </p:cNvPicPr>
              <p:nvPr/>
            </p:nvPicPr>
            <p:blipFill>
              <a:blip r:embed="rId3"/>
              <a:srcRect l="9912" t="11882" r="47705" b="52974"/>
              <a:stretch>
                <a:fillRect/>
              </a:stretch>
            </p:blipFill>
            <p:spPr>
              <a:xfrm>
                <a:off x="7237326" y="2147038"/>
                <a:ext cx="4679524" cy="1988198"/>
              </a:xfrm>
              <a:prstGeom prst="rect">
                <a:avLst/>
              </a:prstGeom>
              <a:ln>
                <a:noFill/>
              </a:ln>
              <a:effectLst>
                <a:outerShdw blurRad="292100" dist="139700" dir="2700000" algn="tl" rotWithShape="0">
                  <a:srgbClr val="333333">
                    <a:alpha val="65000"/>
                  </a:srgbClr>
                </a:outerShdw>
              </a:effectLst>
            </p:spPr>
          </p:pic>
          <p:sp>
            <p:nvSpPr>
              <p:cNvPr id="10" name="AxisLabel_2001">
                <a:extLst>
                  <a:ext uri="{FF2B5EF4-FFF2-40B4-BE49-F238E27FC236}">
                    <a16:creationId xmlns:a16="http://schemas.microsoft.com/office/drawing/2014/main" id="{4BBA15D3-9069-C44A-8DDA-6E31B9CFF90E}"/>
                  </a:ext>
                </a:extLst>
              </p:cNvPr>
              <p:cNvSpPr txBox="1"/>
              <p:nvPr/>
            </p:nvSpPr>
            <p:spPr>
              <a:xfrm>
                <a:off x="6967121" y="4223239"/>
                <a:ext cx="698500" cy="2540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2000</a:t>
                </a:r>
              </a:p>
            </p:txBody>
          </p:sp>
          <p:sp>
            <p:nvSpPr>
              <p:cNvPr id="11" name="AxisLabel_2003">
                <a:extLst>
                  <a:ext uri="{FF2B5EF4-FFF2-40B4-BE49-F238E27FC236}">
                    <a16:creationId xmlns:a16="http://schemas.microsoft.com/office/drawing/2014/main" id="{259C618D-9238-684E-982C-18F12DBD6F16}"/>
                  </a:ext>
                </a:extLst>
              </p:cNvPr>
              <p:cNvSpPr txBox="1"/>
              <p:nvPr/>
            </p:nvSpPr>
            <p:spPr>
              <a:xfrm>
                <a:off x="8527465" y="4223239"/>
                <a:ext cx="698500" cy="254000"/>
              </a:xfrm>
              <a:prstGeom prst="rect">
                <a:avLst/>
              </a:prstGeom>
              <a:noFill/>
            </p:spPr>
            <p:txBody>
              <a:bodyPr vertOverflow="overflow" vert="horz" wrap="none" rtlCol="0" anchor="ctr" anchorCtr="0">
                <a:noAutofit/>
              </a:bodyPr>
              <a:lstStyle/>
              <a:p>
                <a:pPr algn="l"/>
                <a:r>
                  <a:rPr lang="de-DE" sz="1100">
                    <a:solidFill>
                      <a:srgbClr val="F3EFDA"/>
                    </a:solidFill>
                    <a:latin typeface="Arial"/>
                    <a:cs typeface="Arial"/>
                  </a:rPr>
                  <a:t>2008</a:t>
                </a:r>
                <a:endParaRPr lang="de-DE" sz="1100" dirty="0">
                  <a:solidFill>
                    <a:srgbClr val="F3EFDA"/>
                  </a:solidFill>
                  <a:latin typeface="Arial"/>
                  <a:cs typeface="Arial"/>
                </a:endParaRPr>
              </a:p>
            </p:txBody>
          </p:sp>
          <p:sp>
            <p:nvSpPr>
              <p:cNvPr id="13" name="AxisLabel_2007">
                <a:extLst>
                  <a:ext uri="{FF2B5EF4-FFF2-40B4-BE49-F238E27FC236}">
                    <a16:creationId xmlns:a16="http://schemas.microsoft.com/office/drawing/2014/main" id="{09B55778-A625-D047-B612-4B58B5479C00}"/>
                  </a:ext>
                </a:extLst>
              </p:cNvPr>
              <p:cNvSpPr txBox="1"/>
              <p:nvPr/>
            </p:nvSpPr>
            <p:spPr>
              <a:xfrm>
                <a:off x="9929545" y="4223239"/>
                <a:ext cx="698500" cy="2540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2017</a:t>
                </a:r>
              </a:p>
            </p:txBody>
          </p:sp>
          <p:sp>
            <p:nvSpPr>
              <p:cNvPr id="17" name="AxisLabel_2011">
                <a:extLst>
                  <a:ext uri="{FF2B5EF4-FFF2-40B4-BE49-F238E27FC236}">
                    <a16:creationId xmlns:a16="http://schemas.microsoft.com/office/drawing/2014/main" id="{A8259536-A931-0E4A-9F06-E65B90237305}"/>
                  </a:ext>
                </a:extLst>
              </p:cNvPr>
              <p:cNvSpPr txBox="1"/>
              <p:nvPr/>
            </p:nvSpPr>
            <p:spPr>
              <a:xfrm>
                <a:off x="11525059" y="4223239"/>
                <a:ext cx="698500" cy="2540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2025</a:t>
                </a:r>
              </a:p>
            </p:txBody>
          </p:sp>
          <p:sp>
            <p:nvSpPr>
              <p:cNvPr id="19" name="YAxisLabel_2Mrd">
                <a:extLst>
                  <a:ext uri="{FF2B5EF4-FFF2-40B4-BE49-F238E27FC236}">
                    <a16:creationId xmlns:a16="http://schemas.microsoft.com/office/drawing/2014/main" id="{A9C830A1-6801-F143-867E-0E6F38005203}"/>
                  </a:ext>
                </a:extLst>
              </p:cNvPr>
              <p:cNvSpPr txBox="1"/>
              <p:nvPr/>
            </p:nvSpPr>
            <p:spPr>
              <a:xfrm>
                <a:off x="6700119" y="2138239"/>
                <a:ext cx="660400" cy="2286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2 Mrd.</a:t>
                </a:r>
              </a:p>
            </p:txBody>
          </p:sp>
          <p:sp>
            <p:nvSpPr>
              <p:cNvPr id="20" name="YAxisLabel_1Mrd">
                <a:extLst>
                  <a:ext uri="{FF2B5EF4-FFF2-40B4-BE49-F238E27FC236}">
                    <a16:creationId xmlns:a16="http://schemas.microsoft.com/office/drawing/2014/main" id="{BB25BCA2-9EBC-854A-BF47-BF4E587AEF4B}"/>
                  </a:ext>
                </a:extLst>
              </p:cNvPr>
              <p:cNvSpPr txBox="1"/>
              <p:nvPr/>
            </p:nvSpPr>
            <p:spPr>
              <a:xfrm>
                <a:off x="6700119" y="2561758"/>
                <a:ext cx="660400" cy="2286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1 Mrd.</a:t>
                </a:r>
              </a:p>
            </p:txBody>
          </p:sp>
          <p:sp>
            <p:nvSpPr>
              <p:cNvPr id="27" name="YAxisLabel_0">
                <a:extLst>
                  <a:ext uri="{FF2B5EF4-FFF2-40B4-BE49-F238E27FC236}">
                    <a16:creationId xmlns:a16="http://schemas.microsoft.com/office/drawing/2014/main" id="{4BF9CCEA-3CB5-3443-94FE-3A7E1449B148}"/>
                  </a:ext>
                </a:extLst>
              </p:cNvPr>
              <p:cNvSpPr txBox="1"/>
              <p:nvPr/>
            </p:nvSpPr>
            <p:spPr>
              <a:xfrm>
                <a:off x="6978897" y="2956624"/>
                <a:ext cx="660400" cy="228600"/>
              </a:xfrm>
              <a:prstGeom prst="rect">
                <a:avLst/>
              </a:prstGeom>
              <a:noFill/>
            </p:spPr>
            <p:txBody>
              <a:bodyPr vertOverflow="overflow" vert="horz" wrap="none" rtlCol="0" anchor="ctr" anchorCtr="0">
                <a:noAutofit/>
              </a:bodyPr>
              <a:lstStyle/>
              <a:p>
                <a:pPr algn="l"/>
                <a:r>
                  <a:rPr lang="de-DE" sz="1100" dirty="0">
                    <a:solidFill>
                      <a:srgbClr val="F2EFDA"/>
                    </a:solidFill>
                    <a:latin typeface="Arial"/>
                    <a:cs typeface="Arial"/>
                  </a:rPr>
                  <a:t>0</a:t>
                </a:r>
              </a:p>
            </p:txBody>
          </p:sp>
          <p:sp>
            <p:nvSpPr>
              <p:cNvPr id="28" name="YAxisLabel_-1Mrd">
                <a:extLst>
                  <a:ext uri="{FF2B5EF4-FFF2-40B4-BE49-F238E27FC236}">
                    <a16:creationId xmlns:a16="http://schemas.microsoft.com/office/drawing/2014/main" id="{DCDAD30F-70E0-F049-A43F-3D904B9F8CE6}"/>
                  </a:ext>
                </a:extLst>
              </p:cNvPr>
              <p:cNvSpPr txBox="1"/>
              <p:nvPr/>
            </p:nvSpPr>
            <p:spPr>
              <a:xfrm>
                <a:off x="6700119" y="3371799"/>
                <a:ext cx="660400" cy="2286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-1 Mrd.</a:t>
                </a:r>
              </a:p>
            </p:txBody>
          </p:sp>
          <p:sp>
            <p:nvSpPr>
              <p:cNvPr id="29" name="YAxisLabel_-2Mrd">
                <a:extLst>
                  <a:ext uri="{FF2B5EF4-FFF2-40B4-BE49-F238E27FC236}">
                    <a16:creationId xmlns:a16="http://schemas.microsoft.com/office/drawing/2014/main" id="{21EEB388-D843-B046-8633-DBDEC5431DF2}"/>
                  </a:ext>
                </a:extLst>
              </p:cNvPr>
              <p:cNvSpPr txBox="1"/>
              <p:nvPr/>
            </p:nvSpPr>
            <p:spPr>
              <a:xfrm>
                <a:off x="6700119" y="3775008"/>
                <a:ext cx="660400" cy="228600"/>
              </a:xfrm>
              <a:prstGeom prst="rect">
                <a:avLst/>
              </a:prstGeom>
              <a:noFill/>
            </p:spPr>
            <p:txBody>
              <a:bodyPr vertOverflow="overflow" vert="horz" wrap="none" rtlCol="0" anchor="ctr" anchorCtr="0">
                <a:noAutofit/>
              </a:bodyPr>
              <a:lstStyle/>
              <a:p>
                <a:pPr algn="l"/>
                <a:r>
                  <a:rPr lang="de-DE" sz="1100" dirty="0">
                    <a:solidFill>
                      <a:srgbClr val="F3EFDA"/>
                    </a:solidFill>
                    <a:latin typeface="Arial"/>
                    <a:cs typeface="Arial"/>
                  </a:rPr>
                  <a:t>-2 Mrd.</a:t>
                </a:r>
              </a:p>
            </p:txBody>
          </p:sp>
          <p:sp>
            <p:nvSpPr>
              <p:cNvPr id="33" name="Textfeld 32">
                <a:extLst>
                  <a:ext uri="{FF2B5EF4-FFF2-40B4-BE49-F238E27FC236}">
                    <a16:creationId xmlns:a16="http://schemas.microsoft.com/office/drawing/2014/main" id="{0BC4D2E5-98E2-7B10-7847-8DA3B56D6D89}"/>
                  </a:ext>
                </a:extLst>
              </p:cNvPr>
              <p:cNvSpPr txBox="1"/>
              <p:nvPr/>
            </p:nvSpPr>
            <p:spPr>
              <a:xfrm rot="16200000">
                <a:off x="6218114" y="2931026"/>
                <a:ext cx="957378" cy="338554"/>
              </a:xfrm>
              <a:prstGeom prst="rect">
                <a:avLst/>
              </a:prstGeom>
              <a:noFill/>
            </p:spPr>
            <p:txBody>
              <a:bodyPr wrap="none" rtlCol="0">
                <a:spAutoFit/>
              </a:bodyPr>
              <a:lstStyle/>
              <a:p>
                <a:r>
                  <a:rPr lang="de-DE" sz="1600" b="1" dirty="0">
                    <a:solidFill>
                      <a:srgbClr val="F3EFDA"/>
                    </a:solidFill>
                  </a:rPr>
                  <a:t>Kennzahl</a:t>
                </a:r>
              </a:p>
            </p:txBody>
          </p:sp>
        </p:grpSp>
      </p:grpSp>
    </p:spTree>
    <p:extLst>
      <p:ext uri="{BB962C8B-B14F-4D97-AF65-F5344CB8AC3E}">
        <p14:creationId xmlns:p14="http://schemas.microsoft.com/office/powerpoint/2010/main" val="46354264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 (1) auf </a:t>
            </a:r>
            <a:r>
              <a:rPr lang="en-US" sz="2100" b="1" kern="0" spc="-50" dirty="0" err="1">
                <a:solidFill>
                  <a:srgbClr val="F2EFDA"/>
                </a:solidFill>
                <a:latin typeface="Arial" pitchFamily="34" charset="0"/>
                <a:ea typeface="Arial" pitchFamily="34" charset="-122"/>
                <a:cs typeface="Arial" pitchFamily="34" charset="-120"/>
              </a:rPr>
              <a:t>erste</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
        <p:nvSpPr>
          <p:cNvPr id="7" name="Shape 4"/>
          <p:cNvSpPr/>
          <p:nvPr/>
        </p:nvSpPr>
        <p:spPr>
          <a:xfrm>
            <a:off x="1153444" y="5255810"/>
            <a:ext cx="4355418" cy="1307020"/>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1399635" y="5259286"/>
            <a:ext cx="3863036" cy="1307020"/>
          </a:xfrm>
          <a:prstGeom prst="rect">
            <a:avLst/>
          </a:prstGeom>
          <a:noFill/>
          <a:ln/>
        </p:spPr>
        <p:txBody>
          <a:bodyPr wrap="square" rtlCol="0" anchor="ctr"/>
          <a:lstStyle/>
          <a:p>
            <a:pPr marL="0" indent="0" algn="l">
              <a:lnSpc>
                <a:spcPct val="105000"/>
              </a:lnSpc>
              <a:buNone/>
            </a:pPr>
            <a:r>
              <a:rPr lang="en-US" sz="2000" dirty="0" err="1">
                <a:solidFill>
                  <a:srgbClr val="F2EFDA"/>
                </a:solidFill>
                <a:latin typeface="Courier New" pitchFamily="34" charset="0"/>
                <a:ea typeface="Courier New" pitchFamily="34" charset="-122"/>
                <a:cs typeface="Courier New" pitchFamily="34" charset="-120"/>
              </a:rPr>
              <a:t>ΔYt</a:t>
            </a:r>
            <a:r>
              <a:rPr lang="en-US" sz="2000" dirty="0">
                <a:solidFill>
                  <a:srgbClr val="F2EFDA"/>
                </a:solidFill>
                <a:latin typeface="Courier New" pitchFamily="34" charset="0"/>
                <a:ea typeface="Courier New" pitchFamily="34" charset="-122"/>
                <a:cs typeface="Courier New" pitchFamily="34" charset="-120"/>
              </a:rPr>
              <a:t> = c + </a:t>
            </a:r>
            <a:r>
              <a:rPr lang="en-US" sz="2000" b="1" dirty="0" err="1">
                <a:solidFill>
                  <a:srgbClr val="78A2F9"/>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 ΔYt−1 + </a:t>
            </a:r>
            <a:r>
              <a:rPr lang="en-US" sz="2000" dirty="0" err="1">
                <a:solidFill>
                  <a:srgbClr val="F2EFDA"/>
                </a:solidFill>
                <a:latin typeface="Courier New" pitchFamily="34" charset="0"/>
                <a:cs typeface="Courier New" pitchFamily="34" charset="-120"/>
              </a:rPr>
              <a:t>εt</a:t>
            </a:r>
            <a:endParaRPr lang="en-US" sz="2000" dirty="0">
              <a:solidFill>
                <a:srgbClr val="F2EFDA"/>
              </a:solidFill>
              <a:latin typeface="Courier New" pitchFamily="34" charset="0"/>
              <a:cs typeface="Courier New" pitchFamily="34" charset="-120"/>
            </a:endParaRPr>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graphicFrame>
        <p:nvGraphicFramePr>
          <p:cNvPr id="501" name="Zeitreihen-Chart"/>
          <p:cNvGraphicFramePr/>
          <p:nvPr/>
        </p:nvGraphicFramePr>
        <p:xfrm>
          <a:off x="634187" y="1529674"/>
          <a:ext cx="109220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601" name="Linie_Mittelwert_Phi"/>
          <p:cNvCxnSpPr/>
          <p:nvPr/>
        </p:nvCxnSpPr>
        <p:spPr>
          <a:xfrm>
            <a:off x="1341687" y="3266802"/>
            <a:ext cx="10033000" cy="0"/>
          </a:xfrm>
          <a:prstGeom prst="line">
            <a:avLst/>
          </a:prstGeom>
          <a:ln w="12700" cap="rnd">
            <a:solidFill>
              <a:srgbClr val="E6D34F"/>
            </a:solidFill>
            <a:prstDash val="dash"/>
          </a:ln>
        </p:spPr>
      </p:cxnSp>
      <p:sp>
        <p:nvSpPr>
          <p:cNvPr id="602" name="Label_Mittelwert_Phi"/>
          <p:cNvSpPr txBox="1"/>
          <p:nvPr/>
        </p:nvSpPr>
        <p:spPr>
          <a:xfrm>
            <a:off x="3678283" y="3785517"/>
            <a:ext cx="211116" cy="228600"/>
          </a:xfrm>
          <a:prstGeom prst="rect">
            <a:avLst/>
          </a:prstGeom>
          <a:noFill/>
        </p:spPr>
        <p:txBody>
          <a:bodyPr wrap="none" lIns="0" tIns="0" rIns="0" bIns="0" anchor="ctr"/>
          <a:lstStyle/>
          <a:p>
            <a:pPr algn="r"/>
            <a:r>
              <a:rPr lang="el-GR" sz="1400" b="1">
                <a:solidFill>
                  <a:srgbClr val="E6D34F"/>
                </a:solidFill>
              </a:rPr>
              <a:t>φ </a:t>
            </a:r>
            <a:endParaRPr lang="de-DE" sz="1400" b="1">
              <a:solidFill>
                <a:srgbClr val="E6D34F"/>
              </a:solidFill>
            </a:endParaRPr>
          </a:p>
        </p:txBody>
      </p:sp>
      <p:sp>
        <p:nvSpPr>
          <p:cNvPr id="603" name="Pfeil_MeanReversion_Peak_Phi"/>
          <p:cNvSpPr/>
          <p:nvPr/>
        </p:nvSpPr>
        <p:spPr>
          <a:xfrm rot="16200000">
            <a:off x="9047026" y="2375415"/>
            <a:ext cx="569300" cy="317502"/>
          </a:xfrm>
          <a:custGeom>
            <a:avLst/>
            <a:gdLst/>
            <a:ahLst/>
            <a:cxnLst/>
            <a:rect l="0" t="0" r="0" b="0"/>
            <a:pathLst>
              <a:path w="333756" h="698500">
                <a:moveTo>
                  <a:pt x="25400" y="25400"/>
                </a:moveTo>
                <a:cubicBezTo>
                  <a:pt x="252222" y="195199"/>
                  <a:pt x="308356" y="415417"/>
                  <a:pt x="190500" y="673100"/>
                </a:cubicBezTo>
              </a:path>
            </a:pathLst>
          </a:custGeom>
          <a:noFill/>
          <a:ln w="19050" cap="rnd">
            <a:solidFill>
              <a:srgbClr val="E6D34F"/>
            </a:solidFill>
            <a:tailEnd type="triangle" w="med" len="med"/>
          </a:ln>
        </p:spPr>
        <p:txBody>
          <a:bodyPr/>
          <a:lstStyle/>
          <a:p>
            <a:endParaRPr lang="de-DE"/>
          </a:p>
        </p:txBody>
      </p:sp>
      <p:sp>
        <p:nvSpPr>
          <p:cNvPr id="604" name="Pfeil_MeanReversion_Trough_Phi"/>
          <p:cNvSpPr/>
          <p:nvPr/>
        </p:nvSpPr>
        <p:spPr>
          <a:xfrm rot="15416860" flipV="1">
            <a:off x="3275487" y="3680785"/>
            <a:ext cx="533271" cy="334087"/>
          </a:xfrm>
          <a:custGeom>
            <a:avLst/>
            <a:gdLst/>
            <a:ahLst/>
            <a:cxnLst/>
            <a:rect l="0" t="0" r="0" b="0"/>
            <a:pathLst>
              <a:path w="336550" h="1016000">
                <a:moveTo>
                  <a:pt x="146050" y="990600"/>
                </a:moveTo>
                <a:cubicBezTo>
                  <a:pt x="25273" y="642112"/>
                  <a:pt x="81407" y="313944"/>
                  <a:pt x="311150" y="25400"/>
                </a:cubicBezTo>
              </a:path>
            </a:pathLst>
          </a:custGeom>
          <a:noFill/>
          <a:ln w="19050" cap="rnd">
            <a:solidFill>
              <a:srgbClr val="E6D34F"/>
            </a:solidFill>
            <a:tailEnd type="triangle" w="med" len="med"/>
          </a:ln>
        </p:spPr>
        <p:txBody>
          <a:bodyPr/>
          <a:lstStyle/>
          <a:p>
            <a:endParaRPr lang="de-DE"/>
          </a:p>
        </p:txBody>
      </p:sp>
      <p:sp>
        <p:nvSpPr>
          <p:cNvPr id="10" name="Label_Mittelwert_Phi">
            <a:extLst>
              <a:ext uri="{FF2B5EF4-FFF2-40B4-BE49-F238E27FC236}">
                <a16:creationId xmlns:a16="http://schemas.microsoft.com/office/drawing/2014/main" id="{BCE3EBD0-AD79-50B7-7404-5515ADA9196A}"/>
              </a:ext>
            </a:extLst>
          </p:cNvPr>
          <p:cNvSpPr txBox="1"/>
          <p:nvPr/>
        </p:nvSpPr>
        <p:spPr>
          <a:xfrm>
            <a:off x="11387157" y="3154092"/>
            <a:ext cx="211116" cy="228600"/>
          </a:xfrm>
          <a:prstGeom prst="rect">
            <a:avLst/>
          </a:prstGeom>
          <a:noFill/>
        </p:spPr>
        <p:txBody>
          <a:bodyPr wrap="none" lIns="0" tIns="0" rIns="0" bIns="0" anchor="ctr"/>
          <a:lstStyle/>
          <a:p>
            <a:pPr algn="r"/>
            <a:r>
              <a:rPr lang="de-DE" sz="1400" b="1">
                <a:solidFill>
                  <a:srgbClr val="E6D34F"/>
                </a:solidFill>
              </a:rPr>
              <a:t>c</a:t>
            </a:r>
            <a:r>
              <a:rPr lang="el-GR" sz="1400" b="1">
                <a:solidFill>
                  <a:srgbClr val="E6D34F"/>
                </a:solidFill>
              </a:rPr>
              <a:t> </a:t>
            </a:r>
            <a:endParaRPr lang="de-DE" sz="1400" b="1">
              <a:solidFill>
                <a:srgbClr val="E6D34F"/>
              </a:solidFill>
            </a:endParaRPr>
          </a:p>
        </p:txBody>
      </p:sp>
      <p:sp>
        <p:nvSpPr>
          <p:cNvPr id="12" name="Label_Mittelwert_Phi">
            <a:extLst>
              <a:ext uri="{FF2B5EF4-FFF2-40B4-BE49-F238E27FC236}">
                <a16:creationId xmlns:a16="http://schemas.microsoft.com/office/drawing/2014/main" id="{8D70BE7B-0330-0FEC-2C6D-55A52B1DE595}"/>
              </a:ext>
            </a:extLst>
          </p:cNvPr>
          <p:cNvSpPr txBox="1"/>
          <p:nvPr/>
        </p:nvSpPr>
        <p:spPr>
          <a:xfrm>
            <a:off x="9115331" y="2242048"/>
            <a:ext cx="211116" cy="228600"/>
          </a:xfrm>
          <a:prstGeom prst="rect">
            <a:avLst/>
          </a:prstGeom>
          <a:noFill/>
        </p:spPr>
        <p:txBody>
          <a:bodyPr wrap="none" lIns="0" tIns="0" rIns="0" bIns="0" anchor="ctr"/>
          <a:lstStyle/>
          <a:p>
            <a:pPr algn="r"/>
            <a:r>
              <a:rPr lang="el-GR" sz="1400" b="1">
                <a:solidFill>
                  <a:srgbClr val="E6D34F"/>
                </a:solidFill>
              </a:rPr>
              <a:t>φ </a:t>
            </a:r>
            <a:endParaRPr lang="de-DE" sz="1400" b="1">
              <a:solidFill>
                <a:srgbClr val="E6D34F"/>
              </a:solidFill>
            </a:endParaRPr>
          </a:p>
        </p:txBody>
      </p:sp>
      <p:sp>
        <p:nvSpPr>
          <p:cNvPr id="15" name="Textfeld 14">
            <a:extLst>
              <a:ext uri="{FF2B5EF4-FFF2-40B4-BE49-F238E27FC236}">
                <a16:creationId xmlns:a16="http://schemas.microsoft.com/office/drawing/2014/main" id="{C1FEEA0A-C4FF-ED6F-8259-166B5980C00C}"/>
              </a:ext>
            </a:extLst>
          </p:cNvPr>
          <p:cNvSpPr txBox="1"/>
          <p:nvPr/>
        </p:nvSpPr>
        <p:spPr>
          <a:xfrm rot="16200000">
            <a:off x="70944" y="2889995"/>
            <a:ext cx="957378" cy="338554"/>
          </a:xfrm>
          <a:prstGeom prst="rect">
            <a:avLst/>
          </a:prstGeom>
          <a:noFill/>
        </p:spPr>
        <p:txBody>
          <a:bodyPr wrap="none" rtlCol="0">
            <a:spAutoFit/>
          </a:bodyPr>
          <a:lstStyle/>
          <a:p>
            <a:r>
              <a:rPr lang="de-DE" sz="1600" b="1" dirty="0">
                <a:solidFill>
                  <a:srgbClr val="F2EFDA"/>
                </a:solidFill>
              </a:rPr>
              <a:t>Kennzahl</a:t>
            </a:r>
          </a:p>
        </p:txBody>
      </p:sp>
      <p:grpSp>
        <p:nvGrpSpPr>
          <p:cNvPr id="13" name="Gruppieren 12">
            <a:extLst>
              <a:ext uri="{FF2B5EF4-FFF2-40B4-BE49-F238E27FC236}">
                <a16:creationId xmlns:a16="http://schemas.microsoft.com/office/drawing/2014/main" id="{B0B059F5-B5AC-3CB4-F65E-3E6DC21331CE}"/>
              </a:ext>
            </a:extLst>
          </p:cNvPr>
          <p:cNvGrpSpPr/>
          <p:nvPr/>
        </p:nvGrpSpPr>
        <p:grpSpPr>
          <a:xfrm>
            <a:off x="6938178" y="5254276"/>
            <a:ext cx="4618008" cy="1307019"/>
            <a:chOff x="8955908" y="5143247"/>
            <a:chExt cx="4618008" cy="1166354"/>
          </a:xfrm>
        </p:grpSpPr>
        <p:sp>
          <p:nvSpPr>
            <p:cNvPr id="16" name="Shape 21">
              <a:extLst>
                <a:ext uri="{FF2B5EF4-FFF2-40B4-BE49-F238E27FC236}">
                  <a16:creationId xmlns:a16="http://schemas.microsoft.com/office/drawing/2014/main" id="{6DE35A49-C59A-3A9F-EE18-2EA59EFC0865}"/>
                </a:ext>
              </a:extLst>
            </p:cNvPr>
            <p:cNvSpPr/>
            <p:nvPr/>
          </p:nvSpPr>
          <p:spPr>
            <a:xfrm>
              <a:off x="9090307" y="5143247"/>
              <a:ext cx="4483609"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17" name="Text 22">
              <a:extLst>
                <a:ext uri="{FF2B5EF4-FFF2-40B4-BE49-F238E27FC236}">
                  <a16:creationId xmlns:a16="http://schemas.microsoft.com/office/drawing/2014/main" id="{99978DA7-15D6-A869-313A-E4F473F9E570}"/>
                </a:ext>
              </a:extLst>
            </p:cNvPr>
            <p:cNvSpPr/>
            <p:nvPr/>
          </p:nvSpPr>
          <p:spPr>
            <a:xfrm>
              <a:off x="8955908" y="5420786"/>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18" name="Text 23">
              <a:extLst>
                <a:ext uri="{FF2B5EF4-FFF2-40B4-BE49-F238E27FC236}">
                  <a16:creationId xmlns:a16="http://schemas.microsoft.com/office/drawing/2014/main" id="{E4DE2916-68B9-1B92-B272-5971D4327050}"/>
                </a:ext>
              </a:extLst>
            </p:cNvPr>
            <p:cNvSpPr/>
            <p:nvPr/>
          </p:nvSpPr>
          <p:spPr>
            <a:xfrm>
              <a:off x="8955908" y="5809203"/>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19" name="Textfeld 18">
            <a:extLst>
              <a:ext uri="{FF2B5EF4-FFF2-40B4-BE49-F238E27FC236}">
                <a16:creationId xmlns:a16="http://schemas.microsoft.com/office/drawing/2014/main" id="{A5B3359A-E685-1A4B-C1D1-08867E23B201}"/>
              </a:ext>
            </a:extLst>
          </p:cNvPr>
          <p:cNvSpPr txBox="1"/>
          <p:nvPr/>
        </p:nvSpPr>
        <p:spPr>
          <a:xfrm>
            <a:off x="5963430" y="5704817"/>
            <a:ext cx="785793" cy="512448"/>
          </a:xfrm>
          <a:prstGeom prst="rect">
            <a:avLst/>
          </a:prstGeom>
          <a:noFill/>
        </p:spPr>
        <p:txBody>
          <a:bodyPr wrap="none" rtlCol="0">
            <a:spAutoFit/>
          </a:bodyPr>
          <a:lstStyle/>
          <a:p>
            <a:pPr algn="ctr">
              <a:lnSpc>
                <a:spcPct val="105000"/>
              </a:lnSpc>
            </a:pPr>
            <a:r>
              <a:rPr lang="de-DE" sz="2600" b="1" dirty="0">
                <a:solidFill>
                  <a:srgbClr val="F2EFDA"/>
                </a:solidFill>
                <a:latin typeface="Courier New" pitchFamily="34" charset="0"/>
                <a:cs typeface="Courier New" pitchFamily="34" charset="-120"/>
              </a:rPr>
              <a:t>für</a:t>
            </a:r>
          </a:p>
        </p:txBody>
      </p:sp>
      <p:grpSp>
        <p:nvGrpSpPr>
          <p:cNvPr id="25" name="Gruppieren 24">
            <a:extLst>
              <a:ext uri="{FF2B5EF4-FFF2-40B4-BE49-F238E27FC236}">
                <a16:creationId xmlns:a16="http://schemas.microsoft.com/office/drawing/2014/main" id="{5967A5ED-A9BC-04E5-1914-3DEE977FDE7E}"/>
              </a:ext>
            </a:extLst>
          </p:cNvPr>
          <p:cNvGrpSpPr/>
          <p:nvPr/>
        </p:nvGrpSpPr>
        <p:grpSpPr>
          <a:xfrm>
            <a:off x="8718609" y="5519300"/>
            <a:ext cx="1873549" cy="1008745"/>
            <a:chOff x="8718609" y="5519300"/>
            <a:chExt cx="1873549" cy="1008745"/>
          </a:xfrm>
        </p:grpSpPr>
        <p:sp>
          <p:nvSpPr>
            <p:cNvPr id="21" name="Text 19">
              <a:extLst>
                <a:ext uri="{FF2B5EF4-FFF2-40B4-BE49-F238E27FC236}">
                  <a16:creationId xmlns:a16="http://schemas.microsoft.com/office/drawing/2014/main" id="{9F6AF40A-C524-5472-4C84-956504C37BEA}"/>
                </a:ext>
              </a:extLst>
            </p:cNvPr>
            <p:cNvSpPr/>
            <p:nvPr/>
          </p:nvSpPr>
          <p:spPr>
            <a:xfrm>
              <a:off x="8718609" y="5519300"/>
              <a:ext cx="1865766" cy="749273"/>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7</a:t>
              </a:r>
              <a:endParaRPr lang="en-US" sz="2600" dirty="0"/>
            </a:p>
          </p:txBody>
        </p:sp>
        <p:sp>
          <p:nvSpPr>
            <p:cNvPr id="22" name="Text 20">
              <a:extLst>
                <a:ext uri="{FF2B5EF4-FFF2-40B4-BE49-F238E27FC236}">
                  <a16:creationId xmlns:a16="http://schemas.microsoft.com/office/drawing/2014/main" id="{A2D91EC6-9276-3529-5CAA-D3E84B61CAA9}"/>
                </a:ext>
              </a:extLst>
            </p:cNvPr>
            <p:cNvSpPr/>
            <p:nvPr/>
          </p:nvSpPr>
          <p:spPr>
            <a:xfrm>
              <a:off x="8726392" y="6003293"/>
              <a:ext cx="1865766" cy="524752"/>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endParaRPr lang="en-US" sz="1200" dirty="0"/>
            </a:p>
          </p:txBody>
        </p:sp>
      </p:grpSp>
      <p:grpSp>
        <p:nvGrpSpPr>
          <p:cNvPr id="26" name="Gruppieren 25">
            <a:extLst>
              <a:ext uri="{FF2B5EF4-FFF2-40B4-BE49-F238E27FC236}">
                <a16:creationId xmlns:a16="http://schemas.microsoft.com/office/drawing/2014/main" id="{22D0CEE1-2B58-6C0A-AE64-ECFD22E61926}"/>
              </a:ext>
            </a:extLst>
          </p:cNvPr>
          <p:cNvGrpSpPr/>
          <p:nvPr/>
        </p:nvGrpSpPr>
        <p:grpSpPr>
          <a:xfrm>
            <a:off x="9880267" y="5519300"/>
            <a:ext cx="1873941" cy="1018172"/>
            <a:chOff x="9880267" y="5519300"/>
            <a:chExt cx="1873941" cy="1018172"/>
          </a:xfrm>
        </p:grpSpPr>
        <p:sp>
          <p:nvSpPr>
            <p:cNvPr id="23" name="Text 19">
              <a:extLst>
                <a:ext uri="{FF2B5EF4-FFF2-40B4-BE49-F238E27FC236}">
                  <a16:creationId xmlns:a16="http://schemas.microsoft.com/office/drawing/2014/main" id="{6FDC6EE3-E7F2-ED00-135A-44C9F90B4D19}"/>
                </a:ext>
              </a:extLst>
            </p:cNvPr>
            <p:cNvSpPr/>
            <p:nvPr/>
          </p:nvSpPr>
          <p:spPr>
            <a:xfrm>
              <a:off x="9880267" y="5519300"/>
              <a:ext cx="1865766" cy="749273"/>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932</a:t>
              </a:r>
              <a:endParaRPr lang="en-US" sz="2600" dirty="0"/>
            </a:p>
          </p:txBody>
        </p:sp>
        <p:sp>
          <p:nvSpPr>
            <p:cNvPr id="24" name="Text 20">
              <a:extLst>
                <a:ext uri="{FF2B5EF4-FFF2-40B4-BE49-F238E27FC236}">
                  <a16:creationId xmlns:a16="http://schemas.microsoft.com/office/drawing/2014/main" id="{6946D516-6B77-EE33-B974-C9053B380BE3}"/>
                </a:ext>
              </a:extLst>
            </p:cNvPr>
            <p:cNvSpPr/>
            <p:nvPr/>
          </p:nvSpPr>
          <p:spPr>
            <a:xfrm>
              <a:off x="9888442" y="6012720"/>
              <a:ext cx="1865766" cy="524752"/>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a:t>
              </a:r>
              <a:endParaRPr lang="en-US" sz="1200" dirty="0"/>
            </a:p>
          </p:txBody>
        </p:sp>
      </p:grpSp>
      <p:sp>
        <p:nvSpPr>
          <p:cNvPr id="20" name="Text 3">
            <a:extLst>
              <a:ext uri="{FF2B5EF4-FFF2-40B4-BE49-F238E27FC236}">
                <a16:creationId xmlns:a16="http://schemas.microsoft.com/office/drawing/2014/main" id="{371AD277-5CE0-CF37-A473-3304E132BDAE}"/>
              </a:ext>
            </a:extLst>
          </p:cNvPr>
          <p:cNvSpPr/>
          <p:nvPr/>
        </p:nvSpPr>
        <p:spPr>
          <a:xfrm>
            <a:off x="1898482" y="762242"/>
            <a:ext cx="6639794" cy="331005"/>
          </a:xfrm>
          <a:prstGeom prst="rect">
            <a:avLst/>
          </a:prstGeom>
          <a:noFill/>
          <a:ln/>
        </p:spPr>
        <p:txBody>
          <a:bodyPr wrap="square" rtlCol="0" anchor="t"/>
          <a:lstStyle/>
          <a:p>
            <a:pPr marL="0" indent="0">
              <a:lnSpc>
                <a:spcPct val="100000"/>
              </a:lnSpc>
              <a:buNone/>
            </a:pPr>
            <a:r>
              <a:rPr lang="en-US" sz="2100" b="1" kern="0" spc="-50" dirty="0" err="1">
                <a:solidFill>
                  <a:srgbClr val="F2EFDA"/>
                </a:solidFill>
                <a:latin typeface="Arial" pitchFamily="34" charset="0"/>
                <a:ea typeface="Arial" pitchFamily="34" charset="-122"/>
                <a:cs typeface="Arial" pitchFamily="34" charset="-120"/>
              </a:rPr>
              <a:t>erste</a:t>
            </a:r>
            <a:r>
              <a:rPr lang="en-US" sz="2100" b="1" kern="0" spc="-50" dirty="0">
                <a:solidFill>
                  <a:srgbClr val="F2EFDA"/>
                </a:solidFill>
                <a:latin typeface="Arial" pitchFamily="34" charset="0"/>
                <a:ea typeface="Arial" pitchFamily="34" charset="-122"/>
                <a:cs typeface="Arial" pitchFamily="34" charset="-120"/>
              </a:rPr>
              <a:t> </a:t>
            </a:r>
            <a:r>
              <a:rPr lang="en-US" sz="2100" b="1" kern="0" spc="-50" dirty="0" err="1">
                <a:solidFill>
                  <a:srgbClr val="F2EFDA"/>
                </a:solidFill>
                <a:latin typeface="Arial" pitchFamily="34" charset="0"/>
                <a:ea typeface="Arial" pitchFamily="34" charset="-122"/>
                <a:cs typeface="Arial" pitchFamily="34" charset="-120"/>
              </a:rPr>
              <a:t>Differenzen</a:t>
            </a:r>
            <a:endParaRPr lang="en-US" sz="2100" dirty="0"/>
          </a:p>
        </p:txBody>
      </p:sp>
    </p:spTree>
    <p:extLst>
      <p:ext uri="{BB962C8B-B14F-4D97-AF65-F5344CB8AC3E}">
        <p14:creationId xmlns:p14="http://schemas.microsoft.com/office/powerpoint/2010/main" val="14437559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01">
                                            <p:graphicEl>
                                              <a:chart seriesIdx="-3" categoryIdx="-3" bldStep="gridLegend"/>
                                            </p:graphicEl>
                                          </p:spTgt>
                                        </p:tgtEl>
                                        <p:attrNameLst>
                                          <p:attrName>style.visibility</p:attrName>
                                        </p:attrNameLst>
                                      </p:cBhvr>
                                      <p:to>
                                        <p:strVal val="visible"/>
                                      </p:to>
                                    </p:set>
                                    <p:animEffect transition="in" filter="wipe(left)">
                                      <p:cBhvr>
                                        <p:cTn id="7" dur="500"/>
                                        <p:tgtEl>
                                          <p:spTgt spid="501">
                                            <p:graphicEl>
                                              <a:chart seriesIdx="-3" categoryIdx="-3" bldStep="gridLegend"/>
                                            </p:graphicEl>
                                          </p:spTgt>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501">
                                            <p:graphicEl>
                                              <a:chart seriesIdx="0" categoryIdx="-4" bldStep="series"/>
                                            </p:graphicEl>
                                          </p:spTgt>
                                        </p:tgtEl>
                                        <p:attrNameLst>
                                          <p:attrName>style.visibility</p:attrName>
                                        </p:attrNameLst>
                                      </p:cBhvr>
                                      <p:to>
                                        <p:strVal val="visible"/>
                                      </p:to>
                                    </p:set>
                                    <p:animEffect transition="in" filter="wipe(left)">
                                      <p:cBhvr>
                                        <p:cTn id="11" dur="500"/>
                                        <p:tgtEl>
                                          <p:spTgt spid="501">
                                            <p:graphicEl>
                                              <a:chart seriesIdx="0" categoryIdx="-4" bldStep="series"/>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mph" presetSubtype="0" fill="hold" grpId="0" nodeType="clickEffect">
                                  <p:stCondLst>
                                    <p:cond delay="0"/>
                                  </p:stCondLst>
                                  <p:iterate type="lt">
                                    <p:tmPct val="4000"/>
                                  </p:iterate>
                                  <p:childTnLst>
                                    <p:set>
                                      <p:cBhvr override="childStyle">
                                        <p:cTn id="15" dur="500" fill="hold"/>
                                        <p:tgtEl>
                                          <p:spTgt spid="20"/>
                                        </p:tgtEl>
                                        <p:attrNameLst>
                                          <p:attrName>style.textDecorationUnderline</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01">
                                            <p:graphicEl>
                                              <a:chart seriesIdx="1" categoryIdx="-4" bldStep="series"/>
                                            </p:graphicEl>
                                          </p:spTgt>
                                        </p:tgtEl>
                                        <p:attrNameLst>
                                          <p:attrName>style.visibility</p:attrName>
                                        </p:attrNameLst>
                                      </p:cBhvr>
                                      <p:to>
                                        <p:strVal val="visible"/>
                                      </p:to>
                                    </p:set>
                                    <p:animEffect transition="in" filter="wipe(left)">
                                      <p:cBhvr>
                                        <p:cTn id="20" dur="500"/>
                                        <p:tgtEl>
                                          <p:spTgt spid="501">
                                            <p:graphicEl>
                                              <a:chart seriesIdx="1" categoryIdx="-4" bldStep="series"/>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02"/>
                                        </p:tgtEl>
                                        <p:attrNameLst>
                                          <p:attrName>style.visibility</p:attrName>
                                        </p:attrNameLst>
                                      </p:cBhvr>
                                      <p:to>
                                        <p:strVal val="visible"/>
                                      </p:to>
                                    </p:set>
                                    <p:animEffect transition="in" filter="wipe(left)">
                                      <p:cBhvr>
                                        <p:cTn id="25" dur="500"/>
                                        <p:tgtEl>
                                          <p:spTgt spid="60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04"/>
                                        </p:tgtEl>
                                        <p:attrNameLst>
                                          <p:attrName>style.visibility</p:attrName>
                                        </p:attrNameLst>
                                      </p:cBhvr>
                                      <p:to>
                                        <p:strVal val="visible"/>
                                      </p:to>
                                    </p:set>
                                    <p:animEffect transition="in" filter="wipe(left)">
                                      <p:cBhvr>
                                        <p:cTn id="28" dur="500"/>
                                        <p:tgtEl>
                                          <p:spTgt spid="60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03"/>
                                        </p:tgtEl>
                                        <p:attrNameLst>
                                          <p:attrName>style.visibility</p:attrName>
                                        </p:attrNameLst>
                                      </p:cBhvr>
                                      <p:to>
                                        <p:strVal val="visible"/>
                                      </p:to>
                                    </p:set>
                                    <p:animEffect transition="in" filter="wipe(left)">
                                      <p:cBhvr>
                                        <p:cTn id="34" dur="500"/>
                                        <p:tgtEl>
                                          <p:spTgt spid="603"/>
                                        </p:tgtEl>
                                      </p:cBhvr>
                                    </p:animEffect>
                                  </p:childTnLst>
                                </p:cTn>
                              </p:par>
                              <p:par>
                                <p:cTn id="35" presetID="22" presetClass="entr" presetSubtype="8" fill="hold" nodeType="withEffect">
                                  <p:stCondLst>
                                    <p:cond delay="0"/>
                                  </p:stCondLst>
                                  <p:childTnLst>
                                    <p:set>
                                      <p:cBhvr>
                                        <p:cTn id="36" dur="1" fill="hold">
                                          <p:stCondLst>
                                            <p:cond delay="0"/>
                                          </p:stCondLst>
                                        </p:cTn>
                                        <p:tgtEl>
                                          <p:spTgt spid="601"/>
                                        </p:tgtEl>
                                        <p:attrNameLst>
                                          <p:attrName>style.visibility</p:attrName>
                                        </p:attrNameLst>
                                      </p:cBhvr>
                                      <p:to>
                                        <p:strVal val="visible"/>
                                      </p:to>
                                    </p:set>
                                    <p:animEffect transition="in" filter="wipe(left)">
                                      <p:cBhvr>
                                        <p:cTn id="37" dur="500"/>
                                        <p:tgtEl>
                                          <p:spTgt spid="60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01" grpId="0" uiExpand="1">
        <p:bldSub>
          <a:bldChart bld="series"/>
        </p:bldSub>
      </p:bldGraphic>
      <p:bldP spid="602" grpId="0"/>
      <p:bldP spid="603" grpId="0" animBg="1"/>
      <p:bldP spid="604" grpId="0" animBg="1"/>
      <p:bldP spid="10" grpId="0"/>
      <p:bldP spid="12"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a:extLst>
            <a:ext uri="{FF2B5EF4-FFF2-40B4-BE49-F238E27FC236}">
              <a16:creationId xmlns:a16="http://schemas.microsoft.com/office/drawing/2014/main" id="{F61C2813-B6F1-74E0-8964-CD5A11E36E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B2FB-190A-67A0-C860-53C641DDAC82}"/>
              </a:ext>
            </a:extLst>
          </p:cNvPr>
          <p:cNvSpPr/>
          <p:nvPr/>
        </p:nvSpPr>
        <p:spPr>
          <a:xfrm>
            <a:off x="0" y="0"/>
            <a:ext cx="12191695" cy="38405"/>
          </a:xfrm>
          <a:prstGeom prst="rect">
            <a:avLst/>
          </a:prstGeom>
          <a:solidFill>
            <a:srgbClr val="DBDEE2"/>
          </a:solidFill>
          <a:ln/>
        </p:spPr>
        <p:txBody>
          <a:bodyPr/>
          <a:lstStyle/>
          <a:p>
            <a:endParaRPr lang="de-DE"/>
          </a:p>
        </p:txBody>
      </p:sp>
      <p:sp>
        <p:nvSpPr>
          <p:cNvPr id="5" name="Text 2">
            <a:extLst>
              <a:ext uri="{FF2B5EF4-FFF2-40B4-BE49-F238E27FC236}">
                <a16:creationId xmlns:a16="http://schemas.microsoft.com/office/drawing/2014/main" id="{3C451C1A-8AF3-EDB6-3BCE-11B7F76C7686}"/>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04 / 13</a:t>
            </a:r>
            <a:endParaRPr lang="en-US" sz="1200"/>
          </a:p>
        </p:txBody>
      </p:sp>
      <p:sp>
        <p:nvSpPr>
          <p:cNvPr id="6" name="Text 3">
            <a:extLst>
              <a:ext uri="{FF2B5EF4-FFF2-40B4-BE49-F238E27FC236}">
                <a16:creationId xmlns:a16="http://schemas.microsoft.com/office/drawing/2014/main" id="{62D9103C-85D0-1A3D-22ED-3A2D8CBC7FCB}"/>
              </a:ext>
            </a:extLst>
          </p:cNvPr>
          <p:cNvSpPr/>
          <p:nvPr/>
        </p:nvSpPr>
        <p:spPr>
          <a:xfrm>
            <a:off x="634594" y="761695"/>
            <a:ext cx="10921594" cy="399593"/>
          </a:xfrm>
          <a:prstGeom prst="rect">
            <a:avLst/>
          </a:prstGeom>
          <a:noFill/>
          <a:ln/>
        </p:spPr>
        <p:txBody>
          <a:bodyPr wrap="square" rtlCol="0" anchor="t"/>
          <a:lstStyle/>
          <a:p>
            <a:r>
              <a:rPr lang="en-US" sz="2100" b="1" kern="0" spc="-50" dirty="0" err="1">
                <a:solidFill>
                  <a:srgbClr val="F2EFDA"/>
                </a:solidFill>
                <a:latin typeface="Arial" pitchFamily="34" charset="0"/>
                <a:ea typeface="Arial" pitchFamily="34" charset="-122"/>
                <a:cs typeface="Arial" pitchFamily="34" charset="-120"/>
              </a:rPr>
              <a:t>Veränderungsvolatilität</a:t>
            </a:r>
            <a:endParaRPr lang="en-US" sz="2100" dirty="0"/>
          </a:p>
        </p:txBody>
      </p:sp>
      <p:sp>
        <p:nvSpPr>
          <p:cNvPr id="3" name="Text 1">
            <a:extLst>
              <a:ext uri="{FF2B5EF4-FFF2-40B4-BE49-F238E27FC236}">
                <a16:creationId xmlns:a16="http://schemas.microsoft.com/office/drawing/2014/main" id="{C883CA9D-A844-9A22-C4E5-69D6BCD2D21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METHODIK</a:t>
            </a:r>
          </a:p>
        </p:txBody>
      </p:sp>
      <p:cxnSp>
        <p:nvCxnSpPr>
          <p:cNvPr id="16" name="Pfeil_Sigma_Amplitude">
            <a:extLst>
              <a:ext uri="{FF2B5EF4-FFF2-40B4-BE49-F238E27FC236}">
                <a16:creationId xmlns:a16="http://schemas.microsoft.com/office/drawing/2014/main" id="{19101B1A-E308-A2C5-34CE-D8F7277FBFD2}"/>
              </a:ext>
            </a:extLst>
          </p:cNvPr>
          <p:cNvCxnSpPr>
            <a:cxnSpLocks/>
          </p:cNvCxnSpPr>
          <p:nvPr/>
        </p:nvCxnSpPr>
        <p:spPr>
          <a:xfrm>
            <a:off x="11852229" y="2478626"/>
            <a:ext cx="0" cy="1455615"/>
          </a:xfrm>
          <a:prstGeom prst="line">
            <a:avLst/>
          </a:prstGeom>
          <a:ln w="19050" cap="rnd">
            <a:solidFill>
              <a:srgbClr val="E6D34F"/>
            </a:solidFill>
            <a:headEnd type="triangle" w="med" len="med"/>
            <a:tailEnd type="triangle" w="med" len="med"/>
          </a:ln>
        </p:spPr>
      </p:cxnSp>
      <p:cxnSp>
        <p:nvCxnSpPr>
          <p:cNvPr id="17" name="Hilfslinie_Sigma_Oben">
            <a:extLst>
              <a:ext uri="{FF2B5EF4-FFF2-40B4-BE49-F238E27FC236}">
                <a16:creationId xmlns:a16="http://schemas.microsoft.com/office/drawing/2014/main" id="{67A37EF3-08E4-E1E5-41B2-52BC693105B2}"/>
              </a:ext>
            </a:extLst>
          </p:cNvPr>
          <p:cNvCxnSpPr/>
          <p:nvPr/>
        </p:nvCxnSpPr>
        <p:spPr>
          <a:xfrm>
            <a:off x="11534729" y="2499140"/>
            <a:ext cx="317500" cy="0"/>
          </a:xfrm>
          <a:prstGeom prst="line">
            <a:avLst/>
          </a:prstGeom>
          <a:ln w="9525" cap="rnd">
            <a:solidFill>
              <a:srgbClr val="E6D34F"/>
            </a:solidFill>
            <a:prstDash val="dash"/>
          </a:ln>
        </p:spPr>
      </p:cxnSp>
      <p:cxnSp>
        <p:nvCxnSpPr>
          <p:cNvPr id="18" name="Hilfslinie_Sigma_Unten">
            <a:extLst>
              <a:ext uri="{FF2B5EF4-FFF2-40B4-BE49-F238E27FC236}">
                <a16:creationId xmlns:a16="http://schemas.microsoft.com/office/drawing/2014/main" id="{F6C1F759-4EBC-BA94-1F4B-B635FAAFCE8C}"/>
              </a:ext>
            </a:extLst>
          </p:cNvPr>
          <p:cNvCxnSpPr/>
          <p:nvPr/>
        </p:nvCxnSpPr>
        <p:spPr>
          <a:xfrm>
            <a:off x="11534729" y="3892235"/>
            <a:ext cx="317500" cy="0"/>
          </a:xfrm>
          <a:prstGeom prst="line">
            <a:avLst/>
          </a:prstGeom>
          <a:ln w="9525" cap="rnd">
            <a:solidFill>
              <a:srgbClr val="E6D34F"/>
            </a:solidFill>
            <a:prstDash val="dash"/>
          </a:ln>
        </p:spPr>
      </p:cxnSp>
      <p:sp>
        <p:nvSpPr>
          <p:cNvPr id="19" name="Label_Sigma">
            <a:extLst>
              <a:ext uri="{FF2B5EF4-FFF2-40B4-BE49-F238E27FC236}">
                <a16:creationId xmlns:a16="http://schemas.microsoft.com/office/drawing/2014/main" id="{9942469C-DB05-C1D8-5F99-0568CBCE3C33}"/>
              </a:ext>
            </a:extLst>
          </p:cNvPr>
          <p:cNvSpPr txBox="1"/>
          <p:nvPr/>
        </p:nvSpPr>
        <p:spPr>
          <a:xfrm>
            <a:off x="11758249" y="2986626"/>
            <a:ext cx="431800" cy="304800"/>
          </a:xfrm>
          <a:prstGeom prst="rect">
            <a:avLst/>
          </a:prstGeom>
          <a:noFill/>
        </p:spPr>
        <p:txBody>
          <a:bodyPr wrap="none" lIns="0" tIns="0" rIns="0" bIns="0" anchor="ctr"/>
          <a:lstStyle/>
          <a:p>
            <a:pPr algn="ctr"/>
            <a:r>
              <a:rPr lang="de-DE" sz="1800" b="1" dirty="0" err="1">
                <a:solidFill>
                  <a:srgbClr val="E6D34F"/>
                </a:solidFill>
              </a:rPr>
              <a:t>σ</a:t>
            </a:r>
            <a:endParaRPr lang="de-DE" sz="1800" b="1" dirty="0">
              <a:solidFill>
                <a:srgbClr val="E6D34F"/>
              </a:solidFill>
            </a:endParaRPr>
          </a:p>
        </p:txBody>
      </p:sp>
      <p:sp>
        <p:nvSpPr>
          <p:cNvPr id="8" name="Shape 4">
            <a:extLst>
              <a:ext uri="{FF2B5EF4-FFF2-40B4-BE49-F238E27FC236}">
                <a16:creationId xmlns:a16="http://schemas.microsoft.com/office/drawing/2014/main" id="{F10C6E6C-0361-0458-2753-AEA7004F83AD}"/>
              </a:ext>
            </a:extLst>
          </p:cNvPr>
          <p:cNvSpPr/>
          <p:nvPr/>
        </p:nvSpPr>
        <p:spPr>
          <a:xfrm>
            <a:off x="1153444" y="5255810"/>
            <a:ext cx="4355418" cy="1307020"/>
          </a:xfrm>
          <a:prstGeom prst="roundRect">
            <a:avLst>
              <a:gd name="adj" fmla="val 13325"/>
            </a:avLst>
          </a:prstGeom>
          <a:solidFill>
            <a:srgbClr val="1E402E"/>
          </a:solidFill>
          <a:ln w="12700">
            <a:solidFill>
              <a:srgbClr val="4A6D56"/>
            </a:solidFill>
            <a:prstDash val="solid"/>
          </a:ln>
        </p:spPr>
        <p:txBody>
          <a:bodyPr/>
          <a:lstStyle/>
          <a:p>
            <a:endParaRPr lang="de-DE"/>
          </a:p>
        </p:txBody>
      </p:sp>
      <p:grpSp>
        <p:nvGrpSpPr>
          <p:cNvPr id="24" name="Gruppieren 23">
            <a:extLst>
              <a:ext uri="{FF2B5EF4-FFF2-40B4-BE49-F238E27FC236}">
                <a16:creationId xmlns:a16="http://schemas.microsoft.com/office/drawing/2014/main" id="{BC9F4D3E-9E98-56CC-1D6B-71B7521009C0}"/>
              </a:ext>
            </a:extLst>
          </p:cNvPr>
          <p:cNvGrpSpPr/>
          <p:nvPr/>
        </p:nvGrpSpPr>
        <p:grpSpPr>
          <a:xfrm>
            <a:off x="6938178" y="5254276"/>
            <a:ext cx="4618008" cy="1307019"/>
            <a:chOff x="8955908" y="5143247"/>
            <a:chExt cx="4618008" cy="1166354"/>
          </a:xfrm>
        </p:grpSpPr>
        <p:sp>
          <p:nvSpPr>
            <p:cNvPr id="25" name="Shape 21">
              <a:extLst>
                <a:ext uri="{FF2B5EF4-FFF2-40B4-BE49-F238E27FC236}">
                  <a16:creationId xmlns:a16="http://schemas.microsoft.com/office/drawing/2014/main" id="{27FBEBDD-09FF-CC62-4CF4-6C37F06C9FE4}"/>
                </a:ext>
              </a:extLst>
            </p:cNvPr>
            <p:cNvSpPr/>
            <p:nvPr/>
          </p:nvSpPr>
          <p:spPr>
            <a:xfrm>
              <a:off x="9090307" y="5143247"/>
              <a:ext cx="4483609"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6" name="Text 22">
              <a:extLst>
                <a:ext uri="{FF2B5EF4-FFF2-40B4-BE49-F238E27FC236}">
                  <a16:creationId xmlns:a16="http://schemas.microsoft.com/office/drawing/2014/main" id="{1E36D3AF-241F-A235-0744-47E6E1F5A790}"/>
                </a:ext>
              </a:extLst>
            </p:cNvPr>
            <p:cNvSpPr/>
            <p:nvPr/>
          </p:nvSpPr>
          <p:spPr>
            <a:xfrm>
              <a:off x="8955908" y="5420786"/>
              <a:ext cx="2267238"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7" name="Text 23">
              <a:extLst>
                <a:ext uri="{FF2B5EF4-FFF2-40B4-BE49-F238E27FC236}">
                  <a16:creationId xmlns:a16="http://schemas.microsoft.com/office/drawing/2014/main" id="{C24ECB89-B2AF-460D-63AA-2AED42D4FD62}"/>
                </a:ext>
              </a:extLst>
            </p:cNvPr>
            <p:cNvSpPr/>
            <p:nvPr/>
          </p:nvSpPr>
          <p:spPr>
            <a:xfrm>
              <a:off x="8955908" y="5809203"/>
              <a:ext cx="2267237" cy="488154"/>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Unternehmen-Kennzahl-Kombinationen</a:t>
              </a:r>
              <a:endParaRPr lang="en-US" sz="1200" dirty="0"/>
            </a:p>
          </p:txBody>
        </p:sp>
      </p:grpSp>
      <p:sp>
        <p:nvSpPr>
          <p:cNvPr id="28" name="Textfeld 27">
            <a:extLst>
              <a:ext uri="{FF2B5EF4-FFF2-40B4-BE49-F238E27FC236}">
                <a16:creationId xmlns:a16="http://schemas.microsoft.com/office/drawing/2014/main" id="{2C1F35D9-F88E-E5AD-2F91-B2A105800910}"/>
              </a:ext>
            </a:extLst>
          </p:cNvPr>
          <p:cNvSpPr txBox="1"/>
          <p:nvPr/>
        </p:nvSpPr>
        <p:spPr>
          <a:xfrm>
            <a:off x="5963430" y="5704817"/>
            <a:ext cx="785793" cy="512448"/>
          </a:xfrm>
          <a:prstGeom prst="rect">
            <a:avLst/>
          </a:prstGeom>
          <a:noFill/>
        </p:spPr>
        <p:txBody>
          <a:bodyPr wrap="none" rtlCol="0">
            <a:spAutoFit/>
          </a:bodyPr>
          <a:lstStyle/>
          <a:p>
            <a:pPr algn="ctr">
              <a:lnSpc>
                <a:spcPct val="105000"/>
              </a:lnSpc>
            </a:pPr>
            <a:r>
              <a:rPr lang="de-DE" sz="2600" b="1" dirty="0">
                <a:solidFill>
                  <a:srgbClr val="F2EFDA"/>
                </a:solidFill>
                <a:latin typeface="Courier New" pitchFamily="34" charset="0"/>
                <a:cs typeface="Courier New" pitchFamily="34" charset="-120"/>
              </a:rPr>
              <a:t>für</a:t>
            </a:r>
          </a:p>
        </p:txBody>
      </p:sp>
      <p:grpSp>
        <p:nvGrpSpPr>
          <p:cNvPr id="29" name="Gruppieren 28">
            <a:extLst>
              <a:ext uri="{FF2B5EF4-FFF2-40B4-BE49-F238E27FC236}">
                <a16:creationId xmlns:a16="http://schemas.microsoft.com/office/drawing/2014/main" id="{6C1C221E-6FB7-3271-D5C6-B6E1DC4A6D23}"/>
              </a:ext>
            </a:extLst>
          </p:cNvPr>
          <p:cNvGrpSpPr/>
          <p:nvPr/>
        </p:nvGrpSpPr>
        <p:grpSpPr>
          <a:xfrm>
            <a:off x="8718609" y="5519300"/>
            <a:ext cx="1873549" cy="1008745"/>
            <a:chOff x="8718609" y="5519300"/>
            <a:chExt cx="1873549" cy="1008745"/>
          </a:xfrm>
        </p:grpSpPr>
        <p:sp>
          <p:nvSpPr>
            <p:cNvPr id="30" name="Text 19">
              <a:extLst>
                <a:ext uri="{FF2B5EF4-FFF2-40B4-BE49-F238E27FC236}">
                  <a16:creationId xmlns:a16="http://schemas.microsoft.com/office/drawing/2014/main" id="{1AE2473C-B7A2-2207-665E-9BAAD252072C}"/>
                </a:ext>
              </a:extLst>
            </p:cNvPr>
            <p:cNvSpPr/>
            <p:nvPr/>
          </p:nvSpPr>
          <p:spPr>
            <a:xfrm>
              <a:off x="8718609" y="5519300"/>
              <a:ext cx="1865766" cy="749273"/>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7</a:t>
              </a:r>
              <a:endParaRPr lang="en-US" sz="2600" dirty="0"/>
            </a:p>
          </p:txBody>
        </p:sp>
        <p:sp>
          <p:nvSpPr>
            <p:cNvPr id="31" name="Text 20">
              <a:extLst>
                <a:ext uri="{FF2B5EF4-FFF2-40B4-BE49-F238E27FC236}">
                  <a16:creationId xmlns:a16="http://schemas.microsoft.com/office/drawing/2014/main" id="{A1A564CE-8E71-DD8B-87F8-CDF31163B294}"/>
                </a:ext>
              </a:extLst>
            </p:cNvPr>
            <p:cNvSpPr/>
            <p:nvPr/>
          </p:nvSpPr>
          <p:spPr>
            <a:xfrm>
              <a:off x="8726392" y="6003293"/>
              <a:ext cx="1865766" cy="524752"/>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endParaRPr lang="en-US" sz="1200" dirty="0"/>
            </a:p>
          </p:txBody>
        </p:sp>
      </p:grpSp>
      <p:grpSp>
        <p:nvGrpSpPr>
          <p:cNvPr id="32" name="Gruppieren 31">
            <a:extLst>
              <a:ext uri="{FF2B5EF4-FFF2-40B4-BE49-F238E27FC236}">
                <a16:creationId xmlns:a16="http://schemas.microsoft.com/office/drawing/2014/main" id="{5EBC6BB1-3EDE-06E1-17F2-1C832E96B1DF}"/>
              </a:ext>
            </a:extLst>
          </p:cNvPr>
          <p:cNvGrpSpPr/>
          <p:nvPr/>
        </p:nvGrpSpPr>
        <p:grpSpPr>
          <a:xfrm>
            <a:off x="9880267" y="5519300"/>
            <a:ext cx="1873941" cy="1018172"/>
            <a:chOff x="9880267" y="5519300"/>
            <a:chExt cx="1873941" cy="1018172"/>
          </a:xfrm>
        </p:grpSpPr>
        <p:sp>
          <p:nvSpPr>
            <p:cNvPr id="33" name="Text 19">
              <a:extLst>
                <a:ext uri="{FF2B5EF4-FFF2-40B4-BE49-F238E27FC236}">
                  <a16:creationId xmlns:a16="http://schemas.microsoft.com/office/drawing/2014/main" id="{BE5A3158-8EE3-0630-615B-BF40EE7A2F2C}"/>
                </a:ext>
              </a:extLst>
            </p:cNvPr>
            <p:cNvSpPr/>
            <p:nvPr/>
          </p:nvSpPr>
          <p:spPr>
            <a:xfrm>
              <a:off x="9880267" y="5519300"/>
              <a:ext cx="1865766" cy="749273"/>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932</a:t>
              </a:r>
              <a:endParaRPr lang="en-US" sz="2600" dirty="0"/>
            </a:p>
          </p:txBody>
        </p:sp>
        <p:sp>
          <p:nvSpPr>
            <p:cNvPr id="34" name="Text 20">
              <a:extLst>
                <a:ext uri="{FF2B5EF4-FFF2-40B4-BE49-F238E27FC236}">
                  <a16:creationId xmlns:a16="http://schemas.microsoft.com/office/drawing/2014/main" id="{84F1AE26-EBDD-15E1-7B5C-ACD347A5B51C}"/>
                </a:ext>
              </a:extLst>
            </p:cNvPr>
            <p:cNvSpPr/>
            <p:nvPr/>
          </p:nvSpPr>
          <p:spPr>
            <a:xfrm>
              <a:off x="9888442" y="6012720"/>
              <a:ext cx="1865766" cy="524752"/>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Unternehmen</a:t>
              </a:r>
              <a:endParaRPr lang="en-US" sz="1200" dirty="0"/>
            </a:p>
          </p:txBody>
        </p:sp>
      </p:grpSp>
      <mc:AlternateContent xmlns:mc="http://schemas.openxmlformats.org/markup-compatibility/2006">
        <mc:Choice xmlns:a14="http://schemas.microsoft.com/office/drawing/2010/main" Requires="a14">
          <p:sp>
            <p:nvSpPr>
              <p:cNvPr id="15" name="Text 5">
                <a:extLst>
                  <a:ext uri="{FF2B5EF4-FFF2-40B4-BE49-F238E27FC236}">
                    <a16:creationId xmlns:a16="http://schemas.microsoft.com/office/drawing/2014/main" id="{46A8EF8F-C624-FA76-5BD4-923FC1C4789A}"/>
                  </a:ext>
                </a:extLst>
              </p:cNvPr>
              <p:cNvSpPr/>
              <p:nvPr/>
            </p:nvSpPr>
            <p:spPr>
              <a:xfrm>
                <a:off x="1432000" y="5565287"/>
                <a:ext cx="3619196" cy="761695"/>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r>
                        <m:rPr>
                          <m:nor/>
                        </m:rPr>
                        <a:rPr lang="de-DE" sz="2000" b="0" i="0" dirty="0">
                          <a:solidFill>
                            <a:srgbClr val="78A2F9"/>
                          </a:solidFill>
                          <a:latin typeface="Courier New" pitchFamily="34" charset="0"/>
                          <a:ea typeface="Courier New" pitchFamily="34" charset="-122"/>
                          <a:cs typeface="Courier New" pitchFamily="34" charset="-120"/>
                        </a:rPr>
                        <m:t>𝜎</m:t>
                      </m:r>
                      <m:r>
                        <a:rPr lang="de-DE" sz="2000" b="1" smtClean="0">
                          <a:solidFill>
                            <a:srgbClr val="F3EFDA"/>
                          </a:solidFill>
                          <a:latin typeface="Cambria Math" panose="02040503050406030204" pitchFamily="18" charset="0"/>
                          <a:ea typeface="Courier New" pitchFamily="34" charset="-122"/>
                          <a:cs typeface="Courier New" pitchFamily="34" charset="-120"/>
                        </a:rPr>
                        <m:t>=</m:t>
                      </m:r>
                      <m:rad>
                        <m:radPr>
                          <m:degHide m:val="on"/>
                          <m:ctrlPr>
                            <a:rPr lang="de-DE" sz="2000" b="1" i="1" smtClean="0">
                              <a:solidFill>
                                <a:srgbClr val="F3EFDA"/>
                              </a:solidFill>
                              <a:latin typeface="Cambria Math" panose="02040503050406030204" pitchFamily="18" charset="0"/>
                              <a:ea typeface="Courier New" pitchFamily="34" charset="-122"/>
                              <a:cs typeface="Courier New" pitchFamily="34" charset="-120"/>
                            </a:rPr>
                          </m:ctrlPr>
                        </m:radPr>
                        <m:deg/>
                        <m:e>
                          <m:f>
                            <m:fPr>
                              <m:ctrlPr>
                                <a:rPr lang="de-DE" sz="2000" b="1" i="1">
                                  <a:solidFill>
                                    <a:srgbClr val="F3EFDA"/>
                                  </a:solidFill>
                                  <a:latin typeface="Cambria Math" panose="02040503050406030204" pitchFamily="18" charset="0"/>
                                  <a:ea typeface="Courier New" pitchFamily="34" charset="-122"/>
                                  <a:cs typeface="Courier New" pitchFamily="34" charset="-120"/>
                                </a:rPr>
                              </m:ctrlPr>
                            </m:fPr>
                            <m:num>
                              <m:r>
                                <a:rPr lang="de-DE" sz="2000" b="1">
                                  <a:solidFill>
                                    <a:srgbClr val="F3EFDA"/>
                                  </a:solidFill>
                                  <a:latin typeface="Cambria Math" panose="02040503050406030204" pitchFamily="18" charset="0"/>
                                  <a:ea typeface="Courier New" pitchFamily="34" charset="-122"/>
                                  <a:cs typeface="Courier New" pitchFamily="34" charset="-120"/>
                                </a:rPr>
                                <m:t>1</m:t>
                              </m:r>
                            </m:num>
                            <m:den>
                              <m:r>
                                <a:rPr lang="de-DE" sz="2000" b="1">
                                  <a:solidFill>
                                    <a:srgbClr val="F3EFDA"/>
                                  </a:solidFill>
                                  <a:latin typeface="Cambria Math" panose="02040503050406030204" pitchFamily="18" charset="0"/>
                                  <a:ea typeface="Courier New" pitchFamily="34" charset="-122"/>
                                  <a:cs typeface="Courier New" pitchFamily="34" charset="-120"/>
                                </a:rPr>
                                <m:t>𝑛</m:t>
                              </m:r>
                              <m:r>
                                <a:rPr lang="de-DE" sz="2000" b="1">
                                  <a:solidFill>
                                    <a:srgbClr val="F3EFDA"/>
                                  </a:solidFill>
                                  <a:latin typeface="Cambria Math" panose="02040503050406030204" pitchFamily="18" charset="0"/>
                                  <a:ea typeface="Courier New" pitchFamily="34" charset="-122"/>
                                  <a:cs typeface="Courier New" pitchFamily="34" charset="-120"/>
                                </a:rPr>
                                <m:t>−1</m:t>
                              </m:r>
                            </m:den>
                          </m:f>
                          <m:nary>
                            <m:naryPr>
                              <m:chr m:val="∑"/>
                              <m:grow m:val="on"/>
                              <m:ctrlPr>
                                <a:rPr lang="de-DE" sz="2000" b="1" i="1">
                                  <a:solidFill>
                                    <a:srgbClr val="F3EFDA"/>
                                  </a:solidFill>
                                  <a:latin typeface="Cambria Math" panose="02040503050406030204" pitchFamily="18" charset="0"/>
                                  <a:ea typeface="Courier New" pitchFamily="34" charset="-122"/>
                                  <a:cs typeface="Courier New" pitchFamily="34" charset="-120"/>
                                </a:rPr>
                              </m:ctrlPr>
                            </m:naryPr>
                            <m:sub>
                              <m:r>
                                <a:rPr lang="de-DE" sz="2000" b="1">
                                  <a:solidFill>
                                    <a:srgbClr val="F3EFDA"/>
                                  </a:solidFill>
                                  <a:latin typeface="Cambria Math" panose="02040503050406030204" pitchFamily="18" charset="0"/>
                                  <a:ea typeface="Courier New" pitchFamily="34" charset="-122"/>
                                  <a:cs typeface="Courier New" pitchFamily="34" charset="-120"/>
                                </a:rPr>
                                <m:t>𝑡</m:t>
                              </m:r>
                              <m:r>
                                <a:rPr lang="de-DE" sz="2000" b="1">
                                  <a:solidFill>
                                    <a:srgbClr val="F3EFDA"/>
                                  </a:solidFill>
                                  <a:latin typeface="Cambria Math" panose="02040503050406030204" pitchFamily="18" charset="0"/>
                                  <a:ea typeface="Courier New" pitchFamily="34" charset="-122"/>
                                  <a:cs typeface="Courier New" pitchFamily="34" charset="-120"/>
                                </a:rPr>
                                <m:t>=2</m:t>
                              </m:r>
                            </m:sub>
                            <m:sup>
                              <m:r>
                                <a:rPr lang="de-DE" sz="2000" b="1">
                                  <a:solidFill>
                                    <a:srgbClr val="F3EFDA"/>
                                  </a:solidFill>
                                  <a:latin typeface="Cambria Math" panose="02040503050406030204" pitchFamily="18" charset="0"/>
                                  <a:ea typeface="Courier New" pitchFamily="34" charset="-122"/>
                                  <a:cs typeface="Courier New" pitchFamily="34" charset="-120"/>
                                </a:rPr>
                                <m:t>𝑛</m:t>
                              </m:r>
                            </m:sup>
                            <m:e>
                              <m:r>
                                <a:rPr lang="de-DE" sz="2000" b="1">
                                  <a:solidFill>
                                    <a:srgbClr val="F3EFDA"/>
                                  </a:solidFill>
                                  <a:latin typeface="Cambria Math" panose="02040503050406030204" pitchFamily="18" charset="0"/>
                                  <a:ea typeface="Courier New" pitchFamily="34" charset="-122"/>
                                  <a:cs typeface="Courier New" pitchFamily="34" charset="-120"/>
                                </a:rPr>
                                <m:t>(</m:t>
                              </m:r>
                            </m:e>
                          </m:nary>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𝛥</m:t>
                              </m:r>
                              <m:sSub>
                                <m:sSubPr>
                                  <m:ctrlPr>
                                    <a:rPr lang="de-DE" sz="2000" b="1" i="1">
                                      <a:solidFill>
                                        <a:srgbClr val="F3EFDA"/>
                                      </a:solidFill>
                                      <a:latin typeface="Cambria Math" panose="02040503050406030204" pitchFamily="18" charset="0"/>
                                      <a:ea typeface="Courier New" pitchFamily="34" charset="-122"/>
                                      <a:cs typeface="Courier New" pitchFamily="34" charset="-120"/>
                                    </a:rPr>
                                  </m:ctrlPr>
                                </m:sSubPr>
                                <m:e>
                                  <m:r>
                                    <a:rPr lang="de-DE" sz="2000" b="1">
                                      <a:solidFill>
                                        <a:srgbClr val="F3EFDA"/>
                                      </a:solidFill>
                                      <a:latin typeface="Cambria Math" panose="02040503050406030204" pitchFamily="18" charset="0"/>
                                      <a:ea typeface="Courier New" pitchFamily="34" charset="-122"/>
                                      <a:cs typeface="Courier New" pitchFamily="34" charset="-120"/>
                                    </a:rPr>
                                    <m:t>𝑦</m:t>
                                  </m:r>
                                </m:e>
                                <m:sub>
                                  <m:r>
                                    <a:rPr lang="de-DE" sz="2000" b="1">
                                      <a:solidFill>
                                        <a:srgbClr val="F3EFDA"/>
                                      </a:solidFill>
                                      <a:latin typeface="Cambria Math" panose="02040503050406030204" pitchFamily="18" charset="0"/>
                                      <a:ea typeface="Courier New" pitchFamily="34" charset="-122"/>
                                      <a:cs typeface="Courier New" pitchFamily="34" charset="-120"/>
                                    </a:rPr>
                                    <m:t>𝑡</m:t>
                                  </m:r>
                                </m:sub>
                              </m:sSub>
                              <m:r>
                                <a:rPr lang="de-DE" sz="2000" b="1">
                                  <a:solidFill>
                                    <a:srgbClr val="F3EFDA"/>
                                  </a:solidFill>
                                  <a:latin typeface="Cambria Math" panose="02040503050406030204" pitchFamily="18" charset="0"/>
                                  <a:ea typeface="Courier New" pitchFamily="34" charset="-122"/>
                                  <a:cs typeface="Courier New" pitchFamily="34" charset="-120"/>
                                </a:rPr>
                                <m:t>−</m:t>
                              </m:r>
                              <m:acc>
                                <m:accPr>
                                  <m:chr m:val="̄"/>
                                  <m:ctrlPr>
                                    <a:rPr lang="de-DE" sz="2000" b="1" i="1">
                                      <a:solidFill>
                                        <a:srgbClr val="F3EFDA"/>
                                      </a:solidFill>
                                      <a:latin typeface="Cambria Math" panose="02040503050406030204" pitchFamily="18" charset="0"/>
                                      <a:ea typeface="Courier New" pitchFamily="34" charset="-122"/>
                                      <a:cs typeface="Courier New" pitchFamily="34" charset="-120"/>
                                    </a:rPr>
                                  </m:ctrlPr>
                                </m:accPr>
                                <m:e>
                                  <m:r>
                                    <a:rPr lang="de-DE" sz="2000" b="1">
                                      <a:solidFill>
                                        <a:srgbClr val="F3EFDA"/>
                                      </a:solidFill>
                                      <a:latin typeface="Cambria Math" panose="02040503050406030204" pitchFamily="18" charset="0"/>
                                      <a:ea typeface="Courier New" pitchFamily="34" charset="-122"/>
                                      <a:cs typeface="Courier New" pitchFamily="34" charset="-120"/>
                                    </a:rPr>
                                    <m:t>𝛥</m:t>
                                  </m:r>
                                  <m:r>
                                    <a:rPr lang="de-DE" sz="2000" b="1">
                                      <a:solidFill>
                                        <a:srgbClr val="F3EFDA"/>
                                      </a:solidFill>
                                      <a:latin typeface="Cambria Math" panose="02040503050406030204" pitchFamily="18" charset="0"/>
                                      <a:ea typeface="Courier New" pitchFamily="34" charset="-122"/>
                                      <a:cs typeface="Courier New" pitchFamily="34" charset="-120"/>
                                    </a:rPr>
                                    <m:t>𝑦</m:t>
                                  </m:r>
                                </m:e>
                              </m:acc>
                              <m:sSup>
                                <m:sSupPr>
                                  <m:ctrlPr>
                                    <a:rPr lang="de-DE" sz="2000" b="1" i="1">
                                      <a:solidFill>
                                        <a:srgbClr val="F3EFDA"/>
                                      </a:solidFill>
                                      <a:latin typeface="Cambria Math" panose="02040503050406030204" pitchFamily="18" charset="0"/>
                                      <a:ea typeface="Courier New" pitchFamily="34" charset="-122"/>
                                      <a:cs typeface="Courier New" pitchFamily="34" charset="-120"/>
                                    </a:rPr>
                                  </m:ctrlPr>
                                </m:sSupPr>
                                <m:e>
                                  <m:d>
                                    <m:dPr>
                                      <m:begChr m:val=""/>
                                      <m:endChr m:val=""/>
                                      <m:ctrlPr>
                                        <a:rPr lang="de-DE" sz="2000" b="1" i="1">
                                          <a:solidFill>
                                            <a:srgbClr val="F3EFDA"/>
                                          </a:solidFill>
                                          <a:latin typeface="Cambria Math" panose="02040503050406030204" pitchFamily="18" charset="0"/>
                                          <a:ea typeface="Courier New" pitchFamily="34" charset="-122"/>
                                          <a:cs typeface="Courier New" pitchFamily="34" charset="-120"/>
                                        </a:rPr>
                                      </m:ctrlPr>
                                    </m:dPr>
                                    <m:e>
                                      <m:r>
                                        <a:rPr lang="de-DE" sz="2000" b="1">
                                          <a:solidFill>
                                            <a:srgbClr val="F3EFDA"/>
                                          </a:solidFill>
                                          <a:latin typeface="Cambria Math" panose="02040503050406030204" pitchFamily="18" charset="0"/>
                                          <a:ea typeface="Courier New" pitchFamily="34" charset="-122"/>
                                          <a:cs typeface="Courier New" pitchFamily="34" charset="-120"/>
                                        </a:rPr>
                                        <m:t>)</m:t>
                                      </m:r>
                                    </m:e>
                                  </m:d>
                                </m:e>
                                <m:sup>
                                  <m:r>
                                    <a:rPr lang="de-DE" sz="2000" b="1">
                                      <a:solidFill>
                                        <a:srgbClr val="F3EFDA"/>
                                      </a:solidFill>
                                      <a:latin typeface="Cambria Math" panose="02040503050406030204" pitchFamily="18" charset="0"/>
                                      <a:ea typeface="Courier New" pitchFamily="34" charset="-122"/>
                                      <a:cs typeface="Courier New" pitchFamily="34" charset="-120"/>
                                    </a:rPr>
                                    <m:t>2</m:t>
                                  </m:r>
                                </m:sup>
                              </m:sSup>
                            </m:e>
                          </m:d>
                        </m:e>
                      </m:rad>
                    </m:oMath>
                  </m:oMathPara>
                </a14:m>
                <a:endParaRPr lang="en-US" sz="2000" b="1" dirty="0">
                  <a:solidFill>
                    <a:srgbClr val="78A2F9"/>
                  </a:solidFill>
                  <a:latin typeface="Courier New" pitchFamily="34" charset="0"/>
                  <a:ea typeface="Courier New" pitchFamily="34" charset="-122"/>
                  <a:cs typeface="Courier New" pitchFamily="34" charset="-120"/>
                </a:endParaRPr>
              </a:p>
            </p:txBody>
          </p:sp>
        </mc:Choice>
        <mc:Fallback>
          <p:sp>
            <p:nvSpPr>
              <p:cNvPr id="15" name="Text 5">
                <a:extLst>
                  <a:ext uri="{FF2B5EF4-FFF2-40B4-BE49-F238E27FC236}">
                    <a16:creationId xmlns:a16="http://schemas.microsoft.com/office/drawing/2014/main" id="{46A8EF8F-C624-FA76-5BD4-923FC1C4789A}"/>
                  </a:ext>
                </a:extLst>
              </p:cNvPr>
              <p:cNvSpPr>
                <a:spLocks noRot="1" noChangeAspect="1" noMove="1" noResize="1" noEditPoints="1" noAdjustHandles="1" noChangeArrowheads="1" noChangeShapeType="1" noTextEdit="1"/>
              </p:cNvSpPr>
              <p:nvPr/>
            </p:nvSpPr>
            <p:spPr>
              <a:xfrm>
                <a:off x="1432000" y="5565287"/>
                <a:ext cx="3619196" cy="761695"/>
              </a:xfrm>
              <a:prstGeom prst="rect">
                <a:avLst/>
              </a:prstGeom>
              <a:blipFill>
                <a:blip r:embed="rId3"/>
                <a:stretch>
                  <a:fillRect t="-132787" b="-204918"/>
                </a:stretch>
              </a:blipFill>
              <a:ln/>
            </p:spPr>
            <p:txBody>
              <a:bodyPr/>
              <a:lstStyle/>
              <a:p>
                <a:r>
                  <a:rPr lang="de-DE">
                    <a:noFill/>
                  </a:rPr>
                  <a:t> </a:t>
                </a:r>
              </a:p>
            </p:txBody>
          </p:sp>
        </mc:Fallback>
      </mc:AlternateContent>
      <p:graphicFrame>
        <p:nvGraphicFramePr>
          <p:cNvPr id="36" name="Zeitreihen-Chart">
            <a:extLst>
              <a:ext uri="{FF2B5EF4-FFF2-40B4-BE49-F238E27FC236}">
                <a16:creationId xmlns:a16="http://schemas.microsoft.com/office/drawing/2014/main" id="{0C8DE589-0BBE-51AF-0D88-BA8B2B24FBBA}"/>
              </a:ext>
            </a:extLst>
          </p:cNvPr>
          <p:cNvGraphicFramePr/>
          <p:nvPr/>
        </p:nvGraphicFramePr>
        <p:xfrm>
          <a:off x="634187" y="1529674"/>
          <a:ext cx="10922000" cy="2921000"/>
        </p:xfrm>
        <a:graphic>
          <a:graphicData uri="http://schemas.openxmlformats.org/drawingml/2006/chart">
            <c:chart xmlns:c="http://schemas.openxmlformats.org/drawingml/2006/chart" xmlns:r="http://schemas.openxmlformats.org/officeDocument/2006/relationships" r:id="rId4"/>
          </a:graphicData>
        </a:graphic>
      </p:graphicFrame>
      <p:cxnSp>
        <p:nvCxnSpPr>
          <p:cNvPr id="37" name="Linie_Mittelwert_Phi">
            <a:extLst>
              <a:ext uri="{FF2B5EF4-FFF2-40B4-BE49-F238E27FC236}">
                <a16:creationId xmlns:a16="http://schemas.microsoft.com/office/drawing/2014/main" id="{9F4F457C-2636-E957-2735-02002288E7BA}"/>
              </a:ext>
            </a:extLst>
          </p:cNvPr>
          <p:cNvCxnSpPr/>
          <p:nvPr/>
        </p:nvCxnSpPr>
        <p:spPr>
          <a:xfrm>
            <a:off x="1341687" y="3266802"/>
            <a:ext cx="10033000" cy="0"/>
          </a:xfrm>
          <a:prstGeom prst="line">
            <a:avLst/>
          </a:prstGeom>
          <a:ln w="12700" cap="rnd">
            <a:solidFill>
              <a:srgbClr val="E6D34F"/>
            </a:solidFill>
            <a:prstDash val="dash"/>
          </a:ln>
        </p:spPr>
      </p:cxnSp>
      <mc:AlternateContent xmlns:mc="http://schemas.openxmlformats.org/markup-compatibility/2006">
        <mc:Choice xmlns:a14="http://schemas.microsoft.com/office/drawing/2010/main" Requires="a14">
          <p:sp>
            <p:nvSpPr>
              <p:cNvPr id="41" name="Label_Mittelwert_Phi">
                <a:extLst>
                  <a:ext uri="{FF2B5EF4-FFF2-40B4-BE49-F238E27FC236}">
                    <a16:creationId xmlns:a16="http://schemas.microsoft.com/office/drawing/2014/main" id="{AFEAFC05-8BF3-8A7E-3EBF-D2FC5D27D532}"/>
                  </a:ext>
                </a:extLst>
              </p:cNvPr>
              <p:cNvSpPr txBox="1"/>
              <p:nvPr/>
            </p:nvSpPr>
            <p:spPr>
              <a:xfrm>
                <a:off x="11232060" y="3098936"/>
                <a:ext cx="610299" cy="378639"/>
              </a:xfrm>
              <a:prstGeom prst="rect">
                <a:avLst/>
              </a:prstGeom>
              <a:noFill/>
            </p:spPr>
            <p:txBody>
              <a:bodyPr wrap="none" lIns="0" tIns="0" rIns="0" bIns="0" anchor="ctr"/>
              <a:lstStyle/>
              <a:p>
                <a:pPr algn="r"/>
                <a14:m>
                  <m:oMathPara xmlns:m="http://schemas.openxmlformats.org/officeDocument/2006/math">
                    <m:oMathParaPr>
                      <m:jc m:val="centerGroup"/>
                    </m:oMathParaPr>
                    <m:oMath xmlns:m="http://schemas.openxmlformats.org/officeDocument/2006/math">
                      <m:acc>
                        <m:accPr>
                          <m:chr m:val="̄"/>
                          <m:ctrlPr>
                            <a:rPr lang="de-DE" b="1">
                              <a:solidFill>
                                <a:srgbClr val="E6D34F"/>
                              </a:solidFill>
                              <a:latin typeface="Cambria Math" panose="02040503050406030204" pitchFamily="18" charset="0"/>
                            </a:rPr>
                          </m:ctrlPr>
                        </m:accPr>
                        <m:e>
                          <m:r>
                            <a:rPr lang="de-DE" b="1">
                              <a:solidFill>
                                <a:srgbClr val="E6D34F"/>
                              </a:solidFill>
                              <a:latin typeface="Cambria Math" panose="02040503050406030204" pitchFamily="18" charset="0"/>
                            </a:rPr>
                            <m:t>𝛥</m:t>
                          </m:r>
                          <m:r>
                            <a:rPr lang="de-DE" b="1">
                              <a:solidFill>
                                <a:srgbClr val="E6D34F"/>
                              </a:solidFill>
                              <a:latin typeface="Cambria Math" panose="02040503050406030204" pitchFamily="18" charset="0"/>
                            </a:rPr>
                            <m:t>𝑦</m:t>
                          </m:r>
                        </m:e>
                      </m:acc>
                    </m:oMath>
                  </m:oMathPara>
                </a14:m>
                <a:endParaRPr lang="de-DE" b="1" dirty="0">
                  <a:solidFill>
                    <a:srgbClr val="E6D34F"/>
                  </a:solidFill>
                  <a:latin typeface="Cambria Math" panose="02040503050406030204" pitchFamily="18" charset="0"/>
                </a:endParaRPr>
              </a:p>
            </p:txBody>
          </p:sp>
        </mc:Choice>
        <mc:Fallback>
          <p:sp>
            <p:nvSpPr>
              <p:cNvPr id="41" name="Label_Mittelwert_Phi">
                <a:extLst>
                  <a:ext uri="{FF2B5EF4-FFF2-40B4-BE49-F238E27FC236}">
                    <a16:creationId xmlns:a16="http://schemas.microsoft.com/office/drawing/2014/main" id="{AFEAFC05-8BF3-8A7E-3EBF-D2FC5D27D532}"/>
                  </a:ext>
                </a:extLst>
              </p:cNvPr>
              <p:cNvSpPr txBox="1">
                <a:spLocks noRot="1" noChangeAspect="1" noMove="1" noResize="1" noEditPoints="1" noAdjustHandles="1" noChangeArrowheads="1" noChangeShapeType="1" noTextEdit="1"/>
              </p:cNvSpPr>
              <p:nvPr/>
            </p:nvSpPr>
            <p:spPr>
              <a:xfrm>
                <a:off x="11232060" y="3098936"/>
                <a:ext cx="610299" cy="378639"/>
              </a:xfrm>
              <a:prstGeom prst="rect">
                <a:avLst/>
              </a:prstGeom>
              <a:blipFill>
                <a:blip r:embed="rId5"/>
                <a:stretch>
                  <a:fillRect b="-12903"/>
                </a:stretch>
              </a:blipFill>
            </p:spPr>
            <p:txBody>
              <a:bodyPr/>
              <a:lstStyle/>
              <a:p>
                <a:r>
                  <a:rPr lang="de-DE">
                    <a:noFill/>
                  </a:rPr>
                  <a:t> </a:t>
                </a:r>
              </a:p>
            </p:txBody>
          </p:sp>
        </mc:Fallback>
      </mc:AlternateContent>
      <p:sp>
        <p:nvSpPr>
          <p:cNvPr id="43" name="Textfeld 42">
            <a:extLst>
              <a:ext uri="{FF2B5EF4-FFF2-40B4-BE49-F238E27FC236}">
                <a16:creationId xmlns:a16="http://schemas.microsoft.com/office/drawing/2014/main" id="{4885313F-50B7-E329-17EE-1F28550D720F}"/>
              </a:ext>
            </a:extLst>
          </p:cNvPr>
          <p:cNvSpPr txBox="1"/>
          <p:nvPr/>
        </p:nvSpPr>
        <p:spPr>
          <a:xfrm rot="16200000">
            <a:off x="70944" y="2889995"/>
            <a:ext cx="957378" cy="338554"/>
          </a:xfrm>
          <a:prstGeom prst="rect">
            <a:avLst/>
          </a:prstGeom>
          <a:noFill/>
        </p:spPr>
        <p:txBody>
          <a:bodyPr wrap="none" rtlCol="0">
            <a:spAutoFit/>
          </a:bodyPr>
          <a:lstStyle/>
          <a:p>
            <a:r>
              <a:rPr lang="de-DE" sz="1600" b="1" dirty="0">
                <a:solidFill>
                  <a:srgbClr val="F2EFDA"/>
                </a:solidFill>
              </a:rPr>
              <a:t>Kennzahl</a:t>
            </a:r>
          </a:p>
        </p:txBody>
      </p:sp>
      <p:cxnSp>
        <p:nvCxnSpPr>
          <p:cNvPr id="20" name="Pfeil_Sigma_Amplitude">
            <a:extLst>
              <a:ext uri="{FF2B5EF4-FFF2-40B4-BE49-F238E27FC236}">
                <a16:creationId xmlns:a16="http://schemas.microsoft.com/office/drawing/2014/main" id="{8E0D388A-CBE1-9C2D-34B8-9286DBBAA726}"/>
              </a:ext>
            </a:extLst>
          </p:cNvPr>
          <p:cNvCxnSpPr>
            <a:cxnSpLocks/>
          </p:cNvCxnSpPr>
          <p:nvPr/>
        </p:nvCxnSpPr>
        <p:spPr>
          <a:xfrm>
            <a:off x="3759604" y="2580583"/>
            <a:ext cx="0" cy="623806"/>
          </a:xfrm>
          <a:prstGeom prst="line">
            <a:avLst/>
          </a:prstGeom>
          <a:ln w="19050" cap="rnd">
            <a:solidFill>
              <a:srgbClr val="E6D34F"/>
            </a:solidFill>
            <a:headEnd type="triangle" w="med" len="med"/>
            <a:tailEnd type="triangle" w="med" len="med"/>
          </a:ln>
        </p:spPr>
      </p:cxnSp>
      <p:cxnSp>
        <p:nvCxnSpPr>
          <p:cNvPr id="21" name="Hilfslinie_Sigma_Oben">
            <a:extLst>
              <a:ext uri="{FF2B5EF4-FFF2-40B4-BE49-F238E27FC236}">
                <a16:creationId xmlns:a16="http://schemas.microsoft.com/office/drawing/2014/main" id="{7BCCC8BC-B819-BDD5-BBA1-C1BDD7635CA8}"/>
              </a:ext>
            </a:extLst>
          </p:cNvPr>
          <p:cNvCxnSpPr/>
          <p:nvPr/>
        </p:nvCxnSpPr>
        <p:spPr>
          <a:xfrm>
            <a:off x="3625647" y="2513487"/>
            <a:ext cx="317500" cy="0"/>
          </a:xfrm>
          <a:prstGeom prst="line">
            <a:avLst/>
          </a:prstGeom>
          <a:ln w="9525" cap="rnd">
            <a:solidFill>
              <a:srgbClr val="E6D34F"/>
            </a:solidFill>
            <a:prstDash val="dash"/>
          </a:ln>
        </p:spPr>
      </p:cxnSp>
      <mc:AlternateContent xmlns:mc="http://schemas.openxmlformats.org/markup-compatibility/2006">
        <mc:Choice xmlns:a14="http://schemas.microsoft.com/office/drawing/2010/main" Requires="a14">
          <p:sp>
            <p:nvSpPr>
              <p:cNvPr id="23" name="Textfeld 22">
                <a:extLst>
                  <a:ext uri="{FF2B5EF4-FFF2-40B4-BE49-F238E27FC236}">
                    <a16:creationId xmlns:a16="http://schemas.microsoft.com/office/drawing/2014/main" id="{C87BF89A-9103-67D6-1DF8-54636BA18E65}"/>
                  </a:ext>
                </a:extLst>
              </p:cNvPr>
              <p:cNvSpPr txBox="1"/>
              <p:nvPr/>
            </p:nvSpPr>
            <p:spPr>
              <a:xfrm>
                <a:off x="3327916" y="1992887"/>
                <a:ext cx="961221" cy="371064"/>
              </a:xfrm>
              <a:prstGeom prst="rect">
                <a:avLst/>
              </a:prstGeom>
              <a:noFill/>
            </p:spPr>
            <p:txBody>
              <a:bodyPr wrap="none" lIns="0" tIns="0" rIns="0" bIns="0" anchor="ctr"/>
              <a:lstStyle>
                <a:lvl1pPr algn="ctr">
                  <a:defRPr b="1">
                    <a:solidFill>
                      <a:srgbClr val="E6D34F"/>
                    </a:solidFill>
                  </a:defRPr>
                </a:lvl1pPr>
              </a:lstStyle>
              <a:p>
                <a:pPr/>
                <a14:m>
                  <m:oMathPara xmlns:m="http://schemas.openxmlformats.org/officeDocument/2006/math">
                    <m:oMathParaPr>
                      <m:jc m:val="centerGroup"/>
                    </m:oMathParaPr>
                    <m:oMath xmlns:m="http://schemas.openxmlformats.org/officeDocument/2006/math">
                      <m:r>
                        <a:rPr lang="de-DE">
                          <a:latin typeface="Cambria Math" panose="02040503050406030204" pitchFamily="18" charset="0"/>
                        </a:rPr>
                        <m:t>𝛥</m:t>
                      </m:r>
                      <m:sSub>
                        <m:sSubPr>
                          <m:ctrlPr>
                            <a:rPr lang="de-DE" i="1">
                              <a:latin typeface="Cambria Math" panose="02040503050406030204" pitchFamily="18" charset="0"/>
                            </a:rPr>
                          </m:ctrlPr>
                        </m:sSubPr>
                        <m:e>
                          <m:r>
                            <a:rPr lang="de-DE">
                              <a:latin typeface="Cambria Math" panose="02040503050406030204" pitchFamily="18" charset="0"/>
                            </a:rPr>
                            <m:t>𝑦</m:t>
                          </m:r>
                        </m:e>
                        <m:sub>
                          <m:r>
                            <a:rPr lang="de-DE">
                              <a:latin typeface="Cambria Math" panose="02040503050406030204" pitchFamily="18" charset="0"/>
                            </a:rPr>
                            <m:t>𝑡</m:t>
                          </m:r>
                        </m:sub>
                      </m:sSub>
                      <m:r>
                        <a:rPr lang="de-DE">
                          <a:latin typeface="Cambria Math" panose="02040503050406030204" pitchFamily="18" charset="0"/>
                        </a:rPr>
                        <m:t>−</m:t>
                      </m:r>
                      <m:acc>
                        <m:accPr>
                          <m:chr m:val="̄"/>
                          <m:ctrlPr>
                            <a:rPr lang="de-DE" i="1">
                              <a:latin typeface="Cambria Math" panose="02040503050406030204" pitchFamily="18" charset="0"/>
                            </a:rPr>
                          </m:ctrlPr>
                        </m:accPr>
                        <m:e>
                          <m:r>
                            <a:rPr lang="de-DE">
                              <a:latin typeface="Cambria Math" panose="02040503050406030204" pitchFamily="18" charset="0"/>
                            </a:rPr>
                            <m:t>𝛥</m:t>
                          </m:r>
                          <m:r>
                            <a:rPr lang="de-DE">
                              <a:latin typeface="Cambria Math" panose="02040503050406030204" pitchFamily="18" charset="0"/>
                            </a:rPr>
                            <m:t>𝑦</m:t>
                          </m:r>
                        </m:e>
                      </m:acc>
                    </m:oMath>
                  </m:oMathPara>
                </a14:m>
                <a:endParaRPr lang="de-DE" dirty="0"/>
              </a:p>
            </p:txBody>
          </p:sp>
        </mc:Choice>
        <mc:Fallback>
          <p:sp>
            <p:nvSpPr>
              <p:cNvPr id="23" name="Textfeld 22">
                <a:extLst>
                  <a:ext uri="{FF2B5EF4-FFF2-40B4-BE49-F238E27FC236}">
                    <a16:creationId xmlns:a16="http://schemas.microsoft.com/office/drawing/2014/main" id="{C87BF89A-9103-67D6-1DF8-54636BA18E65}"/>
                  </a:ext>
                </a:extLst>
              </p:cNvPr>
              <p:cNvSpPr txBox="1">
                <a:spLocks noRot="1" noChangeAspect="1" noMove="1" noResize="1" noEditPoints="1" noAdjustHandles="1" noChangeArrowheads="1" noChangeShapeType="1" noTextEdit="1"/>
              </p:cNvSpPr>
              <p:nvPr/>
            </p:nvSpPr>
            <p:spPr>
              <a:xfrm>
                <a:off x="3327916" y="1992887"/>
                <a:ext cx="961221" cy="371064"/>
              </a:xfrm>
              <a:prstGeom prst="rect">
                <a:avLst/>
              </a:prstGeom>
              <a:blipFill>
                <a:blip r:embed="rId6"/>
                <a:stretch>
                  <a:fillRect l="-7895" r="-3947" b="-12903"/>
                </a:stretch>
              </a:blipFill>
            </p:spPr>
            <p:txBody>
              <a:bodyPr/>
              <a:lstStyle/>
              <a:p>
                <a:r>
                  <a:rPr lang="de-DE">
                    <a:noFill/>
                  </a:rPr>
                  <a:t> </a:t>
                </a:r>
              </a:p>
            </p:txBody>
          </p:sp>
        </mc:Fallback>
      </mc:AlternateContent>
    </p:spTree>
    <p:extLst>
      <p:ext uri="{BB962C8B-B14F-4D97-AF65-F5344CB8AC3E}">
        <p14:creationId xmlns:p14="http://schemas.microsoft.com/office/powerpoint/2010/main" val="256292543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par>
                                <p:cTn id="17" presetID="22" presetClass="entr" presetSubtype="8"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par>
                                <p:cTn id="23" presetID="22" presetClass="entr" presetSubtype="8"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22" presetClass="entr" presetSubtype="8"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1"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05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METHODIK</a:t>
            </a:r>
          </a:p>
        </p:txBody>
      </p:sp>
      <p:sp>
        <p:nvSpPr>
          <p:cNvPr id="34" name="Shape 12">
            <a:extLst>
              <a:ext uri="{FF2B5EF4-FFF2-40B4-BE49-F238E27FC236}">
                <a16:creationId xmlns:a16="http://schemas.microsoft.com/office/drawing/2014/main" id="{24307684-3263-A01D-89DE-A5FB50BAB70B}"/>
              </a:ext>
            </a:extLst>
          </p:cNvPr>
          <p:cNvSpPr/>
          <p:nvPr/>
        </p:nvSpPr>
        <p:spPr>
          <a:xfrm>
            <a:off x="6465620" y="13681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758B25B-3AB3-7352-18FD-624509E04F2F}"/>
              </a:ext>
            </a:extLst>
          </p:cNvPr>
          <p:cNvSpPr/>
          <p:nvPr/>
        </p:nvSpPr>
        <p:spPr>
          <a:xfrm>
            <a:off x="6500651" y="15860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0F6E75AC-BC04-351D-2E4F-F498A1E3A861}"/>
              </a:ext>
            </a:extLst>
          </p:cNvPr>
          <p:cNvSpPr/>
          <p:nvPr/>
        </p:nvSpPr>
        <p:spPr>
          <a:xfrm>
            <a:off x="6599840" y="16197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 und y- </a:t>
            </a:r>
            <a:r>
              <a:rPr lang="en-US" sz="1400" dirty="0" err="1">
                <a:solidFill>
                  <a:srgbClr val="F2EFDA"/>
                </a:solidFill>
                <a:latin typeface="Arial" pitchFamily="34" charset="0"/>
                <a:ea typeface="Arial" pitchFamily="34" charset="-122"/>
                <a:cs typeface="Arial" pitchFamily="34" charset="-120"/>
              </a:rPr>
              <a:t>Koordinate</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6464959" y="31458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D333D71B-7735-4E3B-E0A9-25B8FC061182}"/>
              </a:ext>
            </a:extLst>
          </p:cNvPr>
          <p:cNvSpPr/>
          <p:nvPr/>
        </p:nvSpPr>
        <p:spPr>
          <a:xfrm>
            <a:off x="6499990" y="33637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F9C655DB-7830-A7FF-D5A2-0E4F3ABB8791}"/>
              </a:ext>
            </a:extLst>
          </p:cNvPr>
          <p:cNvSpPr/>
          <p:nvPr/>
        </p:nvSpPr>
        <p:spPr>
          <a:xfrm>
            <a:off x="6524469" y="33973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Unterteilung</a:t>
            </a:r>
            <a:r>
              <a:rPr lang="en-US" sz="1400" dirty="0">
                <a:solidFill>
                  <a:srgbClr val="F2EFDA"/>
                </a:solidFill>
                <a:latin typeface="Arial" pitchFamily="34" charset="0"/>
                <a:ea typeface="Arial" pitchFamily="34" charset="-122"/>
                <a:cs typeface="Arial" pitchFamily="34" charset="-120"/>
              </a:rPr>
              <a:t> für </a:t>
            </a:r>
            <a:r>
              <a:rPr lang="en-US" sz="1400" dirty="0" err="1">
                <a:solidFill>
                  <a:srgbClr val="F2EFDA"/>
                </a:solidFill>
                <a:latin typeface="Arial" pitchFamily="34" charset="0"/>
                <a:ea typeface="Arial" pitchFamily="34" charset="-122"/>
                <a:cs typeface="Arial" pitchFamily="34" charset="-120"/>
              </a:rPr>
              <a:t>jede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Median-Split</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6464959" y="4955748"/>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44" name="Text 13">
            <a:extLst>
              <a:ext uri="{FF2B5EF4-FFF2-40B4-BE49-F238E27FC236}">
                <a16:creationId xmlns:a16="http://schemas.microsoft.com/office/drawing/2014/main" id="{BC43F0F2-B75D-F18B-705B-F8E91A32425B}"/>
              </a:ext>
            </a:extLst>
          </p:cNvPr>
          <p:cNvSpPr/>
          <p:nvPr/>
        </p:nvSpPr>
        <p:spPr>
          <a:xfrm>
            <a:off x="6499990" y="5173653"/>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3</a:t>
            </a:r>
            <a:endParaRPr lang="en-US" sz="1400"/>
          </a:p>
        </p:txBody>
      </p:sp>
      <p:sp>
        <p:nvSpPr>
          <p:cNvPr id="46" name="Text 15">
            <a:extLst>
              <a:ext uri="{FF2B5EF4-FFF2-40B4-BE49-F238E27FC236}">
                <a16:creationId xmlns:a16="http://schemas.microsoft.com/office/drawing/2014/main" id="{2F9779FA-E5BC-D265-7BD6-B12B84E76E69}"/>
              </a:ext>
            </a:extLst>
          </p:cNvPr>
          <p:cNvSpPr/>
          <p:nvPr/>
        </p:nvSpPr>
        <p:spPr>
          <a:xfrm>
            <a:off x="6524469" y="5207308"/>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Variation ρ² ≤ 6 %</a:t>
            </a:r>
            <a:endParaRPr lang="en-US" sz="1400" dirty="0"/>
          </a:p>
        </p:txBody>
      </p:sp>
      <p:sp>
        <p:nvSpPr>
          <p:cNvPr id="47" name="Shape 14">
            <a:extLst>
              <a:ext uri="{FF2B5EF4-FFF2-40B4-BE49-F238E27FC236}">
                <a16:creationId xmlns:a16="http://schemas.microsoft.com/office/drawing/2014/main" id="{97DFBAE3-357A-F11D-FA76-D410C78576F2}"/>
              </a:ext>
            </a:extLst>
          </p:cNvPr>
          <p:cNvSpPr/>
          <p:nvPr/>
        </p:nvSpPr>
        <p:spPr>
          <a:xfrm>
            <a:off x="6891119" y="17213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A9F28197-AC8F-5CCA-E246-4FC83BBCC1F3}"/>
              </a:ext>
            </a:extLst>
          </p:cNvPr>
          <p:cNvSpPr/>
          <p:nvPr/>
        </p:nvSpPr>
        <p:spPr>
          <a:xfrm>
            <a:off x="6889861" y="3512104"/>
            <a:ext cx="4427756" cy="18000"/>
          </a:xfrm>
          <a:prstGeom prst="rect">
            <a:avLst/>
          </a:prstGeom>
          <a:solidFill>
            <a:srgbClr val="DBDEE2"/>
          </a:solidFill>
          <a:ln/>
        </p:spPr>
        <p:txBody>
          <a:bodyPr/>
          <a:lstStyle/>
          <a:p>
            <a:endParaRPr lang="de-DE"/>
          </a:p>
        </p:txBody>
      </p:sp>
      <p:sp>
        <p:nvSpPr>
          <p:cNvPr id="49" name="Shape 14">
            <a:extLst>
              <a:ext uri="{FF2B5EF4-FFF2-40B4-BE49-F238E27FC236}">
                <a16:creationId xmlns:a16="http://schemas.microsoft.com/office/drawing/2014/main" id="{788F02BE-EE59-0DFB-3743-D055F98990BB}"/>
              </a:ext>
            </a:extLst>
          </p:cNvPr>
          <p:cNvSpPr/>
          <p:nvPr/>
        </p:nvSpPr>
        <p:spPr>
          <a:xfrm>
            <a:off x="6889861" y="5322016"/>
            <a:ext cx="4427756" cy="18000"/>
          </a:xfrm>
          <a:prstGeom prst="rect">
            <a:avLst/>
          </a:prstGeom>
          <a:solidFill>
            <a:srgbClr val="DBDEE2"/>
          </a:solidFill>
          <a:ln/>
        </p:spPr>
        <p:txBody>
          <a:bodyPr/>
          <a:lstStyle/>
          <a:p>
            <a:endParaRPr lang="de-DE"/>
          </a:p>
        </p:txBody>
      </p:sp>
      <p:grpSp>
        <p:nvGrpSpPr>
          <p:cNvPr id="7" name="Gruppieren 6">
            <a:extLst>
              <a:ext uri="{FF2B5EF4-FFF2-40B4-BE49-F238E27FC236}">
                <a16:creationId xmlns:a16="http://schemas.microsoft.com/office/drawing/2014/main" id="{355F7E1B-F184-1494-33E9-6B7FDE94BF12}"/>
              </a:ext>
            </a:extLst>
          </p:cNvPr>
          <p:cNvGrpSpPr/>
          <p:nvPr/>
        </p:nvGrpSpPr>
        <p:grpSpPr>
          <a:xfrm>
            <a:off x="341036" y="1509315"/>
            <a:ext cx="5779249" cy="4694390"/>
            <a:chOff x="341036" y="1509315"/>
            <a:chExt cx="5779249" cy="4694390"/>
          </a:xfrm>
        </p:grpSpPr>
        <p:sp>
          <p:nvSpPr>
            <p:cNvPr id="33" name="Shape 16">
              <a:extLst>
                <a:ext uri="{FF2B5EF4-FFF2-40B4-BE49-F238E27FC236}">
                  <a16:creationId xmlns:a16="http://schemas.microsoft.com/office/drawing/2014/main" id="{0EDC59D2-A420-643C-D8EA-9C0E9711EF60}"/>
                </a:ext>
              </a:extLst>
            </p:cNvPr>
            <p:cNvSpPr/>
            <p:nvPr/>
          </p:nvSpPr>
          <p:spPr>
            <a:xfrm>
              <a:off x="341036" y="1619701"/>
              <a:ext cx="5779249" cy="4584004"/>
            </a:xfrm>
            <a:prstGeom prst="roundRect">
              <a:avLst>
                <a:gd name="adj" fmla="val 3717"/>
              </a:avLst>
            </a:prstGeom>
            <a:solidFill>
              <a:srgbClr val="153B29"/>
            </a:solidFill>
            <a:ln w="12700">
              <a:solidFill>
                <a:srgbClr val="2B513D"/>
              </a:solidFill>
              <a:prstDash val="solid"/>
            </a:ln>
          </p:spPr>
          <p:txBody>
            <a:bodyPr/>
            <a:lstStyle/>
            <a:p>
              <a:endParaRPr lang="de-DE"/>
            </a:p>
          </p:txBody>
        </p:sp>
        <p:grpSp>
          <p:nvGrpSpPr>
            <p:cNvPr id="4" name="Gruppieren 3">
              <a:extLst>
                <a:ext uri="{FF2B5EF4-FFF2-40B4-BE49-F238E27FC236}">
                  <a16:creationId xmlns:a16="http://schemas.microsoft.com/office/drawing/2014/main" id="{F55B37CB-C036-7061-87B0-8835DD0E9D0B}"/>
                </a:ext>
              </a:extLst>
            </p:cNvPr>
            <p:cNvGrpSpPr>
              <a:grpSpLocks noChangeAspect="1"/>
            </p:cNvGrpSpPr>
            <p:nvPr/>
          </p:nvGrpSpPr>
          <p:grpSpPr>
            <a:xfrm>
              <a:off x="725364" y="1509315"/>
              <a:ext cx="4291933" cy="4474141"/>
              <a:chOff x="1310081" y="1802745"/>
              <a:chExt cx="3314157" cy="3454855"/>
            </a:xfrm>
          </p:grpSpPr>
          <p:sp>
            <p:nvSpPr>
              <p:cNvPr id="50" name="Shape 20">
                <a:extLst>
                  <a:ext uri="{FF2B5EF4-FFF2-40B4-BE49-F238E27FC236}">
                    <a16:creationId xmlns:a16="http://schemas.microsoft.com/office/drawing/2014/main" id="{43D0FA38-5B66-D1EB-7410-D66597F45441}"/>
                  </a:ext>
                </a:extLst>
              </p:cNvPr>
              <p:cNvSpPr/>
              <p:nvPr/>
            </p:nvSpPr>
            <p:spPr>
              <a:xfrm>
                <a:off x="1726794" y="2325431"/>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51" name="Text 21">
                <a:extLst>
                  <a:ext uri="{FF2B5EF4-FFF2-40B4-BE49-F238E27FC236}">
                    <a16:creationId xmlns:a16="http://schemas.microsoft.com/office/drawing/2014/main" id="{D68C807F-9DB3-C586-A8D5-A55B9B248FE3}"/>
                  </a:ext>
                </a:extLst>
              </p:cNvPr>
              <p:cNvSpPr/>
              <p:nvPr/>
            </p:nvSpPr>
            <p:spPr>
              <a:xfrm>
                <a:off x="1726794" y="2544122"/>
                <a:ext cx="1384402" cy="437080"/>
              </a:xfrm>
              <a:prstGeom prst="rect">
                <a:avLst/>
              </a:prstGeom>
              <a:noFill/>
              <a:ln/>
            </p:spPr>
            <p:txBody>
              <a:bodyPr wrap="square" rtlCol="0" anchor="t"/>
              <a:lstStyle/>
              <a:p>
                <a:pPr marL="0" indent="0" algn="ctr">
                  <a:lnSpc>
                    <a:spcPct val="105000"/>
                  </a:lnSpc>
                  <a:buNone/>
                </a:pPr>
                <a:r>
                  <a:rPr lang="en-US" sz="1200" b="1" kern="0" spc="100" dirty="0">
                    <a:solidFill>
                      <a:srgbClr val="6AA7F4"/>
                    </a:solidFill>
                    <a:latin typeface="Courier New" pitchFamily="34" charset="0"/>
                    <a:ea typeface="Courier New" pitchFamily="34" charset="-122"/>
                    <a:cs typeface="Courier New" pitchFamily="34" charset="-120"/>
                  </a:rPr>
                  <a:t>KORREKTIV-VOLATIL</a:t>
                </a:r>
                <a:endParaRPr lang="en-US" sz="1200" dirty="0"/>
              </a:p>
            </p:txBody>
          </p:sp>
          <p:sp>
            <p:nvSpPr>
              <p:cNvPr id="52" name="Text 22">
                <a:extLst>
                  <a:ext uri="{FF2B5EF4-FFF2-40B4-BE49-F238E27FC236}">
                    <a16:creationId xmlns:a16="http://schemas.microsoft.com/office/drawing/2014/main" id="{4F4D47BB-1E6E-389D-B9D7-BADF3844ECBC}"/>
                  </a:ext>
                </a:extLst>
              </p:cNvPr>
              <p:cNvSpPr/>
              <p:nvPr/>
            </p:nvSpPr>
            <p:spPr>
              <a:xfrm>
                <a:off x="1726793" y="3057845"/>
                <a:ext cx="1379722" cy="32015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3" name="Shape 23">
                <a:extLst>
                  <a:ext uri="{FF2B5EF4-FFF2-40B4-BE49-F238E27FC236}">
                    <a16:creationId xmlns:a16="http://schemas.microsoft.com/office/drawing/2014/main" id="{5C0E9600-EE8E-D8BE-0A4D-5EF6760D0953}"/>
                  </a:ext>
                </a:extLst>
              </p:cNvPr>
              <p:cNvSpPr/>
              <p:nvPr/>
            </p:nvSpPr>
            <p:spPr>
              <a:xfrm>
                <a:off x="3212694" y="2325431"/>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54" name="Text 24">
                <a:extLst>
                  <a:ext uri="{FF2B5EF4-FFF2-40B4-BE49-F238E27FC236}">
                    <a16:creationId xmlns:a16="http://schemas.microsoft.com/office/drawing/2014/main" id="{8B12939C-1556-5600-C571-E191A5A263CA}"/>
                  </a:ext>
                </a:extLst>
              </p:cNvPr>
              <p:cNvSpPr/>
              <p:nvPr/>
            </p:nvSpPr>
            <p:spPr>
              <a:xfrm>
                <a:off x="3219814" y="2549639"/>
                <a:ext cx="1384402" cy="455113"/>
              </a:xfrm>
              <a:prstGeom prst="rect">
                <a:avLst/>
              </a:prstGeom>
              <a:noFill/>
              <a:ln/>
            </p:spPr>
            <p:txBody>
              <a:bodyPr wrap="square" rtlCol="0" anchor="t"/>
              <a:lstStyle/>
              <a:p>
                <a:pPr marL="0" indent="0" algn="ctr">
                  <a:lnSpc>
                    <a:spcPct val="105000"/>
                  </a:lnSpc>
                  <a:buNone/>
                </a:pPr>
                <a:r>
                  <a:rPr lang="en-US" sz="1200" b="1" kern="0" spc="100" dirty="0">
                    <a:solidFill>
                      <a:srgbClr val="F36451"/>
                    </a:solidFill>
                    <a:latin typeface="Courier New" pitchFamily="34" charset="0"/>
                    <a:ea typeface="Courier New" pitchFamily="34" charset="-122"/>
                    <a:cs typeface="Courier New" pitchFamily="34" charset="-120"/>
                  </a:rPr>
                  <a:t>PERSISTENT-VOLATIL</a:t>
                </a:r>
                <a:endParaRPr lang="en-US" sz="1200" dirty="0"/>
              </a:p>
            </p:txBody>
          </p:sp>
          <p:sp>
            <p:nvSpPr>
              <p:cNvPr id="55" name="Text 25">
                <a:extLst>
                  <a:ext uri="{FF2B5EF4-FFF2-40B4-BE49-F238E27FC236}">
                    <a16:creationId xmlns:a16="http://schemas.microsoft.com/office/drawing/2014/main" id="{CD27CF29-98B7-ED80-4C33-9FD1BD39A197}"/>
                  </a:ext>
                </a:extLst>
              </p:cNvPr>
              <p:cNvSpPr/>
              <p:nvPr/>
            </p:nvSpPr>
            <p:spPr>
              <a:xfrm>
                <a:off x="3212694" y="3044687"/>
                <a:ext cx="1384402" cy="395849"/>
              </a:xfrm>
              <a:prstGeom prst="rect">
                <a:avLst/>
              </a:prstGeom>
              <a:noFill/>
              <a:ln/>
            </p:spPr>
            <p:txBody>
              <a:bodyPr wrap="square" rtlCol="0" anchor="t"/>
              <a:lstStyle/>
              <a:p>
                <a:pPr marL="0" indent="0" algn="ctr">
                  <a:lnSpc>
                    <a:spcPct val="105000"/>
                  </a:lnSpc>
                  <a:buNone/>
                </a:pPr>
                <a:r>
                  <a:rPr lang="en-US" sz="1050" dirty="0" err="1">
                    <a:solidFill>
                      <a:srgbClr val="B3BC9A"/>
                    </a:solidFill>
                    <a:latin typeface="Arial" pitchFamily="34" charset="0"/>
                    <a:ea typeface="Arial" pitchFamily="34" charset="-122"/>
                    <a:cs typeface="Arial" pitchFamily="34" charset="-120"/>
                  </a:rPr>
                  <a:t>Große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a:t>
                </a:r>
                <a:br>
                  <a:rPr lang="en-US" sz="1050" dirty="0">
                    <a:solidFill>
                      <a:srgbClr val="B3BC9A"/>
                    </a:solidFill>
                    <a:latin typeface="Arial" pitchFamily="34" charset="0"/>
                    <a:ea typeface="Arial" pitchFamily="34" charset="-122"/>
                    <a:cs typeface="Arial" pitchFamily="34" charset="-120"/>
                  </a:rPr>
                </a:b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6" name="Shape 26">
                <a:extLst>
                  <a:ext uri="{FF2B5EF4-FFF2-40B4-BE49-F238E27FC236}">
                    <a16:creationId xmlns:a16="http://schemas.microsoft.com/office/drawing/2014/main" id="{3B6F4360-4D96-FB1C-EF59-95A25FC882A4}"/>
                  </a:ext>
                </a:extLst>
              </p:cNvPr>
              <p:cNvSpPr/>
              <p:nvPr/>
            </p:nvSpPr>
            <p:spPr>
              <a:xfrm>
                <a:off x="1726794" y="3822906"/>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57" name="Text 27">
                <a:extLst>
                  <a:ext uri="{FF2B5EF4-FFF2-40B4-BE49-F238E27FC236}">
                    <a16:creationId xmlns:a16="http://schemas.microsoft.com/office/drawing/2014/main" id="{A5ACDA0C-E803-8DF9-11F1-6860DE609810}"/>
                  </a:ext>
                </a:extLst>
              </p:cNvPr>
              <p:cNvSpPr/>
              <p:nvPr/>
            </p:nvSpPr>
            <p:spPr>
              <a:xfrm>
                <a:off x="1733194" y="4030011"/>
                <a:ext cx="1371601" cy="382304"/>
              </a:xfrm>
              <a:prstGeom prst="rect">
                <a:avLst/>
              </a:prstGeom>
              <a:noFill/>
              <a:ln/>
            </p:spPr>
            <p:txBody>
              <a:bodyPr wrap="square" rtlCol="0" anchor="t"/>
              <a:lstStyle/>
              <a:p>
                <a:pPr marL="0" indent="0" algn="ctr">
                  <a:lnSpc>
                    <a:spcPct val="105000"/>
                  </a:lnSpc>
                  <a:buNone/>
                </a:pPr>
                <a:r>
                  <a:rPr lang="en-US" sz="1200" b="1" kern="0" spc="100" dirty="0">
                    <a:solidFill>
                      <a:srgbClr val="3EB977"/>
                    </a:solidFill>
                    <a:latin typeface="Courier New" pitchFamily="34" charset="0"/>
                    <a:ea typeface="Courier New" pitchFamily="34" charset="-122"/>
                    <a:cs typeface="Courier New" pitchFamily="34" charset="-120"/>
                  </a:rPr>
                  <a:t>KORREKTIV-</a:t>
                </a:r>
                <a:br>
                  <a:rPr lang="en-US" sz="1200" b="1" kern="0" spc="100" dirty="0">
                    <a:solidFill>
                      <a:srgbClr val="3EB977"/>
                    </a:solidFill>
                    <a:latin typeface="Courier New" pitchFamily="34" charset="0"/>
                    <a:ea typeface="Courier New" pitchFamily="34" charset="-122"/>
                    <a:cs typeface="Courier New" pitchFamily="34" charset="-120"/>
                  </a:rPr>
                </a:br>
                <a:r>
                  <a:rPr lang="en-US" sz="1200" b="1" kern="0" spc="100" dirty="0">
                    <a:solidFill>
                      <a:srgbClr val="3EB977"/>
                    </a:solidFill>
                    <a:latin typeface="Courier New" pitchFamily="34" charset="0"/>
                    <a:ea typeface="Courier New" pitchFamily="34" charset="-122"/>
                    <a:cs typeface="Courier New" pitchFamily="34" charset="-120"/>
                  </a:rPr>
                  <a:t>STABIL</a:t>
                </a:r>
                <a:endParaRPr lang="en-US" sz="1200" dirty="0"/>
              </a:p>
            </p:txBody>
          </p:sp>
          <p:sp>
            <p:nvSpPr>
              <p:cNvPr id="58" name="Text 28">
                <a:extLst>
                  <a:ext uri="{FF2B5EF4-FFF2-40B4-BE49-F238E27FC236}">
                    <a16:creationId xmlns:a16="http://schemas.microsoft.com/office/drawing/2014/main" id="{B2A24319-FA2F-99B4-BAC3-141988FD0074}"/>
                  </a:ext>
                </a:extLst>
              </p:cNvPr>
              <p:cNvSpPr/>
              <p:nvPr/>
            </p:nvSpPr>
            <p:spPr>
              <a:xfrm>
                <a:off x="1726793" y="4613919"/>
                <a:ext cx="1371601"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schnelle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59" name="Shape 29">
                <a:extLst>
                  <a:ext uri="{FF2B5EF4-FFF2-40B4-BE49-F238E27FC236}">
                    <a16:creationId xmlns:a16="http://schemas.microsoft.com/office/drawing/2014/main" id="{49DD4501-F484-83BB-84D6-BA1B6D836013}"/>
                  </a:ext>
                </a:extLst>
              </p:cNvPr>
              <p:cNvSpPr/>
              <p:nvPr/>
            </p:nvSpPr>
            <p:spPr>
              <a:xfrm>
                <a:off x="3212694" y="3822906"/>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60" name="Text 30">
                <a:extLst>
                  <a:ext uri="{FF2B5EF4-FFF2-40B4-BE49-F238E27FC236}">
                    <a16:creationId xmlns:a16="http://schemas.microsoft.com/office/drawing/2014/main" id="{1EC9A50B-FAFF-4700-7EAF-1E0AE6B1C685}"/>
                  </a:ext>
                </a:extLst>
              </p:cNvPr>
              <p:cNvSpPr/>
              <p:nvPr/>
            </p:nvSpPr>
            <p:spPr>
              <a:xfrm>
                <a:off x="3230660" y="4039282"/>
                <a:ext cx="1359531" cy="382304"/>
              </a:xfrm>
              <a:prstGeom prst="rect">
                <a:avLst/>
              </a:prstGeom>
              <a:noFill/>
              <a:ln/>
            </p:spPr>
            <p:txBody>
              <a:bodyPr wrap="square" rtlCol="0" anchor="t"/>
              <a:lstStyle/>
              <a:p>
                <a:pPr marL="0" indent="0" algn="ctr">
                  <a:lnSpc>
                    <a:spcPct val="105000"/>
                  </a:lnSpc>
                  <a:buNone/>
                </a:pPr>
                <a:r>
                  <a:rPr lang="en-US" sz="1200" b="1" kern="0" spc="100" dirty="0">
                    <a:solidFill>
                      <a:srgbClr val="E4CA5F"/>
                    </a:solidFill>
                    <a:latin typeface="Courier New" pitchFamily="34" charset="0"/>
                    <a:ea typeface="Courier New" pitchFamily="34" charset="-122"/>
                    <a:cs typeface="Courier New" pitchFamily="34" charset="-120"/>
                  </a:rPr>
                  <a:t>PERSISTENT-STABIL</a:t>
                </a:r>
                <a:endParaRPr lang="en-US" sz="1200" dirty="0"/>
              </a:p>
            </p:txBody>
          </p:sp>
          <p:sp>
            <p:nvSpPr>
              <p:cNvPr id="61" name="Text 31">
                <a:extLst>
                  <a:ext uri="{FF2B5EF4-FFF2-40B4-BE49-F238E27FC236}">
                    <a16:creationId xmlns:a16="http://schemas.microsoft.com/office/drawing/2014/main" id="{F55F4CEE-18D1-F87C-8A60-84B1455C5904}"/>
                  </a:ext>
                </a:extLst>
              </p:cNvPr>
              <p:cNvSpPr/>
              <p:nvPr/>
            </p:nvSpPr>
            <p:spPr>
              <a:xfrm>
                <a:off x="3219814" y="4621036"/>
                <a:ext cx="1371602" cy="165506"/>
              </a:xfrm>
              <a:prstGeom prst="rect">
                <a:avLst/>
              </a:prstGeom>
              <a:noFill/>
              <a:ln/>
            </p:spPr>
            <p:txBody>
              <a:bodyPr wrap="square" rtlCol="0" anchor="t"/>
              <a:lstStyle/>
              <a:p>
                <a:pPr marL="0" indent="0" algn="ctr">
                  <a:lnSpc>
                    <a:spcPct val="105000"/>
                  </a:lnSpc>
                  <a:buNone/>
                </a:pPr>
                <a:r>
                  <a:rPr lang="en-US" sz="1050" dirty="0">
                    <a:solidFill>
                      <a:srgbClr val="B3BC9A"/>
                    </a:solidFill>
                    <a:latin typeface="Arial" pitchFamily="34" charset="0"/>
                    <a:ea typeface="Arial" pitchFamily="34" charset="-122"/>
                    <a:cs typeface="Arial" pitchFamily="34" charset="-120"/>
                  </a:rPr>
                  <a:t>Kleine </a:t>
                </a:r>
                <a:r>
                  <a:rPr lang="en-US" sz="1050" dirty="0" err="1">
                    <a:solidFill>
                      <a:srgbClr val="B3BC9A"/>
                    </a:solidFill>
                    <a:latin typeface="Arial" pitchFamily="34" charset="0"/>
                    <a:ea typeface="Arial" pitchFamily="34" charset="-122"/>
                    <a:cs typeface="Arial" pitchFamily="34" charset="-120"/>
                  </a:rPr>
                  <a:t>Ausschläge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langsame</a:t>
                </a:r>
                <a:r>
                  <a:rPr lang="en-US" sz="1050" dirty="0">
                    <a:solidFill>
                      <a:srgbClr val="B3BC9A"/>
                    </a:solidFill>
                    <a:latin typeface="Arial" pitchFamily="34" charset="0"/>
                    <a:ea typeface="Arial" pitchFamily="34" charset="-122"/>
                    <a:cs typeface="Arial" pitchFamily="34" charset="-120"/>
                  </a:rPr>
                  <a:t> </a:t>
                </a:r>
                <a:r>
                  <a:rPr lang="en-US" sz="1050" dirty="0" err="1">
                    <a:solidFill>
                      <a:srgbClr val="B3BC9A"/>
                    </a:solidFill>
                    <a:latin typeface="Arial" pitchFamily="34" charset="0"/>
                    <a:ea typeface="Arial" pitchFamily="34" charset="-122"/>
                    <a:cs typeface="Arial" pitchFamily="34" charset="-120"/>
                  </a:rPr>
                  <a:t>Korrektur</a:t>
                </a:r>
                <a:endParaRPr lang="en-US" sz="1050" dirty="0"/>
              </a:p>
            </p:txBody>
          </p:sp>
          <p:sp>
            <p:nvSpPr>
              <p:cNvPr id="62" name="Shape 32">
                <a:extLst>
                  <a:ext uri="{FF2B5EF4-FFF2-40B4-BE49-F238E27FC236}">
                    <a16:creationId xmlns:a16="http://schemas.microsoft.com/office/drawing/2014/main" id="{69683159-F678-5F61-F286-5344430851B2}"/>
                  </a:ext>
                </a:extLst>
              </p:cNvPr>
              <p:cNvSpPr/>
              <p:nvPr/>
            </p:nvSpPr>
            <p:spPr>
              <a:xfrm>
                <a:off x="3158378" y="2337006"/>
                <a:ext cx="25603" cy="2920594"/>
              </a:xfrm>
              <a:prstGeom prst="rect">
                <a:avLst/>
              </a:prstGeom>
              <a:solidFill>
                <a:srgbClr val="DBDEE2"/>
              </a:solidFill>
              <a:ln/>
            </p:spPr>
            <p:txBody>
              <a:bodyPr/>
              <a:lstStyle/>
              <a:p>
                <a:endParaRPr lang="de-DE"/>
              </a:p>
            </p:txBody>
          </p:sp>
          <p:sp>
            <p:nvSpPr>
              <p:cNvPr id="63" name="Shape 33">
                <a:extLst>
                  <a:ext uri="{FF2B5EF4-FFF2-40B4-BE49-F238E27FC236}">
                    <a16:creationId xmlns:a16="http://schemas.microsoft.com/office/drawing/2014/main" id="{B86CF289-76D7-CE78-EAD0-7D42DFC1F768}"/>
                  </a:ext>
                </a:extLst>
              </p:cNvPr>
              <p:cNvSpPr/>
              <p:nvPr/>
            </p:nvSpPr>
            <p:spPr>
              <a:xfrm>
                <a:off x="1703644" y="3762266"/>
                <a:ext cx="2920594" cy="25603"/>
              </a:xfrm>
              <a:prstGeom prst="rect">
                <a:avLst/>
              </a:prstGeom>
              <a:solidFill>
                <a:srgbClr val="DBDEE2"/>
              </a:solidFill>
              <a:ln/>
            </p:spPr>
            <p:txBody>
              <a:bodyPr/>
              <a:lstStyle/>
              <a:p>
                <a:endParaRPr lang="de-DE"/>
              </a:p>
            </p:txBody>
          </p:sp>
          <p:sp>
            <p:nvSpPr>
              <p:cNvPr id="64" name="Shape 34">
                <a:extLst>
                  <a:ext uri="{FF2B5EF4-FFF2-40B4-BE49-F238E27FC236}">
                    <a16:creationId xmlns:a16="http://schemas.microsoft.com/office/drawing/2014/main" id="{DD24F446-4365-620B-1939-07059F9CBEBB}"/>
                  </a:ext>
                </a:extLst>
              </p:cNvPr>
              <p:cNvSpPr/>
              <p:nvPr/>
            </p:nvSpPr>
            <p:spPr>
              <a:xfrm>
                <a:off x="1782789" y="3877686"/>
                <a:ext cx="107899" cy="107899"/>
              </a:xfrm>
              <a:prstGeom prst="ellipse">
                <a:avLst/>
              </a:prstGeom>
              <a:solidFill>
                <a:srgbClr val="3EB977"/>
              </a:solidFill>
              <a:ln/>
            </p:spPr>
            <p:txBody>
              <a:bodyPr/>
              <a:lstStyle/>
              <a:p>
                <a:endParaRPr lang="de-DE"/>
              </a:p>
            </p:txBody>
          </p:sp>
          <p:sp>
            <p:nvSpPr>
              <p:cNvPr id="65" name="Shape 35">
                <a:extLst>
                  <a:ext uri="{FF2B5EF4-FFF2-40B4-BE49-F238E27FC236}">
                    <a16:creationId xmlns:a16="http://schemas.microsoft.com/office/drawing/2014/main" id="{53FBED0A-AD80-DF02-DF7A-7521358B3738}"/>
                  </a:ext>
                </a:extLst>
              </p:cNvPr>
              <p:cNvSpPr/>
              <p:nvPr/>
            </p:nvSpPr>
            <p:spPr>
              <a:xfrm>
                <a:off x="1782790" y="2378722"/>
                <a:ext cx="107899" cy="107899"/>
              </a:xfrm>
              <a:prstGeom prst="ellipse">
                <a:avLst/>
              </a:prstGeom>
              <a:solidFill>
                <a:srgbClr val="6AA7F4"/>
              </a:solidFill>
              <a:ln/>
            </p:spPr>
            <p:txBody>
              <a:bodyPr/>
              <a:lstStyle/>
              <a:p>
                <a:endParaRPr lang="de-DE"/>
              </a:p>
            </p:txBody>
          </p:sp>
          <p:sp>
            <p:nvSpPr>
              <p:cNvPr id="66" name="Shape 36">
                <a:extLst>
                  <a:ext uri="{FF2B5EF4-FFF2-40B4-BE49-F238E27FC236}">
                    <a16:creationId xmlns:a16="http://schemas.microsoft.com/office/drawing/2014/main" id="{4EA99839-0C4B-6EF0-A602-7B8E466501D8}"/>
                  </a:ext>
                </a:extLst>
              </p:cNvPr>
              <p:cNvSpPr/>
              <p:nvPr/>
            </p:nvSpPr>
            <p:spPr>
              <a:xfrm>
                <a:off x="3268690" y="3882021"/>
                <a:ext cx="107899" cy="107899"/>
              </a:xfrm>
              <a:prstGeom prst="ellipse">
                <a:avLst/>
              </a:prstGeom>
              <a:solidFill>
                <a:srgbClr val="E4CA5F"/>
              </a:solidFill>
              <a:ln/>
            </p:spPr>
            <p:txBody>
              <a:bodyPr/>
              <a:lstStyle/>
              <a:p>
                <a:endParaRPr lang="de-DE"/>
              </a:p>
            </p:txBody>
          </p:sp>
          <p:sp>
            <p:nvSpPr>
              <p:cNvPr id="67" name="Shape 37">
                <a:extLst>
                  <a:ext uri="{FF2B5EF4-FFF2-40B4-BE49-F238E27FC236}">
                    <a16:creationId xmlns:a16="http://schemas.microsoft.com/office/drawing/2014/main" id="{43EC3E95-2106-E459-36A8-4A8A57F460BF}"/>
                  </a:ext>
                </a:extLst>
              </p:cNvPr>
              <p:cNvSpPr/>
              <p:nvPr/>
            </p:nvSpPr>
            <p:spPr>
              <a:xfrm>
                <a:off x="3264336" y="2376169"/>
                <a:ext cx="107899" cy="107899"/>
              </a:xfrm>
              <a:prstGeom prst="ellipse">
                <a:avLst/>
              </a:prstGeom>
              <a:solidFill>
                <a:srgbClr val="F36451"/>
              </a:solidFill>
              <a:ln/>
            </p:spPr>
            <p:txBody>
              <a:bodyPr/>
              <a:lstStyle/>
              <a:p>
                <a:endParaRPr lang="de-DE"/>
              </a:p>
            </p:txBody>
          </p:sp>
          <p:sp>
            <p:nvSpPr>
              <p:cNvPr id="68" name="Text 9">
                <a:extLst>
                  <a:ext uri="{FF2B5EF4-FFF2-40B4-BE49-F238E27FC236}">
                    <a16:creationId xmlns:a16="http://schemas.microsoft.com/office/drawing/2014/main" id="{C98A64F0-A3AF-9C66-F182-C22FD0857B7B}"/>
                  </a:ext>
                </a:extLst>
              </p:cNvPr>
              <p:cNvSpPr/>
              <p:nvPr/>
            </p:nvSpPr>
            <p:spPr>
              <a:xfrm>
                <a:off x="3005334" y="1802745"/>
                <a:ext cx="571500" cy="622706"/>
              </a:xfrm>
              <a:prstGeom prst="rect">
                <a:avLst/>
              </a:prstGeom>
              <a:noFill/>
              <a:ln/>
            </p:spPr>
            <p:txBody>
              <a:bodyPr wrap="square" rtlCol="0" anchor="ctr"/>
              <a:lstStyle/>
              <a:p>
                <a:pPr marL="0" indent="0" algn="l">
                  <a:lnSpc>
                    <a:spcPct val="105000"/>
                  </a:lnSpc>
                  <a:buNone/>
                </a:pPr>
                <a:r>
                  <a:rPr lang="en-US" sz="3200" b="1" dirty="0" err="1">
                    <a:solidFill>
                      <a:srgbClr val="79A2F9"/>
                    </a:solidFill>
                    <a:latin typeface="Courier New" pitchFamily="34" charset="0"/>
                    <a:ea typeface="Courier New" pitchFamily="34" charset="-122"/>
                    <a:cs typeface="Courier New" pitchFamily="34" charset="-120"/>
                  </a:rPr>
                  <a:t>σ</a:t>
                </a:r>
                <a:endParaRPr lang="en-US" sz="3200" dirty="0"/>
              </a:p>
            </p:txBody>
          </p:sp>
          <p:sp>
            <p:nvSpPr>
              <p:cNvPr id="69" name="Text 5">
                <a:extLst>
                  <a:ext uri="{FF2B5EF4-FFF2-40B4-BE49-F238E27FC236}">
                    <a16:creationId xmlns:a16="http://schemas.microsoft.com/office/drawing/2014/main" id="{76ED3E53-D4F2-91DE-D1AB-EC86E59ECB23}"/>
                  </a:ext>
                </a:extLst>
              </p:cNvPr>
              <p:cNvSpPr/>
              <p:nvPr/>
            </p:nvSpPr>
            <p:spPr>
              <a:xfrm>
                <a:off x="1310081" y="3423630"/>
                <a:ext cx="571500" cy="558698"/>
              </a:xfrm>
              <a:prstGeom prst="rect">
                <a:avLst/>
              </a:prstGeom>
              <a:noFill/>
              <a:ln/>
            </p:spPr>
            <p:txBody>
              <a:bodyPr wrap="square" rtlCol="0" anchor="ctr"/>
              <a:lstStyle/>
              <a:p>
                <a:pPr marL="0" indent="0" algn="l">
                  <a:lnSpc>
                    <a:spcPct val="105000"/>
                  </a:lnSpc>
                  <a:buNone/>
                </a:pPr>
                <a:r>
                  <a:rPr lang="en-US" sz="3200" b="1" dirty="0" err="1">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gr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6AE3-2958-86C4-EA4B-A7C133CF00E9}"/>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D6B3AFD3-278C-CC88-CC82-21CD99B1B7D9}"/>
              </a:ext>
            </a:extLst>
          </p:cNvPr>
          <p:cNvSpPr/>
          <p:nvPr/>
        </p:nvSpPr>
        <p:spPr>
          <a:xfrm>
            <a:off x="341036" y="1874345"/>
            <a:ext cx="5779249" cy="3770421"/>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8F76EE4-7095-C527-A9B1-59C2C33C6A69}"/>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4E43CEA6-40CF-97DB-8DE7-86C1F98B36E0}"/>
              </a:ext>
            </a:extLst>
          </p:cNvPr>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err="1">
                <a:solidFill>
                  <a:srgbClr val="F2EFDA"/>
                </a:solidFill>
                <a:latin typeface="Arial" pitchFamily="34" charset="0"/>
                <a:ea typeface="Arial" pitchFamily="34" charset="-122"/>
                <a:cs typeface="Arial" pitchFamily="34" charset="-120"/>
              </a:rPr>
              <a:t>Volatilität</a:t>
            </a:r>
            <a:r>
              <a:rPr lang="en-US" sz="2300" b="1" kern="0" spc="-50" dirty="0">
                <a:solidFill>
                  <a:srgbClr val="F2EFDA"/>
                </a:solidFill>
                <a:latin typeface="Arial" pitchFamily="34" charset="0"/>
                <a:ea typeface="Arial" pitchFamily="34" charset="-122"/>
                <a:cs typeface="Arial" pitchFamily="34" charset="-120"/>
              </a:rPr>
              <a:t> der </a:t>
            </a:r>
            <a:r>
              <a:rPr lang="en-US" sz="2300" b="1" kern="0" spc="-50" dirty="0" err="1">
                <a:solidFill>
                  <a:srgbClr val="F2EFDA"/>
                </a:solidFill>
                <a:latin typeface="Arial" pitchFamily="34" charset="0"/>
                <a:ea typeface="Arial" pitchFamily="34" charset="-122"/>
                <a:cs typeface="Arial" pitchFamily="34" charset="-120"/>
              </a:rPr>
              <a:t>Kennzahlen</a:t>
            </a:r>
            <a:endParaRPr lang="en-US" sz="2300" dirty="0"/>
          </a:p>
        </p:txBody>
      </p:sp>
      <p:sp>
        <p:nvSpPr>
          <p:cNvPr id="34" name="Shape 12">
            <a:extLst>
              <a:ext uri="{FF2B5EF4-FFF2-40B4-BE49-F238E27FC236}">
                <a16:creationId xmlns:a16="http://schemas.microsoft.com/office/drawing/2014/main" id="{7FCD2A1A-87C8-6BF7-50C6-EFC387BDF27D}"/>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80D7BD54-8536-2ECC-3528-A5C162FD261F}"/>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1</a:t>
            </a:r>
            <a:endParaRPr lang="en-US" sz="1400"/>
          </a:p>
        </p:txBody>
      </p:sp>
      <p:sp>
        <p:nvSpPr>
          <p:cNvPr id="37" name="Text 15">
            <a:extLst>
              <a:ext uri="{FF2B5EF4-FFF2-40B4-BE49-F238E27FC236}">
                <a16:creationId xmlns:a16="http://schemas.microsoft.com/office/drawing/2014/main" id="{F354A542-B7E2-5DF2-61C2-A7E76B40FB54}"/>
              </a:ext>
            </a:extLst>
          </p:cNvPr>
          <p:cNvSpPr/>
          <p:nvPr/>
        </p:nvSpPr>
        <p:spPr>
          <a:xfrm>
            <a:off x="6599840" y="1886401"/>
            <a:ext cx="4780680" cy="1196579"/>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sollte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wegen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unterschiedlicher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Verhältnisse</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nur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innerhalb</a:t>
            </a:r>
            <a:r>
              <a:rPr lang="en-US" sz="1400" dirty="0">
                <a:solidFill>
                  <a:srgbClr val="F2EFDA"/>
                </a:solidFill>
                <a:latin typeface="Arial" pitchFamily="34" charset="0"/>
                <a:ea typeface="Arial" pitchFamily="34" charset="-122"/>
                <a:cs typeface="Arial" pitchFamily="34" charset="-120"/>
              </a:rPr>
              <a:t> der </a:t>
            </a:r>
            <a:r>
              <a:rPr lang="en-US" sz="1400" dirty="0" err="1">
                <a:solidFill>
                  <a:srgbClr val="F2EFDA"/>
                </a:solidFill>
                <a:latin typeface="Arial" pitchFamily="34" charset="0"/>
                <a:ea typeface="Arial" pitchFamily="34" charset="-122"/>
                <a:cs typeface="Arial" pitchFamily="34" charset="-120"/>
              </a:rPr>
              <a:t>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betrachtet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werden</a:t>
            </a:r>
            <a:endParaRPr lang="en-US" sz="1400" dirty="0"/>
          </a:p>
        </p:txBody>
      </p:sp>
      <p:sp>
        <p:nvSpPr>
          <p:cNvPr id="38" name="Shape 12">
            <a:extLst>
              <a:ext uri="{FF2B5EF4-FFF2-40B4-BE49-F238E27FC236}">
                <a16:creationId xmlns:a16="http://schemas.microsoft.com/office/drawing/2014/main" id="{98BFFF3D-6319-AE59-D613-2D58068531D2}"/>
              </a:ext>
            </a:extLst>
          </p:cNvPr>
          <p:cNvSpPr/>
          <p:nvPr/>
        </p:nvSpPr>
        <p:spPr>
          <a:xfrm>
            <a:off x="6464959" y="432693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19A4CB85-CA88-B4AD-7961-DCBB8546D8A5}"/>
              </a:ext>
            </a:extLst>
          </p:cNvPr>
          <p:cNvSpPr/>
          <p:nvPr/>
        </p:nvSpPr>
        <p:spPr>
          <a:xfrm>
            <a:off x="6499990" y="454484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1" name="Text 15">
            <a:extLst>
              <a:ext uri="{FF2B5EF4-FFF2-40B4-BE49-F238E27FC236}">
                <a16:creationId xmlns:a16="http://schemas.microsoft.com/office/drawing/2014/main" id="{002A0DB6-A72F-2501-1C81-9205EEE528A6}"/>
              </a:ext>
            </a:extLst>
          </p:cNvPr>
          <p:cNvSpPr/>
          <p:nvPr/>
        </p:nvSpPr>
        <p:spPr>
          <a:xfrm>
            <a:off x="6524469" y="4578496"/>
            <a:ext cx="4448474"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Steigende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Volatilität</a:t>
            </a:r>
            <a:r>
              <a:rPr lang="en-US" sz="1400" dirty="0">
                <a:solidFill>
                  <a:srgbClr val="F2EFDA"/>
                </a:solidFill>
                <a:latin typeface="Arial" pitchFamily="34" charset="0"/>
                <a:ea typeface="Arial" pitchFamily="34" charset="-122"/>
                <a:cs typeface="Arial" pitchFamily="34" charset="-120"/>
              </a:rPr>
              <a:t> je </a:t>
            </a:r>
            <a:r>
              <a:rPr lang="en-US" sz="1400" dirty="0" err="1">
                <a:solidFill>
                  <a:srgbClr val="F2EFDA"/>
                </a:solidFill>
                <a:latin typeface="Arial" pitchFamily="34" charset="0"/>
                <a:ea typeface="Arial" pitchFamily="34" charset="-122"/>
                <a:cs typeface="Arial" pitchFamily="34" charset="-120"/>
              </a:rPr>
              <a:t>nach</a:t>
            </a:r>
            <a:r>
              <a:rPr lang="en-US" sz="1400" dirty="0">
                <a:solidFill>
                  <a:srgbClr val="F2EFDA"/>
                </a:solidFill>
                <a:latin typeface="Arial" pitchFamily="34" charset="0"/>
                <a:ea typeface="Arial" pitchFamily="34" charset="-122"/>
                <a:cs typeface="Arial" pitchFamily="34" charset="-120"/>
              </a:rPr>
              <a:t> Art des </a:t>
            </a:r>
            <a:r>
              <a:rPr lang="en-US" sz="1400" dirty="0" err="1">
                <a:solidFill>
                  <a:srgbClr val="F2EFDA"/>
                </a:solidFill>
                <a:latin typeface="Arial" pitchFamily="34" charset="0"/>
                <a:ea typeface="Arial" pitchFamily="34" charset="-122"/>
                <a:cs typeface="Arial" pitchFamily="34" charset="-120"/>
              </a:rPr>
              <a:t>Nenners</a:t>
            </a:r>
            <a:endParaRPr lang="en-US" sz="1400" dirty="0"/>
          </a:p>
        </p:txBody>
      </p:sp>
      <p:sp>
        <p:nvSpPr>
          <p:cNvPr id="47" name="Shape 14">
            <a:extLst>
              <a:ext uri="{FF2B5EF4-FFF2-40B4-BE49-F238E27FC236}">
                <a16:creationId xmlns:a16="http://schemas.microsoft.com/office/drawing/2014/main" id="{DDC8FF6E-86DF-59FE-6395-C6EDF8FA85BF}"/>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1649496-72AC-50AA-1388-3D47B135039A}"/>
              </a:ext>
            </a:extLst>
          </p:cNvPr>
          <p:cNvSpPr/>
          <p:nvPr/>
        </p:nvSpPr>
        <p:spPr>
          <a:xfrm>
            <a:off x="6889861" y="469320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D893F2EE-AFBA-49F1-248F-B0D0F2C404F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365483DB-4C52-B652-C386-83796DFDCDE4}"/>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A156F4D-08B3-1179-BFD0-011F980800FF}"/>
              </a:ext>
            </a:extLst>
          </p:cNvPr>
          <p:cNvPicPr>
            <a:picLocks noChangeAspect="1"/>
          </p:cNvPicPr>
          <p:nvPr/>
        </p:nvPicPr>
        <p:blipFill>
          <a:blip r:embed="rId3"/>
          <a:srcRect t="25674" b="858"/>
          <a:stretch>
            <a:fillRect/>
          </a:stretch>
        </p:blipFill>
        <p:spPr>
          <a:xfrm>
            <a:off x="503968" y="2062297"/>
            <a:ext cx="5479312" cy="3430646"/>
          </a:xfrm>
          <a:prstGeom prst="rect">
            <a:avLst/>
          </a:prstGeom>
        </p:spPr>
      </p:pic>
    </p:spTree>
    <p:extLst>
      <p:ext uri="{BB962C8B-B14F-4D97-AF65-F5344CB8AC3E}">
        <p14:creationId xmlns:p14="http://schemas.microsoft.com/office/powerpoint/2010/main" val="1898370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54E2-93E6-548D-DCAF-2312C9FED33D}"/>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58751C72-77DA-2661-918E-370AF53AC66A}"/>
              </a:ext>
            </a:extLst>
          </p:cNvPr>
          <p:cNvSpPr/>
          <p:nvPr/>
        </p:nvSpPr>
        <p:spPr>
          <a:xfrm>
            <a:off x="341036" y="1396324"/>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60C96A02-5AF6-056C-F8EE-45FE34958FB3}"/>
              </a:ext>
            </a:extLst>
          </p:cNvPr>
          <p:cNvSpPr/>
          <p:nvPr/>
        </p:nvSpPr>
        <p:spPr>
          <a:xfrm>
            <a:off x="0" y="0"/>
            <a:ext cx="12191695" cy="38405"/>
          </a:xfrm>
          <a:prstGeom prst="rect">
            <a:avLst/>
          </a:prstGeom>
          <a:solidFill>
            <a:srgbClr val="DBDEE2"/>
          </a:solidFill>
          <a:ln/>
        </p:spPr>
        <p:txBody>
          <a:bodyPr/>
          <a:lstStyle/>
          <a:p>
            <a:endParaRPr lang="de-DE"/>
          </a:p>
        </p:txBody>
      </p:sp>
      <p:sp>
        <p:nvSpPr>
          <p:cNvPr id="6" name="Text 3">
            <a:extLst>
              <a:ext uri="{FF2B5EF4-FFF2-40B4-BE49-F238E27FC236}">
                <a16:creationId xmlns:a16="http://schemas.microsoft.com/office/drawing/2014/main" id="{5452EF61-7228-88E4-1CDC-81F7E8B57524}"/>
              </a:ext>
            </a:extLst>
          </p:cNvPr>
          <p:cNvSpPr/>
          <p:nvPr/>
        </p:nvSpPr>
        <p:spPr>
          <a:xfrm>
            <a:off x="634594" y="761695"/>
            <a:ext cx="10921594" cy="437998"/>
          </a:xfrm>
          <a:prstGeom prst="rect">
            <a:avLst/>
          </a:prstGeom>
          <a:noFill/>
          <a:ln/>
        </p:spPr>
        <p:txBody>
          <a:bodyPr wrap="square" rtlCol="0" anchor="t"/>
          <a:lstStyle/>
          <a:p>
            <a:r>
              <a:rPr lang="en-US" sz="2400" b="1" kern="0" spc="-50" dirty="0">
                <a:solidFill>
                  <a:srgbClr val="F2EFDA"/>
                </a:solidFill>
                <a:latin typeface="Arial" pitchFamily="34" charset="0"/>
                <a:ea typeface="Arial" pitchFamily="34" charset="-122"/>
                <a:cs typeface="Arial" pitchFamily="34" charset="-120"/>
              </a:rPr>
              <a:t>Mean Reversion der </a:t>
            </a:r>
            <a:r>
              <a:rPr lang="en-US" sz="2400" b="1" kern="0" spc="-50" dirty="0" err="1">
                <a:solidFill>
                  <a:srgbClr val="F2EFDA"/>
                </a:solidFill>
                <a:latin typeface="Arial" pitchFamily="34" charset="0"/>
                <a:ea typeface="Arial" pitchFamily="34" charset="-122"/>
                <a:cs typeface="Arial" pitchFamily="34" charset="-120"/>
              </a:rPr>
              <a:t>Kennzahlen</a:t>
            </a:r>
            <a:endParaRPr lang="en-US" sz="2400" dirty="0"/>
          </a:p>
        </p:txBody>
      </p:sp>
      <p:sp>
        <p:nvSpPr>
          <p:cNvPr id="34" name="Shape 12">
            <a:extLst>
              <a:ext uri="{FF2B5EF4-FFF2-40B4-BE49-F238E27FC236}">
                <a16:creationId xmlns:a16="http://schemas.microsoft.com/office/drawing/2014/main" id="{C19EA1B0-54A6-14E5-42BC-E7B8DD39F9D3}"/>
              </a:ext>
            </a:extLst>
          </p:cNvPr>
          <p:cNvSpPr/>
          <p:nvPr/>
        </p:nvSpPr>
        <p:spPr>
          <a:xfrm>
            <a:off x="6465620" y="1634840"/>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7A45F53D-63DC-BB00-0160-D4C871CE9D61}"/>
              </a:ext>
            </a:extLst>
          </p:cNvPr>
          <p:cNvSpPr/>
          <p:nvPr/>
        </p:nvSpPr>
        <p:spPr>
          <a:xfrm>
            <a:off x="6500651" y="1852746"/>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E1E571B4-D8B2-A905-6516-72E327A6E420}"/>
              </a:ext>
            </a:extLst>
          </p:cNvPr>
          <p:cNvSpPr/>
          <p:nvPr/>
        </p:nvSpPr>
        <p:spPr>
          <a:xfrm>
            <a:off x="6464959" y="3333156"/>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23ADAB6F-9E07-5994-D0C0-8357BB4BF905}"/>
              </a:ext>
            </a:extLst>
          </p:cNvPr>
          <p:cNvSpPr/>
          <p:nvPr/>
        </p:nvSpPr>
        <p:spPr>
          <a:xfrm>
            <a:off x="6499990" y="3551061"/>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552B462C-569E-D8B3-230C-01ADF26AEC5A}"/>
              </a:ext>
            </a:extLst>
          </p:cNvPr>
          <p:cNvSpPr/>
          <p:nvPr/>
        </p:nvSpPr>
        <p:spPr>
          <a:xfrm>
            <a:off x="6891119" y="1988015"/>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D08D3D67-C324-1AD4-FF07-C204106BAE63}"/>
              </a:ext>
            </a:extLst>
          </p:cNvPr>
          <p:cNvSpPr/>
          <p:nvPr/>
        </p:nvSpPr>
        <p:spPr>
          <a:xfrm>
            <a:off x="6889861" y="3699424"/>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C9E04798-A04A-F7FC-5E10-B109D502408C}"/>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9772CBA-18B2-136A-524C-6208AEEBB28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AE0D2427-7208-F751-19D8-19B3738F0262}"/>
              </a:ext>
            </a:extLst>
          </p:cNvPr>
          <p:cNvPicPr>
            <a:picLocks noChangeAspect="1"/>
          </p:cNvPicPr>
          <p:nvPr/>
        </p:nvPicPr>
        <p:blipFill>
          <a:blip r:embed="rId3"/>
          <a:srcRect t="9502" r="16758"/>
          <a:stretch>
            <a:fillRect/>
          </a:stretch>
        </p:blipFill>
        <p:spPr>
          <a:xfrm>
            <a:off x="540969" y="1583059"/>
            <a:ext cx="5364557" cy="4786570"/>
          </a:xfrm>
          <a:prstGeom prst="rect">
            <a:avLst/>
          </a:prstGeom>
        </p:spPr>
      </p:pic>
      <p:sp>
        <p:nvSpPr>
          <p:cNvPr id="9" name="Text 6">
            <a:extLst>
              <a:ext uri="{FF2B5EF4-FFF2-40B4-BE49-F238E27FC236}">
                <a16:creationId xmlns:a16="http://schemas.microsoft.com/office/drawing/2014/main" id="{AA2DFECD-AA68-5F59-BDD2-CF82AE6CDE12}"/>
              </a:ext>
            </a:extLst>
          </p:cNvPr>
          <p:cNvSpPr/>
          <p:nvPr/>
        </p:nvSpPr>
        <p:spPr>
          <a:xfrm>
            <a:off x="6889861" y="2168607"/>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BCB1E86C-7183-E1FF-3E95-0C701BD3C690}"/>
              </a:ext>
            </a:extLst>
          </p:cNvPr>
          <p:cNvSpPr/>
          <p:nvPr/>
        </p:nvSpPr>
        <p:spPr>
          <a:xfrm>
            <a:off x="9095148" y="2168606"/>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pic>
        <p:nvPicPr>
          <p:cNvPr id="14" name="Grafik 13">
            <a:extLst>
              <a:ext uri="{FF2B5EF4-FFF2-40B4-BE49-F238E27FC236}">
                <a16:creationId xmlns:a16="http://schemas.microsoft.com/office/drawing/2014/main" id="{CFC1FD7B-A352-DD42-F8E6-AFF897202966}"/>
              </a:ext>
            </a:extLst>
          </p:cNvPr>
          <p:cNvPicPr>
            <a:picLocks noChangeAspect="1"/>
          </p:cNvPicPr>
          <p:nvPr/>
        </p:nvPicPr>
        <p:blipFill>
          <a:blip r:embed="rId4"/>
          <a:srcRect t="7867" r="17739" b="858"/>
          <a:stretch>
            <a:fillRect/>
          </a:stretch>
        </p:blipFill>
        <p:spPr>
          <a:xfrm>
            <a:off x="592719" y="1498893"/>
            <a:ext cx="5252498" cy="4966784"/>
          </a:xfrm>
          <a:prstGeom prst="rect">
            <a:avLst/>
          </a:prstGeom>
        </p:spPr>
      </p:pic>
      <p:sp>
        <p:nvSpPr>
          <p:cNvPr id="25" name="Text 6">
            <a:extLst>
              <a:ext uri="{FF2B5EF4-FFF2-40B4-BE49-F238E27FC236}">
                <a16:creationId xmlns:a16="http://schemas.microsoft.com/office/drawing/2014/main" id="{C3ED8DB7-B607-4EE4-09B2-8C239F6172C9}"/>
              </a:ext>
            </a:extLst>
          </p:cNvPr>
          <p:cNvSpPr/>
          <p:nvPr/>
        </p:nvSpPr>
        <p:spPr>
          <a:xfrm>
            <a:off x="6889864" y="3866781"/>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94D32090-1D22-A805-3E19-49641D99EB9F}"/>
              </a:ext>
            </a:extLst>
          </p:cNvPr>
          <p:cNvSpPr/>
          <p:nvPr/>
        </p:nvSpPr>
        <p:spPr>
          <a:xfrm>
            <a:off x="9010242" y="3866781"/>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B895259A-79D7-6C58-E7EA-DB8CE637087F}"/>
              </a:ext>
            </a:extLst>
          </p:cNvPr>
          <p:cNvSpPr/>
          <p:nvPr/>
        </p:nvSpPr>
        <p:spPr>
          <a:xfrm>
            <a:off x="6464958" y="5026777"/>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4F4B6BB6-3647-3D37-CEB0-FEC11A051900}"/>
              </a:ext>
            </a:extLst>
          </p:cNvPr>
          <p:cNvSpPr/>
          <p:nvPr/>
        </p:nvSpPr>
        <p:spPr>
          <a:xfrm>
            <a:off x="6499989" y="5244682"/>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B095499C-5AD6-CA93-B65B-0091B9708F60}"/>
              </a:ext>
            </a:extLst>
          </p:cNvPr>
          <p:cNvSpPr/>
          <p:nvPr/>
        </p:nvSpPr>
        <p:spPr>
          <a:xfrm>
            <a:off x="6889860" y="5393045"/>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ED875D25-9F7F-7D76-39F4-9A1DEB15AC44}"/>
              </a:ext>
            </a:extLst>
          </p:cNvPr>
          <p:cNvSpPr/>
          <p:nvPr/>
        </p:nvSpPr>
        <p:spPr>
          <a:xfrm>
            <a:off x="6889863" y="5560402"/>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6C2C07BB-DE35-7F58-9558-44C77C5F5317}"/>
              </a:ext>
            </a:extLst>
          </p:cNvPr>
          <p:cNvSpPr/>
          <p:nvPr/>
        </p:nvSpPr>
        <p:spPr>
          <a:xfrm>
            <a:off x="9010241" y="5560402"/>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Tree>
    <p:extLst>
      <p:ext uri="{BB962C8B-B14F-4D97-AF65-F5344CB8AC3E}">
        <p14:creationId xmlns:p14="http://schemas.microsoft.com/office/powerpoint/2010/main" val="1416874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2FA4-E81D-2E0B-1436-78CE73643038}"/>
            </a:ext>
          </a:extLst>
        </p:cNvPr>
        <p:cNvGrpSpPr/>
        <p:nvPr/>
      </p:nvGrpSpPr>
      <p:grpSpPr>
        <a:xfrm>
          <a:off x="0" y="0"/>
          <a:ext cx="0" cy="0"/>
          <a:chOff x="0" y="0"/>
          <a:chExt cx="0" cy="0"/>
        </a:xfrm>
      </p:grpSpPr>
      <p:sp>
        <p:nvSpPr>
          <p:cNvPr id="33" name="Shape 16">
            <a:extLst>
              <a:ext uri="{FF2B5EF4-FFF2-40B4-BE49-F238E27FC236}">
                <a16:creationId xmlns:a16="http://schemas.microsoft.com/office/drawing/2014/main" id="{745353F1-3BFC-ADE4-DF5E-AA2A8B06C8A4}"/>
              </a:ext>
            </a:extLst>
          </p:cNvPr>
          <p:cNvSpPr/>
          <p:nvPr/>
        </p:nvSpPr>
        <p:spPr>
          <a:xfrm>
            <a:off x="341036" y="469561"/>
            <a:ext cx="5779249" cy="513157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 name="Shape 0">
            <a:extLst>
              <a:ext uri="{FF2B5EF4-FFF2-40B4-BE49-F238E27FC236}">
                <a16:creationId xmlns:a16="http://schemas.microsoft.com/office/drawing/2014/main" id="{75E81087-646C-F7A5-AA29-DFCB382C97CF}"/>
              </a:ext>
            </a:extLst>
          </p:cNvPr>
          <p:cNvSpPr/>
          <p:nvPr/>
        </p:nvSpPr>
        <p:spPr>
          <a:xfrm>
            <a:off x="0" y="0"/>
            <a:ext cx="12191695" cy="38405"/>
          </a:xfrm>
          <a:prstGeom prst="rect">
            <a:avLst/>
          </a:prstGeom>
          <a:solidFill>
            <a:srgbClr val="DBDEE2"/>
          </a:solidFill>
          <a:ln/>
        </p:spPr>
        <p:txBody>
          <a:bodyPr/>
          <a:lstStyle/>
          <a:p>
            <a:endParaRPr lang="de-DE"/>
          </a:p>
        </p:txBody>
      </p:sp>
      <p:sp>
        <p:nvSpPr>
          <p:cNvPr id="34" name="Shape 12">
            <a:extLst>
              <a:ext uri="{FF2B5EF4-FFF2-40B4-BE49-F238E27FC236}">
                <a16:creationId xmlns:a16="http://schemas.microsoft.com/office/drawing/2014/main" id="{3DB06677-B161-1A88-729A-E6EDA0D14C13}"/>
              </a:ext>
            </a:extLst>
          </p:cNvPr>
          <p:cNvSpPr/>
          <p:nvPr/>
        </p:nvSpPr>
        <p:spPr>
          <a:xfrm>
            <a:off x="6465620" y="708077"/>
            <a:ext cx="5090567" cy="15630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5" name="Text 13">
            <a:extLst>
              <a:ext uri="{FF2B5EF4-FFF2-40B4-BE49-F238E27FC236}">
                <a16:creationId xmlns:a16="http://schemas.microsoft.com/office/drawing/2014/main" id="{54C07E23-0124-C4BC-0EA2-71246CA8078E}"/>
              </a:ext>
            </a:extLst>
          </p:cNvPr>
          <p:cNvSpPr/>
          <p:nvPr/>
        </p:nvSpPr>
        <p:spPr>
          <a:xfrm>
            <a:off x="6500651" y="925983"/>
            <a:ext cx="802254"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8" name="Shape 12">
            <a:extLst>
              <a:ext uri="{FF2B5EF4-FFF2-40B4-BE49-F238E27FC236}">
                <a16:creationId xmlns:a16="http://schemas.microsoft.com/office/drawing/2014/main" id="{212F8A23-05AF-6F36-B230-54A50F7E85A3}"/>
              </a:ext>
            </a:extLst>
          </p:cNvPr>
          <p:cNvSpPr/>
          <p:nvPr/>
        </p:nvSpPr>
        <p:spPr>
          <a:xfrm>
            <a:off x="6464959" y="2406393"/>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39" name="Text 13">
            <a:extLst>
              <a:ext uri="{FF2B5EF4-FFF2-40B4-BE49-F238E27FC236}">
                <a16:creationId xmlns:a16="http://schemas.microsoft.com/office/drawing/2014/main" id="{9489B989-8E37-213D-0994-D657F2BFB481}"/>
              </a:ext>
            </a:extLst>
          </p:cNvPr>
          <p:cNvSpPr/>
          <p:nvPr/>
        </p:nvSpPr>
        <p:spPr>
          <a:xfrm>
            <a:off x="6499990" y="2624298"/>
            <a:ext cx="802254" cy="296726"/>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cs typeface="Courier New" pitchFamily="34" charset="-120"/>
              </a:rPr>
              <a:t>2</a:t>
            </a:r>
            <a:endParaRPr lang="en-US" sz="1400"/>
          </a:p>
        </p:txBody>
      </p:sp>
      <p:sp>
        <p:nvSpPr>
          <p:cNvPr id="47" name="Shape 14">
            <a:extLst>
              <a:ext uri="{FF2B5EF4-FFF2-40B4-BE49-F238E27FC236}">
                <a16:creationId xmlns:a16="http://schemas.microsoft.com/office/drawing/2014/main" id="{03237D3B-2012-DEF7-0A54-BC56B4C3F82E}"/>
              </a:ext>
            </a:extLst>
          </p:cNvPr>
          <p:cNvSpPr/>
          <p:nvPr/>
        </p:nvSpPr>
        <p:spPr>
          <a:xfrm>
            <a:off x="6891119" y="1061252"/>
            <a:ext cx="4427756" cy="18000"/>
          </a:xfrm>
          <a:prstGeom prst="rect">
            <a:avLst/>
          </a:prstGeom>
          <a:solidFill>
            <a:srgbClr val="DBDEE2"/>
          </a:solidFill>
          <a:ln/>
        </p:spPr>
        <p:txBody>
          <a:bodyPr/>
          <a:lstStyle/>
          <a:p>
            <a:endParaRPr lang="de-DE"/>
          </a:p>
        </p:txBody>
      </p:sp>
      <p:sp>
        <p:nvSpPr>
          <p:cNvPr id="48" name="Shape 14">
            <a:extLst>
              <a:ext uri="{FF2B5EF4-FFF2-40B4-BE49-F238E27FC236}">
                <a16:creationId xmlns:a16="http://schemas.microsoft.com/office/drawing/2014/main" id="{052CE9AB-7A15-6BF7-BA06-22248A89F170}"/>
              </a:ext>
            </a:extLst>
          </p:cNvPr>
          <p:cNvSpPr/>
          <p:nvPr/>
        </p:nvSpPr>
        <p:spPr>
          <a:xfrm>
            <a:off x="6889861" y="2772661"/>
            <a:ext cx="4427756" cy="18000"/>
          </a:xfrm>
          <a:prstGeom prst="rect">
            <a:avLst/>
          </a:prstGeom>
          <a:solidFill>
            <a:srgbClr val="DBDEE2"/>
          </a:solidFill>
          <a:ln/>
        </p:spPr>
        <p:txBody>
          <a:bodyPr/>
          <a:lstStyle/>
          <a:p>
            <a:endParaRPr lang="de-DE"/>
          </a:p>
        </p:txBody>
      </p:sp>
      <p:sp>
        <p:nvSpPr>
          <p:cNvPr id="4" name="Text 2">
            <a:extLst>
              <a:ext uri="{FF2B5EF4-FFF2-40B4-BE49-F238E27FC236}">
                <a16:creationId xmlns:a16="http://schemas.microsoft.com/office/drawing/2014/main" id="{A034BBF4-9E68-F529-8FFA-83E48B2FB0DE}"/>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06 / 13</a:t>
            </a:r>
            <a:endParaRPr lang="en-US" sz="1200"/>
          </a:p>
        </p:txBody>
      </p:sp>
      <p:sp>
        <p:nvSpPr>
          <p:cNvPr id="7" name="Text 1">
            <a:extLst>
              <a:ext uri="{FF2B5EF4-FFF2-40B4-BE49-F238E27FC236}">
                <a16:creationId xmlns:a16="http://schemas.microsoft.com/office/drawing/2014/main" id="{84AB2A51-FD77-D7B4-E0C0-E213C3A239B7}"/>
              </a:ext>
            </a:extLst>
          </p:cNvPr>
          <p:cNvSpPr/>
          <p:nvPr/>
        </p:nvSpPr>
        <p:spPr>
          <a:xfrm>
            <a:off x="415959" y="291694"/>
            <a:ext cx="8255203" cy="215798"/>
          </a:xfrm>
          <a:prstGeom prst="rect">
            <a:avLst/>
          </a:prstGeom>
          <a:noFill/>
          <a:ln/>
        </p:spPr>
        <p:txBody>
          <a:bodyPr wrap="square" rtlCol="0" anchor="ctr"/>
          <a:lstStyle/>
          <a:p>
            <a:r>
              <a:rPr lang="en-US" sz="1200" b="1" kern="0" spc="400">
                <a:solidFill>
                  <a:srgbClr val="E6D34F"/>
                </a:solidFill>
                <a:latin typeface="Courier New" pitchFamily="34" charset="0"/>
                <a:cs typeface="Courier New" pitchFamily="34" charset="-120"/>
              </a:rPr>
              <a:t>FORSCHUNGSFRAGE 1</a:t>
            </a:r>
          </a:p>
        </p:txBody>
      </p:sp>
      <p:pic>
        <p:nvPicPr>
          <p:cNvPr id="8" name="Grafik 7">
            <a:extLst>
              <a:ext uri="{FF2B5EF4-FFF2-40B4-BE49-F238E27FC236}">
                <a16:creationId xmlns:a16="http://schemas.microsoft.com/office/drawing/2014/main" id="{09264BA6-61D7-B3F6-BC59-4A3203D4F112}"/>
              </a:ext>
            </a:extLst>
          </p:cNvPr>
          <p:cNvPicPr>
            <a:picLocks noChangeAspect="1"/>
          </p:cNvPicPr>
          <p:nvPr/>
        </p:nvPicPr>
        <p:blipFill>
          <a:blip r:embed="rId3"/>
          <a:srcRect t="9502" r="16758"/>
          <a:stretch>
            <a:fillRect/>
          </a:stretch>
        </p:blipFill>
        <p:spPr>
          <a:xfrm>
            <a:off x="540969" y="656296"/>
            <a:ext cx="5364557" cy="4786570"/>
          </a:xfrm>
          <a:prstGeom prst="rect">
            <a:avLst/>
          </a:prstGeom>
        </p:spPr>
      </p:pic>
      <p:sp>
        <p:nvSpPr>
          <p:cNvPr id="9" name="Text 6">
            <a:extLst>
              <a:ext uri="{FF2B5EF4-FFF2-40B4-BE49-F238E27FC236}">
                <a16:creationId xmlns:a16="http://schemas.microsoft.com/office/drawing/2014/main" id="{2DD747AF-6C50-1B52-B0BA-D38D5D57D04A}"/>
              </a:ext>
            </a:extLst>
          </p:cNvPr>
          <p:cNvSpPr/>
          <p:nvPr/>
        </p:nvSpPr>
        <p:spPr>
          <a:xfrm>
            <a:off x="6889861" y="1241844"/>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Profitabilität</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&gt; 90 % </a:t>
            </a:r>
            <a:r>
              <a:rPr lang="en-US" sz="1400" dirty="0" err="1">
                <a:solidFill>
                  <a:srgbClr val="B3BC9A"/>
                </a:solidFill>
                <a:latin typeface="Arial" pitchFamily="34" charset="0"/>
                <a:ea typeface="Arial" pitchFamily="34" charset="-122"/>
                <a:cs typeface="Arial" pitchFamily="34" charset="-120"/>
              </a:rPr>
              <a:t>signifikant</a:t>
            </a:r>
            <a:endParaRPr lang="en-US" sz="1400" dirty="0"/>
          </a:p>
        </p:txBody>
      </p:sp>
      <p:sp>
        <p:nvSpPr>
          <p:cNvPr id="11" name="Text 8">
            <a:extLst>
              <a:ext uri="{FF2B5EF4-FFF2-40B4-BE49-F238E27FC236}">
                <a16:creationId xmlns:a16="http://schemas.microsoft.com/office/drawing/2014/main" id="{FDF0A116-617C-56BC-A5D6-771A6EF445BD}"/>
              </a:ext>
            </a:extLst>
          </p:cNvPr>
          <p:cNvSpPr/>
          <p:nvPr/>
        </p:nvSpPr>
        <p:spPr>
          <a:xfrm>
            <a:off x="9095148" y="1241843"/>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−0,43 − 0,46</a:t>
            </a:r>
            <a:endParaRPr lang="en-US" sz="2000" dirty="0"/>
          </a:p>
        </p:txBody>
      </p:sp>
      <p:sp>
        <p:nvSpPr>
          <p:cNvPr id="25" name="Text 6">
            <a:extLst>
              <a:ext uri="{FF2B5EF4-FFF2-40B4-BE49-F238E27FC236}">
                <a16:creationId xmlns:a16="http://schemas.microsoft.com/office/drawing/2014/main" id="{07C09C03-039C-EAAC-9D95-63ECA4205ED7}"/>
              </a:ext>
            </a:extLst>
          </p:cNvPr>
          <p:cNvSpPr/>
          <p:nvPr/>
        </p:nvSpPr>
        <p:spPr>
          <a:xfrm>
            <a:off x="6889864" y="2940018"/>
            <a:ext cx="4427756" cy="822810"/>
          </a:xfrm>
          <a:prstGeom prst="rect">
            <a:avLst/>
          </a:prstGeom>
          <a:noFill/>
          <a:ln/>
        </p:spPr>
        <p:txBody>
          <a:bodyPr wrap="square" rtlCol="0" anchor="t"/>
          <a:lstStyle/>
          <a:p>
            <a:pPr marL="0" indent="0" algn="l">
              <a:lnSpc>
                <a:spcPct val="105000"/>
              </a:lnSpc>
              <a:buNone/>
            </a:pPr>
            <a:r>
              <a:rPr lang="en-US" sz="1600" b="1" dirty="0" err="1">
                <a:solidFill>
                  <a:srgbClr val="F2EFDA"/>
                </a:solidFill>
                <a:latin typeface="Arial" pitchFamily="34" charset="0"/>
                <a:ea typeface="Arial" pitchFamily="34" charset="-122"/>
                <a:cs typeface="Arial" pitchFamily="34" charset="-120"/>
              </a:rPr>
              <a:t>Liquidität</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a:solidFill>
                  <a:srgbClr val="B3BC9A"/>
                </a:solidFill>
                <a:latin typeface="Arial" pitchFamily="34" charset="0"/>
                <a:ea typeface="Arial" pitchFamily="34" charset="-122"/>
                <a:cs typeface="Arial" pitchFamily="34" charset="-120"/>
              </a:rPr>
              <a:t>moderate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höchste</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Volatilität</a:t>
            </a:r>
            <a:endParaRPr lang="en-US" sz="1400" dirty="0"/>
          </a:p>
        </p:txBody>
      </p:sp>
      <p:sp>
        <p:nvSpPr>
          <p:cNvPr id="26" name="Text 8">
            <a:extLst>
              <a:ext uri="{FF2B5EF4-FFF2-40B4-BE49-F238E27FC236}">
                <a16:creationId xmlns:a16="http://schemas.microsoft.com/office/drawing/2014/main" id="{A97B506E-8AF6-85DE-2ABB-EE5DA0B15FF1}"/>
              </a:ext>
            </a:extLst>
          </p:cNvPr>
          <p:cNvSpPr/>
          <p:nvPr/>
        </p:nvSpPr>
        <p:spPr>
          <a:xfrm>
            <a:off x="9010242" y="2940018"/>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−0,17</a:t>
            </a:r>
            <a:endParaRPr lang="en-US" sz="2000" dirty="0"/>
          </a:p>
        </p:txBody>
      </p:sp>
      <p:sp>
        <p:nvSpPr>
          <p:cNvPr id="27" name="Shape 12">
            <a:extLst>
              <a:ext uri="{FF2B5EF4-FFF2-40B4-BE49-F238E27FC236}">
                <a16:creationId xmlns:a16="http://schemas.microsoft.com/office/drawing/2014/main" id="{E6F6CC6D-334E-6CDF-D99A-24637F0CF1C2}"/>
              </a:ext>
            </a:extLst>
          </p:cNvPr>
          <p:cNvSpPr/>
          <p:nvPr/>
        </p:nvSpPr>
        <p:spPr>
          <a:xfrm>
            <a:off x="6464958" y="4100014"/>
            <a:ext cx="5090567" cy="1558352"/>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8" name="Text 13">
            <a:extLst>
              <a:ext uri="{FF2B5EF4-FFF2-40B4-BE49-F238E27FC236}">
                <a16:creationId xmlns:a16="http://schemas.microsoft.com/office/drawing/2014/main" id="{26380E20-0DC4-1EEC-785D-D8AAA5F18DC8}"/>
              </a:ext>
            </a:extLst>
          </p:cNvPr>
          <p:cNvSpPr/>
          <p:nvPr/>
        </p:nvSpPr>
        <p:spPr>
          <a:xfrm>
            <a:off x="6499989" y="4317919"/>
            <a:ext cx="802254"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3</a:t>
            </a:r>
            <a:endParaRPr lang="en-US" sz="1400" dirty="0"/>
          </a:p>
        </p:txBody>
      </p:sp>
      <p:sp>
        <p:nvSpPr>
          <p:cNvPr id="29" name="Shape 14">
            <a:extLst>
              <a:ext uri="{FF2B5EF4-FFF2-40B4-BE49-F238E27FC236}">
                <a16:creationId xmlns:a16="http://schemas.microsoft.com/office/drawing/2014/main" id="{434B39D1-3FEA-6F58-40BD-D60B74C34D61}"/>
              </a:ext>
            </a:extLst>
          </p:cNvPr>
          <p:cNvSpPr/>
          <p:nvPr/>
        </p:nvSpPr>
        <p:spPr>
          <a:xfrm>
            <a:off x="6889860" y="4466282"/>
            <a:ext cx="4427756" cy="18000"/>
          </a:xfrm>
          <a:prstGeom prst="rect">
            <a:avLst/>
          </a:prstGeom>
          <a:solidFill>
            <a:srgbClr val="DBDEE2"/>
          </a:solidFill>
          <a:ln/>
        </p:spPr>
        <p:txBody>
          <a:bodyPr/>
          <a:lstStyle/>
          <a:p>
            <a:endParaRPr lang="de-DE"/>
          </a:p>
        </p:txBody>
      </p:sp>
      <p:sp>
        <p:nvSpPr>
          <p:cNvPr id="30" name="Text 6">
            <a:extLst>
              <a:ext uri="{FF2B5EF4-FFF2-40B4-BE49-F238E27FC236}">
                <a16:creationId xmlns:a16="http://schemas.microsoft.com/office/drawing/2014/main" id="{1F0D1679-B120-1F49-57BA-090DF53030FF}"/>
              </a:ext>
            </a:extLst>
          </p:cNvPr>
          <p:cNvSpPr/>
          <p:nvPr/>
        </p:nvSpPr>
        <p:spPr>
          <a:xfrm>
            <a:off x="6889863" y="4633639"/>
            <a:ext cx="4427756" cy="822810"/>
          </a:xfrm>
          <a:prstGeom prst="rect">
            <a:avLst/>
          </a:prstGeom>
          <a:noFill/>
          <a:ln/>
        </p:spPr>
        <p:txBody>
          <a:bodyPr wrap="square" rtlCol="0" anchor="t"/>
          <a:lstStyle/>
          <a:p>
            <a:pPr>
              <a:lnSpc>
                <a:spcPct val="105000"/>
              </a:lnSpc>
            </a:pPr>
            <a:r>
              <a:rPr lang="en-US" sz="1600" b="1" dirty="0" err="1">
                <a:solidFill>
                  <a:srgbClr val="F2EFDA"/>
                </a:solidFill>
                <a:latin typeface="Arial" pitchFamily="34" charset="0"/>
                <a:ea typeface="Arial" pitchFamily="34" charset="-122"/>
                <a:cs typeface="Arial" pitchFamily="34" charset="-120"/>
              </a:rPr>
              <a:t>Kapitalstruktur</a:t>
            </a:r>
            <a:r>
              <a:rPr lang="en-US" sz="1600" b="1" dirty="0">
                <a:solidFill>
                  <a:srgbClr val="F2EFDA"/>
                </a:solidFill>
                <a:latin typeface="Arial" pitchFamily="34" charset="0"/>
                <a:ea typeface="Arial" pitchFamily="34" charset="-122"/>
                <a:cs typeface="Arial" pitchFamily="34" charset="-120"/>
              </a:rPr>
              <a:t> </a:t>
            </a:r>
            <a:endParaRPr lang="en-US" sz="1400" b="1" dirty="0">
              <a:solidFill>
                <a:srgbClr val="F2EFDA"/>
              </a:solidFill>
              <a:latin typeface="Arial" pitchFamily="34" charset="0"/>
              <a:ea typeface="Arial" pitchFamily="34" charset="-122"/>
              <a:cs typeface="Arial" pitchFamily="34" charset="-120"/>
            </a:endParaRPr>
          </a:p>
          <a:p>
            <a:pPr marL="0" indent="0" algn="l">
              <a:lnSpc>
                <a:spcPct val="105000"/>
              </a:lnSpc>
              <a:buNone/>
            </a:pPr>
            <a:endParaRPr lang="en-US" sz="1400" b="1" dirty="0">
              <a:solidFill>
                <a:srgbClr val="F2EFDA"/>
              </a:solidFill>
              <a:latin typeface="Arial" pitchFamily="34" charset="0"/>
              <a:ea typeface="Arial" pitchFamily="34" charset="-122"/>
              <a:cs typeface="Arial" pitchFamily="34" charset="-120"/>
            </a:endParaRPr>
          </a:p>
          <a:p>
            <a:pPr>
              <a:lnSpc>
                <a:spcPct val="105000"/>
              </a:lnSpc>
            </a:pPr>
            <a:r>
              <a:rPr lang="en-US" sz="1400" dirty="0" err="1">
                <a:solidFill>
                  <a:srgbClr val="B3BC9A"/>
                </a:solidFill>
                <a:latin typeface="Arial" pitchFamily="34" charset="0"/>
                <a:ea typeface="Arial" pitchFamily="34" charset="-122"/>
                <a:cs typeface="Arial" pitchFamily="34" charset="-120"/>
              </a:rPr>
              <a:t>kaum</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Korrektur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geringster</a:t>
            </a:r>
            <a:r>
              <a:rPr lang="en-US" sz="1400" dirty="0">
                <a:solidFill>
                  <a:srgbClr val="B3BC9A"/>
                </a:solidFill>
                <a:latin typeface="Arial" pitchFamily="34" charset="0"/>
                <a:ea typeface="Arial" pitchFamily="34" charset="-122"/>
                <a:cs typeface="Arial" pitchFamily="34" charset="-120"/>
              </a:rPr>
              <a:t> </a:t>
            </a:r>
            <a:r>
              <a:rPr lang="en-US" sz="1400" dirty="0" err="1">
                <a:solidFill>
                  <a:srgbClr val="B3BC9A"/>
                </a:solidFill>
                <a:latin typeface="Arial" pitchFamily="34" charset="0"/>
                <a:ea typeface="Arial" pitchFamily="34" charset="-122"/>
                <a:cs typeface="Arial" pitchFamily="34" charset="-120"/>
              </a:rPr>
              <a:t>Anteil</a:t>
            </a:r>
            <a:r>
              <a:rPr lang="en-US" sz="1400" dirty="0">
                <a:solidFill>
                  <a:srgbClr val="B3BC9A"/>
                </a:solidFill>
                <a:latin typeface="Arial" pitchFamily="34" charset="0"/>
                <a:ea typeface="Arial" pitchFamily="34" charset="-122"/>
                <a:cs typeface="Arial" pitchFamily="34" charset="-120"/>
              </a:rPr>
              <a:t>  Mean-Reversion</a:t>
            </a:r>
            <a:endParaRPr lang="en-US" sz="1400" dirty="0"/>
          </a:p>
        </p:txBody>
      </p:sp>
      <p:sp>
        <p:nvSpPr>
          <p:cNvPr id="31" name="Text 8">
            <a:extLst>
              <a:ext uri="{FF2B5EF4-FFF2-40B4-BE49-F238E27FC236}">
                <a16:creationId xmlns:a16="http://schemas.microsoft.com/office/drawing/2014/main" id="{2447E42B-9813-60B5-2A8B-9AB04AD1DF63}"/>
              </a:ext>
            </a:extLst>
          </p:cNvPr>
          <p:cNvSpPr/>
          <p:nvPr/>
        </p:nvSpPr>
        <p:spPr>
          <a:xfrm>
            <a:off x="9010241" y="4633639"/>
            <a:ext cx="2222469" cy="822810"/>
          </a:xfrm>
          <a:prstGeom prst="rect">
            <a:avLst/>
          </a:prstGeom>
          <a:noFill/>
          <a:ln/>
        </p:spPr>
        <p:txBody>
          <a:bodyPr wrap="square" rtlCol="0" anchor="ctr"/>
          <a:lstStyle/>
          <a:p>
            <a:pPr marL="0" indent="0" algn="r">
              <a:lnSpc>
                <a:spcPct val="105000"/>
              </a:lnSpc>
              <a:buNone/>
            </a:pPr>
            <a:r>
              <a:rPr lang="en-US" sz="2000" b="1" dirty="0">
                <a:solidFill>
                  <a:srgbClr val="79A2F9"/>
                </a:solidFill>
                <a:latin typeface="Courier New" pitchFamily="34" charset="0"/>
                <a:ea typeface="Courier New" pitchFamily="34" charset="-122"/>
                <a:cs typeface="Courier New" pitchFamily="34" charset="-120"/>
              </a:rPr>
              <a:t>−0,07</a:t>
            </a:r>
            <a:endParaRPr lang="en-US" sz="2000" dirty="0"/>
          </a:p>
        </p:txBody>
      </p:sp>
      <p:sp>
        <p:nvSpPr>
          <p:cNvPr id="3" name="!!K_Q1">
            <a:extLst>
              <a:ext uri="{FF2B5EF4-FFF2-40B4-BE49-F238E27FC236}">
                <a16:creationId xmlns:a16="http://schemas.microsoft.com/office/drawing/2014/main" id="{702B3D6D-0D82-C280-8AFD-C34D0DD12AC5}"/>
              </a:ext>
            </a:extLst>
          </p:cNvPr>
          <p:cNvSpPr/>
          <p:nvPr/>
        </p:nvSpPr>
        <p:spPr>
          <a:xfrm>
            <a:off x="495633"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 name="!!L_Q1">
            <a:extLst>
              <a:ext uri="{FF2B5EF4-FFF2-40B4-BE49-F238E27FC236}">
                <a16:creationId xmlns:a16="http://schemas.microsoft.com/office/drawing/2014/main" id="{29130253-F7D9-5E0D-67D2-5A9DA87F2792}"/>
              </a:ext>
            </a:extLst>
          </p:cNvPr>
          <p:cNvSpPr/>
          <p:nvPr/>
        </p:nvSpPr>
        <p:spPr>
          <a:xfrm>
            <a:off x="749836"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SIGNIFIKANZRATEN</a:t>
            </a:r>
            <a:endParaRPr lang="en-US" sz="1000" dirty="0"/>
          </a:p>
        </p:txBody>
      </p:sp>
      <p:sp>
        <p:nvSpPr>
          <p:cNvPr id="10" name="!!T_Q1">
            <a:extLst>
              <a:ext uri="{FF2B5EF4-FFF2-40B4-BE49-F238E27FC236}">
                <a16:creationId xmlns:a16="http://schemas.microsoft.com/office/drawing/2014/main" id="{A9DB90E9-468B-57E5-79B7-AB5CF2298323}"/>
              </a:ext>
            </a:extLst>
          </p:cNvPr>
          <p:cNvSpPr/>
          <p:nvPr/>
        </p:nvSpPr>
        <p:spPr>
          <a:xfrm>
            <a:off x="749836" y="6204879"/>
            <a:ext cx="2998792" cy="230000"/>
          </a:xfrm>
          <a:prstGeom prst="rect">
            <a:avLst/>
          </a:prstGeom>
          <a:noFill/>
          <a:ln/>
        </p:spPr>
        <p:txBody>
          <a:bodyPr wrap="square" rtlCol="0" anchor="t"/>
          <a:lstStyle/>
          <a:p>
            <a:pPr marL="0" indent="0" algn="l">
              <a:lnSpc>
                <a:spcPct val="100000"/>
              </a:lnSpc>
              <a:buNone/>
            </a:pPr>
            <a:r>
              <a:rPr lang="en-US" sz="1250" b="1" kern="0" dirty="0">
                <a:solidFill>
                  <a:srgbClr val="78A2F9"/>
                </a:solidFill>
                <a:latin typeface="Courier New" pitchFamily="34" charset="0"/>
                <a:ea typeface="Courier New" pitchFamily="34" charset="-122"/>
                <a:cs typeface="Courier New" pitchFamily="34" charset="-120"/>
              </a:rPr>
              <a:t>&gt; 90 % </a:t>
            </a:r>
            <a:r>
              <a:rPr lang="en-US" sz="1250" b="1" kern="0" dirty="0">
                <a:solidFill>
                  <a:srgbClr val="F2EFDA"/>
                </a:solidFill>
                <a:latin typeface="Courier New" pitchFamily="34" charset="0"/>
                <a:ea typeface="Courier New" pitchFamily="34" charset="-122"/>
                <a:cs typeface="Courier New" pitchFamily="34" charset="-120"/>
              </a:rPr>
              <a:t>· </a:t>
            </a:r>
            <a:r>
              <a:rPr lang="en-US" sz="1250" b="1" kern="0" dirty="0">
                <a:solidFill>
                  <a:srgbClr val="3CBA77"/>
                </a:solidFill>
                <a:latin typeface="Courier New" pitchFamily="34" charset="0"/>
                <a:ea typeface="Courier New" pitchFamily="34" charset="-122"/>
                <a:cs typeface="Courier New" pitchFamily="34" charset="-120"/>
              </a:rPr>
              <a:t>46 %</a:t>
            </a:r>
            <a:r>
              <a:rPr lang="en-US" sz="1250" b="1" kern="0" dirty="0">
                <a:solidFill>
                  <a:srgbClr val="F2EFDA"/>
                </a:solidFill>
                <a:latin typeface="Courier New" pitchFamily="34" charset="0"/>
                <a:ea typeface="Courier New" pitchFamily="34" charset="-122"/>
                <a:cs typeface="Courier New" pitchFamily="34" charset="-120"/>
              </a:rPr>
              <a:t> · </a:t>
            </a:r>
            <a:r>
              <a:rPr lang="en-US" sz="1250" b="1" kern="0" dirty="0">
                <a:solidFill>
                  <a:srgbClr val="F46451"/>
                </a:solidFill>
                <a:latin typeface="Courier New" pitchFamily="34" charset="0"/>
                <a:cs typeface="Courier New" pitchFamily="34" charset="-120"/>
              </a:rPr>
              <a:t>≈ 25 %</a:t>
            </a:r>
          </a:p>
        </p:txBody>
      </p:sp>
      <p:sp>
        <p:nvSpPr>
          <p:cNvPr id="12" name="!!K_Q2">
            <a:extLst>
              <a:ext uri="{FF2B5EF4-FFF2-40B4-BE49-F238E27FC236}">
                <a16:creationId xmlns:a16="http://schemas.microsoft.com/office/drawing/2014/main" id="{76958959-4238-A617-8B72-2C231878D7D0}"/>
              </a:ext>
            </a:extLst>
          </p:cNvPr>
          <p:cNvSpPr/>
          <p:nvPr/>
        </p:nvSpPr>
        <p:spPr>
          <a:xfrm>
            <a:off x="4202831"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3" name="!!L_Q2">
            <a:extLst>
              <a:ext uri="{FF2B5EF4-FFF2-40B4-BE49-F238E27FC236}">
                <a16:creationId xmlns:a16="http://schemas.microsoft.com/office/drawing/2014/main" id="{83137080-A3EB-B927-7A40-B7CF9AA56611}"/>
              </a:ext>
            </a:extLst>
          </p:cNvPr>
          <p:cNvSpPr/>
          <p:nvPr/>
        </p:nvSpPr>
        <p:spPr>
          <a:xfrm>
            <a:off x="4457034" y="5864879"/>
            <a:ext cx="2998792" cy="23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MODELLARTEFAKTE</a:t>
            </a:r>
            <a:endParaRPr lang="en-US" sz="1000"/>
          </a:p>
        </p:txBody>
      </p:sp>
      <p:sp>
        <p:nvSpPr>
          <p:cNvPr id="15" name="!!T_Q2">
            <a:extLst>
              <a:ext uri="{FF2B5EF4-FFF2-40B4-BE49-F238E27FC236}">
                <a16:creationId xmlns:a16="http://schemas.microsoft.com/office/drawing/2014/main" id="{DA4278AB-3367-6269-9062-606637343188}"/>
              </a:ext>
            </a:extLst>
          </p:cNvPr>
          <p:cNvSpPr/>
          <p:nvPr/>
        </p:nvSpPr>
        <p:spPr>
          <a:xfrm>
            <a:off x="4457034" y="6124879"/>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11,3 %</a:t>
            </a:r>
            <a:endParaRPr lang="en-US" sz="1250" dirty="0"/>
          </a:p>
        </p:txBody>
      </p:sp>
      <p:sp>
        <p:nvSpPr>
          <p:cNvPr id="16" name="!!K_Q3">
            <a:extLst>
              <a:ext uri="{FF2B5EF4-FFF2-40B4-BE49-F238E27FC236}">
                <a16:creationId xmlns:a16="http://schemas.microsoft.com/office/drawing/2014/main" id="{B0563130-96DE-424D-4161-E920AD40A73C}"/>
              </a:ext>
            </a:extLst>
          </p:cNvPr>
          <p:cNvSpPr/>
          <p:nvPr/>
        </p:nvSpPr>
        <p:spPr>
          <a:xfrm>
            <a:off x="7910029" y="5754879"/>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7" name="!!L_Q3">
            <a:extLst>
              <a:ext uri="{FF2B5EF4-FFF2-40B4-BE49-F238E27FC236}">
                <a16:creationId xmlns:a16="http://schemas.microsoft.com/office/drawing/2014/main" id="{66ADFB0A-14A9-A6EB-9742-187480BB9643}"/>
              </a:ext>
            </a:extLst>
          </p:cNvPr>
          <p:cNvSpPr/>
          <p:nvPr/>
        </p:nvSpPr>
        <p:spPr>
          <a:xfrm>
            <a:off x="8164232" y="5864879"/>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VOLATILE FIRMEN</a:t>
            </a:r>
            <a:endParaRPr lang="en-US" sz="1000" dirty="0"/>
          </a:p>
        </p:txBody>
      </p:sp>
      <p:sp>
        <p:nvSpPr>
          <p:cNvPr id="18" name="!!T_Q3">
            <a:extLst>
              <a:ext uri="{FF2B5EF4-FFF2-40B4-BE49-F238E27FC236}">
                <a16:creationId xmlns:a16="http://schemas.microsoft.com/office/drawing/2014/main" id="{7C4E4A49-A0F3-379D-FF5D-A51153E2E020}"/>
              </a:ext>
            </a:extLst>
          </p:cNvPr>
          <p:cNvSpPr/>
          <p:nvPr/>
        </p:nvSpPr>
        <p:spPr>
          <a:xfrm>
            <a:off x="8164232" y="6124879"/>
            <a:ext cx="2998792" cy="520000"/>
          </a:xfrm>
          <a:prstGeom prst="rect">
            <a:avLst/>
          </a:prstGeom>
          <a:noFill/>
          <a:ln/>
        </p:spPr>
        <p:txBody>
          <a:bodyPr wrap="square" rtlCol="0" anchor="t"/>
          <a:lstStyle/>
          <a:p>
            <a:pPr marL="0" indent="0" algn="l">
              <a:lnSpc>
                <a:spcPct val="100000"/>
              </a:lnSpc>
              <a:buNone/>
            </a:pPr>
            <a:r>
              <a:rPr lang="en-US" sz="1250" b="1" kern="0" dirty="0" err="1">
                <a:solidFill>
                  <a:srgbClr val="F2EFDA"/>
                </a:solidFill>
                <a:latin typeface="Courier New" pitchFamily="34" charset="0"/>
                <a:ea typeface="Courier New" pitchFamily="34" charset="-122"/>
                <a:cs typeface="Courier New" pitchFamily="34" charset="-120"/>
              </a:rPr>
              <a:t>σ</a:t>
            </a:r>
            <a:r>
              <a:rPr lang="en-US" sz="1250" b="1" kern="0" dirty="0">
                <a:solidFill>
                  <a:srgbClr val="F2EFDA"/>
                </a:solidFill>
                <a:latin typeface="Courier New" pitchFamily="34" charset="0"/>
                <a:ea typeface="Courier New" pitchFamily="34" charset="-122"/>
                <a:cs typeface="Courier New" pitchFamily="34" charset="-120"/>
              </a:rPr>
              <a:t> &gt; 2:  </a:t>
            </a:r>
            <a:r>
              <a:rPr lang="en-US" sz="1250" b="1" kern="0" dirty="0" err="1">
                <a:solidFill>
                  <a:srgbClr val="F2EFDA"/>
                </a:solidFill>
                <a:latin typeface="Courier New" pitchFamily="34" charset="0"/>
                <a:ea typeface="Courier New" pitchFamily="34" charset="-122"/>
                <a:cs typeface="Courier New" pitchFamily="34" charset="-120"/>
              </a:rPr>
              <a:t>φ</a:t>
            </a:r>
            <a:r>
              <a:rPr lang="en-US" sz="1250" b="1" kern="0" dirty="0">
                <a:solidFill>
                  <a:srgbClr val="F2EFDA"/>
                </a:solidFill>
                <a:latin typeface="Courier New" pitchFamily="34" charset="0"/>
                <a:ea typeface="Courier New" pitchFamily="34" charset="-122"/>
                <a:cs typeface="Courier New" pitchFamily="34" charset="-120"/>
              </a:rPr>
              <a:t>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Bonferroni 37 % </a:t>
            </a:r>
            <a:r>
              <a:rPr lang="en-US" sz="950" kern="0" dirty="0" err="1">
                <a:solidFill>
                  <a:srgbClr val="B3BC9A"/>
                </a:solidFill>
                <a:latin typeface="Arial" pitchFamily="34" charset="0"/>
                <a:ea typeface="Arial" pitchFamily="34" charset="-122"/>
                <a:cs typeface="Arial" pitchFamily="34" charset="-120"/>
              </a:rPr>
              <a:t>statt</a:t>
            </a:r>
            <a:r>
              <a:rPr lang="en-US" sz="950" kern="0" dirty="0">
                <a:solidFill>
                  <a:srgbClr val="B3BC9A"/>
                </a:solidFill>
                <a:latin typeface="Arial" pitchFamily="34" charset="0"/>
                <a:ea typeface="Arial" pitchFamily="34" charset="-122"/>
                <a:cs typeface="Arial" pitchFamily="34" charset="-120"/>
              </a:rPr>
              <a:t> 10 % (Current Ratio) —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Bewegung</a:t>
            </a:r>
            <a:r>
              <a:rPr lang="en-US" sz="950" b="1" kern="0" dirty="0">
                <a:solidFill>
                  <a:srgbClr val="F2EFDA"/>
                </a:solidFill>
                <a:latin typeface="Arial" pitchFamily="34" charset="0"/>
                <a:ea typeface="Arial" pitchFamily="34" charset="-122"/>
                <a:cs typeface="Arial" pitchFamily="34" charset="-120"/>
              </a:rPr>
              <a:t>, </a:t>
            </a:r>
            <a:r>
              <a:rPr lang="en-US" sz="950" b="1" kern="0" dirty="0" err="1">
                <a:solidFill>
                  <a:srgbClr val="F2EFDA"/>
                </a:solidFill>
                <a:latin typeface="Arial" pitchFamily="34" charset="0"/>
                <a:ea typeface="Arial" pitchFamily="34" charset="-122"/>
                <a:cs typeface="Arial" pitchFamily="34" charset="-120"/>
              </a:rPr>
              <a:t>mehr</a:t>
            </a:r>
            <a:r>
              <a:rPr lang="en-US" sz="950" b="1" kern="0" dirty="0">
                <a:solidFill>
                  <a:srgbClr val="F2EFDA"/>
                </a:solidFill>
                <a:latin typeface="Arial" pitchFamily="34" charset="0"/>
                <a:ea typeface="Arial" pitchFamily="34" charset="-122"/>
                <a:cs typeface="Arial" pitchFamily="34" charset="-120"/>
              </a:rPr>
              <a:t> Signal</a:t>
            </a:r>
            <a:r>
              <a:rPr lang="en-US" sz="950" kern="0" dirty="0">
                <a:solidFill>
                  <a:srgbClr val="B3BC9A"/>
                </a:solidFill>
                <a:latin typeface="Arial" pitchFamily="34" charset="0"/>
                <a:ea typeface="Arial" pitchFamily="34" charset="-122"/>
                <a:cs typeface="Arial" pitchFamily="34" charset="-120"/>
              </a:rPr>
              <a:t>.</a:t>
            </a:r>
            <a:endParaRPr lang="en-US" sz="950" dirty="0"/>
          </a:p>
        </p:txBody>
      </p:sp>
    </p:spTree>
    <p:extLst>
      <p:ext uri="{BB962C8B-B14F-4D97-AF65-F5344CB8AC3E}">
        <p14:creationId xmlns:p14="http://schemas.microsoft.com/office/powerpoint/2010/main" val="27825398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Kennzahl schlägt Sektor</a:t>
            </a:r>
            <a:endParaRPr lang="en-US" sz="2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
        <p:nvSpPr>
          <p:cNvPr id="230" name="!!K_Sp1"/>
          <p:cNvSpPr/>
          <p:nvPr/>
        </p:nvSpPr>
        <p:spPr>
          <a:xfrm>
            <a:off x="6235294" y="1904695"/>
            <a:ext cx="1693631" cy="1000000"/>
          </a:xfrm>
          <a:prstGeom prst="roundRect">
            <a:avLst>
              <a:gd name="adj" fmla="val 3197"/>
            </a:avLst>
          </a:prstGeom>
          <a:solidFill>
            <a:srgbClr val="153B29"/>
          </a:solidFill>
          <a:ln w="12700">
            <a:solidFill>
              <a:srgbClr val="79A2F9"/>
            </a:solidFill>
            <a:prstDash val="solid"/>
          </a:ln>
        </p:spPr>
        <p:txBody>
          <a:bodyPr/>
          <a:lstStyle/>
          <a:p>
            <a:endParaRPr lang="de-DE"/>
          </a:p>
        </p:txBody>
      </p:sp>
      <p:sp>
        <p:nvSpPr>
          <p:cNvPr id="231" name="!!L_Sp1"/>
          <p:cNvSpPr/>
          <p:nvPr/>
        </p:nvSpPr>
        <p:spPr>
          <a:xfrm>
            <a:off x="6315294"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79A2F9"/>
                </a:solidFill>
                <a:latin typeface="Courier New" pitchFamily="34" charset="0"/>
                <a:ea typeface="Courier New" pitchFamily="34" charset="-122"/>
                <a:cs typeface="Courier New" pitchFamily="34" charset="-120"/>
              </a:rPr>
              <a:t>PROFITABILITÄT</a:t>
            </a:r>
            <a:endParaRPr lang="en-US" sz="850" dirty="0"/>
          </a:p>
        </p:txBody>
      </p:sp>
      <p:sp>
        <p:nvSpPr>
          <p:cNvPr id="232" name="!!T_Sp1"/>
          <p:cNvSpPr/>
          <p:nvPr/>
        </p:nvSpPr>
        <p:spPr>
          <a:xfrm>
            <a:off x="6315294"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0,12</a:t>
            </a:r>
            <a:endParaRPr lang="en-US" sz="2200" dirty="0"/>
          </a:p>
        </p:txBody>
      </p:sp>
      <p:sp>
        <p:nvSpPr>
          <p:cNvPr id="233" name="!!K_Sp2"/>
          <p:cNvSpPr/>
          <p:nvPr/>
        </p:nvSpPr>
        <p:spPr>
          <a:xfrm>
            <a:off x="8048925" y="1904695"/>
            <a:ext cx="1693631" cy="1000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234" name="!!L_Sp2"/>
          <p:cNvSpPr/>
          <p:nvPr/>
        </p:nvSpPr>
        <p:spPr>
          <a:xfrm>
            <a:off x="8128925"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E6D34F"/>
                </a:solidFill>
                <a:latin typeface="Courier New" pitchFamily="34" charset="0"/>
                <a:ea typeface="Courier New" pitchFamily="34" charset="-122"/>
                <a:cs typeface="Courier New" pitchFamily="34" charset="-120"/>
              </a:rPr>
              <a:t>LIQUIDITÄT</a:t>
            </a:r>
            <a:endParaRPr lang="en-US" sz="850" dirty="0"/>
          </a:p>
        </p:txBody>
      </p:sp>
      <p:sp>
        <p:nvSpPr>
          <p:cNvPr id="235" name="!!T_Sp2"/>
          <p:cNvSpPr/>
          <p:nvPr/>
        </p:nvSpPr>
        <p:spPr>
          <a:xfrm>
            <a:off x="8128925"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0,24</a:t>
            </a:r>
            <a:endParaRPr lang="en-US" sz="2200" dirty="0"/>
          </a:p>
        </p:txBody>
      </p:sp>
      <p:sp>
        <p:nvSpPr>
          <p:cNvPr id="236" name="!!K_Sp3"/>
          <p:cNvSpPr/>
          <p:nvPr/>
        </p:nvSpPr>
        <p:spPr>
          <a:xfrm>
            <a:off x="9862556" y="1904695"/>
            <a:ext cx="1693631" cy="1000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237" name="!!L_Sp3"/>
          <p:cNvSpPr/>
          <p:nvPr/>
        </p:nvSpPr>
        <p:spPr>
          <a:xfrm>
            <a:off x="9942556" y="2010000"/>
            <a:ext cx="1533631" cy="210000"/>
          </a:xfrm>
          <a:prstGeom prst="rect">
            <a:avLst/>
          </a:prstGeom>
          <a:noFill/>
          <a:ln/>
        </p:spPr>
        <p:txBody>
          <a:bodyPr wrap="square" rtlCol="0" anchor="t"/>
          <a:lstStyle/>
          <a:p>
            <a:pPr marL="0" indent="0" algn="ctr">
              <a:lnSpc>
                <a:spcPct val="105000"/>
              </a:lnSpc>
              <a:buNone/>
            </a:pPr>
            <a:r>
              <a:rPr lang="en-US" sz="850" b="1" kern="0" dirty="0">
                <a:solidFill>
                  <a:srgbClr val="F36451"/>
                </a:solidFill>
                <a:latin typeface="Courier New" pitchFamily="34" charset="0"/>
                <a:ea typeface="Courier New" pitchFamily="34" charset="-122"/>
                <a:cs typeface="Courier New" pitchFamily="34" charset="-120"/>
              </a:rPr>
              <a:t>KAPITALSTRUKTUR</a:t>
            </a:r>
            <a:endParaRPr lang="en-US" sz="850" dirty="0"/>
          </a:p>
        </p:txBody>
      </p:sp>
      <p:sp>
        <p:nvSpPr>
          <p:cNvPr id="238" name="!!T_Sp3"/>
          <p:cNvSpPr/>
          <p:nvPr/>
        </p:nvSpPr>
        <p:spPr>
          <a:xfrm>
            <a:off x="9942556" y="2260000"/>
            <a:ext cx="1533631" cy="520000"/>
          </a:xfrm>
          <a:prstGeom prst="rect">
            <a:avLst/>
          </a:prstGeom>
          <a:noFill/>
          <a:ln/>
        </p:spPr>
        <p:txBody>
          <a:bodyPr wrap="square" rtlCol="0" anchor="t"/>
          <a:lstStyle/>
          <a:p>
            <a:pPr marL="0" indent="0" algn="ctr">
              <a:lnSpc>
                <a:spcPct val="100000"/>
              </a:lnSpc>
              <a:buNone/>
            </a:pPr>
            <a:r>
              <a:rPr lang="en-US" sz="2200" b="1" kern="0" dirty="0">
                <a:solidFill>
                  <a:srgbClr val="F2EFDA"/>
                </a:solidFill>
                <a:latin typeface="Courier New" pitchFamily="34" charset="0"/>
                <a:ea typeface="Courier New" pitchFamily="34" charset="-122"/>
                <a:cs typeface="Courier New" pitchFamily="34" charset="-120"/>
              </a:rPr>
              <a:t>0,13</a:t>
            </a:r>
            <a:endParaRPr lang="en-US" sz="2200" dirty="0"/>
          </a:p>
        </p:txBody>
      </p:sp>
      <p:sp>
        <p:nvSpPr>
          <p:cNvPr id="240" name="!!U_Spann"/>
          <p:cNvSpPr/>
          <p:nvPr/>
        </p:nvSpPr>
        <p:spPr>
          <a:xfrm>
            <a:off x="6235294" y="3010000"/>
            <a:ext cx="5320894" cy="230000"/>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φ-Spannweite der zehn Sektor-Mediane je Dynamiktyp</a:t>
            </a:r>
            <a:endParaRPr lang="en-US" sz="950" dirty="0"/>
          </a:p>
        </p:txBody>
      </p:sp>
      <p:sp>
        <p:nvSpPr>
          <p:cNvPr id="241" name="!!K_Ausn"/>
          <p:cNvSpPr/>
          <p:nvPr/>
        </p:nvSpPr>
        <p:spPr>
          <a:xfrm>
            <a:off x="6235294" y="3450000"/>
            <a:ext cx="5320894" cy="11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242" name="!!L_Ausn"/>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AUSNAHMEN — WO EXTERNE MECHANIK EINGREIFT</a:t>
            </a:r>
            <a:endParaRPr lang="en-US" sz="1000" dirty="0"/>
          </a:p>
        </p:txBody>
      </p:sp>
      <p:sp>
        <p:nvSpPr>
          <p:cNvPr id="243" name="!!T_Ausn"/>
          <p:cNvSpPr/>
          <p:nvPr/>
        </p:nvSpPr>
        <p:spPr>
          <a:xfrm>
            <a:off x="6489497" y="3860000"/>
            <a:ext cx="4812488" cy="600000"/>
          </a:xfrm>
          <a:prstGeom prst="rect">
            <a:avLst/>
          </a:prstGeom>
          <a:noFill/>
          <a:ln/>
        </p:spPr>
        <p:txBody>
          <a:bodyPr wrap="square" rtlCol="0" anchor="t"/>
          <a:lstStyle/>
          <a:p>
            <a:pPr marL="0" indent="0" algn="l">
              <a:lnSpc>
                <a:spcPct val="108000"/>
              </a:lnSpc>
              <a:buNone/>
            </a:pPr>
            <a:r>
              <a:rPr lang="en-US" sz="1000" b="1" kern="0" dirty="0">
                <a:solidFill>
                  <a:srgbClr val="F2EFDA"/>
                </a:solidFill>
                <a:latin typeface="Arial" pitchFamily="34" charset="0"/>
                <a:ea typeface="Arial" pitchFamily="34" charset="-122"/>
                <a:cs typeface="Arial" pitchFamily="34" charset="-120"/>
              </a:rPr>
              <a:t>Immobilien</a:t>
            </a:r>
            <a:r>
              <a:rPr lang="en-US" sz="1000" kern="0" dirty="0">
                <a:solidFill>
                  <a:srgbClr val="B3BC9A"/>
                </a:solidFill>
                <a:latin typeface="Arial" pitchFamily="34" charset="0"/>
                <a:ea typeface="Arial" pitchFamily="34" charset="-122"/>
                <a:cs typeface="Arial" pitchFamily="34" charset="-120"/>
              </a:rPr>
              <a:t>: σ 2,6-fach, stärkste CR-Korrektur (REIT-Refinanzierung) · </a:t>
            </a:r>
            <a:r>
              <a:rPr lang="en-US" sz="1000" b="1" kern="0" dirty="0">
                <a:solidFill>
                  <a:srgbClr val="F2EFDA"/>
                </a:solidFill>
                <a:latin typeface="Arial" pitchFamily="34" charset="0"/>
                <a:ea typeface="Arial" pitchFamily="34" charset="-122"/>
                <a:cs typeface="Arial" pitchFamily="34" charset="-120"/>
              </a:rPr>
              <a:t>Versorger</a:t>
            </a:r>
            <a:r>
              <a:rPr lang="en-US" sz="1000" kern="0" dirty="0">
                <a:solidFill>
                  <a:srgbClr val="B3BC9A"/>
                </a:solidFill>
                <a:latin typeface="Arial" pitchFamily="34" charset="0"/>
                <a:ea typeface="Arial" pitchFamily="34" charset="-122"/>
                <a:cs typeface="Arial" pitchFamily="34" charset="-120"/>
              </a:rPr>
              <a:t>: einzige konsistente Kapitalstruktur-Korrektur (Regulierung).</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1</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07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Die Kennzahl prägt die Dynamik stärker als der Sektor</a:t>
            </a:r>
            <a:endParaRPr lang="en-US" sz="200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a:t>
            </a:r>
            <a:endParaRPr lang="en-US" sz="105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φ-Spannweite 0,12</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Sektor-Mediane −0,37 … −0,50, alle revertieren stark. Vorn: Kommunikation −0,49 · Immobilien −0,47; hinten: </a:t>
            </a:r>
            <a:r>
              <a:rPr lang="en-US" sz="950" b="1" kern="0">
                <a:solidFill>
                  <a:srgbClr val="F2EFDA"/>
                </a:solidFill>
                <a:latin typeface="Arial" pitchFamily="34" charset="0"/>
                <a:ea typeface="Arial" pitchFamily="34" charset="-122"/>
                <a:cs typeface="Arial" pitchFamily="34" charset="-120"/>
              </a:rPr>
              <a:t>Technologie und Grundstoffe</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LIQUIDITÄT</a:t>
            </a:r>
            <a:endParaRPr lang="en-US" sz="105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Spannweite 0,24 — doppelt so breit</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Technologie −0,10 bis Immobilien −0,34 — dort </a:t>
            </a:r>
            <a:r>
              <a:rPr lang="en-US" sz="950" b="1" kern="0">
                <a:solidFill>
                  <a:srgbClr val="F2EFDA"/>
                </a:solidFill>
                <a:latin typeface="Arial" pitchFamily="34" charset="0"/>
                <a:ea typeface="Arial" pitchFamily="34" charset="-122"/>
                <a:cs typeface="Arial" pitchFamily="34" charset="-120"/>
              </a:rPr>
              <a:t>σ 2,6-fach (REIT-Refinanzierungen)</a:t>
            </a:r>
            <a:r>
              <a:rPr lang="en-US" sz="950" kern="0">
                <a:solidFill>
                  <a:srgbClr val="B3BC9A"/>
                </a:solidFill>
                <a:latin typeface="Arial" pitchFamily="34" charset="0"/>
                <a:ea typeface="Arial" pitchFamily="34" charset="-122"/>
                <a:cs typeface="Arial" pitchFamily="34" charset="-120"/>
              </a:rPr>
              <a:t>, Signifikanz 82 %.</a:t>
            </a:r>
            <a:endParaRPr lang="en-US" sz="100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KAPITALSTRUKTUR</a:t>
            </a:r>
            <a:endParaRPr lang="en-US" sz="105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Versorger: die Ausnahme</a:t>
            </a:r>
            <a:endParaRPr lang="en-US" sz="1500"/>
          </a:p>
          <a:p>
            <a:pPr marL="0" indent="0" algn="l">
              <a:lnSpc>
                <a:spcPct val="104000"/>
              </a:lnSpc>
              <a:buNone/>
            </a:pPr>
            <a:r>
              <a:rPr lang="en-US" sz="950" kern="0">
                <a:solidFill>
                  <a:srgbClr val="B3BC9A"/>
                </a:solidFill>
                <a:latin typeface="Arial" pitchFamily="34" charset="0"/>
                <a:ea typeface="Arial" pitchFamily="34" charset="-122"/>
                <a:cs typeface="Arial" pitchFamily="34" charset="-120"/>
              </a:rPr>
              <a:t>stärkste Korrektur (−0,17 · −0,14) bei niedrigster Volatilität — </a:t>
            </a:r>
            <a:r>
              <a:rPr lang="en-US" sz="950" b="1" kern="0">
                <a:solidFill>
                  <a:srgbClr val="F2EFDA"/>
                </a:solidFill>
                <a:latin typeface="Arial" pitchFamily="34" charset="0"/>
                <a:ea typeface="Arial" pitchFamily="34" charset="-122"/>
                <a:cs typeface="Arial" pitchFamily="34" charset="-120"/>
              </a:rPr>
              <a:t>Regulierung erzwingt Anpassung</a:t>
            </a:r>
            <a:r>
              <a:rPr lang="en-US" sz="950" kern="0">
                <a:solidFill>
                  <a:srgbClr val="B3BC9A"/>
                </a:solidFill>
                <a:latin typeface="Arial" pitchFamily="34" charset="0"/>
                <a:ea typeface="Arial" pitchFamily="34" charset="-122"/>
                <a:cs typeface="Arial" pitchFamily="34" charset="-120"/>
              </a:rPr>
              <a:t>.</a:t>
            </a:r>
            <a:endParaRPr lang="en-US" sz="100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STABILES PROFIL</a:t>
            </a:r>
            <a:endParaRPr lang="en-US" sz="100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Versorger · Industrie · BasisK.</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Schwerpunkte in K-S und P-S — geringe Quartalsbewegung.</a:t>
            </a:r>
            <a:endParaRPr lang="en-US" sz="87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PERSISTENTES PROFIL</a:t>
            </a:r>
            <a:endParaRPr lang="en-US" sz="100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Technologie · Grundstoffe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P-V und P-S — Wachstums- und Rohstofftrends wirken nach.</a:t>
            </a:r>
            <a:endParaRPr lang="en-US" sz="87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KORREKTIV-VOLATILES PROFIL</a:t>
            </a:r>
            <a:endParaRPr lang="en-US" sz="100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a:solidFill>
                  <a:srgbClr val="F2EFDA"/>
                </a:solidFill>
                <a:latin typeface="Courier New" pitchFamily="34" charset="0"/>
                <a:ea typeface="Courier New" pitchFamily="34" charset="-122"/>
                <a:cs typeface="Courier New" pitchFamily="34" charset="-120"/>
              </a:rPr>
              <a:t>Immobilien · Komm. · Energie</a:t>
            </a:r>
            <a:endParaRPr lang="en-US" sz="11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große Ausschläge, schnelle Korrektur — Preis- und Investitionszyklen.</a:t>
            </a:r>
            <a:endParaRPr lang="en-US" sz="870"/>
          </a:p>
        </p:txBody>
      </p:sp>
      <p:pic>
        <p:nvPicPr>
          <p:cNvPr id="8" name="Grafik 7">
            <a:extLst>
              <a:ext uri="{FF2B5EF4-FFF2-40B4-BE49-F238E27FC236}">
                <a16:creationId xmlns:a16="http://schemas.microsoft.com/office/drawing/2014/main" id="{E31A2D6C-1E1B-E5BA-46BC-C76B6FDBB05B}"/>
              </a:ext>
            </a:extLst>
          </p:cNvPr>
          <p:cNvPicPr>
            <a:picLocks noChangeAspect="1"/>
          </p:cNvPicPr>
          <p:nvPr/>
        </p:nvPicPr>
        <p:blipFill>
          <a:blip r:embed="rId3"/>
          <a:stretch>
            <a:fillRect/>
          </a:stretch>
        </p:blipFill>
        <p:spPr>
          <a:xfrm>
            <a:off x="611664" y="1866290"/>
            <a:ext cx="5484336" cy="3221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08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err="1">
                <a:solidFill>
                  <a:srgbClr val="F2EFDA"/>
                </a:solidFill>
                <a:latin typeface="Arial" pitchFamily="34" charset="0"/>
                <a:ea typeface="Arial" pitchFamily="34" charset="-122"/>
                <a:cs typeface="Arial" pitchFamily="34" charset="-120"/>
              </a:rPr>
              <a:t>Konstruktion</a:t>
            </a:r>
            <a:r>
              <a:rPr lang="en-US" sz="2300" b="1" kern="0" spc="-50">
                <a:solidFill>
                  <a:srgbClr val="F2EFDA"/>
                </a:solidFill>
                <a:latin typeface="Arial" pitchFamily="34" charset="0"/>
                <a:ea typeface="Arial" pitchFamily="34" charset="-122"/>
                <a:cs typeface="Arial" pitchFamily="34" charset="-120"/>
              </a:rPr>
              <a:t> und Korrekturmechanismus</a:t>
            </a:r>
            <a:endParaRPr lang="en-US" sz="2300"/>
          </a:p>
        </p:txBody>
      </p:sp>
      <p:sp>
        <p:nvSpPr>
          <p:cNvPr id="17" name="Shape 14"/>
          <p:cNvSpPr/>
          <p:nvPr/>
        </p:nvSpPr>
        <p:spPr>
          <a:xfrm>
            <a:off x="634594"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4090654"/>
            <a:ext cx="88697" cy="55227"/>
          </a:xfrm>
          <a:prstGeom prst="ellipse">
            <a:avLst/>
          </a:prstGeom>
          <a:solidFill>
            <a:srgbClr val="79A2F9"/>
          </a:solidFill>
          <a:ln/>
        </p:spPr>
        <p:txBody>
          <a:bodyPr/>
          <a:lstStyle/>
          <a:p>
            <a:endParaRPr lang="de-DE"/>
          </a:p>
        </p:txBody>
      </p:sp>
      <p:sp>
        <p:nvSpPr>
          <p:cNvPr id="19" name="Text 16"/>
          <p:cNvSpPr/>
          <p:nvPr/>
        </p:nvSpPr>
        <p:spPr>
          <a:xfrm>
            <a:off x="1143000" y="3995557"/>
            <a:ext cx="4572000" cy="355840"/>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Der Markt korrigiert die Profitabilität</a:t>
            </a:r>
            <a:endParaRPr lang="en-US" sz="1500"/>
          </a:p>
        </p:txBody>
      </p:sp>
      <p:sp>
        <p:nvSpPr>
          <p:cNvPr id="20" name="Text 17"/>
          <p:cNvSpPr/>
          <p:nvPr/>
        </p:nvSpPr>
        <p:spPr>
          <a:xfrm>
            <a:off x="940308" y="4511335"/>
            <a:ext cx="4699102" cy="1106806"/>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Überrenditen ziehen Wettbewerber an, Unterrenditen erzwingen Anpassung — </a:t>
            </a:r>
            <a:r>
              <a:rPr lang="en-US" sz="1200" b="1">
                <a:solidFill>
                  <a:srgbClr val="F2EFDA"/>
                </a:solidFill>
                <a:latin typeface="Arial" pitchFamily="34" charset="0"/>
                <a:ea typeface="Arial" pitchFamily="34" charset="-122"/>
                <a:cs typeface="Arial" pitchFamily="34" charset="-120"/>
              </a:rPr>
              <a:t>Korrektur ohne Zutun des Unternehmens</a:t>
            </a:r>
            <a:r>
              <a:rPr lang="en-US" sz="1200">
                <a:solidFill>
                  <a:srgbClr val="B3BC9A"/>
                </a:solidFill>
                <a:latin typeface="Arial" pitchFamily="34" charset="0"/>
                <a:ea typeface="Arial" pitchFamily="34" charset="-122"/>
                <a:cs typeface="Arial" pitchFamily="34" charset="-120"/>
              </a:rPr>
              <a:t> (Fama/French 2000: ≈ 38 % p. a.).</a:t>
            </a:r>
            <a:endParaRPr lang="en-US" sz="1200"/>
          </a:p>
        </p:txBody>
      </p:sp>
      <p:sp>
        <p:nvSpPr>
          <p:cNvPr id="21" name="Shape 18"/>
          <p:cNvSpPr/>
          <p:nvPr/>
        </p:nvSpPr>
        <p:spPr>
          <a:xfrm>
            <a:off x="6235293" y="3817249"/>
            <a:ext cx="5320894" cy="1858341"/>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8" y="4090655"/>
            <a:ext cx="88697" cy="66940"/>
          </a:xfrm>
          <a:prstGeom prst="ellipse">
            <a:avLst/>
          </a:prstGeom>
          <a:solidFill>
            <a:srgbClr val="F36451"/>
          </a:solidFill>
          <a:ln/>
        </p:spPr>
        <p:txBody>
          <a:bodyPr/>
          <a:lstStyle/>
          <a:p>
            <a:endParaRPr lang="de-DE"/>
          </a:p>
        </p:txBody>
      </p:sp>
      <p:sp>
        <p:nvSpPr>
          <p:cNvPr id="23" name="Text 20"/>
          <p:cNvSpPr/>
          <p:nvPr/>
        </p:nvSpPr>
        <p:spPr>
          <a:xfrm>
            <a:off x="6743699" y="3995556"/>
            <a:ext cx="4572000" cy="520293"/>
          </a:xfrm>
          <a:prstGeom prst="rect">
            <a:avLst/>
          </a:prstGeom>
          <a:noFill/>
          <a:ln/>
        </p:spPr>
        <p:txBody>
          <a:bodyPr wrap="square" rtlCol="0" anchor="t"/>
          <a:lstStyle/>
          <a:p>
            <a:pPr marL="0" indent="0" algn="l">
              <a:lnSpc>
                <a:spcPct val="110000"/>
              </a:lnSpc>
              <a:buNone/>
            </a:pPr>
            <a:r>
              <a:rPr lang="en-US" sz="1500" b="1">
                <a:solidFill>
                  <a:srgbClr val="F2EFDA"/>
                </a:solidFill>
                <a:latin typeface="Arial" pitchFamily="34" charset="0"/>
                <a:ea typeface="Arial" pitchFamily="34" charset="-122"/>
                <a:cs typeface="Arial" pitchFamily="34" charset="-120"/>
              </a:rPr>
              <a:t>Das Management entscheidet die Kapitalstruktur</a:t>
            </a:r>
            <a:endParaRPr lang="en-US" sz="1500"/>
          </a:p>
        </p:txBody>
      </p:sp>
      <p:sp>
        <p:nvSpPr>
          <p:cNvPr id="24" name="Text 21"/>
          <p:cNvSpPr/>
          <p:nvPr/>
        </p:nvSpPr>
        <p:spPr>
          <a:xfrm>
            <a:off x="6552589" y="4770054"/>
            <a:ext cx="4699102" cy="848087"/>
          </a:xfrm>
          <a:prstGeom prst="rect">
            <a:avLst/>
          </a:prstGeom>
          <a:noFill/>
          <a:ln/>
        </p:spPr>
        <p:txBody>
          <a:bodyPr wrap="square" rtlCol="0" anchor="t"/>
          <a:lstStyle/>
          <a:p>
            <a:pPr marL="0" indent="0" algn="l">
              <a:lnSpc>
                <a:spcPct val="135000"/>
              </a:lnSpc>
              <a:buNone/>
            </a:pPr>
            <a:r>
              <a:rPr lang="en-US" sz="1200">
                <a:solidFill>
                  <a:srgbClr val="B3BC9A"/>
                </a:solidFill>
                <a:latin typeface="Arial" pitchFamily="34" charset="0"/>
                <a:ea typeface="Arial" pitchFamily="34" charset="-122"/>
                <a:cs typeface="Arial" pitchFamily="34" charset="-120"/>
              </a:rPr>
              <a:t>Kein Marktmechanismus zieht die Bilanz zur Norm — </a:t>
            </a:r>
            <a:r>
              <a:rPr lang="en-US" sz="1200" b="1">
                <a:solidFill>
                  <a:srgbClr val="F2EFDA"/>
                </a:solidFill>
                <a:latin typeface="Arial" pitchFamily="34" charset="0"/>
                <a:ea typeface="Arial" pitchFamily="34" charset="-122"/>
                <a:cs typeface="Arial" pitchFamily="34" charset="-120"/>
              </a:rPr>
              <a:t>nur Emission, Rückkauf, Dividende</a:t>
            </a:r>
            <a:r>
              <a:rPr lang="en-US" sz="1200">
                <a:solidFill>
                  <a:srgbClr val="B3BC9A"/>
                </a:solidFill>
                <a:latin typeface="Arial" pitchFamily="34" charset="0"/>
                <a:ea typeface="Arial" pitchFamily="34" charset="-122"/>
                <a:cs typeface="Arial" pitchFamily="34" charset="-120"/>
              </a:rPr>
              <a:t> (Pecking Order, Market Timing, Trade-off).</a:t>
            </a:r>
            <a:endParaRPr lang="en-US" sz="120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2573784" y="1441866"/>
            <a:ext cx="7043213" cy="2206647"/>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1</a:t>
            </a:r>
          </a:p>
        </p:txBody>
      </p:sp>
      <p:sp>
        <p:nvSpPr>
          <p:cNvPr id="4" name="!!A_Kernsatz">
            <a:extLst>
              <a:ext uri="{FF2B5EF4-FFF2-40B4-BE49-F238E27FC236}">
                <a16:creationId xmlns:a16="http://schemas.microsoft.com/office/drawing/2014/main" id="{D528ABC8-AC6E-FFF9-490D-4C003D1EB496}"/>
              </a:ext>
            </a:extLst>
          </p:cNvPr>
          <p:cNvSpPr/>
          <p:nvPr/>
        </p:nvSpPr>
        <p:spPr>
          <a:xfrm>
            <a:off x="634594" y="5850000"/>
            <a:ext cx="10921594" cy="320000"/>
          </a:xfrm>
          <a:prstGeom prst="rect">
            <a:avLst/>
          </a:prstGeom>
          <a:noFill/>
          <a:ln/>
        </p:spPr>
        <p:txBody>
          <a:bodyPr wrap="square" rtlCol="0" anchor="t"/>
          <a:lstStyle/>
          <a:p>
            <a:pPr marL="0" indent="0" algn="ctr">
              <a:lnSpc>
                <a:spcPct val="105000"/>
              </a:lnSpc>
              <a:buNone/>
            </a:pPr>
            <a:r>
              <a:rPr lang="en-US" sz="1400" b="1" kern="0" dirty="0">
                <a:solidFill>
                  <a:srgbClr val="F2EFDA"/>
                </a:solidFill>
                <a:latin typeface="Arial" pitchFamily="34" charset="0"/>
                <a:ea typeface="Arial" pitchFamily="34" charset="-122"/>
                <a:cs typeface="Arial" pitchFamily="34" charset="-120"/>
              </a:rPr>
              <a:t>Der Markt korrigiert — das Management entscheidet.</a:t>
            </a:r>
            <a:endParaRPr lang="en-US" sz="1400" dirty="0"/>
          </a:p>
        </p:txBody>
      </p:sp>
      <p:sp>
        <p:nvSpPr>
          <p:cNvPr id="7" name="!!A_Robust">
            <a:extLst>
              <a:ext uri="{FF2B5EF4-FFF2-40B4-BE49-F238E27FC236}">
                <a16:creationId xmlns:a16="http://schemas.microsoft.com/office/drawing/2014/main" id="{B761B306-D79E-AC69-9E4F-E60C8D6FB79A}"/>
              </a:ext>
            </a:extLst>
          </p:cNvPr>
          <p:cNvSpPr/>
          <p:nvPr/>
        </p:nvSpPr>
        <p:spPr>
          <a:xfrm>
            <a:off x="634594" y="6280000"/>
            <a:ext cx="10921594" cy="254203"/>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Robust über 4 Modellspezifikationen · 4 Stichprobenschwellen · 4 Zeitfenster — die Mediane verschieben sich um höchstens 0,01–0,02.</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3EFDA"/>
                </a:solidFill>
                <a:latin typeface="Arial" pitchFamily="34" charset="0"/>
                <a:ea typeface="Arial" pitchFamily="34" charset="-122"/>
                <a:cs typeface="Arial" pitchFamily="34" charset="-120"/>
              </a:rPr>
              <a:t>Kopplung</a:t>
            </a:r>
            <a:r>
              <a:rPr lang="en-US" sz="2000" b="1" kern="0" spc="-50" dirty="0">
                <a:solidFill>
                  <a:srgbClr val="F3EFDA"/>
                </a:solidFill>
                <a:latin typeface="Arial" pitchFamily="34" charset="0"/>
                <a:ea typeface="Arial" pitchFamily="34" charset="-122"/>
                <a:cs typeface="Arial" pitchFamily="34" charset="-120"/>
              </a:rPr>
              <a:t> der Mean Reversion</a:t>
            </a:r>
            <a:endParaRPr lang="en-US" sz="2000" dirty="0">
              <a:solidFill>
                <a:srgbClr val="F3EFDA"/>
              </a:solidFill>
            </a:endParaRPr>
          </a:p>
        </p:txBody>
      </p:sp>
      <p:sp>
        <p:nvSpPr>
          <p:cNvPr id="20" name="Text 17"/>
          <p:cNvSpPr/>
          <p:nvPr/>
        </p:nvSpPr>
        <p:spPr>
          <a:xfrm>
            <a:off x="634594" y="653136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 Bonferroni-korrigiert: α/21 ≈ 0,0024 je Test-Familie. Schwacher zweiter Block in der Bilanz: Debt/Equity × EK-Quote 0,33 · Current Ratio × EK-Quote 0,16.</a:t>
            </a:r>
            <a:endParaRPr lang="en-US" sz="90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endParaRPr lang="en-US" sz="120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79A2F9"/>
                </a:solidFill>
                <a:latin typeface="Courier New" pitchFamily="34" charset="0"/>
                <a:ea typeface="Courier New" pitchFamily="34" charset="-122"/>
                <a:cs typeface="Courier New" pitchFamily="34" charset="-120"/>
              </a:rPr>
              <a:t>PROFITABILITÄTSBLOCK</a:t>
            </a:r>
            <a:endParaRPr lang="en-US" sz="105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0,78</a:t>
            </a:r>
            <a:r>
              <a:rPr lang="en-US" sz="1100" kern="0">
                <a:solidFill>
                  <a:srgbClr val="798D6F"/>
                </a:solidFill>
                <a:latin typeface="Courier New" pitchFamily="34" charset="0"/>
                <a:ea typeface="Courier New" pitchFamily="34" charset="-122"/>
                <a:cs typeface="Courier New" pitchFamily="34" charset="-120"/>
              </a:rPr>
              <a:t>   ROA × ROE</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 × EBIT-Marge · ROE × EBIT-Marge  - die </a:t>
            </a:r>
            <a:r>
              <a:rPr lang="en-US" sz="1000" kern="0" err="1">
                <a:solidFill>
                  <a:srgbClr val="B3BC9A"/>
                </a:solidFill>
                <a:latin typeface="Arial" pitchFamily="34" charset="0"/>
                <a:ea typeface="Arial" pitchFamily="34" charset="-122"/>
                <a:cs typeface="Arial" pitchFamily="34" charset="-120"/>
              </a:rPr>
              <a:t>Rangfolge</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ist</a:t>
            </a:r>
            <a:r>
              <a:rPr lang="en-US" sz="1000" kern="0">
                <a:solidFill>
                  <a:srgbClr val="B3BC9A"/>
                </a:solidFill>
                <a:latin typeface="Arial" pitchFamily="34" charset="0"/>
                <a:ea typeface="Arial" pitchFamily="34" charset="-122"/>
                <a:cs typeface="Arial" pitchFamily="34" charset="-120"/>
              </a:rPr>
              <a:t> </a:t>
            </a:r>
            <a:r>
              <a:rPr lang="en-US" sz="1000" kern="0" err="1">
                <a:solidFill>
                  <a:srgbClr val="B3BC9A"/>
                </a:solidFill>
                <a:latin typeface="Arial" pitchFamily="34" charset="0"/>
                <a:ea typeface="Arial" pitchFamily="34" charset="-122"/>
                <a:cs typeface="Arial" pitchFamily="34" charset="-120"/>
              </a:rPr>
              <a:t>ein</a:t>
            </a:r>
            <a:r>
              <a:rPr lang="en-US" sz="1000" kern="0">
                <a:solidFill>
                  <a:srgbClr val="B3BC9A"/>
                </a:solidFill>
                <a:latin typeface="Arial" pitchFamily="34" charset="0"/>
                <a:ea typeface="Arial" pitchFamily="34" charset="-122"/>
                <a:cs typeface="Arial" pitchFamily="34" charset="-120"/>
              </a:rPr>
              <a:t> </a:t>
            </a:r>
            <a:r>
              <a:rPr lang="en-US" sz="1000" b="1" kern="0">
                <a:solidFill>
                  <a:srgbClr val="F2EFDA"/>
                </a:solidFill>
                <a:latin typeface="Arial" pitchFamily="34" charset="0"/>
                <a:ea typeface="Arial" pitchFamily="34" charset="-122"/>
                <a:cs typeface="Arial" pitchFamily="34" charset="-120"/>
              </a:rPr>
              <a:t>Firmenmerkmal</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FCF-MARGE:</a:t>
            </a:r>
            <a:endParaRPr lang="en-US" sz="105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 0,14 … 0,19</a:t>
            </a:r>
            <a:r>
              <a:rPr lang="en-US" sz="1100" kern="0">
                <a:solidFill>
                  <a:srgbClr val="798D6F"/>
                </a:solidFill>
                <a:latin typeface="Courier New" pitchFamily="34" charset="0"/>
                <a:ea typeface="Courier New" pitchFamily="34" charset="-122"/>
                <a:cs typeface="Courier New" pitchFamily="34" charset="-120"/>
              </a:rPr>
              <a:t>   zu ROA · ROE · EBIT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Accruals glätten Buchgewinne, den Cashflow nicht </a:t>
            </a:r>
            <a:r>
              <a:rPr lang="en-US" sz="1000" b="1" kern="0">
                <a:solidFill>
                  <a:srgbClr val="F2EFDA"/>
                </a:solidFill>
                <a:latin typeface="Arial" pitchFamily="34" charset="0"/>
                <a:ea typeface="Arial" pitchFamily="34" charset="-122"/>
                <a:cs typeface="Arial" pitchFamily="34" charset="-120"/>
              </a:rPr>
              <a:t>eigene Korrekturlogik</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ZWISCHEN DEN BLÖCKEN</a:t>
            </a:r>
            <a:endParaRPr lang="en-US" sz="105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1 / 12</a:t>
            </a:r>
            <a:r>
              <a:rPr lang="en-US" sz="1100" kern="0">
                <a:solidFill>
                  <a:srgbClr val="798D6F"/>
                </a:solidFill>
                <a:latin typeface="Courier New" pitchFamily="34" charset="0"/>
                <a:ea typeface="Courier New" pitchFamily="34" charset="-122"/>
                <a:cs typeface="Courier New" pitchFamily="34" charset="-120"/>
              </a:rPr>
              <a:t>   Paare signifikant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nur ROE × EK-Quote (0,13) — direkte Folge der </a:t>
            </a:r>
            <a:r>
              <a:rPr lang="en-US" sz="1000" b="1" kern="0">
                <a:solidFill>
                  <a:srgbClr val="F2EFDA"/>
                </a:solidFill>
                <a:latin typeface="Arial" pitchFamily="34" charset="0"/>
                <a:ea typeface="Arial" pitchFamily="34" charset="-122"/>
                <a:cs typeface="Arial" pitchFamily="34" charset="-120"/>
              </a:rPr>
              <a:t>schwachen Mean-Reversion in der Kapitalstruktur</a:t>
            </a:r>
            <a:r>
              <a:rPr lang="en-US" sz="1000" kern="0">
                <a:solidFill>
                  <a:srgbClr val="B3BC9A"/>
                </a:solidFill>
                <a:latin typeface="Arial" pitchFamily="34" charset="0"/>
                <a:ea typeface="Arial" pitchFamily="34" charset="-122"/>
                <a:cs typeface="Arial" pitchFamily="34" charset="-120"/>
              </a:rPr>
              <a:t>.</a:t>
            </a:r>
            <a:endParaRPr lang="en-US" sz="1000"/>
          </a:p>
        </p:txBody>
      </p:sp>
      <p:pic>
        <p:nvPicPr>
          <p:cNvPr id="10" name="Grafik 9">
            <a:extLst>
              <a:ext uri="{FF2B5EF4-FFF2-40B4-BE49-F238E27FC236}">
                <a16:creationId xmlns:a16="http://schemas.microsoft.com/office/drawing/2014/main" id="{00379544-99A4-35CA-2644-C68BC11E76B4}"/>
              </a:ext>
            </a:extLst>
          </p:cNvPr>
          <p:cNvPicPr>
            <a:picLocks noChangeAspect="1"/>
          </p:cNvPicPr>
          <p:nvPr/>
        </p:nvPicPr>
        <p:blipFill>
          <a:blip r:embed="rId3"/>
          <a:stretch>
            <a:fillRect/>
          </a:stretch>
        </p:blipFill>
        <p:spPr>
          <a:xfrm>
            <a:off x="2045110" y="2337463"/>
            <a:ext cx="2649833" cy="2276427"/>
          </a:xfrm>
          <a:prstGeom prst="rect">
            <a:avLst/>
          </a:prstGeom>
        </p:spPr>
      </p:pic>
      <p:sp>
        <p:nvSpPr>
          <p:cNvPr id="7" name="Text 4"/>
          <p:cNvSpPr/>
          <p:nvPr/>
        </p:nvSpPr>
        <p:spPr>
          <a:xfrm>
            <a:off x="1718714" y="4704374"/>
            <a:ext cx="3542399" cy="254203"/>
          </a:xfrm>
          <a:prstGeom prst="rect">
            <a:avLst/>
          </a:prstGeom>
          <a:noFill/>
          <a:ln/>
        </p:spPr>
        <p:txBody>
          <a:bodyPr wrap="square" rtlCol="0" anchor="t"/>
          <a:lstStyle/>
          <a:p>
            <a:pPr marL="0" indent="0" algn="l">
              <a:lnSpc>
                <a:spcPct val="105000"/>
              </a:lnSpc>
              <a:buNone/>
            </a:pPr>
            <a:r>
              <a:rPr lang="en-US" sz="1100" kern="0" dirty="0" err="1">
                <a:solidFill>
                  <a:srgbClr val="B3BC9A"/>
                </a:solidFill>
                <a:latin typeface="Arial" pitchFamily="34" charset="0"/>
                <a:ea typeface="Arial" pitchFamily="34" charset="-122"/>
                <a:cs typeface="Arial" pitchFamily="34" charset="-120"/>
              </a:rPr>
              <a:t>Paarweise</a:t>
            </a:r>
            <a:r>
              <a:rPr lang="en-US" sz="1100" kern="0" dirty="0">
                <a:solidFill>
                  <a:srgbClr val="B3BC9A"/>
                </a:solidFill>
                <a:latin typeface="Arial" pitchFamily="34" charset="0"/>
                <a:ea typeface="Arial" pitchFamily="34" charset="-122"/>
                <a:cs typeface="Arial" pitchFamily="34" charset="-120"/>
              </a:rPr>
              <a:t> Spearman-</a:t>
            </a:r>
            <a:r>
              <a:rPr lang="en-US" sz="1100" kern="0" dirty="0" err="1">
                <a:solidFill>
                  <a:srgbClr val="B3BC9A"/>
                </a:solidFill>
                <a:latin typeface="Arial" pitchFamily="34" charset="0"/>
                <a:ea typeface="Arial" pitchFamily="34" charset="-122"/>
                <a:cs typeface="Arial" pitchFamily="34" charset="-120"/>
              </a:rPr>
              <a:t>Korrelation</a:t>
            </a:r>
            <a:r>
              <a:rPr lang="en-US" sz="1100" kern="0" dirty="0">
                <a:solidFill>
                  <a:srgbClr val="B3BC9A"/>
                </a:solidFill>
                <a:latin typeface="Arial" pitchFamily="34" charset="0"/>
                <a:ea typeface="Arial" pitchFamily="34" charset="-122"/>
                <a:cs typeface="Arial" pitchFamily="34" charset="-120"/>
              </a:rPr>
              <a:t> der </a:t>
            </a:r>
            <a:r>
              <a:rPr lang="en-US" sz="1100" kern="0" dirty="0" err="1">
                <a:solidFill>
                  <a:srgbClr val="B3BC9A"/>
                </a:solidFill>
                <a:latin typeface="Arial" pitchFamily="34" charset="0"/>
                <a:ea typeface="Arial" pitchFamily="34" charset="-122"/>
                <a:cs typeface="Arial" pitchFamily="34" charset="-120"/>
              </a:rPr>
              <a:t>firmenspezifisch</a:t>
            </a:r>
            <a:r>
              <a:rPr lang="en-US" sz="1100" kern="0" dirty="0">
                <a:solidFill>
                  <a:srgbClr val="B3BC9A"/>
                </a:solidFill>
                <a:latin typeface="Arial" pitchFamily="34" charset="0"/>
                <a:ea typeface="Arial" pitchFamily="34" charset="-122"/>
                <a:cs typeface="Arial" pitchFamily="34" charset="-120"/>
              </a:rPr>
              <a:t> </a:t>
            </a:r>
            <a:r>
              <a:rPr lang="en-US" sz="1100" kern="0" dirty="0" err="1">
                <a:solidFill>
                  <a:srgbClr val="B3BC9A"/>
                </a:solidFill>
                <a:latin typeface="Arial" pitchFamily="34" charset="0"/>
                <a:ea typeface="Arial" pitchFamily="34" charset="-122"/>
                <a:cs typeface="Arial" pitchFamily="34" charset="-120"/>
              </a:rPr>
              <a:t>geschätzten</a:t>
            </a:r>
            <a:r>
              <a:rPr lang="en-US" sz="1100" kern="0" dirty="0">
                <a:solidFill>
                  <a:srgbClr val="B3BC9A"/>
                </a:solidFill>
                <a:latin typeface="Arial" pitchFamily="34" charset="0"/>
                <a:ea typeface="Arial" pitchFamily="34" charset="-122"/>
                <a:cs typeface="Arial" pitchFamily="34" charset="-120"/>
              </a:rPr>
              <a:t> Parameter </a:t>
            </a:r>
            <a:r>
              <a:rPr lang="en-US" sz="1100" kern="0" dirty="0" err="1">
                <a:solidFill>
                  <a:srgbClr val="B3BC9A"/>
                </a:solidFill>
                <a:latin typeface="Arial" pitchFamily="34" charset="0"/>
                <a:ea typeface="Arial" pitchFamily="34" charset="-122"/>
                <a:cs typeface="Arial" pitchFamily="34" charset="-120"/>
              </a:rPr>
              <a:t>über</a:t>
            </a:r>
            <a:r>
              <a:rPr lang="en-US" sz="1100" kern="0" dirty="0">
                <a:solidFill>
                  <a:srgbClr val="B3BC9A"/>
                </a:solidFill>
                <a:latin typeface="Arial" pitchFamily="34" charset="0"/>
                <a:ea typeface="Arial" pitchFamily="34" charset="-122"/>
                <a:cs typeface="Arial" pitchFamily="34" charset="-120"/>
              </a:rPr>
              <a:t> 932 </a:t>
            </a:r>
            <a:r>
              <a:rPr lang="en-US" sz="1100" kern="0" dirty="0" err="1">
                <a:solidFill>
                  <a:srgbClr val="B3BC9A"/>
                </a:solidFill>
                <a:latin typeface="Arial" pitchFamily="34" charset="0"/>
                <a:ea typeface="Arial" pitchFamily="34" charset="-122"/>
                <a:cs typeface="Arial" pitchFamily="34" charset="-120"/>
              </a:rPr>
              <a:t>Unternehmen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09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Kopplung</a:t>
            </a:r>
            <a:r>
              <a:rPr lang="en-US" sz="2000" b="1" kern="0" spc="-50" dirty="0">
                <a:solidFill>
                  <a:srgbClr val="F2EFDA"/>
                </a:solidFill>
                <a:latin typeface="Arial" pitchFamily="34" charset="0"/>
                <a:ea typeface="Arial" pitchFamily="34" charset="-122"/>
                <a:cs typeface="Arial" pitchFamily="34" charset="-120"/>
              </a:rPr>
              <a:t> der </a:t>
            </a:r>
            <a:r>
              <a:rPr lang="en-US" sz="2000" b="1" kern="0" spc="-50" dirty="0" err="1">
                <a:solidFill>
                  <a:srgbClr val="F2EFDA"/>
                </a:solidFill>
                <a:latin typeface="Arial" pitchFamily="34" charset="0"/>
                <a:ea typeface="Arial" pitchFamily="34" charset="-122"/>
                <a:cs typeface="Arial" pitchFamily="34" charset="-120"/>
              </a:rPr>
              <a:t>Volatilität</a:t>
            </a:r>
            <a:endParaRPr lang="en-US" sz="20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a:solidFill>
                  <a:srgbClr val="B3BC9A"/>
                </a:solidFill>
                <a:latin typeface="Courier New" pitchFamily="34" charset="0"/>
                <a:ea typeface="Courier New" pitchFamily="34" charset="-122"/>
                <a:cs typeface="Courier New" pitchFamily="34" charset="-120"/>
              </a:rPr>
              <a:t>φ  Mean-Reversion-Matrix</a:t>
            </a:r>
            <a:r>
              <a:rPr lang="en-US" sz="1200" b="1" kern="0">
                <a:solidFill>
                  <a:srgbClr val="F2EFDA"/>
                </a:solidFill>
                <a:latin typeface="Courier New" pitchFamily="34" charset="0"/>
                <a:ea typeface="Courier New" pitchFamily="34" charset="-122"/>
                <a:cs typeface="Courier New" pitchFamily="34" charset="-120"/>
              </a:rPr>
              <a:t>   9 / 21 Paare*</a:t>
            </a:r>
            <a:endParaRPr lang="en-US" sz="1200"/>
          </a:p>
        </p:txBody>
      </p:sp>
      <p:sp>
        <p:nvSpPr>
          <p:cNvPr id="14" name="!!K_SigMatrix"/>
          <p:cNvSpPr/>
          <p:nvPr/>
        </p:nvSpPr>
        <p:spPr>
          <a:xfrm>
            <a:off x="62352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a:solidFill>
                  <a:srgbClr val="79A2F9"/>
                </a:solidFill>
                <a:latin typeface="Courier New" pitchFamily="34" charset="0"/>
                <a:ea typeface="Courier New" pitchFamily="34" charset="-122"/>
                <a:cs typeface="Courier New" pitchFamily="34" charset="-120"/>
              </a:rPr>
              <a:t>σ  </a:t>
            </a:r>
            <a:r>
              <a:rPr lang="en-US" sz="1200" b="1" kern="0">
                <a:solidFill>
                  <a:srgbClr val="F2EFDA"/>
                </a:solidFill>
                <a:latin typeface="Courier New" pitchFamily="34" charset="0"/>
                <a:ea typeface="Courier New" pitchFamily="34" charset="-122"/>
                <a:cs typeface="Courier New" pitchFamily="34" charset="-120"/>
              </a:rPr>
              <a:t>Volatilitäts-Matrix</a:t>
            </a:r>
            <a:r>
              <a:rPr lang="en-US" sz="1200" b="1" kern="0">
                <a:solidFill>
                  <a:srgbClr val="79A2F9"/>
                </a:solidFill>
                <a:latin typeface="Courier New" pitchFamily="34" charset="0"/>
                <a:ea typeface="Courier New" pitchFamily="34" charset="-122"/>
                <a:cs typeface="Courier New" pitchFamily="34" charset="-120"/>
              </a:rPr>
              <a:t>   19 / 21 Paare*</a:t>
            </a:r>
            <a:endParaRPr lang="en-US" sz="120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a:solidFill>
                  <a:srgbClr val="B3BC9A"/>
                </a:solidFill>
                <a:latin typeface="Arial" pitchFamily="34" charset="0"/>
                <a:ea typeface="Arial" pitchFamily="34" charset="-122"/>
                <a:cs typeface="Arial" pitchFamily="34" charset="-120"/>
              </a:rPr>
              <a:t>EK-Quote: </a:t>
            </a:r>
            <a:r>
              <a:rPr lang="en-US" sz="1000" b="1" kern="0">
                <a:solidFill>
                  <a:srgbClr val="F2EFDA"/>
                </a:solidFill>
                <a:latin typeface="Arial" pitchFamily="34" charset="0"/>
                <a:ea typeface="Arial" pitchFamily="34" charset="-122"/>
                <a:cs typeface="Arial" pitchFamily="34" charset="-120"/>
              </a:rPr>
              <a:t>als einzige mit allen sechs anderen gekoppelt</a:t>
            </a:r>
            <a:r>
              <a:rPr lang="en-US" sz="1000" kern="0">
                <a:solidFill>
                  <a:srgbClr val="B3BC9A"/>
                </a:solidFill>
                <a:latin typeface="Arial" pitchFamily="34" charset="0"/>
                <a:ea typeface="Arial" pitchFamily="34" charset="-122"/>
                <a:cs typeface="Arial" pitchFamily="34" charset="-120"/>
              </a:rPr>
              <a:t> (0,19 – 0,52).</a:t>
            </a:r>
            <a:endParaRPr lang="en-US" sz="100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2" name="!!K_LeadLag"/>
          <p:cNvSpPr/>
          <p:nvPr/>
        </p:nvSpPr>
        <p:spPr>
          <a:xfrm>
            <a:off x="6235294" y="5598626"/>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pic>
        <p:nvPicPr>
          <p:cNvPr id="4" name="Grafik 3">
            <a:extLst>
              <a:ext uri="{FF2B5EF4-FFF2-40B4-BE49-F238E27FC236}">
                <a16:creationId xmlns:a16="http://schemas.microsoft.com/office/drawing/2014/main" id="{E9C823C0-400F-559D-FF7D-3B4B9462F7DE}"/>
              </a:ext>
            </a:extLst>
          </p:cNvPr>
          <p:cNvPicPr>
            <a:picLocks noChangeAspect="1"/>
          </p:cNvPicPr>
          <p:nvPr/>
        </p:nvPicPr>
        <p:blipFill>
          <a:blip r:embed="rId3"/>
          <a:stretch>
            <a:fillRect/>
          </a:stretch>
        </p:blipFill>
        <p:spPr>
          <a:xfrm>
            <a:off x="2045110" y="2337463"/>
            <a:ext cx="2649833" cy="2276427"/>
          </a:xfrm>
          <a:prstGeom prst="rect">
            <a:avLst/>
          </a:prstGeom>
        </p:spPr>
      </p:pic>
      <p:pic>
        <p:nvPicPr>
          <p:cNvPr id="10" name="Grafik 9">
            <a:extLst>
              <a:ext uri="{FF2B5EF4-FFF2-40B4-BE49-F238E27FC236}">
                <a16:creationId xmlns:a16="http://schemas.microsoft.com/office/drawing/2014/main" id="{B41E5FEB-D64B-7C55-724A-3C9AA3890F48}"/>
              </a:ext>
            </a:extLst>
          </p:cNvPr>
          <p:cNvPicPr>
            <a:picLocks noChangeAspect="1"/>
          </p:cNvPicPr>
          <p:nvPr/>
        </p:nvPicPr>
        <p:blipFill>
          <a:blip r:embed="rId4"/>
          <a:stretch>
            <a:fillRect/>
          </a:stretch>
        </p:blipFill>
        <p:spPr>
          <a:xfrm>
            <a:off x="7561458" y="2431244"/>
            <a:ext cx="2668566" cy="2292520"/>
          </a:xfrm>
          <a:prstGeom prst="rect">
            <a:avLst/>
          </a:prstGeom>
        </p:spPr>
      </p:pic>
      <p:sp>
        <p:nvSpPr>
          <p:cNvPr id="31" name="!!B_PhiMatrix"/>
          <p:cNvSpPr/>
          <p:nvPr/>
        </p:nvSpPr>
        <p:spPr>
          <a:xfrm>
            <a:off x="787719" y="5807201"/>
            <a:ext cx="4914480" cy="350889"/>
          </a:xfrm>
          <a:prstGeom prst="rect">
            <a:avLst/>
          </a:prstGeom>
          <a:noFill/>
          <a:ln/>
        </p:spPr>
        <p:txBody>
          <a:bodyPr wrap="square" rtlCol="0" anchor="t"/>
          <a:lstStyle/>
          <a:p>
            <a:pPr marL="0" indent="0" algn="l">
              <a:lnSpc>
                <a:spcPct val="105000"/>
              </a:lnSpc>
              <a:buNone/>
            </a:pPr>
            <a:r>
              <a:rPr lang="en-US" sz="1500" b="1" kern="0" dirty="0" err="1">
                <a:solidFill>
                  <a:srgbClr val="F2EFDA"/>
                </a:solidFill>
                <a:latin typeface="Courier New" pitchFamily="34" charset="0"/>
                <a:cs typeface="Courier New" pitchFamily="34" charset="-120"/>
              </a:rPr>
              <a:t>Kopplung</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nur</a:t>
            </a:r>
            <a:r>
              <a:rPr lang="en-US" sz="1500" b="1" kern="0" dirty="0">
                <a:solidFill>
                  <a:srgbClr val="F2EFDA"/>
                </a:solidFill>
                <a:latin typeface="Courier New" pitchFamily="34" charset="0"/>
                <a:cs typeface="Courier New" pitchFamily="34" charset="-120"/>
              </a:rPr>
              <a:t> </a:t>
            </a:r>
            <a:r>
              <a:rPr lang="en-US" sz="1500" b="1" kern="0" dirty="0" err="1">
                <a:solidFill>
                  <a:srgbClr val="F2EFDA"/>
                </a:solidFill>
                <a:latin typeface="Courier New" pitchFamily="34" charset="0"/>
                <a:cs typeface="Courier New" pitchFamily="34" charset="-120"/>
              </a:rPr>
              <a:t>innerhalb</a:t>
            </a:r>
            <a:r>
              <a:rPr lang="en-US" sz="1500" b="1" kern="0" dirty="0">
                <a:solidFill>
                  <a:srgbClr val="F2EFDA"/>
                </a:solidFill>
                <a:latin typeface="Courier New" pitchFamily="34" charset="0"/>
                <a:cs typeface="Courier New" pitchFamily="34" charset="-120"/>
              </a:rPr>
              <a:t> der </a:t>
            </a:r>
            <a:r>
              <a:rPr lang="en-US" sz="1500" b="1" kern="0" dirty="0" err="1">
                <a:solidFill>
                  <a:srgbClr val="F2EFDA"/>
                </a:solidFill>
                <a:latin typeface="Courier New" pitchFamily="34" charset="0"/>
                <a:cs typeface="Courier New" pitchFamily="34" charset="-120"/>
              </a:rPr>
              <a:t>Profitabilität</a:t>
            </a:r>
            <a:endParaRPr lang="en-US" sz="1500" b="1" kern="0" dirty="0">
              <a:solidFill>
                <a:srgbClr val="F2EFDA"/>
              </a:solidFill>
              <a:latin typeface="Courier New" pitchFamily="34" charset="0"/>
              <a:cs typeface="Courier New" pitchFamily="34" charset="-120"/>
            </a:endParaRPr>
          </a:p>
        </p:txBody>
      </p:sp>
      <p:sp>
        <p:nvSpPr>
          <p:cNvPr id="7" name="!!B_SigKern">
            <a:extLst>
              <a:ext uri="{FF2B5EF4-FFF2-40B4-BE49-F238E27FC236}">
                <a16:creationId xmlns:a16="http://schemas.microsoft.com/office/drawing/2014/main" id="{F48F8FA3-DCA2-60E4-6D8C-B60E83EA1C93}"/>
              </a:ext>
            </a:extLst>
          </p:cNvPr>
          <p:cNvSpPr/>
          <p:nvPr/>
        </p:nvSpPr>
        <p:spPr>
          <a:xfrm>
            <a:off x="6388419" y="5807201"/>
            <a:ext cx="4914480" cy="350889"/>
          </a:xfrm>
          <a:prstGeom prst="rect">
            <a:avLst/>
          </a:prstGeom>
          <a:noFill/>
          <a:ln/>
        </p:spPr>
        <p:txBody>
          <a:bodyPr wrap="square" rtlCol="0" anchor="t"/>
          <a:lstStyle/>
          <a:p>
            <a:pPr marL="0" indent="0" algn="ctr">
              <a:lnSpc>
                <a:spcPct val="104000"/>
              </a:lnSpc>
              <a:buNone/>
            </a:pPr>
            <a:r>
              <a:rPr lang="en-US" sz="1200" b="1" kern="0" dirty="0">
                <a:solidFill>
                  <a:srgbClr val="F2EFDA"/>
                </a:solidFill>
                <a:latin typeface="Courier New" pitchFamily="34" charset="0"/>
                <a:ea typeface="Courier New" pitchFamily="34" charset="-122"/>
                <a:cs typeface="Courier New" pitchFamily="34" charset="-120"/>
              </a:rPr>
              <a:t>Schocks treffen gemeinsam — korrigiert wird kennzahlspezifisch</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10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err="1">
                <a:solidFill>
                  <a:srgbClr val="F2EFDA"/>
                </a:solidFill>
                <a:latin typeface="Arial" pitchFamily="34" charset="0"/>
                <a:ea typeface="Arial" pitchFamily="34" charset="-122"/>
                <a:cs typeface="Arial" pitchFamily="34" charset="-120"/>
              </a:rPr>
              <a:t>Die Verschuldung driftet — in allen zehn Sektoren</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AR(1)-Drift c · rollierendes 25-Quartal-Fenster · Median je Sektor</a:t>
            </a:r>
            <a:endParaRPr lang="en-US" sz="110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Validierung: r = 0,86 zwischen Niveau-Trend und c — zwei unabhängige Messungen, ein Ergebnis.</a:t>
            </a:r>
            <a:endParaRPr lang="en-US" sz="90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DEBT/EQUITY</a:t>
            </a:r>
            <a:endParaRPr lang="en-US" sz="1050"/>
          </a:p>
        </p:txBody>
      </p:sp>
      <p:sp>
        <p:nvSpPr>
          <p:cNvPr id="73" name="!!T_Tech"/>
          <p:cNvSpPr/>
          <p:nvPr/>
        </p:nvSpPr>
        <p:spPr>
          <a:xfrm>
            <a:off x="6489497" y="2150000"/>
            <a:ext cx="4812488" cy="1070000"/>
          </a:xfrm>
          <a:prstGeom prst="rect">
            <a:avLst/>
          </a:prstGeom>
          <a:noFill/>
          <a:ln/>
        </p:spPr>
        <p:txBody>
          <a:bodyPr wrap="square" rtlCol="0" anchor="t"/>
          <a:lstStyle/>
          <a:p>
            <a:pPr marL="0" indent="0" algn="l">
              <a:lnSpc>
                <a:spcPct val="100000"/>
              </a:lnSpc>
              <a:buNone/>
            </a:pPr>
            <a:r>
              <a:rPr lang="en-US" sz="1400" b="1" kern="0">
                <a:solidFill>
                  <a:srgbClr val="F2EFDA"/>
                </a:solidFill>
                <a:latin typeface="Courier New" pitchFamily="34" charset="0"/>
                <a:ea typeface="Courier New" pitchFamily="34" charset="-122"/>
                <a:cs typeface="Courier New" pitchFamily="34" charset="-120"/>
              </a:rPr>
              <a:t>c &gt; 0 in 10 / 10 Sektoren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Verschuldungsexpansion — kein Glättungsartefakt.</a:t>
            </a:r>
            <a:endParaRPr lang="en-US" sz="100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ALLE 70 KOMBINATIONEN</a:t>
            </a:r>
            <a:endParaRPr lang="en-US" sz="105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44 / 70 positiv</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Gegenstück EK-Quote: in 7 von 10 Sektoren negativ.</a:t>
            </a:r>
            <a:endParaRPr lang="en-US" sz="1000"/>
          </a:p>
        </p:txBody>
      </p:sp>
      <p:pic>
        <p:nvPicPr>
          <p:cNvPr id="10" name="Grafik 9">
            <a:extLst>
              <a:ext uri="{FF2B5EF4-FFF2-40B4-BE49-F238E27FC236}">
                <a16:creationId xmlns:a16="http://schemas.microsoft.com/office/drawing/2014/main" id="{22E47D9B-033D-43BE-53E1-576C4D77197A}"/>
              </a:ext>
            </a:extLst>
          </p:cNvPr>
          <p:cNvPicPr>
            <a:picLocks noChangeAspect="1"/>
          </p:cNvPicPr>
          <p:nvPr/>
        </p:nvPicPr>
        <p:blipFill>
          <a:blip r:embed="rId3"/>
          <a:stretch>
            <a:fillRect/>
          </a:stretch>
        </p:blipFill>
        <p:spPr>
          <a:xfrm>
            <a:off x="656751" y="1943143"/>
            <a:ext cx="5438640" cy="29461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2</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11 / 15</a:t>
            </a:r>
            <a:endParaRPr lang="en-US" sz="1200"/>
          </a:p>
        </p:txBody>
      </p:sp>
      <p:sp>
        <p:nvSpPr>
          <p:cNvPr id="20" name="Text 17"/>
          <p:cNvSpPr/>
          <p:nvPr/>
        </p:nvSpPr>
        <p:spPr>
          <a:xfrm>
            <a:off x="635000" y="5270000"/>
            <a:ext cx="10922000" cy="210000"/>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7/12 · FDR: 10/12 · Konsistenzprüfung, kein Out-of-Sample-Test.</a:t>
            </a:r>
            <a:endParaRPr lang="en-US" sz="900"/>
          </a:p>
        </p:txBody>
      </p:sp>
      <p:sp>
        <p:nvSpPr>
          <p:cNvPr id="81" name="!!K_GFC"/>
          <p:cNvSpPr/>
          <p:nvPr/>
        </p:nvSpPr>
        <p:spPr>
          <a:xfrm>
            <a:off x="635000" y="4089400"/>
            <a:ext cx="3467100" cy="1143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889000" y="4216400"/>
            <a:ext cx="2959100" cy="228600"/>
          </a:xfrm>
          <a:prstGeom prst="rect">
            <a:avLst/>
          </a:prstGeom>
          <a:noFill/>
          <a:ln/>
        </p:spPr>
        <p:txBody>
          <a:bodyPr wrap="square" rtlCol="0" anchor="t"/>
          <a:lstStyle/>
          <a:p>
            <a:pPr marL="0" indent="0" algn="l">
              <a:lnSpc>
                <a:spcPct val="105000"/>
              </a:lnSpc>
              <a:buNone/>
            </a:pPr>
            <a:r>
              <a:rPr lang="en-US" sz="1050" b="1" kern="0">
                <a:solidFill>
                  <a:srgbClr val="E6D34F"/>
                </a:solidFill>
                <a:latin typeface="Courier New" pitchFamily="34" charset="0"/>
                <a:ea typeface="Courier New" pitchFamily="34" charset="-122"/>
                <a:cs typeface="Courier New" pitchFamily="34" charset="-120"/>
              </a:rPr>
              <a:t>FINANZKRISE · 2009</a:t>
            </a:r>
            <a:endParaRPr lang="en-US" sz="1050"/>
          </a:p>
        </p:txBody>
      </p:sp>
      <p:sp>
        <p:nvSpPr>
          <p:cNvPr id="83" name="!!T_GFC"/>
          <p:cNvSpPr/>
          <p:nvPr/>
        </p:nvSpPr>
        <p:spPr>
          <a:xfrm>
            <a:off x="889000" y="4483100"/>
            <a:ext cx="2959100" cy="660400"/>
          </a:xfrm>
          <a:prstGeom prst="rect">
            <a:avLst/>
          </a:prstGeom>
          <a:noFill/>
          <a:ln/>
        </p:spPr>
        <p:txBody>
          <a:bodyPr wrap="square" rtlCol="0" anchor="t"/>
          <a:lstStyle/>
          <a:p>
            <a:pPr marL="0" indent="0" algn="l">
              <a:lnSpc>
                <a:spcPct val="100000"/>
              </a:lnSpc>
              <a:buNone/>
            </a:pPr>
            <a:r>
              <a:rPr lang="en-US" sz="1500" b="1" kern="0" dirty="0" err="1">
                <a:solidFill>
                  <a:srgbClr val="F2EFDA"/>
                </a:solidFill>
                <a:latin typeface="Courier New" pitchFamily="34" charset="0"/>
                <a:ea typeface="Courier New" pitchFamily="34" charset="-122"/>
                <a:cs typeface="Courier New" pitchFamily="34" charset="-120"/>
              </a:rPr>
              <a:t>r_rb = −0,36 (ROA)</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signifikant</a:t>
            </a:r>
            <a:endParaRPr lang="en-US" sz="1000" dirty="0"/>
          </a:p>
        </p:txBody>
      </p:sp>
      <p:sp>
        <p:nvSpPr>
          <p:cNvPr id="84" name="!!K_COVID"/>
          <p:cNvSpPr/>
          <p:nvPr/>
        </p:nvSpPr>
        <p:spPr>
          <a:xfrm>
            <a:off x="4356100" y="4089400"/>
            <a:ext cx="3467100" cy="1143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4610100" y="4216400"/>
            <a:ext cx="2959100" cy="228600"/>
          </a:xfrm>
          <a:prstGeom prst="rect">
            <a:avLst/>
          </a:prstGeom>
          <a:noFill/>
          <a:ln/>
        </p:spPr>
        <p:txBody>
          <a:bodyPr wrap="square" rtlCol="0" anchor="t"/>
          <a:lstStyle/>
          <a:p>
            <a:pPr marL="0" indent="0" algn="l">
              <a:lnSpc>
                <a:spcPct val="105000"/>
              </a:lnSpc>
              <a:buNone/>
            </a:pPr>
            <a:r>
              <a:rPr lang="en-US" sz="1050" b="1" kern="0">
                <a:solidFill>
                  <a:srgbClr val="F36451"/>
                </a:solidFill>
                <a:latin typeface="Courier New" pitchFamily="34" charset="0"/>
                <a:ea typeface="Courier New" pitchFamily="34" charset="-122"/>
                <a:cs typeface="Courier New" pitchFamily="34" charset="-120"/>
              </a:rPr>
              <a:t>COVID · 2020</a:t>
            </a:r>
            <a:endParaRPr lang="en-US" sz="1050"/>
          </a:p>
        </p:txBody>
      </p:sp>
      <p:sp>
        <p:nvSpPr>
          <p:cNvPr id="86" name="!!T_COVID"/>
          <p:cNvSpPr/>
          <p:nvPr/>
        </p:nvSpPr>
        <p:spPr>
          <a:xfrm>
            <a:off x="46101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−0,27 (ROA)</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signifikant</a:t>
            </a:r>
            <a:endParaRPr lang="en-US" sz="1000"/>
          </a:p>
        </p:txBody>
      </p:sp>
      <p:sp>
        <p:nvSpPr>
          <p:cNvPr id="87" name="!!K_DotCom"/>
          <p:cNvSpPr/>
          <p:nvPr/>
        </p:nvSpPr>
        <p:spPr>
          <a:xfrm>
            <a:off x="8077200" y="4089400"/>
            <a:ext cx="3467100" cy="1143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8331200" y="4216400"/>
            <a:ext cx="2959100" cy="2286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DOT-COM · 2001</a:t>
            </a:r>
            <a:endParaRPr lang="en-US" sz="1050"/>
          </a:p>
        </p:txBody>
      </p:sp>
      <p:sp>
        <p:nvSpPr>
          <p:cNvPr id="89" name="!!T_DotCom"/>
          <p:cNvSpPr/>
          <p:nvPr/>
        </p:nvSpPr>
        <p:spPr>
          <a:xfrm>
            <a:off x="8331200" y="4483100"/>
            <a:ext cx="2959100" cy="660400"/>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r_rb = −0,28 (ROA)</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signifikant — keine Ausnahme</a:t>
            </a:r>
            <a:endParaRPr lang="en-US" sz="1000"/>
          </a:p>
        </p:txBody>
      </p:sp>
      <p:sp>
        <p:nvSpPr>
          <p:cNvPr id="91" name="!!K_Chip1"/>
          <p:cNvSpPr/>
          <p:nvPr/>
        </p:nvSpPr>
        <p:spPr>
          <a:xfrm>
            <a:off x="6350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28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EBIT-MARGE</a:t>
            </a:r>
            <a:endParaRPr lang="en-US" sz="1000"/>
          </a:p>
        </p:txBody>
      </p:sp>
      <p:sp>
        <p:nvSpPr>
          <p:cNvPr id="93" name="!!T_Chip1"/>
          <p:cNvSpPr/>
          <p:nvPr/>
        </p:nvSpPr>
        <p:spPr>
          <a:xfrm>
            <a:off x="8128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×1,53 / ×1,54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GFC / COVID — operativer Hebel</a:t>
            </a:r>
            <a:endParaRPr lang="en-US" sz="870"/>
          </a:p>
        </p:txBody>
      </p:sp>
      <p:sp>
        <p:nvSpPr>
          <p:cNvPr id="94" name="!!K_Chip2"/>
          <p:cNvSpPr/>
          <p:nvPr/>
        </p:nvSpPr>
        <p:spPr>
          <a:xfrm>
            <a:off x="34163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94100" y="5816600"/>
            <a:ext cx="2235200" cy="215900"/>
          </a:xfrm>
          <a:prstGeom prst="rect">
            <a:avLst/>
          </a:prstGeom>
          <a:noFill/>
          <a:ln/>
        </p:spPr>
        <p:txBody>
          <a:bodyPr wrap="square" rtlCol="0" anchor="t"/>
          <a:lstStyle/>
          <a:p>
            <a:pPr marL="0" indent="0" algn="l">
              <a:lnSpc>
                <a:spcPct val="105000"/>
              </a:lnSpc>
              <a:buNone/>
            </a:pPr>
            <a:r>
              <a:rPr lang="en-US" sz="1000" b="1" kern="0">
                <a:solidFill>
                  <a:srgbClr val="F36451"/>
                </a:solidFill>
                <a:latin typeface="Courier New" pitchFamily="34" charset="0"/>
                <a:ea typeface="Courier New" pitchFamily="34" charset="-122"/>
                <a:cs typeface="Courier New" pitchFamily="34" charset="-120"/>
              </a:rPr>
              <a:t>DEBT/EQUITY</a:t>
            </a:r>
            <a:endParaRPr lang="en-US" sz="1000"/>
          </a:p>
        </p:txBody>
      </p:sp>
      <p:sp>
        <p:nvSpPr>
          <p:cNvPr id="96" name="!!T_Chip2"/>
          <p:cNvSpPr/>
          <p:nvPr/>
        </p:nvSpPr>
        <p:spPr>
          <a:xfrm>
            <a:off x="35941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×1,37 · ×1,50</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Dot-Com / COVID — Eigenkapital-Effekt</a:t>
            </a:r>
            <a:endParaRPr lang="en-US" sz="870"/>
          </a:p>
        </p:txBody>
      </p:sp>
      <p:sp>
        <p:nvSpPr>
          <p:cNvPr id="97" name="!!K_Chip3"/>
          <p:cNvSpPr/>
          <p:nvPr/>
        </p:nvSpPr>
        <p:spPr>
          <a:xfrm>
            <a:off x="61849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2700" y="5816600"/>
            <a:ext cx="2235200" cy="215900"/>
          </a:xfrm>
          <a:prstGeom prst="rect">
            <a:avLst/>
          </a:prstGeom>
          <a:noFill/>
          <a:ln/>
        </p:spPr>
        <p:txBody>
          <a:bodyPr wrap="square" rtlCol="0" anchor="t"/>
          <a:lstStyle/>
          <a:p>
            <a:pPr marL="0" indent="0" algn="l">
              <a:lnSpc>
                <a:spcPct val="105000"/>
              </a:lnSpc>
              <a:buNone/>
            </a:pPr>
            <a:r>
              <a:rPr lang="en-US" sz="1000" b="1" kern="0">
                <a:solidFill>
                  <a:srgbClr val="79A2F9"/>
                </a:solidFill>
                <a:latin typeface="Courier New" pitchFamily="34" charset="0"/>
                <a:ea typeface="Courier New" pitchFamily="34" charset="-122"/>
                <a:cs typeface="Courier New" pitchFamily="34" charset="-120"/>
              </a:rPr>
              <a:t>FCF-MARGE</a:t>
            </a:r>
            <a:endParaRPr lang="en-US" sz="1000"/>
          </a:p>
        </p:txBody>
      </p:sp>
      <p:sp>
        <p:nvSpPr>
          <p:cNvPr id="99" name="!!T_Chip3"/>
          <p:cNvSpPr/>
          <p:nvPr/>
        </p:nvSpPr>
        <p:spPr>
          <a:xfrm>
            <a:off x="63627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×1,11 (GFC)</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Accrual-Sonderstellung</a:t>
            </a:r>
            <a:endParaRPr lang="en-US" sz="870"/>
          </a:p>
        </p:txBody>
      </p:sp>
      <p:sp>
        <p:nvSpPr>
          <p:cNvPr id="100" name="!!K_Chip4"/>
          <p:cNvSpPr/>
          <p:nvPr/>
        </p:nvSpPr>
        <p:spPr>
          <a:xfrm>
            <a:off x="8966200" y="5740400"/>
            <a:ext cx="2590800" cy="8001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4000" y="5816600"/>
            <a:ext cx="2235200" cy="215900"/>
          </a:xfrm>
          <a:prstGeom prst="rect">
            <a:avLst/>
          </a:prstGeom>
          <a:noFill/>
          <a:ln/>
        </p:spPr>
        <p:txBody>
          <a:bodyPr wrap="square" rtlCol="0" anchor="t"/>
          <a:lstStyle/>
          <a:p>
            <a:pPr marL="0" indent="0" algn="l">
              <a:lnSpc>
                <a:spcPct val="105000"/>
              </a:lnSpc>
              <a:buNone/>
            </a:pPr>
            <a:r>
              <a:rPr lang="en-US" sz="1000" b="1" kern="0">
                <a:solidFill>
                  <a:srgbClr val="E6D34F"/>
                </a:solidFill>
                <a:latin typeface="Courier New" pitchFamily="34" charset="0"/>
                <a:ea typeface="Courier New" pitchFamily="34" charset="-122"/>
                <a:cs typeface="Courier New" pitchFamily="34" charset="-120"/>
              </a:rPr>
              <a:t>CURRENT RATIO</a:t>
            </a:r>
            <a:endParaRPr lang="en-US" sz="1000"/>
          </a:p>
        </p:txBody>
      </p:sp>
      <p:sp>
        <p:nvSpPr>
          <p:cNvPr id="102" name="!!T_Chip4"/>
          <p:cNvSpPr/>
          <p:nvPr/>
        </p:nvSpPr>
        <p:spPr>
          <a:xfrm>
            <a:off x="9144000" y="6045200"/>
            <a:ext cx="2235200" cy="4572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 ×1,24</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träge Bilanzposition</a:t>
            </a:r>
            <a:endParaRPr lang="en-US" sz="870"/>
          </a:p>
        </p:txBody>
      </p:sp>
      <p:pic>
        <p:nvPicPr>
          <p:cNvPr id="6" name="Grafik 5">
            <a:extLst>
              <a:ext uri="{FF2B5EF4-FFF2-40B4-BE49-F238E27FC236}">
                <a16:creationId xmlns:a16="http://schemas.microsoft.com/office/drawing/2014/main" id="{CF3FD0C1-9160-5A82-7A39-A11C02485DFD}"/>
              </a:ext>
            </a:extLst>
          </p:cNvPr>
          <p:cNvPicPr>
            <a:picLocks noChangeAspect="1"/>
          </p:cNvPicPr>
          <p:nvPr/>
        </p:nvPicPr>
        <p:blipFill>
          <a:blip r:embed="rId3"/>
          <a:stretch>
            <a:fillRect/>
          </a:stretch>
        </p:blipFill>
        <p:spPr>
          <a:xfrm>
            <a:off x="1344083" y="634492"/>
            <a:ext cx="9503833" cy="3273542"/>
          </a:xfrm>
          <a:prstGeom prst="rect">
            <a:avLst/>
          </a:prstGeom>
        </p:spPr>
      </p:pic>
      <p:sp>
        <p:nvSpPr>
          <p:cNvPr id="103" name="!!C_Baseline"/>
          <p:cNvSpPr txBox="1"/>
          <p:nvPr/>
        </p:nvSpPr>
        <p:spPr>
          <a:xfrm>
            <a:off x="635000" y="5490000"/>
            <a:ext cx="10922000" cy="220000"/>
          </a:xfrm>
          <a:prstGeom prst="rect">
            <a:avLst/>
          </a:prstGeom>
          <a:noFill/>
        </p:spPr>
        <p:txBody>
          <a:bodyPr wrap="square">
            <a:spAutoFit/>
          </a:bodyPr>
          <a:lstStyle/>
          <a:p>
            <a:r>
              <a:rPr sz="950">
                <a:solidFill>
                  <a:srgbClr val="798D6F"/>
                </a:solidFill>
                <a:latin typeface="Arial"/>
              </a:rPr>
              <a:t>Verhältnis Peak-Median |ΔY| zu Nicht-Peak-Baseline — Werte &gt; 1 = überproportionale Reaktion.</a:t>
            </a:r>
          </a:p>
        </p:txBody>
      </p:sp>
      <p:sp>
        <p:nvSpPr>
          <p:cNvPr id="104" name="!!C_Teaser"/>
          <p:cNvSpPr txBox="1"/>
          <p:nvPr/>
        </p:nvSpPr>
        <p:spPr>
          <a:xfrm>
            <a:off x="635000" y="6590000"/>
            <a:ext cx="10922000" cy="220000"/>
          </a:xfrm>
          <a:prstGeom prst="rect">
            <a:avLst/>
          </a:prstGeom>
          <a:noFill/>
        </p:spPr>
        <p:txBody>
          <a:bodyPr wrap="square">
            <a:spAutoFit/>
          </a:bodyPr>
          <a:lstStyle/>
          <a:p>
            <a:pPr algn="r"/>
            <a:r>
              <a:rPr sz="950">
                <a:solidFill>
                  <a:srgbClr val="798D6F"/>
                </a:solidFill>
                <a:latin typeface="Arial"/>
              </a:rPr>
              <a:t>→ Der Sektor entscheidet stärker als der Krisen-Zeitpunkt — dazu Forschungsfrage 3.</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12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Fünf Strukturvariablen, 98 Tests — die Wirkung liegt auf der σ-Seite</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Spearman: fünf Strukturvariablen × φ und σ je Kennzahl — 31 von 49 σ-Tests Bonferroni-signifikant, nur 10 von 49 bei φ; die zehn stärksten Effekte sind alle σ.</a:t>
            </a:r>
            <a:endParaRPr lang="en-US" sz="110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GRÖSSE</a:t>
            </a:r>
            <a:endParaRPr lang="en-US" sz="105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ρ bis −0,53</a:t>
            </a:r>
            <a:r>
              <a:rPr lang="en-US" sz="1000" kern="0">
                <a:solidFill>
                  <a:srgbClr val="798D6F"/>
                </a:solidFill>
                <a:latin typeface="Courier New" pitchFamily="34" charset="0"/>
                <a:ea typeface="Courier New" pitchFamily="34" charset="-122"/>
                <a:cs typeface="Courier New" pitchFamily="34" charset="-120"/>
              </a:rPr>
              <a:t>   Mitarbeiter · Bilanzsumme · MarketCap</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Mitarbeiterzahl dämpft am stärksten: FCF-Marge und Current Ratio je −0,53. Quintil-Kontrast FCF: σ-Median </a:t>
            </a:r>
            <a:r>
              <a:rPr lang="en-US" sz="1000" b="1" kern="0">
                <a:solidFill>
                  <a:srgbClr val="F2EFDA"/>
                </a:solidFill>
                <a:latin typeface="Arial" pitchFamily="34" charset="0"/>
                <a:ea typeface="Arial" pitchFamily="34" charset="-122"/>
                <a:cs typeface="Arial" pitchFamily="34" charset="-120"/>
              </a:rPr>
              <a:t>0,45 → 0,11 (Cohens r = 0,80)</a:t>
            </a:r>
            <a:r>
              <a:rPr lang="en-US" sz="1000" kern="0">
                <a:solidFill>
                  <a:srgbClr val="B3BC9A"/>
                </a:solidFill>
                <a:latin typeface="Arial" pitchFamily="34" charset="0"/>
                <a:ea typeface="Arial" pitchFamily="34" charset="-122"/>
                <a:cs typeface="Arial" pitchFamily="34" charset="-120"/>
              </a:rPr>
              <a:t> — der stärkste Effekt der Analyse.</a:t>
            </a:r>
            <a:endParaRPr lang="en-US" sz="100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a:solidFill>
                  <a:srgbClr val="F2EFDA"/>
                </a:solidFill>
                <a:latin typeface="Courier New" pitchFamily="34" charset="0"/>
                <a:ea typeface="Courier New" pitchFamily="34" charset="-122"/>
                <a:cs typeface="Courier New" pitchFamily="34" charset="-120"/>
              </a:rPr>
              <a:t>ANLAGENINTENSITÄT</a:t>
            </a:r>
            <a:endParaRPr lang="en-US" sz="105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 Bilanz · + Margen</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EK-Quote −0,25 · ROA −0,18, aber EBIT-Marge +0,24 · FCF-Marge +0,22 — </a:t>
            </a:r>
            <a:r>
              <a:rPr lang="en-US" sz="1000" b="1" kern="0">
                <a:solidFill>
                  <a:srgbClr val="F2EFDA"/>
                </a:solidFill>
                <a:latin typeface="Arial" pitchFamily="34" charset="0"/>
                <a:ea typeface="Arial" pitchFamily="34" charset="-122"/>
                <a:cs typeface="Arial" pitchFamily="34" charset="-120"/>
              </a:rPr>
              <a:t>die Strom-vs.-Bestand-Mechanik auf Unternehmensebene</a:t>
            </a:r>
            <a:r>
              <a:rPr lang="en-US" sz="1000" kern="0">
                <a:solidFill>
                  <a:srgbClr val="B3BC9A"/>
                </a:solidFill>
                <a:latin typeface="Arial" pitchFamily="34" charset="0"/>
                <a:ea typeface="Arial" pitchFamily="34" charset="-122"/>
                <a:cs typeface="Arial" pitchFamily="34" charset="-120"/>
              </a:rPr>
              <a:t>. Current Ratio: kein Effekt (Mischform).</a:t>
            </a:r>
            <a:endParaRPr lang="en-US" sz="1000"/>
          </a:p>
        </p:txBody>
      </p:sp>
      <p:sp>
        <p:nvSpPr>
          <p:cNvPr id="51" name="!!K_ProfNiveau"/>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rofNiveau"/>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MEDIAN-PROFITABILITÄT</a:t>
            </a:r>
            <a:endParaRPr lang="en-US" sz="1050">
              <a:solidFill>
                <a:srgbClr val="F3EFDA"/>
              </a:solidFill>
            </a:endParaRPr>
          </a:p>
        </p:txBody>
      </p:sp>
      <p:sp>
        <p:nvSpPr>
          <p:cNvPr id="55" name="!!T_ProfNiveau"/>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ρ = −0,44 · −0,40  </a:t>
            </a:r>
            <a:r>
              <a:rPr lang="en-US" sz="950" kern="0">
                <a:solidFill>
                  <a:srgbClr val="B3BC9A"/>
                </a:solidFill>
                <a:latin typeface="Arial" pitchFamily="34" charset="0"/>
                <a:ea typeface="Arial" pitchFamily="34" charset="-122"/>
                <a:cs typeface="Arial" pitchFamily="34" charset="-120"/>
              </a:rPr>
              <a:t>EBIT- und FCF-Marge: </a:t>
            </a:r>
            <a:r>
              <a:rPr lang="en-US" sz="950" b="1" kern="0">
                <a:solidFill>
                  <a:srgbClr val="F2EFDA"/>
                </a:solidFill>
                <a:latin typeface="Arial" pitchFamily="34" charset="0"/>
                <a:ea typeface="Arial" pitchFamily="34" charset="-122"/>
                <a:cs typeface="Arial" pitchFamily="34" charset="-120"/>
              </a:rPr>
              <a:t>profitable Firmen schwanken weniger</a:t>
            </a:r>
            <a:r>
              <a:rPr lang="en-US" sz="950" kern="0">
                <a:solidFill>
                  <a:srgbClr val="B3BC9A"/>
                </a:solidFill>
                <a:latin typeface="Arial" pitchFamily="34" charset="0"/>
                <a:ea typeface="Arial" pitchFamily="34" charset="-122"/>
                <a:cs typeface="Arial" pitchFamily="34" charset="-120"/>
              </a:rPr>
              <a:t> — und revertieren etwas langsamer (φ +0,11 … +0,14).</a:t>
            </a:r>
            <a:endParaRPr lang="en-US" sz="950"/>
          </a:p>
        </p:txBody>
      </p:sp>
      <p:sp>
        <p:nvSpPr>
          <p:cNvPr id="52" name="!!K_Accruals"/>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Accruals"/>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PERIODENABGRENZUNGEN (SLOAN 1996)</a:t>
            </a:r>
            <a:endParaRPr lang="en-US" sz="1050">
              <a:solidFill>
                <a:srgbClr val="F3EFDA"/>
              </a:solidFill>
            </a:endParaRPr>
          </a:p>
        </p:txBody>
      </p:sp>
      <p:sp>
        <p:nvSpPr>
          <p:cNvPr id="56" name="!!T_Accruals"/>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a:solidFill>
                  <a:srgbClr val="F2EFDA"/>
                </a:solidFill>
                <a:latin typeface="Courier New" pitchFamily="34" charset="0"/>
                <a:ea typeface="Courier New" pitchFamily="34" charset="-122"/>
                <a:cs typeface="Courier New" pitchFamily="34" charset="-120"/>
              </a:rPr>
              <a:t>ROA −0,27 · FCF −0,08 n.s.  </a:t>
            </a:r>
            <a:r>
              <a:rPr lang="en-US" sz="950" kern="0">
                <a:solidFill>
                  <a:srgbClr val="B3BC9A"/>
                </a:solidFill>
                <a:latin typeface="Arial" pitchFamily="34" charset="0"/>
                <a:ea typeface="Arial" pitchFamily="34" charset="-122"/>
                <a:cs typeface="Arial" pitchFamily="34" charset="-120"/>
              </a:rPr>
              <a:t>Accruals glätten Buchgewinne, nicht den Cashflow — </a:t>
            </a:r>
            <a:r>
              <a:rPr lang="en-US" sz="950" b="1" kern="0">
                <a:solidFill>
                  <a:srgbClr val="F2EFDA"/>
                </a:solidFill>
                <a:latin typeface="Arial" pitchFamily="34" charset="0"/>
                <a:ea typeface="Arial" pitchFamily="34" charset="-122"/>
                <a:cs typeface="Arial" pitchFamily="34" charset="-120"/>
              </a:rPr>
              <a:t>der Mechanismus hinter der FCF-Sonderstellung</a:t>
            </a:r>
            <a:r>
              <a:rPr lang="en-US" sz="950" kern="0">
                <a:solidFill>
                  <a:srgbClr val="B3BC9A"/>
                </a:solidFill>
                <a:latin typeface="Arial" pitchFamily="34" charset="0"/>
                <a:ea typeface="Arial" pitchFamily="34" charset="-122"/>
                <a:cs typeface="Arial" pitchFamily="34" charset="-120"/>
              </a:rPr>
              <a:t>.</a:t>
            </a:r>
            <a:endParaRPr lang="en-US" sz="950"/>
          </a:p>
        </p:txBody>
      </p:sp>
      <p:sp>
        <p:nvSpPr>
          <p:cNvPr id="4" name="Text 17">
            <a:extLst>
              <a:ext uri="{FF2B5EF4-FFF2-40B4-BE49-F238E27FC236}">
                <a16:creationId xmlns:a16="http://schemas.microsoft.com/office/drawing/2014/main" id="{16AD8B35-D391-CB9B-97B0-799E0E49492A}"/>
              </a:ext>
            </a:extLst>
          </p:cNvPr>
          <p:cNvSpPr/>
          <p:nvPr/>
        </p:nvSpPr>
        <p:spPr>
          <a:xfrm>
            <a:off x="634593" y="6554297"/>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Bonferroni: α/14 ≈ 0,0036. Investitionsintensität wirkt schwächer (CR −0,23 · EK-Quote −0,22 · ROA −0,11) — konzeptionelle Nähe zu Größe und Anlagenintensität; Klärung in der multivariaten Synthese (6.3).</a:t>
            </a:r>
            <a:endParaRPr lang="en-US" sz="90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a:solidFill>
                  <a:srgbClr val="E6D34F"/>
                </a:solidFill>
                <a:latin typeface="Courier New" pitchFamily="34" charset="0"/>
                <a:ea typeface="Courier New" pitchFamily="34" charset="-122"/>
                <a:cs typeface="Courier New" pitchFamily="34" charset="-120"/>
              </a:rPr>
              <a:t>FORSCHUNGSFRAGE 3</a:t>
            </a:r>
            <a:endParaRPr lang="en-US" sz="120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a:solidFill>
                  <a:srgbClr val="798D6F"/>
                </a:solidFill>
                <a:latin typeface="Courier New" pitchFamily="34" charset="0"/>
                <a:ea typeface="Courier New" pitchFamily="34" charset="-122"/>
                <a:cs typeface="Courier New" pitchFamily="34" charset="-120"/>
              </a:rPr>
              <a:t>13 / 15</a:t>
            </a:r>
            <a:endParaRPr lang="en-US" sz="120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a:solidFill>
                  <a:srgbClr val="F2EFDA"/>
                </a:solidFill>
                <a:latin typeface="Arial" pitchFamily="34" charset="0"/>
                <a:ea typeface="Arial" pitchFamily="34" charset="-122"/>
                <a:cs typeface="Arial" pitchFamily="34" charset="-120"/>
              </a:rPr>
              <a:t>Der Sektor erklärt die Schwankung — nicht die Korrektur</a:t>
            </a:r>
            <a:endParaRPr lang="en-US" sz="20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a:solidFill>
                  <a:srgbClr val="B3BC9A"/>
                </a:solidFill>
                <a:latin typeface="Arial" pitchFamily="34" charset="0"/>
                <a:ea typeface="Arial" pitchFamily="34" charset="-122"/>
                <a:cs typeface="Arial" pitchFamily="34" charset="-120"/>
              </a:rPr>
              <a:t>Kruskal-Wallis über die zehn GICS-Sektoren: ε² = durch den Sektor erklärter Anteil der Variation — je Kennzahl und Parameter.</a:t>
            </a:r>
            <a:endParaRPr lang="en-US" sz="110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a:solidFill>
                  <a:srgbClr val="798D6F"/>
                </a:solidFill>
                <a:latin typeface="Arial" pitchFamily="34" charset="0"/>
                <a:ea typeface="Arial" pitchFamily="34" charset="-122"/>
                <a:cs typeface="Arial" pitchFamily="34" charset="-120"/>
              </a:rPr>
              <a:t>Cluster-Falsifikation: Vorhersage aus der Sektor-Mechanik (4.3.3) vs. tatsächliche Quadranten-Verteilung. Cluster 5 (Gesundheit + Zykl. Konsum) bleibt wie vorhergesagt diffus — kein Quadrant über 36 %.</a:t>
            </a:r>
            <a:endParaRPr lang="en-US" sz="900"/>
          </a:p>
        </p:txBody>
      </p:sp>
      <p:sp>
        <p:nvSpPr>
          <p:cNvPr id="41" name="!!K_SigSeite"/>
          <p:cNvSpPr/>
          <p:nvPr/>
        </p:nvSpPr>
        <p:spPr>
          <a:xfrm>
            <a:off x="6235294" y="1904695"/>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σ-SEITE</a:t>
            </a:r>
            <a:endParaRPr lang="en-US" sz="1050">
              <a:solidFill>
                <a:srgbClr val="F3EFDA"/>
              </a:solidFill>
            </a:endParaRPr>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bis 0,22</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FCF-Marge 0,22 · Current Ratio 0,22 · EBIT-Marge 0,19 — </a:t>
            </a:r>
            <a:r>
              <a:rPr lang="en-US" sz="1000" b="1" kern="0">
                <a:solidFill>
                  <a:srgbClr val="F2EFDA"/>
                </a:solidFill>
                <a:latin typeface="Arial" pitchFamily="34" charset="0"/>
                <a:ea typeface="Arial" pitchFamily="34" charset="-122"/>
                <a:cs typeface="Arial" pitchFamily="34" charset="-120"/>
              </a:rPr>
              <a:t>alle sieben Tests Bonferroni-signifikant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a:solidFill>
                  <a:srgbClr val="B3BC9A"/>
                </a:solidFill>
                <a:latin typeface="Courier New" pitchFamily="34" charset="0"/>
                <a:ea typeface="Courier New" pitchFamily="34" charset="-122"/>
                <a:cs typeface="Courier New" pitchFamily="34" charset="-120"/>
              </a:rPr>
              <a:t>φ-SEITE</a:t>
            </a:r>
            <a:endParaRPr lang="en-US" sz="105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ε² ≤ 0,07</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sechs von sieben signifikant, aber klein — </a:t>
            </a:r>
            <a:r>
              <a:rPr lang="en-US" sz="1000" b="1" kern="0">
                <a:solidFill>
                  <a:srgbClr val="F2EFDA"/>
                </a:solidFill>
                <a:latin typeface="Arial" pitchFamily="34" charset="0"/>
                <a:ea typeface="Arial" pitchFamily="34" charset="-122"/>
                <a:cs typeface="Arial" pitchFamily="34" charset="-120"/>
              </a:rPr>
              <a:t>dieselbe Asymmetrie wie bei den Strukturvariablen</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a:solidFill>
                  <a:srgbClr val="F3EFDA"/>
                </a:solidFill>
                <a:latin typeface="Courier New" pitchFamily="34" charset="0"/>
                <a:ea typeface="Courier New" pitchFamily="34" charset="-122"/>
                <a:cs typeface="Courier New" pitchFamily="34" charset="-120"/>
              </a:rPr>
              <a:t>FINSRV-KONTRAST · 451 UNTERNEHMEN</a:t>
            </a:r>
            <a:endParaRPr lang="en-US" sz="1050">
              <a:solidFill>
                <a:srgbClr val="F3EFDA"/>
              </a:solidFill>
            </a:endParaRPr>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a:solidFill>
                  <a:srgbClr val="F2EFDA"/>
                </a:solidFill>
                <a:latin typeface="Courier New" pitchFamily="34" charset="0"/>
                <a:ea typeface="Courier New" pitchFamily="34" charset="-122"/>
                <a:cs typeface="Courier New" pitchFamily="34" charset="-120"/>
              </a:rPr>
              <a:t>29×</a:t>
            </a:r>
            <a:r>
              <a:rPr lang="en-US" sz="1100" kern="0">
                <a:solidFill>
                  <a:srgbClr val="798D6F"/>
                </a:solidFill>
                <a:latin typeface="Courier New" pitchFamily="34" charset="0"/>
                <a:ea typeface="Courier New" pitchFamily="34" charset="-122"/>
                <a:cs typeface="Courier New" pitchFamily="34" charset="-120"/>
              </a:rPr>
              <a:t>   Current-Ratio-Volatilität</a:t>
            </a:r>
            <a:endParaRPr lang="en-US" sz="1500"/>
          </a:p>
          <a:p>
            <a:pPr marL="0" indent="0" algn="l">
              <a:lnSpc>
                <a:spcPct val="104000"/>
              </a:lnSpc>
              <a:buNone/>
            </a:pPr>
            <a:r>
              <a:rPr lang="en-US" sz="1000" kern="0">
                <a:solidFill>
                  <a:srgbClr val="B3BC9A"/>
                </a:solidFill>
                <a:latin typeface="Arial" pitchFamily="34" charset="0"/>
                <a:ea typeface="Arial" pitchFamily="34" charset="-122"/>
                <a:cs typeface="Arial" pitchFamily="34" charset="-120"/>
              </a:rPr>
              <a:t>ROA-σ ein Fünftel · CR-φ −0,40 statt −0,17: Regulierung erzwingt Korrektur — </a:t>
            </a:r>
            <a:r>
              <a:rPr lang="en-US" sz="1000" b="1" kern="0">
                <a:solidFill>
                  <a:srgbClr val="F2EFDA"/>
                </a:solidFill>
                <a:latin typeface="Arial" pitchFamily="34" charset="0"/>
                <a:ea typeface="Arial" pitchFamily="34" charset="-122"/>
                <a:cs typeface="Arial" pitchFamily="34" charset="-120"/>
              </a:rPr>
              <a:t>der Ausschluss ist empirisch begründet</a:t>
            </a:r>
            <a:r>
              <a:rPr lang="en-US" sz="1000" kern="0">
                <a:solidFill>
                  <a:srgbClr val="B3BC9A"/>
                </a:solidFill>
                <a:latin typeface="Arial" pitchFamily="34" charset="0"/>
                <a:ea typeface="Arial" pitchFamily="34" charset="-122"/>
                <a:cs typeface="Arial" pitchFamily="34" charset="-120"/>
              </a:rPr>
              <a:t>.</a:t>
            </a:r>
            <a:endParaRPr lang="en-US" sz="1000"/>
          </a:p>
        </p:txBody>
      </p:sp>
      <p:sp>
        <p:nvSpPr>
          <p:cNvPr id="91" name="!!K_Cl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l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INDUSTRIE + BASISK.</a:t>
            </a:r>
            <a:endParaRPr lang="en-US" sz="1000"/>
          </a:p>
        </p:txBody>
      </p:sp>
      <p:sp>
        <p:nvSpPr>
          <p:cNvPr id="93" name="!!T_Cl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66 %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stabile Hälfte — robusteste Vorhersage.</a:t>
            </a:r>
            <a:endParaRPr lang="en-US" sz="870"/>
          </a:p>
        </p:txBody>
      </p:sp>
      <p:sp>
        <p:nvSpPr>
          <p:cNvPr id="94" name="!!K_Cl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l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VERSORGER + IMMOB.</a:t>
            </a:r>
            <a:endParaRPr lang="en-US" sz="1000"/>
          </a:p>
        </p:txBody>
      </p:sp>
      <p:sp>
        <p:nvSpPr>
          <p:cNvPr id="96" name="!!T_Cl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65 %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Buchgewinne stabil: ROA 82 % — Margen schwächer.</a:t>
            </a:r>
            <a:endParaRPr lang="en-US" sz="870"/>
          </a:p>
        </p:txBody>
      </p:sp>
      <p:sp>
        <p:nvSpPr>
          <p:cNvPr id="97" name="!!K_Cl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l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a:solidFill>
                  <a:srgbClr val="B3BC9A"/>
                </a:solidFill>
                <a:latin typeface="Courier New" pitchFamily="34" charset="0"/>
                <a:ea typeface="Courier New" pitchFamily="34" charset="-122"/>
                <a:cs typeface="Courier New" pitchFamily="34" charset="-120"/>
              </a:rPr>
              <a:t>TECH + GRUNDSTOFFE</a:t>
            </a:r>
            <a:endParaRPr lang="en-US" sz="1000"/>
          </a:p>
        </p:txBody>
      </p:sp>
      <p:sp>
        <p:nvSpPr>
          <p:cNvPr id="99" name="!!T_Cl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60 %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persistente Hälfte — moderat bestätigt.</a:t>
            </a:r>
            <a:endParaRPr lang="en-US" sz="870"/>
          </a:p>
        </p:txBody>
      </p:sp>
      <p:sp>
        <p:nvSpPr>
          <p:cNvPr id="100" name="!!K_Cl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l4"/>
          <p:cNvSpPr/>
          <p:nvPr/>
        </p:nvSpPr>
        <p:spPr>
          <a:xfrm>
            <a:off x="9140788" y="5670000"/>
            <a:ext cx="2235398" cy="220000"/>
          </a:xfrm>
          <a:prstGeom prst="rect">
            <a:avLst/>
          </a:prstGeom>
          <a:noFill/>
          <a:ln/>
        </p:spPr>
        <p:txBody>
          <a:bodyPr wrap="square" rtlCol="0" anchor="t"/>
          <a:lstStyle/>
          <a:p>
            <a:pPr>
              <a:lnSpc>
                <a:spcPct val="105000"/>
              </a:lnSpc>
            </a:pPr>
            <a:r>
              <a:rPr lang="en-US" sz="1000" b="1" kern="0">
                <a:solidFill>
                  <a:srgbClr val="B3BC9A"/>
                </a:solidFill>
                <a:latin typeface="Courier New" pitchFamily="34" charset="0"/>
                <a:cs typeface="Courier New" pitchFamily="34" charset="-120"/>
              </a:rPr>
              <a:t>KOMM. + ENERGIE</a:t>
            </a:r>
          </a:p>
        </p:txBody>
      </p:sp>
      <p:sp>
        <p:nvSpPr>
          <p:cNvPr id="102" name="!!T_Cl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a:solidFill>
                  <a:srgbClr val="F2EFDA"/>
                </a:solidFill>
                <a:latin typeface="Courier New" pitchFamily="34" charset="0"/>
                <a:ea typeface="Courier New" pitchFamily="34" charset="-122"/>
                <a:cs typeface="Courier New" pitchFamily="34" charset="-120"/>
              </a:rPr>
              <a:t>43 %</a:t>
            </a:r>
            <a:endParaRPr lang="en-US" sz="1250"/>
          </a:p>
          <a:p>
            <a:pPr marL="0" indent="0" algn="l">
              <a:lnSpc>
                <a:spcPct val="100000"/>
              </a:lnSpc>
              <a:buNone/>
            </a:pPr>
            <a:r>
              <a:rPr lang="en-US" sz="870" kern="0">
                <a:solidFill>
                  <a:srgbClr val="B3BC9A"/>
                </a:solidFill>
                <a:latin typeface="Arial" pitchFamily="34" charset="0"/>
                <a:ea typeface="Arial" pitchFamily="34" charset="-122"/>
                <a:cs typeface="Arial" pitchFamily="34" charset="-120"/>
              </a:rPr>
              <a:t>offen benannt: FCF nur 30 % — Zyklen persistieren.</a:t>
            </a:r>
            <a:endParaRPr lang="en-US" sz="87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Drei Ebenen, ein Testprogramm</a:t>
            </a:r>
            <a:endParaRPr lang="en-US" sz="20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Alle Testfamilien Bonferroni-korrigiert. Die Ergebnisse folgen auf den nächsten drei Folien.</a:t>
            </a:r>
            <a:endParaRPr lang="en-US" sz="900" dirty="0"/>
          </a:p>
        </p:txBody>
      </p:sp>
      <p:sp>
        <p:nvSpPr>
          <p:cNvPr id="40" name="!!K_Test1"/>
          <p:cNvSpPr/>
          <p:nvPr/>
        </p:nvSpPr>
        <p:spPr>
          <a:xfrm>
            <a:off x="634594" y="175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Test1"/>
          <p:cNvSpPr/>
          <p:nvPr/>
        </p:nvSpPr>
        <p:spPr>
          <a:xfrm>
            <a:off x="634594" y="1750000"/>
            <a:ext cx="38405" cy="1150000"/>
          </a:xfrm>
          <a:prstGeom prst="rect">
            <a:avLst/>
          </a:prstGeom>
          <a:solidFill>
            <a:srgbClr val="79A2F9"/>
          </a:solidFill>
          <a:ln/>
        </p:spPr>
        <p:txBody>
          <a:bodyPr/>
          <a:lstStyle/>
          <a:p>
            <a:endParaRPr lang="de-DE"/>
          </a:p>
        </p:txBody>
      </p:sp>
      <p:sp>
        <p:nvSpPr>
          <p:cNvPr id="42" name="!!L_Test1"/>
          <p:cNvSpPr/>
          <p:nvPr/>
        </p:nvSpPr>
        <p:spPr>
          <a:xfrm>
            <a:off x="888797" y="1940000"/>
            <a:ext cx="7300000" cy="260000"/>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6.1 · UNTERNEHMENSMERKMALE</a:t>
            </a:r>
            <a:endParaRPr lang="en-US" sz="1200" dirty="0"/>
          </a:p>
        </p:txBody>
      </p:sp>
      <p:sp>
        <p:nvSpPr>
          <p:cNvPr id="43" name="!!D_Test1"/>
          <p:cNvSpPr/>
          <p:nvPr/>
        </p:nvSpPr>
        <p:spPr>
          <a:xfrm>
            <a:off x="4532913" y="222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5 Strukturvariablen × 7 Kennzahlen × </a:t>
            </a:r>
            <a:r>
              <a:rPr lang="en-US" sz="1400" kern="0" dirty="0" err="1">
                <a:solidFill>
                  <a:srgbClr val="B3BC9A"/>
                </a:solidFill>
                <a:latin typeface="Arial" pitchFamily="34" charset="0"/>
                <a:ea typeface="Arial" pitchFamily="34" charset="-122"/>
                <a:cs typeface="Arial" pitchFamily="34" charset="-120"/>
              </a:rPr>
              <a:t>φ</a:t>
            </a:r>
            <a:r>
              <a:rPr lang="en-US" sz="1400" kern="0" dirty="0">
                <a:solidFill>
                  <a:srgbClr val="B3BC9A"/>
                </a:solidFill>
                <a:latin typeface="Arial" pitchFamily="34" charset="0"/>
                <a:ea typeface="Arial" pitchFamily="34" charset="-122"/>
                <a:cs typeface="Arial" pitchFamily="34" charset="-120"/>
              </a:rPr>
              <a:t> &amp; </a:t>
            </a:r>
            <a:r>
              <a:rPr lang="en-US" sz="1400" kern="0" dirty="0" err="1">
                <a:solidFill>
                  <a:srgbClr val="B3BC9A"/>
                </a:solidFill>
                <a:latin typeface="Arial" pitchFamily="34" charset="0"/>
                <a:ea typeface="Arial" pitchFamily="34" charset="-122"/>
                <a:cs typeface="Arial" pitchFamily="34" charset="-120"/>
              </a:rPr>
              <a:t>σ</a:t>
            </a:r>
            <a:r>
              <a:rPr lang="en-US" sz="1400" kern="0" dirty="0">
                <a:solidFill>
                  <a:srgbClr val="B3BC9A"/>
                </a:solidFill>
                <a:latin typeface="Arial" pitchFamily="34" charset="0"/>
                <a:ea typeface="Arial" pitchFamily="34" charset="-122"/>
                <a:cs typeface="Arial" pitchFamily="34" charset="-120"/>
              </a:rPr>
              <a:t> </a:t>
            </a:r>
            <a:endParaRPr lang="en-US" sz="1400" dirty="0"/>
          </a:p>
        </p:txBody>
      </p:sp>
      <p:sp>
        <p:nvSpPr>
          <p:cNvPr id="60" name="!!B_Test1"/>
          <p:cNvSpPr/>
          <p:nvPr/>
        </p:nvSpPr>
        <p:spPr>
          <a:xfrm>
            <a:off x="8300000" y="175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98 Spearman-Tests</a:t>
            </a:r>
            <a:endParaRPr lang="en-US" sz="2000" dirty="0"/>
          </a:p>
        </p:txBody>
      </p:sp>
      <p:sp>
        <p:nvSpPr>
          <p:cNvPr id="44" name="!!K_Test2"/>
          <p:cNvSpPr/>
          <p:nvPr/>
        </p:nvSpPr>
        <p:spPr>
          <a:xfrm>
            <a:off x="634594" y="316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A_Test2"/>
          <p:cNvSpPr/>
          <p:nvPr/>
        </p:nvSpPr>
        <p:spPr>
          <a:xfrm>
            <a:off x="634594" y="3160000"/>
            <a:ext cx="38405" cy="1150000"/>
          </a:xfrm>
          <a:prstGeom prst="rect">
            <a:avLst/>
          </a:prstGeom>
          <a:solidFill>
            <a:srgbClr val="E6D34F"/>
          </a:solidFill>
          <a:ln/>
        </p:spPr>
        <p:txBody>
          <a:bodyPr/>
          <a:lstStyle/>
          <a:p>
            <a:endParaRPr lang="de-DE"/>
          </a:p>
        </p:txBody>
      </p:sp>
      <p:sp>
        <p:nvSpPr>
          <p:cNvPr id="46" name="!!L_Test2"/>
          <p:cNvSpPr/>
          <p:nvPr/>
        </p:nvSpPr>
        <p:spPr>
          <a:xfrm>
            <a:off x="888797" y="3350000"/>
            <a:ext cx="7300000" cy="260000"/>
          </a:xfrm>
          <a:prstGeom prst="rect">
            <a:avLst/>
          </a:prstGeom>
          <a:noFill/>
          <a:ln/>
        </p:spPr>
        <p:txBody>
          <a:bodyPr wrap="square" rtlCol="0" anchor="t"/>
          <a:lstStyle/>
          <a:p>
            <a:pPr marL="0" indent="0" algn="l">
              <a:lnSpc>
                <a:spcPct val="105000"/>
              </a:lnSpc>
              <a:buNone/>
            </a:pPr>
            <a:r>
              <a:rPr lang="en-US" sz="1200" b="1" kern="0" dirty="0">
                <a:solidFill>
                  <a:srgbClr val="E6D34F"/>
                </a:solidFill>
                <a:latin typeface="Courier New" pitchFamily="34" charset="0"/>
                <a:ea typeface="Courier New" pitchFamily="34" charset="-122"/>
                <a:cs typeface="Courier New" pitchFamily="34" charset="-120"/>
              </a:rPr>
              <a:t>6.2 · SEKTORMERKMALE</a:t>
            </a:r>
            <a:endParaRPr lang="en-US" sz="1200" dirty="0"/>
          </a:p>
        </p:txBody>
      </p:sp>
      <p:sp>
        <p:nvSpPr>
          <p:cNvPr id="47" name="!!D_Test2"/>
          <p:cNvSpPr/>
          <p:nvPr/>
        </p:nvSpPr>
        <p:spPr>
          <a:xfrm>
            <a:off x="4532912" y="363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Kruskal-Wallis über die </a:t>
            </a:r>
            <a:r>
              <a:rPr lang="en-US" sz="1400" kern="0" dirty="0" err="1">
                <a:solidFill>
                  <a:srgbClr val="B3BC9A"/>
                </a:solidFill>
                <a:latin typeface="Arial" pitchFamily="34" charset="0"/>
                <a:ea typeface="Arial" pitchFamily="34" charset="-122"/>
                <a:cs typeface="Arial" pitchFamily="34" charset="-120"/>
              </a:rPr>
              <a:t>zehn</a:t>
            </a:r>
            <a:r>
              <a:rPr lang="en-US" sz="1400" kern="0" dirty="0">
                <a:solidFill>
                  <a:srgbClr val="B3BC9A"/>
                </a:solidFill>
                <a:latin typeface="Arial" pitchFamily="34" charset="0"/>
                <a:ea typeface="Arial" pitchFamily="34" charset="-122"/>
                <a:cs typeface="Arial" pitchFamily="34" charset="-120"/>
              </a:rPr>
              <a:t> GICS-</a:t>
            </a:r>
            <a:r>
              <a:rPr lang="en-US" sz="1400" kern="0" dirty="0" err="1">
                <a:solidFill>
                  <a:srgbClr val="B3BC9A"/>
                </a:solidFill>
                <a:latin typeface="Arial" pitchFamily="34" charset="0"/>
                <a:ea typeface="Arial" pitchFamily="34" charset="-122"/>
                <a:cs typeface="Arial" pitchFamily="34" charset="-120"/>
              </a:rPr>
              <a:t>Sektoren</a:t>
            </a:r>
            <a:endParaRPr lang="en-US" sz="1400" dirty="0"/>
          </a:p>
        </p:txBody>
      </p:sp>
      <p:sp>
        <p:nvSpPr>
          <p:cNvPr id="64" name="!!B_Test2"/>
          <p:cNvSpPr/>
          <p:nvPr/>
        </p:nvSpPr>
        <p:spPr>
          <a:xfrm>
            <a:off x="8300000" y="316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3 Verfahren</a:t>
            </a:r>
            <a:endParaRPr lang="en-US" sz="2000" dirty="0"/>
          </a:p>
        </p:txBody>
      </p:sp>
      <p:sp>
        <p:nvSpPr>
          <p:cNvPr id="48" name="!!K_Test3"/>
          <p:cNvSpPr/>
          <p:nvPr/>
        </p:nvSpPr>
        <p:spPr>
          <a:xfrm>
            <a:off x="634594" y="4570000"/>
            <a:ext cx="10921594" cy="11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9" name="!!A_Test3"/>
          <p:cNvSpPr/>
          <p:nvPr/>
        </p:nvSpPr>
        <p:spPr>
          <a:xfrm>
            <a:off x="634594" y="4570000"/>
            <a:ext cx="38405" cy="1150000"/>
          </a:xfrm>
          <a:prstGeom prst="rect">
            <a:avLst/>
          </a:prstGeom>
          <a:solidFill>
            <a:srgbClr val="F36451"/>
          </a:solidFill>
          <a:ln/>
        </p:spPr>
        <p:txBody>
          <a:bodyPr/>
          <a:lstStyle/>
          <a:p>
            <a:endParaRPr lang="de-DE"/>
          </a:p>
        </p:txBody>
      </p:sp>
      <p:sp>
        <p:nvSpPr>
          <p:cNvPr id="50" name="!!L_Test3"/>
          <p:cNvSpPr/>
          <p:nvPr/>
        </p:nvSpPr>
        <p:spPr>
          <a:xfrm>
            <a:off x="888797" y="4760000"/>
            <a:ext cx="7300000" cy="260000"/>
          </a:xfrm>
          <a:prstGeom prst="rect">
            <a:avLst/>
          </a:prstGeom>
          <a:noFill/>
          <a:ln/>
        </p:spPr>
        <p:txBody>
          <a:bodyPr wrap="square" rtlCol="0" anchor="t"/>
          <a:lstStyle/>
          <a:p>
            <a:pPr marL="0" indent="0" algn="l">
              <a:lnSpc>
                <a:spcPct val="105000"/>
              </a:lnSpc>
              <a:buNone/>
            </a:pPr>
            <a:r>
              <a:rPr lang="en-US" sz="1200" b="1" kern="0" dirty="0">
                <a:solidFill>
                  <a:srgbClr val="F36451"/>
                </a:solidFill>
                <a:latin typeface="Courier New" pitchFamily="34" charset="0"/>
                <a:ea typeface="Courier New" pitchFamily="34" charset="-122"/>
                <a:cs typeface="Courier New" pitchFamily="34" charset="-120"/>
              </a:rPr>
              <a:t>6.3 · SYNTHESE</a:t>
            </a:r>
            <a:endParaRPr lang="en-US" sz="1200" dirty="0"/>
          </a:p>
        </p:txBody>
      </p:sp>
      <p:sp>
        <p:nvSpPr>
          <p:cNvPr id="51" name="!!D_Test3"/>
          <p:cNvSpPr/>
          <p:nvPr/>
        </p:nvSpPr>
        <p:spPr>
          <a:xfrm>
            <a:off x="4532912" y="5043506"/>
            <a:ext cx="4213824" cy="480000"/>
          </a:xfrm>
          <a:prstGeom prst="rect">
            <a:avLst/>
          </a:prstGeom>
          <a:noFill/>
          <a:ln/>
        </p:spPr>
        <p:txBody>
          <a:bodyPr wrap="square" rtlCol="0" anchor="t"/>
          <a:lstStyle/>
          <a:p>
            <a:pPr marL="0" indent="0" algn="r">
              <a:lnSpc>
                <a:spcPct val="110000"/>
              </a:lnSpc>
              <a:buNone/>
            </a:pPr>
            <a:r>
              <a:rPr lang="en-US" sz="1400" kern="0" dirty="0">
                <a:solidFill>
                  <a:srgbClr val="B3BC9A"/>
                </a:solidFill>
                <a:latin typeface="Arial" pitchFamily="34" charset="0"/>
                <a:ea typeface="Arial" pitchFamily="34" charset="-122"/>
                <a:cs typeface="Arial" pitchFamily="34" charset="-120"/>
              </a:rPr>
              <a:t>Multivariate OLS-Regression</a:t>
            </a:r>
            <a:endParaRPr lang="en-US" sz="1400" dirty="0"/>
          </a:p>
        </p:txBody>
      </p:sp>
      <p:sp>
        <p:nvSpPr>
          <p:cNvPr id="68" name="!!B_Test3"/>
          <p:cNvSpPr/>
          <p:nvPr/>
        </p:nvSpPr>
        <p:spPr>
          <a:xfrm>
            <a:off x="8300000" y="4570000"/>
            <a:ext cx="3001985" cy="1150000"/>
          </a:xfrm>
          <a:prstGeom prst="rect">
            <a:avLst/>
          </a:prstGeom>
          <a:noFill/>
          <a:ln/>
        </p:spPr>
        <p:txBody>
          <a:bodyPr wrap="square" rtlCol="0" anchor="ctr"/>
          <a:lstStyle/>
          <a:p>
            <a:pPr marL="0" indent="0" algn="r">
              <a:lnSpc>
                <a:spcPct val="105000"/>
              </a:lnSpc>
              <a:buNone/>
            </a:pPr>
            <a:r>
              <a:rPr lang="en-US" sz="2000" b="1" kern="0" dirty="0">
                <a:solidFill>
                  <a:srgbClr val="F2EFDA"/>
                </a:solidFill>
                <a:latin typeface="Courier New" pitchFamily="34" charset="0"/>
                <a:ea typeface="Courier New" pitchFamily="34" charset="-122"/>
                <a:cs typeface="Courier New" pitchFamily="34" charset="-120"/>
              </a:rPr>
              <a:t>14 Modelle</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Unternehmensmerkmale wirken auf σ — kaum auf φ</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98 Spearman-Tests · ★ = Bonferroni-signifikant (α/14 ≈ 0,0036)</a:t>
            </a:r>
            <a:endParaRPr lang="en-US" sz="1100" dirty="0"/>
          </a:p>
        </p:txBody>
      </p:sp>
      <p:sp>
        <p:nvSpPr>
          <p:cNvPr id="20" name="Text 17"/>
          <p:cNvSpPr/>
          <p:nvPr/>
        </p:nvSpPr>
        <p:spPr>
          <a:xfrm>
            <a:off x="634594" y="58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31 von 49 σ-Tests signifikant · 10 von 49 bei φ — stärkster Effekt: Mitarbeiterzahl × FCF-Marge / Current Ratio (ρ = −0,53).</a:t>
            </a:r>
            <a:endParaRPr lang="en-US" sz="900" dirty="0"/>
          </a:p>
        </p:txBody>
      </p:sp>
      <p:pic>
        <p:nvPicPr>
          <p:cNvPr id="8" name="Grafik 7">
            <a:extLst>
              <a:ext uri="{FF2B5EF4-FFF2-40B4-BE49-F238E27FC236}">
                <a16:creationId xmlns:a16="http://schemas.microsoft.com/office/drawing/2014/main" id="{061F56C1-183F-5856-5CA7-7B380676D932}"/>
              </a:ext>
            </a:extLst>
          </p:cNvPr>
          <p:cNvPicPr>
            <a:picLocks noChangeAspect="1"/>
          </p:cNvPicPr>
          <p:nvPr/>
        </p:nvPicPr>
        <p:blipFill>
          <a:blip r:embed="rId3"/>
          <a:srcRect/>
          <a:stretch/>
        </p:blipFill>
        <p:spPr>
          <a:xfrm>
            <a:off x="634594" y="1705069"/>
            <a:ext cx="9516796" cy="38528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14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Kruskal-Wallis-Effektstärke ε² je Kennzahl · ★ = Bonferroni-signifikant</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Cluster-Vorhersagen aus der Sektor-Mechanik (Kap. 4.3.3) · Details und Beispiel-Unternehmen im Backup.</a:t>
            </a:r>
            <a:endParaRPr lang="en-US" sz="900" dirty="0"/>
          </a:p>
        </p:txBody>
      </p:sp>
      <p:sp>
        <p:nvSpPr>
          <p:cNvPr id="60" name="!!K_FinSrv"/>
          <p:cNvSpPr/>
          <p:nvPr/>
        </p:nvSpPr>
        <p:spPr>
          <a:xfrm>
            <a:off x="7734594" y="1750000"/>
            <a:ext cx="3821594" cy="1400000"/>
          </a:xfrm>
          <a:prstGeom prst="roundRect">
            <a:avLst>
              <a:gd name="adj" fmla="val 3197"/>
            </a:avLst>
          </a:prstGeom>
          <a:solidFill>
            <a:srgbClr val="1E402E"/>
          </a:solidFill>
          <a:ln w="12700">
            <a:solidFill>
              <a:srgbClr val="E6D34F"/>
            </a:solidFill>
            <a:prstDash val="solid"/>
          </a:ln>
        </p:spPr>
        <p:txBody>
          <a:bodyPr/>
          <a:lstStyle/>
          <a:p>
            <a:endParaRPr lang="de-DE"/>
          </a:p>
        </p:txBody>
      </p:sp>
      <p:sp>
        <p:nvSpPr>
          <p:cNvPr id="61" name="!!L_FinSrv"/>
          <p:cNvSpPr/>
          <p:nvPr/>
        </p:nvSpPr>
        <p:spPr>
          <a:xfrm>
            <a:off x="7934594" y="1880000"/>
            <a:ext cx="3421594" cy="23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FINSRV-KONTRAST · 451 FIRMEN</a:t>
            </a:r>
            <a:endParaRPr lang="en-US" sz="1000" dirty="0"/>
          </a:p>
        </p:txBody>
      </p:sp>
      <p:sp>
        <p:nvSpPr>
          <p:cNvPr id="62" name="!!T_FinSrv"/>
          <p:cNvSpPr/>
          <p:nvPr/>
        </p:nvSpPr>
        <p:spPr>
          <a:xfrm>
            <a:off x="7934594" y="2160000"/>
            <a:ext cx="3421594" cy="900000"/>
          </a:xfrm>
          <a:prstGeom prst="rect">
            <a:avLst/>
          </a:prstGeom>
          <a:noFill/>
          <a:ln/>
        </p:spPr>
        <p:txBody>
          <a:bodyPr wrap="square" rtlCol="0" anchor="t"/>
          <a:lstStyle/>
          <a:p>
            <a:pPr marL="0" indent="0" algn="l">
              <a:lnSpc>
                <a:spcPct val="100000"/>
              </a:lnSpc>
              <a:buNone/>
            </a:pPr>
            <a:r>
              <a:rPr lang="en-US" sz="2000" b="1" kern="0" dirty="0">
                <a:solidFill>
                  <a:srgbClr val="F2EFDA"/>
                </a:solidFill>
                <a:latin typeface="Courier New" pitchFamily="34" charset="0"/>
                <a:ea typeface="Courier New" pitchFamily="34" charset="-122"/>
                <a:cs typeface="Courier New" pitchFamily="34" charset="-120"/>
              </a:rPr>
              <a:t>29×</a:t>
            </a:r>
            <a:r>
              <a:rPr lang="en-US" sz="1050" kern="0" dirty="0">
                <a:solidFill>
                  <a:srgbClr val="798D6F"/>
                </a:solidFill>
                <a:latin typeface="Courier New" pitchFamily="34" charset="0"/>
                <a:ea typeface="Courier New" pitchFamily="34" charset="-122"/>
                <a:cs typeface="Courier New" pitchFamily="34" charset="-120"/>
              </a:rPr>
              <a:t>  Current-Ratio-σ</a:t>
            </a:r>
            <a:endParaRPr lang="en-US" sz="20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der Ausschluss ist </a:t>
            </a:r>
            <a:r>
              <a:rPr lang="en-US" sz="950" b="1" kern="0" dirty="0">
                <a:solidFill>
                  <a:srgbClr val="F2EFDA"/>
                </a:solidFill>
                <a:latin typeface="Arial" pitchFamily="34" charset="0"/>
                <a:ea typeface="Arial" pitchFamily="34" charset="-122"/>
                <a:cs typeface="Arial" pitchFamily="34" charset="-120"/>
              </a:rPr>
              <a:t>empirisch begründet</a:t>
            </a:r>
            <a:r>
              <a:rPr lang="en-US" sz="950" kern="0" dirty="0">
                <a:solidFill>
                  <a:srgbClr val="B3BC9A"/>
                </a:solidFill>
                <a:latin typeface="Arial" pitchFamily="34" charset="0"/>
                <a:ea typeface="Arial" pitchFamily="34" charset="-122"/>
                <a:cs typeface="Arial" pitchFamily="34" charset="-120"/>
              </a:rPr>
              <a:t>.</a:t>
            </a:r>
            <a:endParaRPr lang="en-US" sz="950" dirty="0"/>
          </a:p>
        </p:txBody>
      </p:sp>
      <p:sp>
        <p:nvSpPr>
          <p:cNvPr id="63" name="!!K_Cluster"/>
          <p:cNvSpPr/>
          <p:nvPr/>
        </p:nvSpPr>
        <p:spPr>
          <a:xfrm>
            <a:off x="7734594" y="3400000"/>
            <a:ext cx="3821594" cy="14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64" name="!!L_Cluster"/>
          <p:cNvSpPr/>
          <p:nvPr/>
        </p:nvSpPr>
        <p:spPr>
          <a:xfrm>
            <a:off x="7934594" y="3530000"/>
            <a:ext cx="3421594"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CLUSTER-FALSIFIKATION</a:t>
            </a:r>
            <a:endParaRPr lang="en-US" sz="1000" dirty="0"/>
          </a:p>
        </p:txBody>
      </p:sp>
      <p:sp>
        <p:nvSpPr>
          <p:cNvPr id="65" name="!!T_Cluster"/>
          <p:cNvSpPr/>
          <p:nvPr/>
        </p:nvSpPr>
        <p:spPr>
          <a:xfrm>
            <a:off x="7934594" y="3810000"/>
            <a:ext cx="3421594" cy="900000"/>
          </a:xfrm>
          <a:prstGeom prst="rect">
            <a:avLst/>
          </a:prstGeom>
          <a:noFill/>
          <a:ln/>
        </p:spPr>
        <p:txBody>
          <a:bodyPr wrap="square" rtlCol="0" anchor="t"/>
          <a:lstStyle/>
          <a:p>
            <a:pPr marL="0" indent="0" algn="l">
              <a:lnSpc>
                <a:spcPct val="100000"/>
              </a:lnSpc>
              <a:buNone/>
            </a:pPr>
            <a:r>
              <a:rPr lang="en-US" sz="1600" b="1" kern="0" dirty="0">
                <a:solidFill>
                  <a:srgbClr val="F2EFDA"/>
                </a:solidFill>
                <a:latin typeface="Courier New" pitchFamily="34" charset="0"/>
                <a:ea typeface="Courier New" pitchFamily="34" charset="-122"/>
                <a:cs typeface="Courier New" pitchFamily="34" charset="-120"/>
              </a:rPr>
              <a:t>3 / 4 bestätigt</a:t>
            </a:r>
            <a:endParaRPr lang="en-US" sz="1600" dirty="0"/>
          </a:p>
          <a:p>
            <a:pPr marL="0" indent="0" algn="l">
              <a:lnSpc>
                <a:spcPct val="105000"/>
              </a:lnSpc>
              <a:buNone/>
            </a:pPr>
            <a:r>
              <a:rPr lang="en-US" sz="950" kern="0" dirty="0">
                <a:solidFill>
                  <a:srgbClr val="B3BC9A"/>
                </a:solidFill>
                <a:latin typeface="Arial" pitchFamily="34" charset="0"/>
                <a:ea typeface="Arial" pitchFamily="34" charset="-122"/>
                <a:cs typeface="Arial" pitchFamily="34" charset="-120"/>
              </a:rPr>
              <a:t>66 · 65 · 60 % Konformität — schwächstes </a:t>
            </a:r>
            <a:r>
              <a:rPr lang="en-US" sz="950" b="1" kern="0" dirty="0">
                <a:solidFill>
                  <a:srgbClr val="F2EFDA"/>
                </a:solidFill>
                <a:latin typeface="Arial" pitchFamily="34" charset="0"/>
                <a:ea typeface="Arial" pitchFamily="34" charset="-122"/>
                <a:cs typeface="Arial" pitchFamily="34" charset="-120"/>
              </a:rPr>
              <a:t>offen benannt: 43 %</a:t>
            </a:r>
            <a:r>
              <a:rPr lang="en-US" sz="950" kern="0" dirty="0">
                <a:solidFill>
                  <a:srgbClr val="B3BC9A"/>
                </a:solidFill>
                <a:latin typeface="Arial" pitchFamily="34" charset="0"/>
                <a:ea typeface="Arial" pitchFamily="34" charset="-122"/>
                <a:cs typeface="Arial" pitchFamily="34" charset="-120"/>
              </a:rPr>
              <a:t>.</a:t>
            </a:r>
            <a:endParaRPr lang="en-US" sz="950" dirty="0"/>
          </a:p>
        </p:txBody>
      </p:sp>
      <p:pic>
        <p:nvPicPr>
          <p:cNvPr id="10" name="Grafik 9">
            <a:extLst>
              <a:ext uri="{FF2B5EF4-FFF2-40B4-BE49-F238E27FC236}">
                <a16:creationId xmlns:a16="http://schemas.microsoft.com/office/drawing/2014/main" id="{EF11224F-5EB7-C2C2-DCFC-66A46D2517AC}"/>
              </a:ext>
            </a:extLst>
          </p:cNvPr>
          <p:cNvPicPr>
            <a:picLocks noChangeAspect="1"/>
          </p:cNvPicPr>
          <p:nvPr/>
        </p:nvPicPr>
        <p:blipFill>
          <a:blip r:embed="rId3"/>
          <a:stretch>
            <a:fillRect/>
          </a:stretch>
        </p:blipFill>
        <p:spPr>
          <a:xfrm>
            <a:off x="835812" y="1802297"/>
            <a:ext cx="6632075" cy="29226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10 / 13</a:t>
            </a:r>
            <a:endParaRPr lang="en-US" sz="120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a:solidFill>
                  <a:srgbClr val="F2EFDA"/>
                </a:solidFill>
                <a:latin typeface="Arial" pitchFamily="34" charset="0"/>
                <a:ea typeface="Arial" pitchFamily="34" charset="-122"/>
                <a:cs typeface="Arial" pitchFamily="34" charset="-120"/>
              </a:rPr>
              <a:t>Struktur erklärt σ — nicht φ</a:t>
            </a:r>
            <a:endParaRPr lang="en-US" sz="250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a:solidFill>
                  <a:srgbClr val="79A2F9"/>
                </a:solidFill>
                <a:latin typeface="Courier New" pitchFamily="34" charset="0"/>
                <a:ea typeface="Courier New" pitchFamily="34" charset="-122"/>
                <a:cs typeface="Courier New" pitchFamily="34" charset="-120"/>
              </a:rPr>
              <a:t>σ  </a:t>
            </a:r>
            <a:r>
              <a:rPr lang="en-US" sz="1200" b="1">
                <a:solidFill>
                  <a:srgbClr val="F2EFDA"/>
                </a:solidFill>
                <a:latin typeface="Arial" pitchFamily="34" charset="0"/>
                <a:ea typeface="Arial" pitchFamily="34" charset="-122"/>
                <a:cs typeface="Arial" pitchFamily="34" charset="-120"/>
              </a:rPr>
              <a:t>Volatilität — erklärt</a:t>
            </a:r>
            <a:endParaRPr lang="en-US" sz="120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a:solidFill>
                  <a:srgbClr val="79A2F9"/>
                </a:solidFill>
                <a:latin typeface="Courier New" pitchFamily="34" charset="0"/>
                <a:ea typeface="Courier New" pitchFamily="34" charset="-122"/>
                <a:cs typeface="Courier New" pitchFamily="34" charset="-120"/>
              </a:rPr>
              <a:t>≈ 30 %</a:t>
            </a:r>
            <a:endParaRPr lang="en-US" sz="240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Bei der FCF-Marge bis 49 %.</a:t>
            </a:r>
            <a:endParaRPr lang="en-US" sz="90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a:solidFill>
                  <a:srgbClr val="B3BC9A"/>
                </a:solidFill>
                <a:latin typeface="Courier New" pitchFamily="34" charset="0"/>
                <a:ea typeface="Courier New" pitchFamily="34" charset="-122"/>
                <a:cs typeface="Courier New" pitchFamily="34" charset="-120"/>
              </a:rPr>
              <a:t>φ  </a:t>
            </a:r>
            <a:r>
              <a:rPr lang="en-US" sz="1200" b="1">
                <a:solidFill>
                  <a:srgbClr val="B3BC9A"/>
                </a:solidFill>
                <a:latin typeface="Arial" pitchFamily="34" charset="0"/>
                <a:ea typeface="Arial" pitchFamily="34" charset="-122"/>
                <a:cs typeface="Arial" pitchFamily="34" charset="-120"/>
              </a:rPr>
              <a:t>Korrekturgeschwindigkeit — erklärt</a:t>
            </a:r>
            <a:endParaRPr lang="en-US" sz="120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a:solidFill>
                  <a:srgbClr val="B3BC9A"/>
                </a:solidFill>
                <a:latin typeface="Courier New" pitchFamily="34" charset="0"/>
                <a:ea typeface="Courier New" pitchFamily="34" charset="-122"/>
                <a:cs typeface="Courier New" pitchFamily="34" charset="-120"/>
              </a:rPr>
              <a:t>≈ 5 %</a:t>
            </a:r>
            <a:endParaRPr lang="en-US" sz="240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a:solidFill>
                  <a:srgbClr val="798D6F"/>
                </a:solidFill>
                <a:latin typeface="Arial" pitchFamily="34" charset="0"/>
                <a:ea typeface="Arial" pitchFamily="34" charset="-122"/>
                <a:cs typeface="Arial" pitchFamily="34" charset="-120"/>
              </a:rPr>
              <a:t>φ bleibt idiosynkratisch — ein eigenständiges Firmenmerkmal.</a:t>
            </a:r>
            <a:endParaRPr lang="en-US" sz="90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a:solidFill>
                  <a:srgbClr val="79A2F9"/>
                </a:solidFill>
                <a:latin typeface="Courier New" pitchFamily="34" charset="0"/>
                <a:ea typeface="Courier New" pitchFamily="34" charset="-122"/>
                <a:cs typeface="Courier New" pitchFamily="34" charset="-120"/>
              </a:rPr>
              <a:t>σ = Exposition</a:t>
            </a:r>
            <a:endParaRPr lang="en-US" sz="140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a:solidFill>
                  <a:srgbClr val="E6D34F"/>
                </a:solidFill>
                <a:latin typeface="Courier New" pitchFamily="34" charset="0"/>
                <a:ea typeface="Courier New" pitchFamily="34" charset="-122"/>
                <a:cs typeface="Courier New" pitchFamily="34" charset="-120"/>
              </a:rPr>
              <a:t>φ = Reaktion</a:t>
            </a:r>
            <a:endParaRPr lang="en-US" sz="140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11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Falsifikation &amp; Finanzdienstleister-Kontrast</a:t>
            </a:r>
            <a:endParaRPr lang="en-US" sz="230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a:solidFill>
                  <a:srgbClr val="E6D34F"/>
                </a:solidFill>
                <a:latin typeface="Courier New" pitchFamily="34" charset="0"/>
                <a:ea typeface="Courier New" pitchFamily="34" charset="-122"/>
                <a:cs typeface="Courier New" pitchFamily="34" charset="-120"/>
              </a:rPr>
              <a:t>CLUSTER-FALSIFIKATION (KAP. 6.2.2)</a:t>
            </a:r>
            <a:endParaRPr lang="en-US" sz="80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66 %</a:t>
            </a:r>
            <a:endParaRPr lang="en-US" sz="170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65 %</a:t>
            </a:r>
            <a:endParaRPr lang="en-US" sz="170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a:solidFill>
                  <a:srgbClr val="3EB977"/>
                </a:solidFill>
                <a:latin typeface="Courier New" pitchFamily="34" charset="0"/>
                <a:ea typeface="Courier New" pitchFamily="34" charset="-122"/>
                <a:cs typeface="Courier New" pitchFamily="34" charset="-120"/>
              </a:rPr>
              <a:t>60 %</a:t>
            </a:r>
            <a:endParaRPr lang="en-US" sz="170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a:solidFill>
                  <a:srgbClr val="F36451"/>
                </a:solidFill>
                <a:latin typeface="Courier New" pitchFamily="34" charset="0"/>
                <a:ea typeface="Courier New" pitchFamily="34" charset="-122"/>
                <a:cs typeface="Courier New" pitchFamily="34" charset="-120"/>
              </a:rPr>
              <a:t>43 %</a:t>
            </a:r>
            <a:endParaRPr lang="en-US" sz="170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3 von 4 Clustern bestätigt. Schwächstes Cluster </a:t>
            </a:r>
            <a:r>
              <a:rPr lang="en-US" sz="1000" b="1">
                <a:solidFill>
                  <a:srgbClr val="F2EFDA"/>
                </a:solidFill>
                <a:latin typeface="Arial" pitchFamily="34" charset="0"/>
                <a:ea typeface="Arial" pitchFamily="34" charset="-122"/>
                <a:cs typeface="Arial" pitchFamily="34" charset="-120"/>
              </a:rPr>
              <a:t>offen benannt</a:t>
            </a:r>
            <a:r>
              <a:rPr lang="en-US" sz="1000">
                <a:solidFill>
                  <a:srgbClr val="B3BC9A"/>
                </a:solidFill>
                <a:latin typeface="Arial" pitchFamily="34" charset="0"/>
                <a:ea typeface="Arial" pitchFamily="34" charset="-122"/>
                <a:cs typeface="Arial" pitchFamily="34" charset="-120"/>
              </a:rPr>
              <a:t>: Kommunikation/Energie mit 43 %.</a:t>
            </a:r>
            <a:endParaRPr lang="en-US" sz="100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a:solidFill>
                  <a:srgbClr val="79A2F9"/>
                </a:solidFill>
                <a:latin typeface="Courier New" pitchFamily="34" charset="0"/>
                <a:ea typeface="Courier New" pitchFamily="34" charset="-122"/>
                <a:cs typeface="Courier New" pitchFamily="34" charset="-120"/>
              </a:rPr>
              <a:t>451 FINANZDIENSTLEISTER IM φ–σ-RAUM</a:t>
            </a:r>
            <a:endParaRPr lang="en-US" sz="80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a:solidFill>
                  <a:srgbClr val="79A2F9"/>
                </a:solidFill>
                <a:latin typeface="Courier New" pitchFamily="34" charset="0"/>
                <a:ea typeface="Courier New" pitchFamily="34" charset="-122"/>
                <a:cs typeface="Courier New" pitchFamily="34" charset="-120"/>
              </a:rPr>
              <a:t>29×</a:t>
            </a:r>
            <a:endParaRPr lang="en-US" sz="450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a:solidFill>
                  <a:srgbClr val="B3BC9A"/>
                </a:solidFill>
                <a:latin typeface="Arial" pitchFamily="34" charset="0"/>
                <a:ea typeface="Arial" pitchFamily="34" charset="-122"/>
                <a:cs typeface="Arial" pitchFamily="34" charset="-120"/>
              </a:rPr>
              <a:t>Der Sektorausschluss ist </a:t>
            </a:r>
            <a:r>
              <a:rPr lang="en-US" sz="1000" b="1">
                <a:solidFill>
                  <a:srgbClr val="F2EFDA"/>
                </a:solidFill>
                <a:latin typeface="Arial" pitchFamily="34" charset="0"/>
                <a:ea typeface="Arial" pitchFamily="34" charset="-122"/>
                <a:cs typeface="Arial" pitchFamily="34" charset="-120"/>
              </a:rPr>
              <a:t>empirisch begründet</a:t>
            </a:r>
            <a:r>
              <a:rPr lang="en-US" sz="1000">
                <a:solidFill>
                  <a:srgbClr val="B3BC9A"/>
                </a:solidFill>
                <a:latin typeface="Arial" pitchFamily="34" charset="0"/>
                <a:ea typeface="Arial" pitchFamily="34" charset="-122"/>
                <a:cs typeface="Arial" pitchFamily="34" charset="-120"/>
              </a:rPr>
              <a:t>, nicht nur Konvention.</a:t>
            </a:r>
            <a:endParaRPr lang="en-US" sz="100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VALIDIERUNG (</a:t>
            </a:r>
            <a:r>
              <a:rPr lang="en-US" sz="1200" b="1" kern="0" spc="400" err="1">
                <a:solidFill>
                  <a:srgbClr val="E6D34F"/>
                </a:solidFill>
                <a:latin typeface="Courier New" pitchFamily="34" charset="0"/>
                <a:cs typeface="Courier New" pitchFamily="34" charset="-120"/>
              </a:rPr>
              <a:t>Fazit</a:t>
            </a:r>
            <a:r>
              <a:rPr lang="en-US" sz="1200" b="1" kern="0" spc="400">
                <a:solidFill>
                  <a:srgbClr val="E6D34F"/>
                </a:solidFill>
                <a:latin typeface="Courier New" pitchFamily="34" charset="0"/>
                <a:cs typeface="Courier New" pitchFamily="34" charset="-120"/>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a:solidFill>
                  <a:srgbClr val="798D6F"/>
                </a:solidFill>
                <a:latin typeface="Courier New" pitchFamily="34" charset="0"/>
                <a:ea typeface="Courier New" pitchFamily="34" charset="-122"/>
                <a:cs typeface="Courier New" pitchFamily="34" charset="-120"/>
              </a:rPr>
              <a:t>12 / 13</a:t>
            </a:r>
            <a:endParaRPr lang="en-US" sz="120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a:solidFill>
                  <a:srgbClr val="F2EFDA"/>
                </a:solidFill>
                <a:latin typeface="Arial" pitchFamily="34" charset="0"/>
                <a:ea typeface="Arial" pitchFamily="34" charset="-122"/>
                <a:cs typeface="Arial" pitchFamily="34" charset="-120"/>
              </a:rPr>
              <a:t>Grenzen der Arbeit </a:t>
            </a:r>
            <a:endParaRPr lang="en-US" sz="230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01  </a:t>
            </a:r>
            <a:r>
              <a:rPr lang="en-US" sz="1300" b="1">
                <a:solidFill>
                  <a:srgbClr val="F2EFDA"/>
                </a:solidFill>
                <a:latin typeface="Arial" pitchFamily="34" charset="0"/>
                <a:ea typeface="Arial" pitchFamily="34" charset="-122"/>
                <a:cs typeface="Arial" pitchFamily="34" charset="-120"/>
              </a:rPr>
              <a:t>Survivorship Bias</a:t>
            </a:r>
            <a:endParaRPr lang="en-US" sz="130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02  </a:t>
            </a:r>
            <a:r>
              <a:rPr lang="en-US" sz="1300" b="1">
                <a:solidFill>
                  <a:srgbClr val="F2EFDA"/>
                </a:solidFill>
                <a:latin typeface="Arial" pitchFamily="34" charset="0"/>
                <a:ea typeface="Arial" pitchFamily="34" charset="-122"/>
                <a:cs typeface="Arial" pitchFamily="34" charset="-120"/>
              </a:rPr>
              <a:t>Differenzen-Konvention</a:t>
            </a:r>
            <a:endParaRPr lang="en-US" sz="130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03  </a:t>
            </a:r>
            <a:r>
              <a:rPr lang="en-US" sz="1300" b="1">
                <a:solidFill>
                  <a:srgbClr val="F2EFDA"/>
                </a:solidFill>
                <a:latin typeface="Arial" pitchFamily="34" charset="0"/>
                <a:ea typeface="Arial" pitchFamily="34" charset="-122"/>
                <a:cs typeface="Arial" pitchFamily="34" charset="-120"/>
              </a:rPr>
              <a:t>In-Sample-Charakter</a:t>
            </a:r>
            <a:endParaRPr lang="en-US" sz="130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a:solidFill>
                  <a:srgbClr val="E6D34F"/>
                </a:solidFill>
                <a:latin typeface="Courier New" pitchFamily="34" charset="0"/>
                <a:ea typeface="Courier New" pitchFamily="34" charset="-122"/>
                <a:cs typeface="Courier New" pitchFamily="34" charset="-120"/>
              </a:rPr>
              <a:t>04  </a:t>
            </a:r>
            <a:r>
              <a:rPr lang="en-US" sz="1300" b="1">
                <a:solidFill>
                  <a:srgbClr val="F2EFDA"/>
                </a:solidFill>
                <a:latin typeface="Arial" pitchFamily="34" charset="0"/>
                <a:ea typeface="Arial" pitchFamily="34" charset="-122"/>
                <a:cs typeface="Arial" pitchFamily="34" charset="-120"/>
              </a:rPr>
              <a:t>Geltungsbereich</a:t>
            </a:r>
            <a:endParaRPr lang="en-US" sz="130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a:solidFill>
                  <a:srgbClr val="798D6F"/>
                </a:solidFill>
                <a:latin typeface="Courier New" pitchFamily="34" charset="0"/>
                <a:ea typeface="Courier New" pitchFamily="34" charset="-122"/>
                <a:cs typeface="Courier New" pitchFamily="34" charset="-120"/>
              </a:rPr>
              <a:t>AUSBLCK   </a:t>
            </a:r>
            <a:r>
              <a:rPr lang="en-US" sz="90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FAZIT</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11 / 13</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Drei Fragen — drei Antworten</a:t>
            </a:r>
            <a:endParaRPr lang="en-US" sz="2000" dirty="0"/>
          </a:p>
        </p:txBody>
      </p:sp>
      <p:sp>
        <p:nvSpPr>
          <p:cNvPr id="40" name="!!K_Faz1"/>
          <p:cNvSpPr/>
          <p:nvPr/>
        </p:nvSpPr>
        <p:spPr>
          <a:xfrm>
            <a:off x="634594" y="160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1" name="!!A_Faz1"/>
          <p:cNvSpPr/>
          <p:nvPr/>
        </p:nvSpPr>
        <p:spPr>
          <a:xfrm>
            <a:off x="634594" y="1600000"/>
            <a:ext cx="38405" cy="1180000"/>
          </a:xfrm>
          <a:prstGeom prst="rect">
            <a:avLst/>
          </a:prstGeom>
          <a:solidFill>
            <a:srgbClr val="79A2F9"/>
          </a:solidFill>
          <a:ln/>
        </p:spPr>
        <p:txBody>
          <a:bodyPr/>
          <a:lstStyle/>
          <a:p>
            <a:endParaRPr lang="de-DE"/>
          </a:p>
        </p:txBody>
      </p:sp>
      <p:sp>
        <p:nvSpPr>
          <p:cNvPr id="42" name="!!L_Faz1"/>
          <p:cNvSpPr/>
          <p:nvPr/>
        </p:nvSpPr>
        <p:spPr>
          <a:xfrm>
            <a:off x="888797" y="1750000"/>
            <a:ext cx="10413188" cy="240000"/>
          </a:xfrm>
          <a:prstGeom prst="rect">
            <a:avLst/>
          </a:prstGeom>
          <a:noFill/>
          <a:ln/>
        </p:spPr>
        <p:txBody>
          <a:bodyPr wrap="square" rtlCol="0" anchor="t"/>
          <a:lstStyle/>
          <a:p>
            <a:pPr marL="0" indent="0" algn="l">
              <a:lnSpc>
                <a:spcPct val="105000"/>
              </a:lnSpc>
              <a:buNone/>
            </a:pPr>
            <a:r>
              <a:rPr lang="en-US" sz="1100" b="1" kern="0" dirty="0">
                <a:solidFill>
                  <a:srgbClr val="79A2F9"/>
                </a:solidFill>
                <a:latin typeface="Courier New" pitchFamily="34" charset="0"/>
                <a:ea typeface="Courier New" pitchFamily="34" charset="-122"/>
                <a:cs typeface="Courier New" pitchFamily="34" charset="-120"/>
              </a:rPr>
              <a:t>FF1 · DYNAMIK</a:t>
            </a:r>
            <a:endParaRPr lang="en-US" sz="1100" dirty="0"/>
          </a:p>
        </p:txBody>
      </p:sp>
      <p:sp>
        <p:nvSpPr>
          <p:cNvPr id="43" name="!!F_Faz1"/>
          <p:cNvSpPr/>
          <p:nvPr/>
        </p:nvSpPr>
        <p:spPr>
          <a:xfrm>
            <a:off x="888797" y="203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Weisen Finanzkennzahlen systematische Dynamik-Unterschiede auf?</a:t>
            </a:r>
            <a:endParaRPr lang="en-US" sz="1000" dirty="0"/>
          </a:p>
        </p:txBody>
      </p:sp>
      <p:sp>
        <p:nvSpPr>
          <p:cNvPr id="44" name="!!W_Faz1"/>
          <p:cNvSpPr/>
          <p:nvPr/>
        </p:nvSpPr>
        <p:spPr>
          <a:xfrm>
            <a:off x="888797" y="2320000"/>
            <a:ext cx="10413188" cy="360000"/>
          </a:xfrm>
          <a:prstGeom prst="rect">
            <a:avLst/>
          </a:prstGeom>
          <a:noFill/>
          <a:ln/>
        </p:spPr>
        <p:txBody>
          <a:bodyPr wrap="square" rtlCol="0" anchor="t"/>
          <a:lstStyle/>
          <a:p>
            <a:pPr marL="0" indent="0" algn="l">
              <a:lnSpc>
                <a:spcPct val="104000"/>
              </a:lnSpc>
              <a:buNone/>
            </a:pPr>
            <a:r>
              <a:rPr lang="en-US" sz="1050" kern="0" dirty="0">
                <a:solidFill>
                  <a:srgbClr val="B3BC9A"/>
                </a:solidFill>
                <a:latin typeface="Arial" pitchFamily="34" charset="0"/>
                <a:ea typeface="Arial" pitchFamily="34" charset="-122"/>
                <a:cs typeface="Arial" pitchFamily="34" charset="-120"/>
              </a:rPr>
              <a:t>Ja — drei Dynamiktypen entlang der Kennzahlgruppen: </a:t>
            </a:r>
            <a:r>
              <a:rPr lang="en-US" sz="1050" b="1" kern="0" dirty="0">
                <a:solidFill>
                  <a:srgbClr val="F2EFDA"/>
                </a:solidFill>
                <a:latin typeface="Arial" pitchFamily="34" charset="0"/>
                <a:ea typeface="Arial" pitchFamily="34" charset="-122"/>
                <a:cs typeface="Arial" pitchFamily="34" charset="-120"/>
              </a:rPr>
              <a:t>Profitabilität korrigiert stark, Liquidität moderat, Kapitalstruktur driftet</a:t>
            </a:r>
            <a:r>
              <a:rPr lang="en-US" sz="1050" kern="0" dirty="0">
                <a:solidFill>
                  <a:srgbClr val="B3BC9A"/>
                </a:solidFill>
                <a:latin typeface="Arial" pitchFamily="34" charset="0"/>
                <a:ea typeface="Arial" pitchFamily="34" charset="-122"/>
                <a:cs typeface="Arial" pitchFamily="34" charset="-120"/>
              </a:rPr>
              <a:t>.</a:t>
            </a:r>
            <a:endParaRPr lang="en-US" sz="1050" dirty="0"/>
          </a:p>
        </p:txBody>
      </p:sp>
      <p:sp>
        <p:nvSpPr>
          <p:cNvPr id="45" name="!!K_Faz2"/>
          <p:cNvSpPr/>
          <p:nvPr/>
        </p:nvSpPr>
        <p:spPr>
          <a:xfrm>
            <a:off x="634594" y="297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6" name="!!A_Faz2"/>
          <p:cNvSpPr/>
          <p:nvPr/>
        </p:nvSpPr>
        <p:spPr>
          <a:xfrm>
            <a:off x="634594" y="2970000"/>
            <a:ext cx="38405" cy="1180000"/>
          </a:xfrm>
          <a:prstGeom prst="rect">
            <a:avLst/>
          </a:prstGeom>
          <a:solidFill>
            <a:srgbClr val="E6D34F"/>
          </a:solidFill>
          <a:ln/>
        </p:spPr>
        <p:txBody>
          <a:bodyPr/>
          <a:lstStyle/>
          <a:p>
            <a:endParaRPr lang="de-DE"/>
          </a:p>
        </p:txBody>
      </p:sp>
      <p:sp>
        <p:nvSpPr>
          <p:cNvPr id="47" name="!!L_Faz2"/>
          <p:cNvSpPr/>
          <p:nvPr/>
        </p:nvSpPr>
        <p:spPr>
          <a:xfrm>
            <a:off x="888797" y="3120000"/>
            <a:ext cx="10413188" cy="240000"/>
          </a:xfrm>
          <a:prstGeom prst="rect">
            <a:avLst/>
          </a:prstGeom>
          <a:noFill/>
          <a:ln/>
        </p:spPr>
        <p:txBody>
          <a:bodyPr wrap="square" rtlCol="0" anchor="t"/>
          <a:lstStyle/>
          <a:p>
            <a:pPr marL="0" indent="0" algn="l">
              <a:lnSpc>
                <a:spcPct val="105000"/>
              </a:lnSpc>
              <a:buNone/>
            </a:pPr>
            <a:r>
              <a:rPr lang="en-US" sz="1100" b="1" kern="0" dirty="0">
                <a:solidFill>
                  <a:srgbClr val="E6D34F"/>
                </a:solidFill>
                <a:latin typeface="Courier New" pitchFamily="34" charset="0"/>
                <a:ea typeface="Courier New" pitchFamily="34" charset="-122"/>
                <a:cs typeface="Courier New" pitchFamily="34" charset="-120"/>
              </a:rPr>
              <a:t>FF2 · INTERDEPENDENZ</a:t>
            </a:r>
            <a:endParaRPr lang="en-US" sz="1100" dirty="0"/>
          </a:p>
        </p:txBody>
      </p:sp>
      <p:sp>
        <p:nvSpPr>
          <p:cNvPr id="48" name="!!F_Faz2"/>
          <p:cNvSpPr/>
          <p:nvPr/>
        </p:nvSpPr>
        <p:spPr>
          <a:xfrm>
            <a:off x="888797" y="340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Welche Interdependenzen bestehen zwischen den Kennzahlen?</a:t>
            </a:r>
            <a:endParaRPr lang="en-US" sz="1000" dirty="0"/>
          </a:p>
        </p:txBody>
      </p:sp>
      <p:sp>
        <p:nvSpPr>
          <p:cNvPr id="49" name="!!W_Faz2"/>
          <p:cNvSpPr/>
          <p:nvPr/>
        </p:nvSpPr>
        <p:spPr>
          <a:xfrm>
            <a:off x="888797" y="3690000"/>
            <a:ext cx="10413188" cy="360000"/>
          </a:xfrm>
          <a:prstGeom prst="rect">
            <a:avLst/>
          </a:prstGeom>
          <a:noFill/>
          <a:ln/>
        </p:spPr>
        <p:txBody>
          <a:bodyPr wrap="square" rtlCol="0" anchor="t"/>
          <a:lstStyle/>
          <a:p>
            <a:pPr marL="0" indent="0" algn="l">
              <a:lnSpc>
                <a:spcPct val="104000"/>
              </a:lnSpc>
              <a:buNone/>
            </a:pPr>
            <a:r>
              <a:rPr lang="en-US" sz="1050" b="1" kern="0" dirty="0">
                <a:solidFill>
                  <a:srgbClr val="F2EFDA"/>
                </a:solidFill>
                <a:latin typeface="Arial" pitchFamily="34" charset="0"/>
                <a:ea typeface="Arial" pitchFamily="34" charset="-122"/>
                <a:cs typeface="Arial" pitchFamily="34" charset="-120"/>
              </a:rPr>
              <a:t>Schocks treffen die Kennzahlen gemeinsam — korrigiert wird kennzahlspezifisch</a:t>
            </a:r>
            <a:r>
              <a:rPr lang="en-US" sz="1050" kern="0" dirty="0">
                <a:solidFill>
                  <a:srgbClr val="B3BC9A"/>
                </a:solidFill>
                <a:latin typeface="Arial" pitchFamily="34" charset="0"/>
                <a:ea typeface="Arial" pitchFamily="34" charset="-122"/>
                <a:cs typeface="Arial" pitchFamily="34" charset="-120"/>
              </a:rPr>
              <a:t>; die Taxonomie trennt das Krisenverhalten in zwei von drei Phasen.</a:t>
            </a:r>
            <a:endParaRPr lang="en-US" sz="1050" dirty="0"/>
          </a:p>
        </p:txBody>
      </p:sp>
      <p:sp>
        <p:nvSpPr>
          <p:cNvPr id="50" name="!!K_Faz3"/>
          <p:cNvSpPr/>
          <p:nvPr/>
        </p:nvSpPr>
        <p:spPr>
          <a:xfrm>
            <a:off x="634594" y="4340000"/>
            <a:ext cx="10921594" cy="118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1" name="!!A_Faz3"/>
          <p:cNvSpPr/>
          <p:nvPr/>
        </p:nvSpPr>
        <p:spPr>
          <a:xfrm>
            <a:off x="634594" y="4340000"/>
            <a:ext cx="38405" cy="1180000"/>
          </a:xfrm>
          <a:prstGeom prst="rect">
            <a:avLst/>
          </a:prstGeom>
          <a:solidFill>
            <a:srgbClr val="F36451"/>
          </a:solidFill>
          <a:ln/>
        </p:spPr>
        <p:txBody>
          <a:bodyPr/>
          <a:lstStyle/>
          <a:p>
            <a:endParaRPr lang="de-DE"/>
          </a:p>
        </p:txBody>
      </p:sp>
      <p:sp>
        <p:nvSpPr>
          <p:cNvPr id="52" name="!!L_Faz3"/>
          <p:cNvSpPr/>
          <p:nvPr/>
        </p:nvSpPr>
        <p:spPr>
          <a:xfrm>
            <a:off x="888797" y="4490000"/>
            <a:ext cx="10413188" cy="240000"/>
          </a:xfrm>
          <a:prstGeom prst="rect">
            <a:avLst/>
          </a:prstGeom>
          <a:noFill/>
          <a:ln/>
        </p:spPr>
        <p:txBody>
          <a:bodyPr wrap="square" rtlCol="0" anchor="t"/>
          <a:lstStyle/>
          <a:p>
            <a:pPr marL="0" indent="0" algn="l">
              <a:lnSpc>
                <a:spcPct val="105000"/>
              </a:lnSpc>
              <a:buNone/>
            </a:pPr>
            <a:r>
              <a:rPr lang="en-US" sz="1100" b="1" kern="0" dirty="0">
                <a:solidFill>
                  <a:srgbClr val="F36451"/>
                </a:solidFill>
                <a:latin typeface="Courier New" pitchFamily="34" charset="0"/>
                <a:ea typeface="Courier New" pitchFamily="34" charset="-122"/>
                <a:cs typeface="Courier New" pitchFamily="34" charset="-120"/>
              </a:rPr>
              <a:t>FF3 · STRUKTUR</a:t>
            </a:r>
            <a:endParaRPr lang="en-US" sz="1100" dirty="0"/>
          </a:p>
        </p:txBody>
      </p:sp>
      <p:sp>
        <p:nvSpPr>
          <p:cNvPr id="53" name="!!F_Faz3"/>
          <p:cNvSpPr/>
          <p:nvPr/>
        </p:nvSpPr>
        <p:spPr>
          <a:xfrm>
            <a:off x="888797" y="4770000"/>
            <a:ext cx="10413188" cy="260000"/>
          </a:xfrm>
          <a:prstGeom prst="rect">
            <a:avLst/>
          </a:prstGeom>
          <a:noFill/>
          <a:ln/>
        </p:spPr>
        <p:txBody>
          <a:bodyPr wrap="square" rtlCol="0" anchor="t"/>
          <a:lstStyle/>
          <a:p>
            <a:pPr marL="0" indent="0" algn="l">
              <a:lnSpc>
                <a:spcPct val="105000"/>
              </a:lnSpc>
              <a:buNone/>
            </a:pPr>
            <a:r>
              <a:rPr lang="en-US" sz="1000" kern="0" dirty="0">
                <a:solidFill>
                  <a:srgbClr val="798D6F"/>
                </a:solidFill>
                <a:latin typeface="Arial" pitchFamily="34" charset="0"/>
                <a:ea typeface="Arial" pitchFamily="34" charset="-122"/>
                <a:cs typeface="Arial" pitchFamily="34" charset="-120"/>
              </a:rPr>
              <a:t>Hängen die Dynamiken mit strukturellen Merkmalen zusammen?</a:t>
            </a:r>
            <a:endParaRPr lang="en-US" sz="1000" dirty="0"/>
          </a:p>
        </p:txBody>
      </p:sp>
      <p:sp>
        <p:nvSpPr>
          <p:cNvPr id="54" name="!!W_Faz3"/>
          <p:cNvSpPr/>
          <p:nvPr/>
        </p:nvSpPr>
        <p:spPr>
          <a:xfrm>
            <a:off x="888797" y="5060000"/>
            <a:ext cx="10413188" cy="360000"/>
          </a:xfrm>
          <a:prstGeom prst="rect">
            <a:avLst/>
          </a:prstGeom>
          <a:noFill/>
          <a:ln/>
        </p:spPr>
        <p:txBody>
          <a:bodyPr wrap="square" rtlCol="0" anchor="t"/>
          <a:lstStyle/>
          <a:p>
            <a:pPr marL="0" indent="0" algn="l">
              <a:lnSpc>
                <a:spcPct val="104000"/>
              </a:lnSpc>
              <a:buNone/>
            </a:pPr>
            <a:r>
              <a:rPr lang="en-US" sz="1050" kern="0" dirty="0">
                <a:solidFill>
                  <a:srgbClr val="B3BC9A"/>
                </a:solidFill>
                <a:latin typeface="Arial" pitchFamily="34" charset="0"/>
                <a:ea typeface="Arial" pitchFamily="34" charset="-122"/>
                <a:cs typeface="Arial" pitchFamily="34" charset="-120"/>
              </a:rPr>
              <a:t>Struktur erklärt ≈ 30 % der Volatilität, aber nur ≈ 5 % der Korrekturgeschwindigkeit — </a:t>
            </a:r>
            <a:r>
              <a:rPr lang="en-US" sz="1050" b="1" kern="0" dirty="0">
                <a:solidFill>
                  <a:srgbClr val="F2EFDA"/>
                </a:solidFill>
                <a:latin typeface="Arial" pitchFamily="34" charset="0"/>
                <a:ea typeface="Arial" pitchFamily="34" charset="-122"/>
                <a:cs typeface="Arial" pitchFamily="34" charset="-120"/>
              </a:rPr>
              <a:t>φ ist ein idiosynkratisches Firmenmerkmal</a:t>
            </a:r>
            <a:r>
              <a:rPr lang="en-US" sz="1050" kern="0" dirty="0">
                <a:solidFill>
                  <a:srgbClr val="B3BC9A"/>
                </a:solidFill>
                <a:latin typeface="Arial" pitchFamily="34" charset="0"/>
                <a:ea typeface="Arial" pitchFamily="34" charset="-122"/>
                <a:cs typeface="Arial" pitchFamily="34" charset="-120"/>
              </a:rPr>
              <a:t>.</a:t>
            </a:r>
            <a:endParaRPr lang="en-US" sz="1050" dirty="0"/>
          </a:p>
        </p:txBody>
      </p:sp>
      <p:sp>
        <p:nvSpPr>
          <p:cNvPr id="60" name="!!Ausblick"/>
          <p:cNvSpPr/>
          <p:nvPr/>
        </p:nvSpPr>
        <p:spPr>
          <a:xfrm>
            <a:off x="634594" y="5820000"/>
            <a:ext cx="10921594" cy="254203"/>
          </a:xfrm>
          <a:prstGeom prst="rect">
            <a:avLst/>
          </a:prstGeom>
          <a:noFill/>
          <a:ln/>
        </p:spPr>
        <p:txBody>
          <a:bodyPr wrap="square" rtlCol="0" anchor="t"/>
          <a:lstStyle/>
          <a:p>
            <a:pPr marL="0" indent="0" algn="ctr">
              <a:lnSpc>
                <a:spcPct val="105000"/>
              </a:lnSpc>
              <a:buNone/>
            </a:pPr>
            <a:r>
              <a:rPr lang="en-US" sz="950" kern="0" dirty="0">
                <a:solidFill>
                  <a:srgbClr val="798D6F"/>
                </a:solidFill>
                <a:latin typeface="Arial" pitchFamily="34" charset="0"/>
                <a:ea typeface="Arial" pitchFamily="34" charset="-122"/>
                <a:cs typeface="Arial" pitchFamily="34" charset="-120"/>
              </a:rPr>
              <a:t>Ausblick: Out-of-Sample-Test der Quadranten · Lead-Lag auf AR-Residuen · höhere Datenfrequenz · Märkte jenseits der USA</a:t>
            </a:r>
            <a:endParaRPr lang="en-US" sz="950" dirty="0"/>
          </a:p>
        </p:txBody>
      </p:sp>
      <p:sp>
        <p:nvSpPr>
          <p:cNvPr id="61" name="!!Dank"/>
          <p:cNvSpPr/>
          <p:nvPr/>
        </p:nvSpPr>
        <p:spPr>
          <a:xfrm>
            <a:off x="634594" y="6180000"/>
            <a:ext cx="10921594" cy="320000"/>
          </a:xfrm>
          <a:prstGeom prst="rect">
            <a:avLst/>
          </a:prstGeom>
          <a:noFill/>
          <a:ln/>
        </p:spPr>
        <p:txBody>
          <a:bodyPr wrap="square" rtlCol="0" anchor="t"/>
          <a:lstStyle/>
          <a:p>
            <a:pPr marL="0" indent="0" algn="ctr">
              <a:lnSpc>
                <a:spcPct val="105000"/>
              </a:lnSpc>
              <a:buNone/>
            </a:pPr>
            <a:r>
              <a:rPr lang="en-US" sz="1300" b="1" kern="0" dirty="0">
                <a:solidFill>
                  <a:srgbClr val="F2EFDA"/>
                </a:solidFill>
                <a:latin typeface="Arial" pitchFamily="34" charset="0"/>
                <a:ea typeface="Arial" pitchFamily="34" charset="-122"/>
                <a:cs typeface="Arial" pitchFamily="34" charset="-120"/>
              </a:rPr>
              <a:t>Vielen Dank — ich freue mich auf Ihre Fragen.</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4963</Words>
  <Application>Microsoft Macintosh PowerPoint</Application>
  <PresentationFormat>Breitbild</PresentationFormat>
  <Paragraphs>545</Paragraphs>
  <Slides>30</Slides>
  <Notes>30</Notes>
  <HiddenSlides>4</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30</vt:i4>
      </vt:variant>
    </vt:vector>
  </HeadingPairs>
  <TitlesOfParts>
    <vt:vector size="34" baseType="lpstr">
      <vt:lpstr>Arial</vt:lpstr>
      <vt:lpstr>Cambria Math</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8</cp:revision>
  <dcterms:created xsi:type="dcterms:W3CDTF">2026-06-21T21:41:59Z</dcterms:created>
  <dcterms:modified xsi:type="dcterms:W3CDTF">2026-07-06T14:23:05Z</dcterms:modified>
</cp:coreProperties>
</file>
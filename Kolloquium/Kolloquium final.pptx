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86" r:id="rId4"/>
    <p:sldId id="271" r:id="rId5"/>
    <p:sldId id="270" r:id="rId6"/>
    <p:sldId id="269" r:id="rId7"/>
    <p:sldId id="258" r:id="rId8"/>
    <p:sldId id="290" r:id="rId9"/>
    <p:sldId id="292" r:id="rId10"/>
    <p:sldId id="260" r:id="rId11"/>
    <p:sldId id="287" r:id="rId12"/>
    <p:sldId id="293" r:id="rId13"/>
    <p:sldId id="297" r:id="rId14"/>
    <p:sldId id="282" r:id="rId15"/>
    <p:sldId id="262" r:id="rId16"/>
    <p:sldId id="283" r:id="rId17"/>
    <p:sldId id="285" r:id="rId18"/>
    <p:sldId id="272" r:id="rId19"/>
    <p:sldId id="274" r:id="rId20"/>
    <p:sldId id="294" r:id="rId23"/>
    <p:sldId id="295" r:id="rId24"/>
    <p:sldId id="296" r:id="rId25"/>
    <p:sldId id="265" r:id="rId26"/>
    <p:sldId id="267" r:id="rId28"/>
    <p:sldId id="266"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FDA"/>
    <a:srgbClr val="E6D44F"/>
    <a:srgbClr val="78A2F9"/>
    <a:srgbClr val="3CBA77"/>
    <a:srgbClr val="F46451"/>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046257-789C-224F-9FF0-81096475CB9D}" v="393" dt="2026-07-04T13:37:43.458"/>
    <p1510:client id="{A0543C63-59B1-4C4A-A05B-95E80D9D0EF0}" v="62" dt="2026-07-04T23:33:34.931"/>
    <p1510:client id="{BC9CA0B8-AD44-404C-B298-833E100FD511}" v="257" dt="2026-07-04T11:09:01.15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74"/>
    <p:restoredTop sz="94688"/>
  </p:normalViewPr>
  <p:slideViewPr>
    <p:cSldViewPr snapToGrid="0">
      <p:cViewPr varScale="1">
        <p:scale>
          <a:sx n="104" d="100"/>
          <a:sy n="104" d="100"/>
        </p:scale>
        <p:origin x="240"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5.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5/10/relationships/revisionInfo" Target="revisionInfo.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[~0:54] Sehr geehrter Herr Professor Steglich, sehr geehrter Herr Professor Stollhoff, vielen Dank für die Gelegenheit, meine Masterarbeit zu verteidigen. Ich habe untersucht, wie sich Finanzkennzahlen börsennotierter US-Unternehmen über die Zeit verhalten — nicht ihre Höhe, sondern ihre Dynamik. Die Arbeit steht in der Tradition der Mean-Reversion-Forschung von Fama und French, nutzt den Mean-Group-Gedanken von Pesaran und Smith — und überträgt beides auf Quartalsfrequenz und das einzelne Unternehmen. In den nächsten zwanzig Minuten zeige ich Ihnen, dass sich diese Dynamik systematisch unterscheidet — und warum sich gut erklären lässt, wie stark ein Unternehmen schwankt, aber kaum, wie schnell es korrigiert.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Der Ausgangspunkt steht als Satz auf der Folie: Eine Kennzahl ist eine Momentaufnahme — die Information steckt in der Veränderung. Ob zwölf Prozent Rendite belastbar oder fragil sind, verrät nicht der Wert selbst, sondern die Bewegung dahinter.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FE76-30F9-E81D-C609-6B8957764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A0220-4F89-3882-C2A0-AD703044C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E5A11-6F13-E27F-3D78-3BCB54C24CC6}"/>
              </a:ext>
            </a:extLst>
          </p:cNvPr>
          <p:cNvSpPr>
            <a:spLocks noGrp="1"/>
          </p:cNvSpPr>
          <p:nvPr>
            <p:ph type="body" idx="1"/>
          </p:nvPr>
        </p:nvSpPr>
        <p:spPr/>
        <p:txBody>
          <a:bodyPr/>
          <a:lstStyle/>
          <a:p>
            <a:r>
              <a:t>[~0:11] Genau dieses Verhalten einer Kennzahl über die Zeit fasse ich unter dem Begriff, um den sich alles Weitere dreht: ihre Dynamik.</a:t>
            </a:r>
          </a:p>
        </p:txBody>
      </p:sp>
      <p:sp>
        <p:nvSpPr>
          <p:cNvPr id="4" name="Slide Number Placeholder 3">
            <a:extLst>
              <a:ext uri="{FF2B5EF4-FFF2-40B4-BE49-F238E27FC236}">
                <a16:creationId xmlns:a16="http://schemas.microsoft.com/office/drawing/2014/main" id="{6714EC63-BC69-1CB4-4049-FB44C62C6C0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4211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1930-6BC8-FEF0-1AF1-DE584EC0A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27FD-479D-BBA6-E597-DD42073E4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106F-01DB-1314-4EF5-1A3D13F047F5}"/>
              </a:ext>
            </a:extLst>
          </p:cNvPr>
          <p:cNvSpPr>
            <a:spLocks noGrp="1"/>
          </p:cNvSpPr>
          <p:nvPr>
            <p:ph type="body" idx="1"/>
          </p:nvPr>
        </p:nvSpPr>
        <p:spPr/>
        <p:txBody>
          <a:bodyPr/>
          <a:lstStyle/>
          <a:p>
            <a:r>
              <a:t>[~0:22] Und diese Dynamik hat zwei Dimensionen. Die Korrekturgeschwindigkeit Phi: Kehrt eine Quartalsveränderung im Folgequartal zurück — oder bleibt sie? Und die Veränderungsvolatilität Sigma: Wie stark schwankt eine Kennzahl von Quartal zu Quartal? Mit genau dieser Definition beantworte ich alle drei Forschungsfragen.</a:t>
            </a:r>
          </a:p>
        </p:txBody>
      </p:sp>
      <p:sp>
        <p:nvSpPr>
          <p:cNvPr id="4" name="Slide Number Placeholder 3">
            <a:extLst>
              <a:ext uri="{FF2B5EF4-FFF2-40B4-BE49-F238E27FC236}">
                <a16:creationId xmlns:a16="http://schemas.microsoft.com/office/drawing/2014/main" id="{E2B0CADC-1360-0509-CABF-E77757AE30F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6794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A5CB-29CD-04CA-9734-CD726E4A0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F7C9F-F995-FF4A-F4F7-B629997B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377D6-A7D4-0A3D-986A-43CDC82D4BB8}"/>
              </a:ext>
            </a:extLst>
          </p:cNvPr>
          <p:cNvSpPr>
            <a:spLocks noGrp="1"/>
          </p:cNvSpPr>
          <p:nvPr>
            <p:ph type="body" idx="1"/>
          </p:nvPr>
        </p:nvSpPr>
        <p:spPr/>
        <p:txBody>
          <a:bodyPr/>
          <a:lstStyle/>
          <a:p>
            <a:r>
              <a:t>[~0:27] Daraus ergeben sich die drei Forschungsfragen. Erstens: Weisen Finanzkennzahlen über Unternehmen hinweg systematische Unterschiede in ihrer zeitlichen Dynamik auf? Zweitens: Welche Interdependenzen bestehen zwischen den Kennzahlen — und inwieweit unterscheiden sich diese zwischen Unternehmen, auch über die Zeit und in Krisen? Drittens: Stehen diese Dynamiken in Zusammenhang mit strukturellen Unternehmensmerkmalen?</a:t>
            </a:r>
          </a:p>
        </p:txBody>
      </p:sp>
      <p:sp>
        <p:nvSpPr>
          <p:cNvPr id="4" name="Slide Number Placeholder 3">
            <a:extLst>
              <a:ext uri="{FF2B5EF4-FFF2-40B4-BE49-F238E27FC236}">
                <a16:creationId xmlns:a16="http://schemas.microsoft.com/office/drawing/2014/main" id="{C40521D6-27E5-BCF1-534A-0FBB76A8C51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880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t>[~0:27] Aus den Antworten entsteht der Beitrag der Arbeit: die Übertragung der Mean-Reversion-Forschung von Jahres- auf Quartalsfrequenz und von gepoolten auf individuelle Schätzungen. Die parallele Behandlung von Korrekturgeschwindigkeit und Volatilität über sieben Kennzahlen — als zweidimensionale Taxonomie auf Firmenebene. Und die systematische Prüfung, welche der beiden Dimensionen sich strukturell erklären lässt.</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 Zur Datenbasis, bewusst kompakt: Quartalsabschlüsse US-amerikanischer börsennotierter Unternehmen — 100 Quartale, 2000 bis 2024. Die Filterkette reduziert knapp 5.900 Unternehmen auf 932: Finanzsektor raus, ADRs raus, Vollständigkeit über alle 100 Quartale, Ausreißerbehandlung, Winsorisierung. Ein Punkt verdient Ehrlichkeit: Der Vollständigkeitsfilter entfernt 77 Prozent der Unternehmen — diesen Survivorship Bias habe ich quantifiziert und getestet, dazu am Ende mehr. Es bleiben 6.521 Unternehmen-Kennzahl-Zeitreihen.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[~1:02] Für jede dieser 6.521 Zeitreihen schätze ich ein eigenes AR(1)-Modell — auf den ersten Differenzen, den Quartalsveränderungen. Sie sehen hier eine solche Veränderungsreihe: Die gestrichelte Linie ist die Konstante c, das langfristige Veränderungsniveau. Und die markierten Stellen zeigen, worum es bei Phi geht: Folgt auf einen Ausschlag die Gegenbewegung — oder setzt sich die Bewegung fort? Drei Gründe für die Differenzen: direkte ökonomische Bedeutung, Stationarität ohne Zusatzannahmen, und eine einheitliche Transformation über alle sieben Kennzahlen. Phi misst damit die Autokorrelation der Veränderungen, nicht die Persistenz der Niveaus — dazu bei den Grenzen mehr. Geschätzt wird individuell per OLS, Mean-Group nach Pesaran und Smith: keine gepoolte Zahl, sondern die volle Verteilung über 932 Unternehmen.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7C06-0B9B-0C67-FA9B-3F1228081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54333-E8B6-4B15-A97B-09F1D6931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29877-DFDB-8DF8-3EDE-0C50AEF34FA8}"/>
              </a:ext>
            </a:extLst>
          </p:cNvPr>
          <p:cNvSpPr>
            <a:spLocks noGrp="1"/>
          </p:cNvSpPr>
          <p:nvPr>
            <p:ph type="body" idx="1"/>
          </p:nvPr>
        </p:nvSpPr>
        <p:spPr/>
        <p:txBody>
          <a:bodyPr/>
          <a:lstStyle/>
          <a:p>
            <a:r>
              <a:t>[~0:23] Die zweite Dimension steckt in den Abweichungen um dieses Niveau: Sigma, die Standardabweichung der Quartalsveränderungen — hier als Streubreite um die c-Linie markiert. Damit hat jedes Unternehmen pro Kennzahl genau zwei Koordinaten: wie schnell es korrigiert — und wie stark es schwankt.</a:t>
            </a:r>
          </a:p>
        </p:txBody>
      </p:sp>
      <p:sp>
        <p:nvSpPr>
          <p:cNvPr id="4" name="Slide Number Placeholder 3">
            <a:extLst>
              <a:ext uri="{FF2B5EF4-FFF2-40B4-BE49-F238E27FC236}">
                <a16:creationId xmlns:a16="http://schemas.microsoft.com/office/drawing/2014/main" id="{830003DC-4D32-48B6-CDCB-9042938184F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3366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In diesem Raum wird jedes Unternehmen pro Kennzahl zu einem Punkt. Ein Median-Split in beiden Dimensionen erzeugt vier Dynamiktypen: korrektiv-stabil — die höchste Vorhersagbarkeit. Korrektiv-volatil — große Ausschläge, schnelle Korrektur. Persistent-stabil — träger Drift. Persistent-volatil — das höchste Risikoprofil. Drei Dinge machen die Klassifikation stark: der Anschluss an die Portfolio-Sorts von Fama und French, direkt interpretierbare Labels — und die Achsen tragen nachweislich unabhängige Information, gemeinsame Variation höchstens sechs Prozent. Behalten Sie diesen Raum im Kopf — er füllt sich jetzt mit Ergebnissen.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E75A-BB37-C13D-BB92-C44330AB8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05260-E4F3-8611-9D04-B84F70A49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DB4BC-AE4A-2415-82EC-2B20AD747123}"/>
              </a:ext>
            </a:extLst>
          </p:cNvPr>
          <p:cNvSpPr>
            <a:spLocks noGrp="1"/>
          </p:cNvSpPr>
          <p:nvPr>
            <p:ph type="body" idx="1"/>
          </p:nvPr>
        </p:nvSpPr>
        <p:spPr/>
        <p:txBody>
          <a:bodyPr/>
          <a:lstStyle/>
          <a:p>
            <a:r>
              <a:t>[~0:27] Zuerst die Sigma-Achse, bewusst kurz: Die Volatilität ist nennergetrieben — ROA mit der großen Bilanzsumme im Nenner liegt beim Median 0,017, die Current Ratio bei 0,32. Deshalb vergleiche ich Sigma nur innerhalb einer Kennzahl — genau dafür ist der Median-Split je Kennzahl gebaut. Die spannende Achse ist die andere.</a:t>
            </a:r>
          </a:p>
        </p:txBody>
      </p:sp>
      <p:sp>
        <p:nvSpPr>
          <p:cNvPr id="4" name="Slide Number Placeholder 3">
            <a:extLst>
              <a:ext uri="{FF2B5EF4-FFF2-40B4-BE49-F238E27FC236}">
                <a16:creationId xmlns:a16="http://schemas.microsoft.com/office/drawing/2014/main" id="{74F70F19-3D68-9FA9-4024-C029F3658F2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2493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2E7B-470A-3CE5-C3CA-09AF0E28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F912E-5F3E-32C7-BA56-73707F3C8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57DBE-A15F-82D1-655D-EF7C9756EC97}"/>
              </a:ext>
            </a:extLst>
          </p:cNvPr>
          <p:cNvSpPr>
            <a:spLocks noGrp="1"/>
          </p:cNvSpPr>
          <p:nvPr>
            <p:ph type="body" idx="1"/>
          </p:nvPr>
        </p:nvSpPr>
        <p:spPr/>
        <p:txBody>
          <a:bodyPr/>
          <a:lstStyle/>
          <a:p>
            <a:r>
              <a:t>[~0:57] Und dort liegt das erste Kernergebnis. Am oberen Rand sehen Sie die Phi-Verteilungen der sieben Kennzahlen — sie bündeln sich zu drei Bändern, exakt entlang der Kennzahlgruppen. Die Profitabilität revertiert stark: Mediane zwischen minus 0,43 und minus 0,46, über vier völlig verschieden konstruierte Kennzahlen fast identisch, über 90 Prozent signifikant. Bemerkenswert: Weniger als zwei Prozent dieser Schätzungen sind überhaupt positiv — die Mean-Reversion gilt in der Breite, kein Mittelwertsphänomen. Die Liquidität liegt mit minus 0,17 dazwischen — bei der höchsten Volatilität der Stichprobe. Und die Kapitalstruktur liegt nahe null: minus 0,04 bis minus 0,09 — rund ein Drittel der Unternehmen zeigt gar keine Korrektur.</a:t>
            </a:r>
          </a:p>
        </p:txBody>
      </p:sp>
      <p:sp>
        <p:nvSpPr>
          <p:cNvPr id="4" name="Slide Number Placeholder 3">
            <a:extLst>
              <a:ext uri="{FF2B5EF4-FFF2-40B4-BE49-F238E27FC236}">
                <a16:creationId xmlns:a16="http://schemas.microsoft.com/office/drawing/2014/main" id="{E540E400-C29F-D0D6-0C42-55B0DCC6DA5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29684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92A4-4920-065B-7234-FEFA7229A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1BED5-A8CE-05B9-D514-27E156CD1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8BEDA-7EFD-6F82-BAD0-77172F7D658A}"/>
              </a:ext>
            </a:extLst>
          </p:cNvPr>
          <p:cNvSpPr>
            <a:spLocks noGrp="1"/>
          </p:cNvSpPr>
          <p:nvPr>
            <p:ph type="body" idx="1"/>
          </p:nvPr>
        </p:nvSpPr>
        <p:spPr/>
        <p:txBody>
          <a:bodyPr/>
          <a:lstStyle/>
          <a:p>
            <a:r>
              <a:t>[~0:50] Verdichtet auf die drei Gruppen wird die Trennung noch deutlicher — und die Schätzqualität folgt derselben Hierarchie: über 90 Prozent signifikant in der Profitabilität, 46 bei der Liquidität, 19 bis 32 in der Kapitalstruktur. Das ist kein Schwachpunkt des Modells — das ist die Antwort: Die Bilanzstruktur folgt keinem stetigen Korrekturprozess, sie bewegt sich in diskreten Managemententscheidungen. Die 11,3 Prozent positiven Phi-Werte habe ich gezielt geprüft: Modellgüte nahe null, keiner nach Bonferroni signifikant — Artefakte, keine eigene Dynamikklasse. Und fürs Weitere: Volatile Firmen revertieren stärker und werden vom Modell besser erkannt.</a:t>
            </a:r>
          </a:p>
        </p:txBody>
      </p:sp>
      <p:sp>
        <p:nvSpPr>
          <p:cNvPr id="4" name="Slide Number Placeholder 3">
            <a:extLst>
              <a:ext uri="{FF2B5EF4-FFF2-40B4-BE49-F238E27FC236}">
                <a16:creationId xmlns:a16="http://schemas.microsoft.com/office/drawing/2014/main" id="{53502475-0BC8-B4B3-6F88-5F4B0D0DAF9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50467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[~1:13] Jetzt die Gegenprobe — sie hat mich selbst überrascht. Man würde erwarten, dass die Branche die Dynamik dominiert — die Daten sagen etwas anderes. Sie sehen es an den drei Zahlen: Innerhalb der Profitabilität liegen alle zehn Sektor-Mediane in einem Band von nur 0,12 — sobald die Kennzahl feststeht, rücken die Sektoren eng zusammen. Die Kennzahl schlägt den Sektor. In der Liquidität ist das Band mit 0,24 doppelt so breit, in der Kapitalstruktur mit 0,13 wieder eng. Und die Ausnahmen bestätigen den Mechanismus — sie treten genau dort auf, wo externe Mechanik eingreift: Immobilien mit 2,6-facher Liquiditäts-Volatilität durch REIT-Refinanzierungen, Versorger als einziger Sektor mit konsistenter Kapitalstruktur-Korrektur — erzwungen durch Regulierung. Verdichtet bleiben drei Sektor-Profile: stabil, persistent, korrektiv-volatil — fünf Sektoren bündeln sich in nur zwei Quadranten, nur der zyklische Konsum streut über alle vier.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[~1:21] Warum ist das so? Zwei Mechanismen. Erstens die Konstruktion — die Achse auf der Folie: Stromgrößen wie FCF- und EBIT-Marge entstehen jedes Quartal neu, sie korrigieren am stärksten; die FCF-Marge noch stärker, weil keine Periodenabgrenzung ihre Ausschläge glättet. Reine Bestandsgrößen wie Eigenkapitalquote und Debt/Equity ändern sich nur durch Geschäftsvorfälle — sie korrigieren kaum. Dazwischen die Mischformen, exakt in der Reihenfolge ihres Bestandsanteils. Zweitens der Korrekturmechanismus: Die Profitabilität korrigiert der Markt — Überrenditen ziehen Wettbewerber an, Unterrenditen erzwingen Anpassung; Größenordnung kompatibel mit Fama und French, rund 38 Prozent auf Jahresdaten. Die Kapitalstruktur korrigiert sich nicht von selbst — sie ändert sich nur, wenn das Management handelt: Emission, Rückkauf, Dividende. Der Kernsatz steht auf der Folie: Der Markt korrigiert — das Management entscheidet. Und das Fundament ist robust: vier Spezifikationen, vier Stichprobenschwellen, vier Zeitfenster — die Mediane bewegen sich um höchstens ein bis zwei Hundertstel. Forschungsfrage eins ist damit beantwortet.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[~0:57] Forschungsfrage zwei: Hängen diese Dynamiken zusammen? Ich korreliere die geschätzten Parameter paarweise über die 932 Unternehmen — Spearman, 21 Kennzahlpaare je Matrix. Jede Zelle beantwortet eine präzise Frage: Wer in Kennzahl A schnell korrigiert — tut der das auch in B? Die Antwort ist fast nur innerhalb der Profitabilität ja: ROA und ROE mit 0,78, mit der EBIT-Marge 0,56 und 0,54 — die Korrekturgeschwindigkeit ist dort ein konsistentes Firmenmerkmal. Die FCF-Marge fällt heraus: nur 0,14 bis 0,19 — Periodenabgrenzungen glätten Buchgewinne, den Cashflow nicht; die Accrual-Mechanik nach Sloan und Dechow. Merken Sie sich diese Sonderstellung. Und zwischen den Blöcken: ein einziges signifikantes Paar von zwölf.</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[~0:58] Jetzt dieselbe Rechnung, dieselben Firmen, dieselben 21 Paare — nur der Parameter wechselt von Phi zu Sigma. Und das Bild kippt: 19 von 21 Paaren signifikant. Der Kernsatz steht unten auf der Folie: Schocks treffen die Kennzahlen gemeinsam — korrigiert werden sie kennzahlspezifisch. Die Eigenkapitalquote koppelt als einzige mit allen sechs anderen — die Bilanz spürt Gewinn- und Finanzierungsschocks gleichermaßen. Für die Sauberkeit: ROE mal Debt/Equity folgt aus der DuPont-Identität, EBIT mal FCF aus dem gemeinsamen Umsatznenner — mechanische Kopplungen, ausgewiesen, nicht als Ökonomie verkauft. Und ein Absicherungsbefund: Phi und Sigma korrelieren innerhalb jeder Kennzahl nur schwach, unter 0,25 — die Achsen sind trennbar, der Median-Split steht.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[~0:56] Zur zeitlichen Dimension — zuerst der langfristige Trend. Sie sehen die AR(1)-Drift-Konstante c: pro Unternehmen im rollierenden 25-Quartal-Fenster geschätzt, als Median je Sektor — der Trend direkt aus den Quartalsveränderungen, unabhängig von jeder Glättung. Das Ergebnis für Debt/Equity: c liegt in allen zehn Sektoren im Zeitmittel über null — die Verschuldungsexpansion der letzten 25 Jahre, kein Glättungsartefakt. Über alle 70 Kombinationen sind 44 c-Werte positiv — die FCF-Marge in neun von zehn Sektoren, die EBIT-Marge in acht; die Eigenkapitalquote dagegen in sieben von zehn negativ. Die Validierung: Niveau-Trend und c messen denselben Pfad, r gleich 0,86 — zwei unabhängige Messungen, ein Ergebnis.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[~1:17] Jetzt der Stresstest. Krisen definiere ich datengetrieben: Ein Quartal zählt, wenn mindestens drei der sieben Kennzahlen über dem 90. Perzentil ihrer rollierenden Querschnittsvolatilität liegen — ohne jede Vorgabe fallen die elf Treffer-Quartale exakt in Dot-Com, Finanzkrise und COVID. Die Boxplots zeigen die Reaktionsstärke: Betrag der Veränderung am Peak-Quartal, logarithmisch, identische Achsen. In Finanzkrise und COVID liegen die volatilen Klassen sichtbar über den stabilen — Effektstärken minus 0,36 und minus 0,27, Bonferroni-signifikant. Dot-Com trennt nicht — als sektorspezifische Tech-Krise ist genau das konsistent. Selbst benannt: Die Klassifikation stammt aus demselben Zeitraum — eine In-Sample-Konsistenzprüfung, keine Prognose. Und die Kennzahl-Signaturen unten: Die EBIT-Marge reagiert in Finanzkrise und COVID am stärksten — Faktor 1,5, der operative Hebel. Debt/Equity springt in Dot-Com — der Kurs-Crash vernichtet Eigenkapital. Die FCF-Marge bleibt in der Finanzkrise fast still — die Sonderstellung. Die Current Ratio ist überall am trägsten.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[~0:31] Forschungsfrage drei prüfe ich auf drei Ebenen — das ist das Testprogramm. Erstens die Unternehmensmerkmale: fünf Strukturvariablen gegen Phi und Sigma jeder Kennzahl — 98 Spearman-Tests plus Quintilvergleiche. Zweitens der Sektor: Kruskal-Wallis über die zehn GICS-Sektoren, die Falsifikation der fünf Sektor-Cluster, die Parallelschätzung der 451 Finanzdienstleister. Drittens die Synthese: 14 multivariate Regressionen. Durchgängig Bonferroni-korrigiert. Der Reihe nach.</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[~0:54] Die bivariate Ebene: links Sigma, rechts Phi — das Muster springt ins Auge. 31 von 49 Sigma-Tests signifikant, nur 10 von 49 bei Phi; die zehn stärksten Effekte betreffen ausnahmslos Sigma. Am stärksten wirkt die Größe: Die Mitarbeiterzahl dämpft die Volatilität von FCF-Marge und Current Ratio mit minus 0,53 — vom kleinsten zum größten Quintil fällt der Sigma-Median von 0,45 auf 0,11. Die Anlagenintensität zeigt das feinste Muster: Bilanzgrößen stabiler, Strom-Margen volatiler — die Strom-Bestand-Mechanik aus Forschungsfrage eins auf Unternehmensebene. Und die Periodenabgrenzungen dämpfen die Buchgewinne, aber nicht die FCF-Marge — der direkte Nachweis des Mechanismus hinter der FCF-Sonderstellung.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[~1:00] Das kategoriale Gegenstück: der Sektor. Auf der Sigma-Seite erklärt er bis zu 22 Prozent der Variation — alle sieben Kennzahlen signifikant. Auf der Phi-Seite maximal sieben Prozent — dieselbe Asymmetrie. Der schärfste Kontrast: die 451 parallel geschätzten Finanzdienstleister — Current-Ratio-Volatilität beim 29-Fachen, und die Bilanz-Kennzahlen revertieren deutlich stärker, weil regulatorische Mindestquoten die Korrektur erzwingen. Der Ausschluss ist empirisch begründet, nicht Konvention. Und die härteste Prüfung: Aus jeder Cluster-Mechanik eine falsifizierbare Vorhersage — drei von vier Clustern bestätigt, mit 60 bis 66 Prozent Konformität. Das schwächste benenne ich offen: Kommunikation und Energie, 43 Prozent — bei der FCF-Marge nur 30, weil Investitionszyklen den Cashflow länger als ein Quartal in Bewegung halten.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 Die multivariate Synthese bündelt alles: pro Kennzahl und Parameter eine Regression mit allen fünf Strukturvariablen. Das Ergebnis ist die klarste Asymmetrie der Arbeit: Im Mittel erklären die Strukturvariablen 30 Prozent der Volatilität — bei der FCF-Marge 49 — aber nur fünf Prozent der Korrekturgeschwindigkeit. Und das, obwohl bei 932 Unternehmen selbst kleine Effekte signifikant werden — an Teststärke liegt es nicht. Meine Interpretation: Sigma misst Exposition — was ein Unternehmen ist, bestimmt, wie groß die Schocks sind, die es treffen. Phi misst Reaktion — wie schnell korrigiert wird, bleibt wettbewerbs- und verhaltensgetrieben, also idiosynkratisch. Das schließt den Bogen zur Markt-versus-Management-Logik. Praktisch heißt das: Wer eine Profitabilitätsveränderung fortschreibt, sollte im Median 43 Prozent Gegenbewegung einpreisen. Wer darauf wartet, dass eine Verschuldungsquote von selbst zur Norm zurückkehrt, wartet vergeblich — Covenants statt Vertrauen auf Reversion.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 Ich komme zum Schluss — die drei Fragen vom Anfang, jetzt mit Antworten. Erstens: Ja — es gibt drei Dynamiktypen entlang der Kennzahlgruppen: Profitabilität korrigiert stark, Liquidität moderat, Kapitalstruktur driftet. Zweitens: Schocks treffen die Kennzahlen gemeinsam, korrigiert wird kennzahlspezifisch — und in zwei von drei Krisen trennt die Taxonomie das Reaktionsverhalten. Drittens: Strukturmerkmale erklären rund 30 Prozent der Volatilität, aber nur fünf Prozent der Korrekturgeschwindigkeit — Phi ist ein eigenständiges, idiosynkratisches Firmenmerkmal. Für die Forschung: Out-of-Sample-Test der Quadranten, Lead-Lag auf AR-Residuen, höhere Datenfrequenz, Märkte jenseits der USA. Vielen Dank — ich freue mich auf Ihre Fragen.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Vier Grenzen benenne ich selbst — jede mit ihrem Test. Erstens der Survivorship Bias: 77 Prozent Ausschluss; geprüft mit vier abgesenkten Schwellen bis 40 Quartale und 2.356 Unternehmen — die Phi-Mediane bleiben praktisch identisch. Zweitens die Differenzen-Konvention: Phi misst Veränderungs-Autokorrelation, nicht Niveau-Persistenz — deshalb interpretiere ich Relationen, nicht Niveaus. Drittens der In-Sample-Charakter der Krisentests — deklariert als Konsistenzprüfung; der Out-of-Sample-Test ist der nächste Schritt. Viertens der Geltungsbereich: etablierte US-Unternehmen auf Quartalsfrequenz — junge Unternehmen, Effekte unterhalb eines Quartals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8.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a:solidFill>
                  <a:srgbClr val="E6D44F"/>
                </a:solidFill>
                <a:latin typeface="Courier New" pitchFamily="34" charset="0"/>
                <a:ea typeface="Courier New" pitchFamily="34" charset="-122"/>
                <a:cs typeface="Courier New" pitchFamily="34" charset="-120"/>
              </a:rPr>
              <a:t>MASTERKOLLOQUIUM</a:t>
            </a:r>
            <a:endParaRPr lang="en-US" sz="100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 xml:space="preserve">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xml:space="preserve">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PRÜFER</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DATUM</a:t>
            </a:r>
            <a:endParaRPr lang="en-US" sz="900" b="1" kern="0" spc="20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Tobias Mourier</a:t>
            </a:r>
            <a:endParaRPr lang="en-US" sz="140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err="1">
                <a:solidFill>
                  <a:srgbClr val="F2EFDA"/>
                </a:solidFill>
                <a:latin typeface="Arial" pitchFamily="34" charset="0"/>
                <a:ea typeface="Arial" pitchFamily="34" charset="-122"/>
                <a:cs typeface="Arial" pitchFamily="34" charset="-120"/>
              </a:rPr>
              <a:t>Technische</a:t>
            </a:r>
            <a:r>
              <a:rPr lang="en-US" sz="1400" b="1">
                <a:solidFill>
                  <a:srgbClr val="F2EFDA"/>
                </a:solidFill>
                <a:latin typeface="Arial" pitchFamily="34" charset="0"/>
                <a:ea typeface="Arial" pitchFamily="34" charset="-122"/>
                <a:cs typeface="Arial" pitchFamily="34" charset="-120"/>
              </a:rPr>
              <a:t xml:space="preserve"> Hochschule Wildau</a:t>
            </a:r>
            <a:endParaRPr lang="en-US" sz="140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a:solidFill>
                  <a:srgbClr val="F2EFDA"/>
                </a:solidFill>
                <a:latin typeface="Arial" pitchFamily="34" charset="0"/>
                <a:cs typeface="Arial" pitchFamily="34" charset="-120"/>
              </a:rPr>
              <a:t xml:space="preserve">Prof. Dr. R. </a:t>
            </a:r>
            <a:r>
              <a:rPr lang="en-US" sz="1400" b="1" err="1">
                <a:solidFill>
                  <a:srgbClr val="F2EFDA"/>
                </a:solidFill>
                <a:latin typeface="Arial" pitchFamily="34" charset="0"/>
                <a:cs typeface="Arial" pitchFamily="34" charset="-120"/>
              </a:rPr>
              <a:t>Stollhoff</a:t>
            </a:r>
            <a:endParaRPr lang="en-US" sz="140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07.07.2026</a:t>
            </a:r>
            <a:endParaRPr lang="en-US" sz="140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2" name="Shape 16">
            <a:extLst>
              <a:ext uri="{FF2B5EF4-FFF2-40B4-BE49-F238E27FC236}">
                <a16:creationId xmlns:a16="http://schemas.microsoft.com/office/drawing/2014/main" id="{2B8ADCE8-FECF-5BB8-7B22-6B49F29FDF66}"/>
              </a:ext>
            </a:extLst>
          </p:cNvPr>
          <p:cNvSpPr/>
          <p:nvPr/>
        </p:nvSpPr>
        <p:spPr>
          <a:xfrm>
            <a:off x="876198" y="3835908"/>
            <a:ext cx="10579202" cy="194259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p:cNvSpPr/>
          <p:nvPr/>
        </p:nvSpPr>
        <p:spPr>
          <a:xfrm>
            <a:off x="634595" y="41024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 xml:space="preserve">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xml:space="preserve">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xml:space="preserve">,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xml:space="preserve"> / Dynamik</a:t>
            </a:r>
            <a:endParaRPr lang="en-US" sz="2400"/>
          </a:p>
        </p:txBody>
      </p:sp>
      <p:sp>
        <p:nvSpPr>
          <p:cNvPr id="54" name="Text 2">
            <a:extLst>
              <a:ext uri="{FF2B5EF4-FFF2-40B4-BE49-F238E27FC236}">
                <a16:creationId xmlns:a16="http://schemas.microsoft.com/office/drawing/2014/main" id="{148FA918-77A5-D32A-008B-BBD14EAC800D}"/>
              </a:ext>
            </a:extLst>
          </p:cNvPr>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 xml:space="preserve">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xml:space="preserve">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0" name="Text 2">
            <a:extLst>
              <a:ext uri="{FF2B5EF4-FFF2-40B4-BE49-F238E27FC236}">
                <a16:creationId xmlns:a16="http://schemas.microsoft.com/office/drawing/2014/main" id="{69DDE473-F5E2-CC75-B428-49DDEF93D32F}"/>
              </a:ext>
            </a:extLst>
          </p:cNvPr>
          <p:cNvSpPr/>
          <p:nvPr/>
        </p:nvSpPr>
        <p:spPr>
          <a:xfrm>
            <a:off x="634594" y="1990685"/>
            <a:ext cx="10933951" cy="701716"/>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Finanzkennzahlen</a:t>
            </a:r>
            <a:r>
              <a:rPr lang="en-US" sz="3600" b="1" kern="0" spc="-100">
                <a:solidFill>
                  <a:srgbClr val="F3EFDA"/>
                </a:solidFill>
                <a:latin typeface="Arial" pitchFamily="34" charset="0"/>
                <a:ea typeface="Arial" pitchFamily="34" charset="-122"/>
                <a:cs typeface="Arial" pitchFamily="34" charset="-120"/>
              </a:rPr>
              <a:t xml:space="preserve">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xml:space="preserve">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1" name="Text 2">
            <a:extLst>
              <a:ext uri="{FF2B5EF4-FFF2-40B4-BE49-F238E27FC236}">
                <a16:creationId xmlns:a16="http://schemas.microsoft.com/office/drawing/2014/main" id="{9EC68522-C9FF-7A32-A0AE-BA8ED81B805A}"/>
              </a:ext>
            </a:extLst>
          </p:cNvPr>
          <p:cNvSpPr/>
          <p:nvPr/>
        </p:nvSpPr>
        <p:spPr>
          <a:xfrm>
            <a:off x="1307695" y="1428517"/>
            <a:ext cx="4204106" cy="673407"/>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Zeitreihenbasierte</a:t>
            </a:r>
            <a:endParaRPr lang="en-US" sz="3600">
              <a:solidFill>
                <a:srgbClr val="F3EFDA"/>
              </a:solidFill>
            </a:endParaRPr>
          </a:p>
        </p:txBody>
      </p:sp>
      <p:sp>
        <p:nvSpPr>
          <p:cNvPr id="64" name="Freihandform 63">
            <a:extLst>
              <a:ext uri="{FF2B5EF4-FFF2-40B4-BE49-F238E27FC236}">
                <a16:creationId xmlns:a16="http://schemas.microsoft.com/office/drawing/2014/main" id="{A04FF9E1-B817-C502-66FA-0A741D7BBFA8}"/>
              </a:ext>
            </a:extLst>
          </p:cNvPr>
          <p:cNvSpPr/>
          <p:nvPr/>
        </p:nvSpPr>
        <p:spPr>
          <a:xfrm>
            <a:off x="1676400" y="2755227"/>
            <a:ext cx="2476500" cy="610273"/>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Lst>
            <a:ahLst/>
            <a:cxnLst>
              <a:cxn ang="0">
                <a:pos x="csX0" y="csY0"/>
              </a:cxn>
              <a:cxn ang="0">
                <a:pos x="csX1" y="csY1"/>
              </a:cxn>
              <a:cxn ang="0">
                <a:pos x="csX2" y="csY2"/>
              </a:cxn>
              <a:cxn ang="0">
                <a:pos x="csX3" y="csY3"/>
              </a:cxn>
            </a:cxnLst>
            <a:rect l="l" t="t" r="r" b="b"/>
            <a:pathLst>
              <a:path w="2476500" h="610273">
                <a:moveTo>
                  <a:pt x="0" y="610273"/>
                </a:moveTo>
                <a:cubicBezTo>
                  <a:pt x="305858" y="316056"/>
                  <a:pt x="611717" y="21840"/>
                  <a:pt x="927100" y="673"/>
                </a:cubicBezTo>
                <a:cubicBezTo>
                  <a:pt x="1242483" y="-20494"/>
                  <a:pt x="1634067" y="464223"/>
                  <a:pt x="1892300" y="483273"/>
                </a:cubicBezTo>
                <a:cubicBezTo>
                  <a:pt x="2150533" y="502323"/>
                  <a:pt x="2313516" y="308648"/>
                  <a:pt x="2476500" y="114973"/>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60"/>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61"/>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1000"/>
                                        <p:tgtEl>
                                          <p:spTgt spid="62"/>
                                        </p:tgtEl>
                                      </p:cBhvr>
                                    </p:animEffect>
                                    <p:anim calcmode="lin" valueType="num">
                                      <p:cBhvr>
                                        <p:cTn id="21" dur="1000" fill="hold"/>
                                        <p:tgtEl>
                                          <p:spTgt spid="62"/>
                                        </p:tgtEl>
                                        <p:attrNameLst>
                                          <p:attrName>ppt_x</p:attrName>
                                        </p:attrNameLst>
                                      </p:cBhvr>
                                      <p:tavLst>
                                        <p:tav tm="0">
                                          <p:val>
                                            <p:strVal val="#ppt_x"/>
                                          </p:val>
                                        </p:tav>
                                        <p:tav tm="100000">
                                          <p:val>
                                            <p:strVal val="#ppt_x"/>
                                          </p:val>
                                        </p:tav>
                                      </p:tavLst>
                                    </p:anim>
                                    <p:anim calcmode="lin" valueType="num">
                                      <p:cBhvr>
                                        <p:cTn id="22"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repeatCount="0" fill="remove" grpId="0" nodeType="clickEffect">
                                  <p:stCondLst>
                                    <p:cond delay="0"/>
                                  </p:stCondLst>
                                  <p:iterate type="lt">
                                    <p:tmPct val="10000"/>
                                  </p:iterate>
                                  <p:childTnLst>
                                    <p:set>
                                      <p:cBhvr>
                                        <p:cTn id="26" dur="1" fill="hold">
                                          <p:stCondLst>
                                            <p:cond delay="0"/>
                                          </p:stCondLst>
                                        </p:cTn>
                                        <p:tgtEl>
                                          <p:spTgt spid="64"/>
                                        </p:tgtEl>
                                        <p:attrNameLst>
                                          <p:attrName>style.visibility</p:attrName>
                                        </p:attrNameLst>
                                      </p:cBhvr>
                                      <p:to>
                                        <p:strVal val="visible"/>
                                      </p:to>
                                    </p:set>
                                    <p:animEffect transition="in" filter="fade">
                                      <p:cBhvr>
                                        <p:cTn id="27" dur="500"/>
                                        <p:tgtEl>
                                          <p:spTgt spid="64"/>
                                        </p:tgtEl>
                                      </p:cBhvr>
                                    </p:animEffect>
                                  </p:childTnLst>
                                  <p:subTnLst>
                                    <p:set>
                                      <p:cBhvr override="childStyle">
                                        <p:cTn dur="1" fill="hold" display="0" masterRel="sameClick" afterEffect="1">
                                          <p:stCondLst>
                                            <p:cond evt="end" delay="0">
                                              <p:tn val="25"/>
                                            </p:cond>
                                          </p:stCondLst>
                                        </p:cTn>
                                        <p:tgtEl>
                                          <p:spTgt spid="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 grpId="0" animBg="1"/>
      <p:bldP spid="60" grpId="0" animBg="1"/>
      <p:bldP spid="61" grpId="0" animBg="1"/>
      <p:bldP spid="6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0392-D8FD-AB43-4548-396C5376A9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C93CB7-BFC6-5F81-12D1-8EDF8E2A0969}"/>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7BD67CBC-CFD2-7759-2701-94AE434A129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CE23936F-8BA2-8997-99CD-2528654F06A1}"/>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2" name="Shape 16">
            <a:extLst>
              <a:ext uri="{FF2B5EF4-FFF2-40B4-BE49-F238E27FC236}">
                <a16:creationId xmlns:a16="http://schemas.microsoft.com/office/drawing/2014/main" id="{C7EDC60F-7F90-DF13-575D-D95D30387624}"/>
              </a:ext>
            </a:extLst>
          </p:cNvPr>
          <p:cNvSpPr/>
          <p:nvPr/>
        </p:nvSpPr>
        <p:spPr>
          <a:xfrm>
            <a:off x="876198" y="1130807"/>
            <a:ext cx="10452202" cy="3301493"/>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3" name="Text 3">
            <a:extLst>
              <a:ext uri="{FF2B5EF4-FFF2-40B4-BE49-F238E27FC236}">
                <a16:creationId xmlns:a16="http://schemas.microsoft.com/office/drawing/2014/main" id="{360353AB-1EA1-9E84-2F10-D120C64F5CE3}"/>
              </a:ext>
            </a:extLst>
          </p:cNvPr>
          <p:cNvSpPr/>
          <p:nvPr/>
        </p:nvSpPr>
        <p:spPr>
          <a:xfrm>
            <a:off x="634595" y="13973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 xml:space="preserve">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xml:space="preserve">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xml:space="preserve">,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xml:space="preserve"> / Dynamik</a:t>
            </a:r>
            <a:endParaRPr lang="en-US" sz="2400"/>
          </a:p>
        </p:txBody>
      </p:sp>
      <p:grpSp>
        <p:nvGrpSpPr>
          <p:cNvPr id="14" name="Gruppieren 13">
            <a:extLst>
              <a:ext uri="{FF2B5EF4-FFF2-40B4-BE49-F238E27FC236}">
                <a16:creationId xmlns:a16="http://schemas.microsoft.com/office/drawing/2014/main" id="{94E9CA68-9714-CD5A-46A2-3A73EADDEF8C}"/>
              </a:ext>
            </a:extLst>
          </p:cNvPr>
          <p:cNvGrpSpPr/>
          <p:nvPr/>
        </p:nvGrpSpPr>
        <p:grpSpPr>
          <a:xfrm>
            <a:off x="3462652" y="3178966"/>
            <a:ext cx="5266696" cy="952805"/>
            <a:chOff x="3462652" y="3178966"/>
            <a:chExt cx="5266696" cy="952805"/>
          </a:xfrm>
        </p:grpSpPr>
        <p:sp>
          <p:nvSpPr>
            <p:cNvPr id="15" name="Shape 8">
              <a:extLst>
                <a:ext uri="{FF2B5EF4-FFF2-40B4-BE49-F238E27FC236}">
                  <a16:creationId xmlns:a16="http://schemas.microsoft.com/office/drawing/2014/main" id="{A479BB1A-2830-5E92-BF44-7EF85F5646EC}"/>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6" name="Text 10">
              <a:extLst>
                <a:ext uri="{FF2B5EF4-FFF2-40B4-BE49-F238E27FC236}">
                  <a16:creationId xmlns:a16="http://schemas.microsoft.com/office/drawing/2014/main" id="{C61362DC-9124-FC43-4BD4-8B5FC70D87A5}"/>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17" name="Text 11">
              <a:extLst>
                <a:ext uri="{FF2B5EF4-FFF2-40B4-BE49-F238E27FC236}">
                  <a16:creationId xmlns:a16="http://schemas.microsoft.com/office/drawing/2014/main" id="{8FC9A8A6-5943-CBB4-F0E0-AC3B06F0A402}"/>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xml:space="preserve">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xml:space="preserve">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xml:space="preserve">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xml:space="preserve"> die Zeit</a:t>
              </a:r>
              <a:endParaRPr lang="en-US" sz="1200"/>
            </a:p>
          </p:txBody>
        </p:sp>
        <p:pic>
          <p:nvPicPr>
            <p:cNvPr id="18" name="Grafik 17" descr="Aufwärtstrend mit einfarbiger Füllung">
              <a:extLst>
                <a:ext uri="{FF2B5EF4-FFF2-40B4-BE49-F238E27FC236}">
                  <a16:creationId xmlns:a16="http://schemas.microsoft.com/office/drawing/2014/main" id="{07E0A666-31E2-AF25-06DE-EF0E45A1F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spTree>
    <p:extLst>
      <p:ext uri="{BB962C8B-B14F-4D97-AF65-F5344CB8AC3E}">
        <p14:creationId xmlns:p14="http://schemas.microsoft.com/office/powerpoint/2010/main" val="8788043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25D7-FDF0-5C23-5771-3650123D96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C37D20-3A10-B0EB-64DC-BE304FC3A233}"/>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50B0DCAE-1D7F-6427-7BCC-81AC5CD1AC87}"/>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EE368D7-56D7-BDE4-15D8-7514BD2B977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a:extLst>
              <a:ext uri="{FF2B5EF4-FFF2-40B4-BE49-F238E27FC236}">
                <a16:creationId xmlns:a16="http://schemas.microsoft.com/office/drawing/2014/main" id="{7AC0A42C-C39A-9B4B-AB6B-085A6C41A2D4}"/>
              </a:ext>
            </a:extLst>
          </p:cNvPr>
          <p:cNvSpPr/>
          <p:nvPr/>
        </p:nvSpPr>
        <p:spPr>
          <a:xfrm>
            <a:off x="634594" y="1410007"/>
            <a:ext cx="10921593"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 xml:space="preserve">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xml:space="preserve">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xml:space="preserve">,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xml:space="preserve"> / Dynamik</a:t>
            </a:r>
            <a:endParaRPr lang="en-US" sz="2400"/>
          </a:p>
        </p:txBody>
      </p:sp>
      <p:grpSp>
        <p:nvGrpSpPr>
          <p:cNvPr id="15" name="Gruppieren 14">
            <a:extLst>
              <a:ext uri="{FF2B5EF4-FFF2-40B4-BE49-F238E27FC236}">
                <a16:creationId xmlns:a16="http://schemas.microsoft.com/office/drawing/2014/main" id="{F48EC34E-5C0C-123E-855E-D0FE2FE3AD92}"/>
              </a:ext>
            </a:extLst>
          </p:cNvPr>
          <p:cNvGrpSpPr/>
          <p:nvPr/>
        </p:nvGrpSpPr>
        <p:grpSpPr>
          <a:xfrm>
            <a:off x="634594" y="4820018"/>
            <a:ext cx="5266695" cy="952805"/>
            <a:chOff x="634594" y="4820018"/>
            <a:chExt cx="5266695" cy="952805"/>
          </a:xfrm>
        </p:grpSpPr>
        <p:sp>
          <p:nvSpPr>
            <p:cNvPr id="7" name="Shape 4">
              <a:extLst>
                <a:ext uri="{FF2B5EF4-FFF2-40B4-BE49-F238E27FC236}">
                  <a16:creationId xmlns:a16="http://schemas.microsoft.com/office/drawing/2014/main" id="{2451CCD6-5F43-4207-EDFC-BC142E67F31D}"/>
                </a:ext>
              </a:extLst>
            </p:cNvPr>
            <p:cNvSpPr/>
            <p:nvPr/>
          </p:nvSpPr>
          <p:spPr>
            <a:xfrm>
              <a:off x="634594" y="4820018"/>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8C261A6A-7A71-6FC2-CA7A-60031356759B}"/>
                </a:ext>
              </a:extLst>
            </p:cNvPr>
            <p:cNvSpPr/>
            <p:nvPr/>
          </p:nvSpPr>
          <p:spPr>
            <a:xfrm>
              <a:off x="952806" y="5011128"/>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FE7B232F-7009-15DA-52A6-73B1B8FEF839}"/>
                </a:ext>
              </a:extLst>
            </p:cNvPr>
            <p:cNvSpPr/>
            <p:nvPr/>
          </p:nvSpPr>
          <p:spPr>
            <a:xfrm>
              <a:off x="1714501" y="5011128"/>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71DE3C69-4297-AC3F-FC64-7518BEAF47C7}"/>
                </a:ext>
              </a:extLst>
            </p:cNvPr>
            <p:cNvSpPr/>
            <p:nvPr/>
          </p:nvSpPr>
          <p:spPr>
            <a:xfrm>
              <a:off x="1714501" y="5315623"/>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 xml:space="preserve">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 name="Gruppieren 2">
            <a:extLst>
              <a:ext uri="{FF2B5EF4-FFF2-40B4-BE49-F238E27FC236}">
                <a16:creationId xmlns:a16="http://schemas.microsoft.com/office/drawing/2014/main" id="{47DAF238-00C2-6622-981D-613DCDB81374}"/>
              </a:ext>
            </a:extLst>
          </p:cNvPr>
          <p:cNvGrpSpPr/>
          <p:nvPr/>
        </p:nvGrpSpPr>
        <p:grpSpPr>
          <a:xfrm>
            <a:off x="6290715" y="4820018"/>
            <a:ext cx="5266696" cy="952805"/>
            <a:chOff x="6290715" y="4820018"/>
            <a:chExt cx="5266696" cy="952805"/>
          </a:xfrm>
        </p:grpSpPr>
        <p:sp>
          <p:nvSpPr>
            <p:cNvPr id="11" name="Shape 8">
              <a:extLst>
                <a:ext uri="{FF2B5EF4-FFF2-40B4-BE49-F238E27FC236}">
                  <a16:creationId xmlns:a16="http://schemas.microsoft.com/office/drawing/2014/main" id="{4086EA3F-A978-2D25-8677-0BBBA68145E1}"/>
                </a:ext>
              </a:extLst>
            </p:cNvPr>
            <p:cNvSpPr/>
            <p:nvPr/>
          </p:nvSpPr>
          <p:spPr>
            <a:xfrm>
              <a:off x="6290715" y="4820018"/>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E78499B-0088-8C2B-BF2F-4A0A8CE10A58}"/>
                </a:ext>
              </a:extLst>
            </p:cNvPr>
            <p:cNvSpPr/>
            <p:nvPr/>
          </p:nvSpPr>
          <p:spPr>
            <a:xfrm>
              <a:off x="6608012" y="4947120"/>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E6483B8E-97EC-D192-D25F-1714F3BCE9AB}"/>
                </a:ext>
              </a:extLst>
            </p:cNvPr>
            <p:cNvSpPr/>
            <p:nvPr/>
          </p:nvSpPr>
          <p:spPr>
            <a:xfrm>
              <a:off x="7369707" y="5011128"/>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6FB592D6-6B5B-AFCC-57BA-F1ACE4CC3C12}"/>
                </a:ext>
              </a:extLst>
            </p:cNvPr>
            <p:cNvSpPr/>
            <p:nvPr/>
          </p:nvSpPr>
          <p:spPr>
            <a:xfrm>
              <a:off x="7369707" y="5315623"/>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grpSp>
        <p:nvGrpSpPr>
          <p:cNvPr id="45" name="Gruppieren 44">
            <a:extLst>
              <a:ext uri="{FF2B5EF4-FFF2-40B4-BE49-F238E27FC236}">
                <a16:creationId xmlns:a16="http://schemas.microsoft.com/office/drawing/2014/main" id="{928B4D57-F59F-7C6B-DBD9-574286438805}"/>
              </a:ext>
            </a:extLst>
          </p:cNvPr>
          <p:cNvGrpSpPr/>
          <p:nvPr/>
        </p:nvGrpSpPr>
        <p:grpSpPr>
          <a:xfrm>
            <a:off x="3462652" y="3178966"/>
            <a:ext cx="5266696" cy="952805"/>
            <a:chOff x="3462652" y="3178966"/>
            <a:chExt cx="5266696" cy="952805"/>
          </a:xfrm>
        </p:grpSpPr>
        <p:sp>
          <p:nvSpPr>
            <p:cNvPr id="39" name="Shape 8">
              <a:extLst>
                <a:ext uri="{FF2B5EF4-FFF2-40B4-BE49-F238E27FC236}">
                  <a16:creationId xmlns:a16="http://schemas.microsoft.com/office/drawing/2014/main" id="{DD1B9EFF-261D-51CF-9FC3-11836FAD152B}"/>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41" name="Text 10">
              <a:extLst>
                <a:ext uri="{FF2B5EF4-FFF2-40B4-BE49-F238E27FC236}">
                  <a16:creationId xmlns:a16="http://schemas.microsoft.com/office/drawing/2014/main" id="{8C0CD161-CEAC-6651-E084-2F75ACF396A8}"/>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42" name="Text 11">
              <a:extLst>
                <a:ext uri="{FF2B5EF4-FFF2-40B4-BE49-F238E27FC236}">
                  <a16:creationId xmlns:a16="http://schemas.microsoft.com/office/drawing/2014/main" id="{08ECA982-588D-B53B-0703-D8A0D6EB93EA}"/>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xml:space="preserve">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xml:space="preserve">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xml:space="preserve">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xml:space="preserve"> die Zeit</a:t>
              </a:r>
              <a:endParaRPr lang="en-US" sz="1200"/>
            </a:p>
          </p:txBody>
        </p:sp>
        <p:pic>
          <p:nvPicPr>
            <p:cNvPr id="44" name="Grafik 43" descr="Aufwärtstrend mit einfarbiger Füllung">
              <a:extLst>
                <a:ext uri="{FF2B5EF4-FFF2-40B4-BE49-F238E27FC236}">
                  <a16:creationId xmlns:a16="http://schemas.microsoft.com/office/drawing/2014/main" id="{24D64D48-6A16-2786-7C82-AED8F4A3B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cxnSp>
        <p:nvCxnSpPr>
          <p:cNvPr id="46" name="Gewinkelte Verbindung 45">
            <a:extLst>
              <a:ext uri="{FF2B5EF4-FFF2-40B4-BE49-F238E27FC236}">
                <a16:creationId xmlns:a16="http://schemas.microsoft.com/office/drawing/2014/main" id="{26DA133E-1058-3591-FB3A-B6E033BB1576}"/>
              </a:ext>
            </a:extLst>
          </p:cNvPr>
          <p:cNvCxnSpPr>
            <a:cxnSpLocks/>
            <a:stCxn id="39" idx="2"/>
            <a:endCxn id="7" idx="0"/>
          </p:cNvCxnSpPr>
          <p:nvPr/>
        </p:nvCxnSpPr>
        <p:spPr>
          <a:xfrm rot="5400000">
            <a:off x="4337848" y="3061865"/>
            <a:ext cx="688247" cy="2828058"/>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Gewinkelte Verbindung 48">
            <a:extLst>
              <a:ext uri="{FF2B5EF4-FFF2-40B4-BE49-F238E27FC236}">
                <a16:creationId xmlns:a16="http://schemas.microsoft.com/office/drawing/2014/main" id="{684DF1C6-C32B-49F3-DB40-CDCDE7806DD8}"/>
              </a:ext>
            </a:extLst>
          </p:cNvPr>
          <p:cNvCxnSpPr>
            <a:cxnSpLocks/>
            <a:stCxn id="39" idx="2"/>
            <a:endCxn id="11" idx="0"/>
          </p:cNvCxnSpPr>
          <p:nvPr/>
        </p:nvCxnSpPr>
        <p:spPr>
          <a:xfrm rot="16200000" flipH="1">
            <a:off x="7165908" y="3061862"/>
            <a:ext cx="688247" cy="2828063"/>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5687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9C14-B51D-0216-737F-740F386C75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3A4A10-7F25-EF39-BAEF-DA9E4524417B}"/>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469CB94D-3082-21EE-E366-DBF73557BB0A}"/>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0B529815-CC56-9E8A-CE39-7DC360FBEA68}"/>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grpSp>
        <p:nvGrpSpPr>
          <p:cNvPr id="35" name="Gruppieren 34">
            <a:extLst>
              <a:ext uri="{FF2B5EF4-FFF2-40B4-BE49-F238E27FC236}">
                <a16:creationId xmlns:a16="http://schemas.microsoft.com/office/drawing/2014/main" id="{3586E0AB-5A61-06DC-79A8-A387C14F456D}"/>
              </a:ext>
            </a:extLst>
          </p:cNvPr>
          <p:cNvGrpSpPr/>
          <p:nvPr/>
        </p:nvGrpSpPr>
        <p:grpSpPr>
          <a:xfrm>
            <a:off x="634593" y="1187066"/>
            <a:ext cx="5266695" cy="952805"/>
            <a:chOff x="634593" y="1187066"/>
            <a:chExt cx="5266695" cy="952805"/>
          </a:xfrm>
        </p:grpSpPr>
        <p:sp>
          <p:nvSpPr>
            <p:cNvPr id="7" name="Shape 4">
              <a:extLst>
                <a:ext uri="{FF2B5EF4-FFF2-40B4-BE49-F238E27FC236}">
                  <a16:creationId xmlns:a16="http://schemas.microsoft.com/office/drawing/2014/main" id="{EBF44CF2-9361-B17E-7E1E-F1F282FFE6F4}"/>
                </a:ext>
              </a:extLst>
            </p:cNvPr>
            <p:cNvSpPr/>
            <p:nvPr/>
          </p:nvSpPr>
          <p:spPr>
            <a:xfrm>
              <a:off x="634593" y="1187066"/>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C1C9EC93-F886-0FEB-10FA-7162C273CED6}"/>
                </a:ext>
              </a:extLst>
            </p:cNvPr>
            <p:cNvSpPr/>
            <p:nvPr/>
          </p:nvSpPr>
          <p:spPr>
            <a:xfrm>
              <a:off x="952805" y="1378176"/>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AFD26D88-7A8C-070A-23F4-C5224BF81050}"/>
                </a:ext>
              </a:extLst>
            </p:cNvPr>
            <p:cNvSpPr/>
            <p:nvPr/>
          </p:nvSpPr>
          <p:spPr>
            <a:xfrm>
              <a:off x="1714500" y="1378176"/>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956A0472-0642-45C0-55BC-03938B4FD80D}"/>
                </a:ext>
              </a:extLst>
            </p:cNvPr>
            <p:cNvSpPr/>
            <p:nvPr/>
          </p:nvSpPr>
          <p:spPr>
            <a:xfrm>
              <a:off x="1714500" y="1682671"/>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 xml:space="preserve">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4" name="Gruppieren 33">
            <a:extLst>
              <a:ext uri="{FF2B5EF4-FFF2-40B4-BE49-F238E27FC236}">
                <a16:creationId xmlns:a16="http://schemas.microsoft.com/office/drawing/2014/main" id="{9185C676-6C2A-35FA-907F-AD52B0CA8709}"/>
              </a:ext>
            </a:extLst>
          </p:cNvPr>
          <p:cNvGrpSpPr/>
          <p:nvPr/>
        </p:nvGrpSpPr>
        <p:grpSpPr>
          <a:xfrm>
            <a:off x="6290714" y="1187066"/>
            <a:ext cx="5266696" cy="952805"/>
            <a:chOff x="6290714" y="1187066"/>
            <a:chExt cx="5266696" cy="952805"/>
          </a:xfrm>
        </p:grpSpPr>
        <p:sp>
          <p:nvSpPr>
            <p:cNvPr id="11" name="Shape 8">
              <a:extLst>
                <a:ext uri="{FF2B5EF4-FFF2-40B4-BE49-F238E27FC236}">
                  <a16:creationId xmlns:a16="http://schemas.microsoft.com/office/drawing/2014/main" id="{C1ADF452-6B3F-5D09-2040-586DB02E9E7C}"/>
                </a:ext>
              </a:extLst>
            </p:cNvPr>
            <p:cNvSpPr/>
            <p:nvPr/>
          </p:nvSpPr>
          <p:spPr>
            <a:xfrm>
              <a:off x="6290714" y="11870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731C39D2-4E43-407F-0988-04629E064595}"/>
                </a:ext>
              </a:extLst>
            </p:cNvPr>
            <p:cNvSpPr/>
            <p:nvPr/>
          </p:nvSpPr>
          <p:spPr>
            <a:xfrm>
              <a:off x="6608011" y="1314168"/>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66791E79-A1DF-2EA2-C60E-9F296CC020A7}"/>
                </a:ext>
              </a:extLst>
            </p:cNvPr>
            <p:cNvSpPr/>
            <p:nvPr/>
          </p:nvSpPr>
          <p:spPr>
            <a:xfrm>
              <a:off x="7369706" y="13781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EE94BBEA-15DA-D4B6-8955-237BBD13EA62}"/>
                </a:ext>
              </a:extLst>
            </p:cNvPr>
            <p:cNvSpPr/>
            <p:nvPr/>
          </p:nvSpPr>
          <p:spPr>
            <a:xfrm>
              <a:off x="7369706" y="1682671"/>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sp>
        <p:nvSpPr>
          <p:cNvPr id="15" name="Shape 12">
            <a:extLst>
              <a:ext uri="{FF2B5EF4-FFF2-40B4-BE49-F238E27FC236}">
                <a16:creationId xmlns:a16="http://schemas.microsoft.com/office/drawing/2014/main" id="{9BFD8FCB-DA08-6496-726B-05792DB3650F}"/>
              </a:ext>
            </a:extLst>
          </p:cNvPr>
          <p:cNvSpPr/>
          <p:nvPr/>
        </p:nvSpPr>
        <p:spPr>
          <a:xfrm>
            <a:off x="634594"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6" name="Text 13">
            <a:extLst>
              <a:ext uri="{FF2B5EF4-FFF2-40B4-BE49-F238E27FC236}">
                <a16:creationId xmlns:a16="http://schemas.microsoft.com/office/drawing/2014/main" id="{6C25C326-784E-207C-C96A-EC49D9BE1D0D}"/>
              </a:ext>
            </a:extLst>
          </p:cNvPr>
          <p:cNvSpPr/>
          <p:nvPr/>
        </p:nvSpPr>
        <p:spPr>
          <a:xfrm>
            <a:off x="838505" y="3284188"/>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F9E7DB07-9DE8-82D1-22AB-D66FB251A1F1}"/>
              </a:ext>
            </a:extLst>
          </p:cNvPr>
          <p:cNvSpPr/>
          <p:nvPr/>
        </p:nvSpPr>
        <p:spPr>
          <a:xfrm>
            <a:off x="1206094" y="34222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4DA35E5E-8654-21B0-27CE-1A175310E094}"/>
              </a:ext>
            </a:extLst>
          </p:cNvPr>
          <p:cNvSpPr/>
          <p:nvPr/>
        </p:nvSpPr>
        <p:spPr>
          <a:xfrm>
            <a:off x="838505"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 xml:space="preserve">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xml:space="preserve">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xml:space="preserve"> Dynamik auf?</a:t>
            </a:r>
          </a:p>
        </p:txBody>
      </p:sp>
      <p:sp>
        <p:nvSpPr>
          <p:cNvPr id="19" name="Shape 16">
            <a:extLst>
              <a:ext uri="{FF2B5EF4-FFF2-40B4-BE49-F238E27FC236}">
                <a16:creationId xmlns:a16="http://schemas.microsoft.com/office/drawing/2014/main" id="{B2C6BDE1-A9EF-2569-6ABE-1E0946594962}"/>
              </a:ext>
            </a:extLst>
          </p:cNvPr>
          <p:cNvSpPr/>
          <p:nvPr/>
        </p:nvSpPr>
        <p:spPr>
          <a:xfrm>
            <a:off x="4482998"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0" name="Text 17">
            <a:extLst>
              <a:ext uri="{FF2B5EF4-FFF2-40B4-BE49-F238E27FC236}">
                <a16:creationId xmlns:a16="http://schemas.microsoft.com/office/drawing/2014/main" id="{9666CFD0-64F3-AE31-EF77-CA546E12EFE7}"/>
              </a:ext>
            </a:extLst>
          </p:cNvPr>
          <p:cNvSpPr/>
          <p:nvPr/>
        </p:nvSpPr>
        <p:spPr>
          <a:xfrm>
            <a:off x="4685995"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DA5A3B3A-4484-6DB5-60B4-D3B2201111D8}"/>
              </a:ext>
            </a:extLst>
          </p:cNvPr>
          <p:cNvSpPr/>
          <p:nvPr/>
        </p:nvSpPr>
        <p:spPr>
          <a:xfrm>
            <a:off x="5054498" y="34222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71777E05-924F-1469-1E4A-04D10DD1E5D9}"/>
              </a:ext>
            </a:extLst>
          </p:cNvPr>
          <p:cNvSpPr/>
          <p:nvPr/>
        </p:nvSpPr>
        <p:spPr>
          <a:xfrm>
            <a:off x="4685995" y="3764884"/>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6B9BA81-E333-256E-7144-6785FA5AEB7D}"/>
              </a:ext>
            </a:extLst>
          </p:cNvPr>
          <p:cNvSpPr/>
          <p:nvPr/>
        </p:nvSpPr>
        <p:spPr>
          <a:xfrm>
            <a:off x="8330183"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8D56924E-5BCF-A449-657E-771953E1C94E}"/>
              </a:ext>
            </a:extLst>
          </p:cNvPr>
          <p:cNvSpPr/>
          <p:nvPr/>
        </p:nvSpPr>
        <p:spPr>
          <a:xfrm>
            <a:off x="8534094"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657967A6-169D-A03A-A654-1638E53D46C2}"/>
              </a:ext>
            </a:extLst>
          </p:cNvPr>
          <p:cNvSpPr/>
          <p:nvPr/>
        </p:nvSpPr>
        <p:spPr>
          <a:xfrm>
            <a:off x="8901683" y="34222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DDDE5884-773F-4E85-4031-29C7E92937C5}"/>
              </a:ext>
            </a:extLst>
          </p:cNvPr>
          <p:cNvSpPr/>
          <p:nvPr/>
        </p:nvSpPr>
        <p:spPr>
          <a:xfrm>
            <a:off x="8534094"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 xml:space="preserve">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xml:space="preserve">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p:cxnSp>
        <p:nvCxnSpPr>
          <p:cNvPr id="27" name="Gewinkelte Verbindung 26">
            <a:extLst>
              <a:ext uri="{FF2B5EF4-FFF2-40B4-BE49-F238E27FC236}">
                <a16:creationId xmlns:a16="http://schemas.microsoft.com/office/drawing/2014/main" id="{02C62F4B-0BDD-C945-F62F-FEA477E23994}"/>
              </a:ext>
            </a:extLst>
          </p:cNvPr>
          <p:cNvCxnSpPr>
            <a:stCxn id="7" idx="2"/>
            <a:endCxn id="23" idx="0"/>
          </p:cNvCxnSpPr>
          <p:nvPr/>
        </p:nvCxnSpPr>
        <p:spPr>
          <a:xfrm rot="16200000" flipH="1">
            <a:off x="6142357" y="-734545"/>
            <a:ext cx="926412" cy="6675244"/>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winkelte Verbindung 28">
            <a:extLst>
              <a:ext uri="{FF2B5EF4-FFF2-40B4-BE49-F238E27FC236}">
                <a16:creationId xmlns:a16="http://schemas.microsoft.com/office/drawing/2014/main" id="{7B2029E9-5806-691D-CE44-8ADAC71C2B5A}"/>
              </a:ext>
            </a:extLst>
          </p:cNvPr>
          <p:cNvCxnSpPr>
            <a:stCxn id="7" idx="2"/>
            <a:endCxn id="19" idx="0"/>
          </p:cNvCxnSpPr>
          <p:nvPr/>
        </p:nvCxnSpPr>
        <p:spPr>
          <a:xfrm rot="16200000" flipH="1">
            <a:off x="4218764" y="1189047"/>
            <a:ext cx="926412" cy="2828059"/>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1" name="Gewinkelte Verbindung 30">
            <a:extLst>
              <a:ext uri="{FF2B5EF4-FFF2-40B4-BE49-F238E27FC236}">
                <a16:creationId xmlns:a16="http://schemas.microsoft.com/office/drawing/2014/main" id="{EB6AF2DD-CB03-AD69-FB21-2F0056A7106F}"/>
              </a:ext>
            </a:extLst>
          </p:cNvPr>
          <p:cNvCxnSpPr>
            <a:cxnSpLocks/>
            <a:stCxn id="7" idx="2"/>
            <a:endCxn id="15" idx="0"/>
          </p:cNvCxnSpPr>
          <p:nvPr/>
        </p:nvCxnSpPr>
        <p:spPr>
          <a:xfrm rot="5400000">
            <a:off x="2294563" y="2092905"/>
            <a:ext cx="926412" cy="1020345"/>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winkelte Verbindung 32">
            <a:extLst>
              <a:ext uri="{FF2B5EF4-FFF2-40B4-BE49-F238E27FC236}">
                <a16:creationId xmlns:a16="http://schemas.microsoft.com/office/drawing/2014/main" id="{515C89FF-BAD1-FF26-A511-19B5E108CBF8}"/>
              </a:ext>
            </a:extLst>
          </p:cNvPr>
          <p:cNvCxnSpPr>
            <a:stCxn id="11" idx="2"/>
            <a:endCxn id="19" idx="0"/>
          </p:cNvCxnSpPr>
          <p:nvPr/>
        </p:nvCxnSpPr>
        <p:spPr>
          <a:xfrm rot="5400000">
            <a:off x="7046825" y="1189046"/>
            <a:ext cx="926412" cy="2828062"/>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2331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5" name="Shape 12">
            <a:extLst>
              <a:ext uri="{FF2B5EF4-FFF2-40B4-BE49-F238E27FC236}">
                <a16:creationId xmlns:a16="http://schemas.microsoft.com/office/drawing/2014/main" id="{C0C842C1-28E1-8117-453A-FE4D9A2E37E3}"/>
              </a:ext>
            </a:extLst>
          </p:cNvPr>
          <p:cNvSpPr/>
          <p:nvPr/>
        </p:nvSpPr>
        <p:spPr>
          <a:xfrm>
            <a:off x="634594"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0" name="Gruppieren 49">
            <a:extLst>
              <a:ext uri="{FF2B5EF4-FFF2-40B4-BE49-F238E27FC236}">
                <a16:creationId xmlns:a16="http://schemas.microsoft.com/office/drawing/2014/main" id="{6551550D-EAFF-77BD-C781-4934F36804BA}"/>
              </a:ext>
            </a:extLst>
          </p:cNvPr>
          <p:cNvGrpSpPr/>
          <p:nvPr/>
        </p:nvGrpSpPr>
        <p:grpSpPr>
          <a:xfrm>
            <a:off x="838505" y="1405102"/>
            <a:ext cx="2818181" cy="381305"/>
            <a:chOff x="838505" y="1405102"/>
            <a:chExt cx="2818181" cy="381305"/>
          </a:xfrm>
        </p:grpSpPr>
        <p:sp>
          <p:nvSpPr>
            <p:cNvPr id="16" name="Text 13">
              <a:extLst>
                <a:ext uri="{FF2B5EF4-FFF2-40B4-BE49-F238E27FC236}">
                  <a16:creationId xmlns:a16="http://schemas.microsoft.com/office/drawing/2014/main" id="{3D3EDEFC-7B1F-80B8-83D8-C4919306094D}"/>
                </a:ext>
              </a:extLst>
            </p:cNvPr>
            <p:cNvSpPr/>
            <p:nvPr/>
          </p:nvSpPr>
          <p:spPr>
            <a:xfrm>
              <a:off x="838505" y="1405102"/>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D1573499-103B-973A-EBF5-C2C877705862}"/>
                </a:ext>
              </a:extLst>
            </p:cNvPr>
            <p:cNvSpPr/>
            <p:nvPr/>
          </p:nvSpPr>
          <p:spPr>
            <a:xfrm>
              <a:off x="1206094" y="1543208"/>
              <a:ext cx="2450592" cy="19202"/>
            </a:xfrm>
            <a:prstGeom prst="rect">
              <a:avLst/>
            </a:prstGeom>
            <a:solidFill>
              <a:srgbClr val="DBDEE2"/>
            </a:solidFill>
            <a:ln/>
          </p:spPr>
          <p:txBody>
            <a:bodyPr/>
            <a:lstStyle/>
            <a:p>
              <a:endParaRPr lang="de-DE"/>
            </a:p>
          </p:txBody>
        </p:sp>
      </p:grpSp>
      <p:sp>
        <p:nvSpPr>
          <p:cNvPr id="18" name="Text 15">
            <a:extLst>
              <a:ext uri="{FF2B5EF4-FFF2-40B4-BE49-F238E27FC236}">
                <a16:creationId xmlns:a16="http://schemas.microsoft.com/office/drawing/2014/main" id="{37B58CCC-869E-70F8-DBBB-D3008AFE245D}"/>
              </a:ext>
            </a:extLst>
          </p:cNvPr>
          <p:cNvSpPr/>
          <p:nvPr/>
        </p:nvSpPr>
        <p:spPr>
          <a:xfrm>
            <a:off x="838505"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 xml:space="preserve">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xml:space="preserve">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xml:space="preserve">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1" name="Gruppieren 50">
            <a:extLst>
              <a:ext uri="{FF2B5EF4-FFF2-40B4-BE49-F238E27FC236}">
                <a16:creationId xmlns:a16="http://schemas.microsoft.com/office/drawing/2014/main" id="{E1DF1117-ED2C-F815-4283-512EC161B396}"/>
              </a:ext>
            </a:extLst>
          </p:cNvPr>
          <p:cNvGrpSpPr/>
          <p:nvPr/>
        </p:nvGrpSpPr>
        <p:grpSpPr>
          <a:xfrm>
            <a:off x="4685995" y="1391247"/>
            <a:ext cx="2819095" cy="381305"/>
            <a:chOff x="4685995" y="1391247"/>
            <a:chExt cx="2819095" cy="381305"/>
          </a:xfrm>
        </p:grpSpPr>
        <p:sp>
          <p:nvSpPr>
            <p:cNvPr id="20" name="Text 17">
              <a:extLst>
                <a:ext uri="{FF2B5EF4-FFF2-40B4-BE49-F238E27FC236}">
                  <a16:creationId xmlns:a16="http://schemas.microsoft.com/office/drawing/2014/main" id="{4A74AC5B-8081-0105-FEF8-21F2AB8C3CB4}"/>
                </a:ext>
              </a:extLst>
            </p:cNvPr>
            <p:cNvSpPr/>
            <p:nvPr/>
          </p:nvSpPr>
          <p:spPr>
            <a:xfrm>
              <a:off x="4685995"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48C2227C-B444-6F31-BE01-07746C211DE5}"/>
                </a:ext>
              </a:extLst>
            </p:cNvPr>
            <p:cNvSpPr/>
            <p:nvPr/>
          </p:nvSpPr>
          <p:spPr>
            <a:xfrm>
              <a:off x="5054498" y="1543208"/>
              <a:ext cx="2450592" cy="19202"/>
            </a:xfrm>
            <a:prstGeom prst="rect">
              <a:avLst/>
            </a:prstGeom>
            <a:solidFill>
              <a:srgbClr val="DBDEE2"/>
            </a:solidFill>
            <a:ln/>
          </p:spPr>
          <p:txBody>
            <a:bodyPr/>
            <a:lstStyle/>
            <a:p>
              <a:endParaRPr lang="de-DE"/>
            </a:p>
          </p:txBody>
        </p:sp>
      </p:grpSp>
      <p:sp>
        <p:nvSpPr>
          <p:cNvPr id="22" name="Text 19">
            <a:extLst>
              <a:ext uri="{FF2B5EF4-FFF2-40B4-BE49-F238E27FC236}">
                <a16:creationId xmlns:a16="http://schemas.microsoft.com/office/drawing/2014/main" id="{8FB349CB-7CE5-0805-5005-721DCEC87515}"/>
              </a:ext>
            </a:extLst>
          </p:cNvPr>
          <p:cNvSpPr/>
          <p:nvPr/>
        </p:nvSpPr>
        <p:spPr>
          <a:xfrm>
            <a:off x="4685995" y="1541310"/>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2" name="Gruppieren 51">
            <a:extLst>
              <a:ext uri="{FF2B5EF4-FFF2-40B4-BE49-F238E27FC236}">
                <a16:creationId xmlns:a16="http://schemas.microsoft.com/office/drawing/2014/main" id="{38C85DA3-B449-5A99-42EB-45AD577D8A41}"/>
              </a:ext>
            </a:extLst>
          </p:cNvPr>
          <p:cNvGrpSpPr/>
          <p:nvPr/>
        </p:nvGrpSpPr>
        <p:grpSpPr>
          <a:xfrm>
            <a:off x="8534094" y="1391247"/>
            <a:ext cx="2818181" cy="381305"/>
            <a:chOff x="8534094" y="1391247"/>
            <a:chExt cx="2818181" cy="381305"/>
          </a:xfrm>
        </p:grpSpPr>
        <p:sp>
          <p:nvSpPr>
            <p:cNvPr id="24" name="Text 21">
              <a:extLst>
                <a:ext uri="{FF2B5EF4-FFF2-40B4-BE49-F238E27FC236}">
                  <a16:creationId xmlns:a16="http://schemas.microsoft.com/office/drawing/2014/main" id="{5138326C-55F9-C391-0AA6-8363869A3312}"/>
                </a:ext>
              </a:extLst>
            </p:cNvPr>
            <p:cNvSpPr/>
            <p:nvPr/>
          </p:nvSpPr>
          <p:spPr>
            <a:xfrm>
              <a:off x="8534094"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DF06B852-C3B8-A933-7DDC-D4C5066B1367}"/>
                </a:ext>
              </a:extLst>
            </p:cNvPr>
            <p:cNvSpPr/>
            <p:nvPr/>
          </p:nvSpPr>
          <p:spPr>
            <a:xfrm>
              <a:off x="8901683" y="1543208"/>
              <a:ext cx="2450592" cy="19202"/>
            </a:xfrm>
            <a:prstGeom prst="rect">
              <a:avLst/>
            </a:prstGeom>
            <a:solidFill>
              <a:srgbClr val="DBDEE2"/>
            </a:solidFill>
            <a:ln/>
          </p:spPr>
          <p:txBody>
            <a:bodyPr/>
            <a:lstStyle/>
            <a:p>
              <a:endParaRPr lang="de-DE"/>
            </a:p>
          </p:txBody>
        </p:sp>
      </p:grpSp>
      <p:sp>
        <p:nvSpPr>
          <p:cNvPr id="26" name="Text 23">
            <a:extLst>
              <a:ext uri="{FF2B5EF4-FFF2-40B4-BE49-F238E27FC236}">
                <a16:creationId xmlns:a16="http://schemas.microsoft.com/office/drawing/2014/main" id="{9611075A-C01C-B3FA-29DD-CFC18AFA4CE4}"/>
              </a:ext>
            </a:extLst>
          </p:cNvPr>
          <p:cNvSpPr/>
          <p:nvPr/>
        </p:nvSpPr>
        <p:spPr>
          <a:xfrm>
            <a:off x="8533180"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 xml:space="preserve">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xml:space="preserve">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9B988DCC-8D6F-AC80-C380-D4B3140CEAC7}"/>
                  </a:ext>
                </a:extLst>
              </p:cNvPr>
              <p:cNvSpPr txBox="1"/>
              <p:nvPr/>
            </p:nvSpPr>
            <p:spPr>
              <a:xfrm>
                <a:off x="3047238" y="3244334"/>
                <a:ext cx="609447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mtClean="0">
                          <a:latin typeface="Cambria Math" panose="02040503050406030204" pitchFamily="18" charset="0"/>
                        </a:rPr>
                        <m:t>∙</m:t>
                      </m:r>
                    </m:oMath>
                  </m:oMathPara>
                </a14:m>
                <a:endParaRPr lang="de-DE"/>
              </a:p>
            </p:txBody>
          </p:sp>
        </mc:Choice>
        <mc:Fallback xmlns="">
          <p:sp>
            <p:nvSpPr>
              <p:cNvPr id="39" name="Textfeld 38">
                <a:extLst>
                  <a:ext uri="{FF2B5EF4-FFF2-40B4-BE49-F238E27FC236}">
                    <a16:creationId xmlns:a16="http://schemas.microsoft.com/office/drawing/2014/main" id="{9B988DCC-8D6F-AC80-C380-D4B3140CEAC7}"/>
                  </a:ext>
                </a:extLst>
              </p:cNvPr>
              <p:cNvSpPr txBox="1">
                <a:spLocks noRot="1" noChangeAspect="1" noMove="1" noResize="1" noEditPoints="1" noAdjustHandles="1" noChangeArrowheads="1" noChangeShapeType="1" noTextEdit="1"/>
              </p:cNvSpPr>
              <p:nvPr/>
            </p:nvSpPr>
            <p:spPr>
              <a:xfrm>
                <a:off x="3047238" y="3244334"/>
                <a:ext cx="6094476" cy="369332"/>
              </a:xfrm>
              <a:prstGeom prst="rect">
                <a:avLst/>
              </a:prstGeom>
              <a:blipFill>
                <a:blip r:embed="rId3"/>
                <a:stretch>
                  <a:fillRect/>
                </a:stretch>
              </a:blipFill>
            </p:spPr>
            <p:txBody>
              <a:bodyPr/>
              <a:lstStyle/>
              <a:p>
                <a:r>
                  <a:rPr lang="en-US">
                    <a:noFill/>
                  </a:rPr>
                  <a:t> </a:t>
                </a:r>
              </a:p>
            </p:txBody>
          </p:sp>
        </mc:Fallback>
      </mc:AlternateContent>
      <p:grpSp>
        <p:nvGrpSpPr>
          <p:cNvPr id="49" name="Gruppieren 48">
            <a:extLst>
              <a:ext uri="{FF2B5EF4-FFF2-40B4-BE49-F238E27FC236}">
                <a16:creationId xmlns:a16="http://schemas.microsoft.com/office/drawing/2014/main" id="{D5997860-115B-5DA0-1459-E598ADA76A37}"/>
              </a:ext>
            </a:extLst>
          </p:cNvPr>
          <p:cNvGrpSpPr/>
          <p:nvPr/>
        </p:nvGrpSpPr>
        <p:grpSpPr>
          <a:xfrm>
            <a:off x="509287" y="3761773"/>
            <a:ext cx="11142000" cy="2910304"/>
            <a:chOff x="509287" y="3761773"/>
            <a:chExt cx="11142000" cy="2910304"/>
          </a:xfrm>
        </p:grpSpPr>
        <p:sp>
          <p:nvSpPr>
            <p:cNvPr id="35" name="Shape 20">
              <a:extLst>
                <a:ext uri="{FF2B5EF4-FFF2-40B4-BE49-F238E27FC236}">
                  <a16:creationId xmlns:a16="http://schemas.microsoft.com/office/drawing/2014/main" id="{104C78D8-7E69-2FD4-B7D1-02508CD1C9DF}"/>
                </a:ext>
              </a:extLst>
            </p:cNvPr>
            <p:cNvSpPr/>
            <p:nvPr/>
          </p:nvSpPr>
          <p:spPr>
            <a:xfrm>
              <a:off x="509287" y="3761773"/>
              <a:ext cx="11142000" cy="29103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27" name="Text 5">
                  <a:extLst>
                    <a:ext uri="{FF2B5EF4-FFF2-40B4-BE49-F238E27FC236}">
                      <a16:creationId xmlns:a16="http://schemas.microsoft.com/office/drawing/2014/main" id="{F300F6F1-63EF-EB25-19BB-4D465FDE9C89}"/>
                    </a:ext>
                  </a:extLst>
                </p:cNvPr>
                <p:cNvSpPr>
                  <a:spLocks noRot="1" noChangeAspect="1" noMove="1" noResize="1" noEditPoints="1" noAdjustHandles="1" noChangeArrowheads="1" noChangeShapeType="1" noTextEdit="1"/>
                </p:cNvSpPr>
                <p:nvPr/>
              </p:nvSpPr>
              <p:spPr>
                <a:xfrm>
                  <a:off x="888797" y="4500397"/>
                  <a:ext cx="381305" cy="609905"/>
                </a:xfrm>
                <a:prstGeom prst="rect">
                  <a:avLst/>
                </a:prstGeom>
                <a:blipFill>
                  <a:blip r:embed="rId4"/>
                  <a:stretch>
                    <a:fillRect/>
                  </a:stretch>
                </a:blipFill>
                <a:ln/>
              </p:spPr>
              <p:txBody>
                <a:bodyPr/>
                <a:lstStyle/>
                <a:p>
                  <a:r>
                    <a:rPr lang="en-US">
                      <a:noFill/>
                    </a:rPr>
                    <a:t> </a:t>
                  </a:r>
                </a:p>
              </p:txBody>
            </p:sp>
          </mc:Fallback>
        </mc:AlternateContent>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a:lnSpc>
                  <a:spcPct val="115000"/>
                </a:lnSpc>
              </a:pPr>
              <a:r>
                <a:rPr lang="en-US" sz="1400" err="1">
                  <a:solidFill>
                    <a:srgbClr val="F2EFDA"/>
                  </a:solidFill>
                  <a:latin typeface="Arial" pitchFamily="34" charset="0"/>
                  <a:ea typeface="Arial" pitchFamily="34" charset="-122"/>
                  <a:cs typeface="Arial" pitchFamily="34" charset="-120"/>
                </a:rPr>
                <a:t>Anwendung</a:t>
              </a:r>
              <a:r>
                <a:rPr lang="en-US" sz="1400">
                  <a:solidFill>
                    <a:srgbClr val="F2EFDA"/>
                  </a:solidFill>
                  <a:latin typeface="Arial" pitchFamily="34" charset="0"/>
                  <a:ea typeface="Arial" pitchFamily="34" charset="-122"/>
                  <a:cs typeface="Arial" pitchFamily="34" charset="-120"/>
                </a:rPr>
                <a:t xml:space="preserve"> der Mean-Reversion auf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zur</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individuellen</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Betrachtung</a:t>
              </a:r>
              <a:r>
                <a:rPr lang="en-US" sz="1400">
                  <a:solidFill>
                    <a:srgbClr val="F2EFDA"/>
                  </a:solidFill>
                  <a:latin typeface="Arial" pitchFamily="34" charset="0"/>
                  <a:ea typeface="Arial" pitchFamily="34" charset="-122"/>
                  <a:cs typeface="Arial" pitchFamily="34" charset="-120"/>
                </a:rPr>
                <a:t xml:space="preserve"> pro </a:t>
              </a:r>
              <a:r>
                <a:rPr lang="en-US" sz="1400" err="1">
                  <a:solidFill>
                    <a:srgbClr val="F2EFDA"/>
                  </a:solidFill>
                  <a:latin typeface="Arial" pitchFamily="34" charset="0"/>
                  <a:ea typeface="Arial" pitchFamily="34" charset="-122"/>
                  <a:cs typeface="Arial" pitchFamily="34" charset="-120"/>
                </a:rPr>
                <a:t>Unternehmen</a:t>
              </a:r>
              <a:endParaRPr lang="en-US" sz="140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Untersuchung</a:t>
              </a:r>
              <a:r>
                <a:rPr lang="en-US" sz="1400">
                  <a:solidFill>
                    <a:srgbClr val="F2EFDA"/>
                  </a:solidFill>
                  <a:latin typeface="Arial" pitchFamily="34" charset="0"/>
                  <a:ea typeface="Arial" pitchFamily="34" charset="-122"/>
                  <a:cs typeface="Arial" pitchFamily="34" charset="-120"/>
                </a:rPr>
                <a:t xml:space="preserve"> der Dynamik </a:t>
              </a:r>
              <a:r>
                <a:rPr lang="en-US" sz="1400" err="1">
                  <a:solidFill>
                    <a:srgbClr val="F2EFDA"/>
                  </a:solidFill>
                  <a:latin typeface="Arial" pitchFamily="34" charset="0"/>
                  <a:ea typeface="Arial" pitchFamily="34" charset="-122"/>
                  <a:cs typeface="Arial" pitchFamily="34" charset="-120"/>
                </a:rPr>
                <a:t>unterschiedlicher</a:t>
              </a:r>
              <a:r>
                <a:rPr lang="en-US" sz="1400">
                  <a:solidFill>
                    <a:srgbClr val="F2EFDA"/>
                  </a:solidFill>
                  <a:latin typeface="Arial" pitchFamily="34" charset="0"/>
                  <a:ea typeface="Arial" pitchFamily="34" charset="-122"/>
                  <a:cs typeface="Arial" pitchFamily="34" charset="-120"/>
                </a:rPr>
                <a:t xml:space="preserve"> </a:t>
              </a:r>
              <a:r>
                <a:rPr lang="en-US" sz="1400" err="1">
                  <a:solidFill>
                    <a:srgbClr val="F2EFDA"/>
                  </a:solidFill>
                  <a:latin typeface="Arial" pitchFamily="34" charset="0"/>
                  <a:ea typeface="Arial" pitchFamily="34" charset="-122"/>
                  <a:cs typeface="Arial" pitchFamily="34" charset="-120"/>
                </a:rPr>
                <a:t>Finanzkennzahlen</a:t>
              </a:r>
              <a:endParaRPr lang="en-US" sz="140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Einfluss</a:t>
              </a:r>
              <a:r>
                <a:rPr lang="en-US" sz="1400">
                  <a:solidFill>
                    <a:srgbClr val="F2EFDA"/>
                  </a:solidFill>
                  <a:latin typeface="Arial" pitchFamily="34" charset="0"/>
                  <a:ea typeface="Arial" pitchFamily="34" charset="-122"/>
                  <a:cs typeface="Arial" pitchFamily="34" charset="-120"/>
                </a:rPr>
                <a:t xml:space="preserve"> der </a:t>
              </a:r>
              <a:r>
                <a:rPr lang="en-US" sz="1400" err="1">
                  <a:solidFill>
                    <a:srgbClr val="F2EFDA"/>
                  </a:solidFill>
                  <a:latin typeface="Arial" pitchFamily="34" charset="0"/>
                  <a:ea typeface="Arial" pitchFamily="34" charset="-122"/>
                  <a:cs typeface="Arial" pitchFamily="34" charset="-120"/>
                </a:rPr>
                <a:t>Strukturmerkmale</a:t>
              </a:r>
              <a:r>
                <a:rPr lang="en-US" sz="1400">
                  <a:solidFill>
                    <a:srgbClr val="F2EFDA"/>
                  </a:solidFill>
                  <a:latin typeface="Arial" pitchFamily="34" charset="0"/>
                  <a:ea typeface="Arial" pitchFamily="34" charset="-122"/>
                  <a:cs typeface="Arial" pitchFamily="34" charset="-120"/>
                </a:rPr>
                <a:t xml:space="preserve"> auf Mean-Reversion und </a:t>
              </a:r>
              <a:r>
                <a:rPr lang="en-US" sz="1400" err="1">
                  <a:solidFill>
                    <a:srgbClr val="F2EFDA"/>
                  </a:solidFill>
                  <a:latin typeface="Arial" pitchFamily="34" charset="0"/>
                  <a:ea typeface="Arial" pitchFamily="34" charset="-122"/>
                  <a:cs typeface="Arial" pitchFamily="34" charset="-120"/>
                </a:rPr>
                <a:t>Volatilität</a:t>
              </a:r>
              <a:endParaRPr lang="en-US" sz="1400">
                <a:solidFill>
                  <a:srgbClr val="FF0000"/>
                </a:solidFill>
              </a:endParaRPr>
            </a:p>
          </p:txBody>
        </p:sp>
        <p:sp>
          <p:nvSpPr>
            <p:cNvPr id="36" name="Textfeld 35">
              <a:extLst>
                <a:ext uri="{FF2B5EF4-FFF2-40B4-BE49-F238E27FC236}">
                  <a16:creationId xmlns:a16="http://schemas.microsoft.com/office/drawing/2014/main" id="{A130EE69-BC72-68AF-30E8-B49AB542B86C}"/>
                </a:ext>
              </a:extLst>
            </p:cNvPr>
            <p:cNvSpPr txBox="1"/>
            <p:nvPr/>
          </p:nvSpPr>
          <p:spPr>
            <a:xfrm>
              <a:off x="686001" y="3900253"/>
              <a:ext cx="2970685" cy="461665"/>
            </a:xfrm>
            <a:prstGeom prst="rect">
              <a:avLst/>
            </a:prstGeom>
            <a:noFill/>
          </p:spPr>
          <p:txBody>
            <a:bodyPr wrap="none" rtlCol="0">
              <a:spAutoFit/>
            </a:bodyPr>
            <a:lstStyle/>
            <a:p>
              <a:r>
                <a:rPr lang="de-DE" sz="2400" b="1">
                  <a:solidFill>
                    <a:srgbClr val="78A2F9"/>
                  </a:solidFill>
                  <a:latin typeface="Arial" pitchFamily="34" charset="0"/>
                  <a:cs typeface="Arial" pitchFamily="34" charset="-120"/>
                </a:rPr>
                <a:t>Forschungsbeitrag</a:t>
              </a:r>
            </a:p>
          </p:txBody>
        </p:sp>
        <mc:AlternateContent xmlns:mc="http://schemas.openxmlformats.org/markup-compatibility/2006" xmlns:a14="http://schemas.microsoft.com/office/drawing/2010/main">
          <mc:Choice Requires="a14">
            <p:sp>
              <p:nvSpPr>
                <p:cNvPr id="40" name="Text 5">
                  <a:extLst>
                    <a:ext uri="{FF2B5EF4-FFF2-40B4-BE49-F238E27FC236}">
                      <a16:creationId xmlns:a16="http://schemas.microsoft.com/office/drawing/2014/main" id="{52838BB0-C7CE-EFCA-FE68-111E396272EE}"/>
                    </a:ext>
                  </a:extLst>
                </p:cNvPr>
                <p:cNvSpPr/>
                <p:nvPr/>
              </p:nvSpPr>
              <p:spPr>
                <a:xfrm>
                  <a:off x="888796" y="51861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0" name="Text 5">
                  <a:extLst>
                    <a:ext uri="{FF2B5EF4-FFF2-40B4-BE49-F238E27FC236}">
                      <a16:creationId xmlns:a16="http://schemas.microsoft.com/office/drawing/2014/main" id="{52838BB0-C7CE-EFCA-FE68-111E396272EE}"/>
                    </a:ext>
                  </a:extLst>
                </p:cNvPr>
                <p:cNvSpPr>
                  <a:spLocks noRot="1" noChangeAspect="1" noMove="1" noResize="1" noEditPoints="1" noAdjustHandles="1" noChangeArrowheads="1" noChangeShapeType="1" noTextEdit="1"/>
                </p:cNvSpPr>
                <p:nvPr/>
              </p:nvSpPr>
              <p:spPr>
                <a:xfrm>
                  <a:off x="888796" y="5186197"/>
                  <a:ext cx="381305" cy="609905"/>
                </a:xfrm>
                <a:prstGeom prst="rect">
                  <a:avLst/>
                </a:prstGeom>
                <a:blipFill>
                  <a:blip r:embed="rId5"/>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5">
                  <a:extLst>
                    <a:ext uri="{FF2B5EF4-FFF2-40B4-BE49-F238E27FC236}">
                      <a16:creationId xmlns:a16="http://schemas.microsoft.com/office/drawing/2014/main" id="{173030AA-CE19-5411-C01F-5B1E6F9672A4}"/>
                    </a:ext>
                  </a:extLst>
                </p:cNvPr>
                <p:cNvSpPr/>
                <p:nvPr/>
              </p:nvSpPr>
              <p:spPr>
                <a:xfrm>
                  <a:off x="888796" y="58719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1" name="Text 5">
                  <a:extLst>
                    <a:ext uri="{FF2B5EF4-FFF2-40B4-BE49-F238E27FC236}">
                      <a16:creationId xmlns:a16="http://schemas.microsoft.com/office/drawing/2014/main" id="{173030AA-CE19-5411-C01F-5B1E6F9672A4}"/>
                    </a:ext>
                  </a:extLst>
                </p:cNvPr>
                <p:cNvSpPr>
                  <a:spLocks noRot="1" noChangeAspect="1" noMove="1" noResize="1" noEditPoints="1" noAdjustHandles="1" noChangeArrowheads="1" noChangeShapeType="1" noTextEdit="1"/>
                </p:cNvSpPr>
                <p:nvPr/>
              </p:nvSpPr>
              <p:spPr>
                <a:xfrm>
                  <a:off x="888796" y="5871997"/>
                  <a:ext cx="381305" cy="609905"/>
                </a:xfrm>
                <a:prstGeom prst="rect">
                  <a:avLst/>
                </a:prstGeom>
                <a:blipFill>
                  <a:blip r:embed="rId4"/>
                  <a:stretch>
                    <a:fillRect/>
                  </a:stretch>
                </a:blipFill>
                <a:ln/>
              </p:spPr>
              <p:txBody>
                <a:bodyPr/>
                <a:lstStyle/>
                <a:p>
                  <a:r>
                    <a:rPr lang="en-US">
                      <a:noFill/>
                    </a:rPr>
                    <a:t> </a:t>
                  </a:r>
                </a:p>
              </p:txBody>
            </p:sp>
          </mc:Fallback>
        </mc:AlternateContent>
      </p:grpSp>
      <p:cxnSp>
        <p:nvCxnSpPr>
          <p:cNvPr id="43" name="Gerade Verbindung mit Pfeil 42">
            <a:extLst>
              <a:ext uri="{FF2B5EF4-FFF2-40B4-BE49-F238E27FC236}">
                <a16:creationId xmlns:a16="http://schemas.microsoft.com/office/drawing/2014/main" id="{F9F5C56D-E0DE-A2DC-10A6-8AC066BCD89F}"/>
              </a:ext>
            </a:extLst>
          </p:cNvPr>
          <p:cNvCxnSpPr>
            <a:stCxn id="15" idx="2"/>
          </p:cNvCxnSpPr>
          <p:nvPr/>
        </p:nvCxnSpPr>
        <p:spPr>
          <a:xfrm>
            <a:off x="2247596"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2F72D3AB-A6D2-479F-A087-1780EA8BCE0C}"/>
              </a:ext>
            </a:extLst>
          </p:cNvPr>
          <p:cNvCxnSpPr>
            <a:cxnSpLocks/>
          </p:cNvCxnSpPr>
          <p:nvPr/>
        </p:nvCxnSpPr>
        <p:spPr>
          <a:xfrm>
            <a:off x="6078459"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3970CE8D-0B3C-24B8-2B18-D9D0C78FEC07}"/>
              </a:ext>
            </a:extLst>
          </p:cNvPr>
          <p:cNvCxnSpPr>
            <a:cxnSpLocks/>
          </p:cNvCxnSpPr>
          <p:nvPr/>
        </p:nvCxnSpPr>
        <p:spPr>
          <a:xfrm>
            <a:off x="9981286" y="3189743"/>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03 / 13</a:t>
            </a:r>
            <a:endParaRPr lang="en-US" sz="1200"/>
          </a:p>
        </p:txBody>
      </p:sp>
      <p:sp>
        <p:nvSpPr>
          <p:cNvPr id="6" name="Text 3"/>
          <p:cNvSpPr/>
          <p:nvPr/>
        </p:nvSpPr>
        <p:spPr>
          <a:xfrm>
            <a:off x="634594" y="761695"/>
            <a:ext cx="10921594" cy="495605"/>
          </a:xfrm>
          <a:prstGeom prst="rect">
            <a:avLst/>
          </a:prstGeom>
          <a:noFill/>
          <a:ln/>
        </p:spPr>
        <p:txBody>
          <a:bodyPr wrap="square" rtlCol="0" anchor="t"/>
          <a:lstStyle/>
          <a:p>
            <a:pPr marL="0" indent="0" algn="ctr">
              <a:lnSpc>
                <a:spcPct val="100000"/>
              </a:lnSpc>
              <a:buNone/>
            </a:pPr>
            <a:r>
              <a:rPr lang="en-US" sz="2600" b="1" kern="0" spc="-50" err="1">
                <a:solidFill>
                  <a:srgbClr val="F2EFDA"/>
                </a:solidFill>
                <a:latin typeface="Arial" pitchFamily="34" charset="0"/>
                <a:ea typeface="Arial" pitchFamily="34" charset="-122"/>
                <a:cs typeface="Arial" pitchFamily="34" charset="-120"/>
              </a:rPr>
              <a:t>Filterkette</a:t>
            </a:r>
            <a:r>
              <a:rPr lang="en-US" sz="2600" b="1" kern="0" spc="-50">
                <a:solidFill>
                  <a:srgbClr val="F2EFDA"/>
                </a:solidFill>
                <a:latin typeface="Arial" pitchFamily="34" charset="0"/>
                <a:ea typeface="Arial" pitchFamily="34" charset="-122"/>
                <a:cs typeface="Arial" pitchFamily="34" charset="-120"/>
              </a:rPr>
              <a:t xml:space="preserve"> für </a:t>
            </a:r>
            <a:r>
              <a:rPr lang="en-US" sz="2600" b="1" kern="0" spc="-50" err="1">
                <a:solidFill>
                  <a:srgbClr val="78A2F9"/>
                </a:solidFill>
                <a:latin typeface="Arial" pitchFamily="34" charset="0"/>
                <a:ea typeface="Arial" pitchFamily="34" charset="-122"/>
                <a:cs typeface="Arial" pitchFamily="34" charset="-120"/>
              </a:rPr>
              <a:t>Datenqualität</a:t>
            </a:r>
            <a:endParaRPr lang="en-US" sz="2600">
              <a:solidFill>
                <a:srgbClr val="78A2F9"/>
              </a:solidFill>
            </a:endParaRPr>
          </a:p>
        </p:txBody>
      </p:sp>
      <p:sp>
        <p:nvSpPr>
          <p:cNvPr id="18" name="Shape 15"/>
          <p:cNvSpPr/>
          <p:nvPr/>
        </p:nvSpPr>
        <p:spPr>
          <a:xfrm>
            <a:off x="6493760" y="1730043"/>
            <a:ext cx="5298484" cy="3129157"/>
          </a:xfrm>
          <a:prstGeom prst="roundRect">
            <a:avLst>
              <a:gd name="adj" fmla="val 11100"/>
            </a:avLst>
          </a:prstGeom>
          <a:solidFill>
            <a:srgbClr val="1E402E"/>
          </a:solidFill>
          <a:ln w="12700">
            <a:solidFill>
              <a:srgbClr val="4A6D56"/>
            </a:solidFill>
            <a:prstDash val="solid"/>
          </a:ln>
        </p:spPr>
        <p:txBody>
          <a:bodyPr/>
          <a:lstStyle/>
          <a:p>
            <a:endParaRPr lang="de-DE">
              <a:solidFill>
                <a:srgbClr val="F3EFDA"/>
              </a:solidFill>
            </a:endParaRPr>
          </a:p>
        </p:txBody>
      </p:sp>
      <p:sp>
        <p:nvSpPr>
          <p:cNvPr id="21" name="Shape 18"/>
          <p:cNvSpPr/>
          <p:nvPr/>
        </p:nvSpPr>
        <p:spPr>
          <a:xfrm>
            <a:off x="6517210" y="5143248"/>
            <a:ext cx="2308586" cy="1166353"/>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p:cNvSpPr/>
          <p:nvPr/>
        </p:nvSpPr>
        <p:spPr>
          <a:xfrm>
            <a:off x="6781722" y="5295953"/>
            <a:ext cx="1865766" cy="777845"/>
          </a:xfrm>
          <a:prstGeom prst="rect">
            <a:avLst/>
          </a:prstGeom>
          <a:noFill/>
          <a:ln/>
        </p:spPr>
        <p:txBody>
          <a:bodyPr wrap="square" rtlCol="0" anchor="t"/>
          <a:lstStyle/>
          <a:p>
            <a:pPr marL="0" indent="0" algn="ctr">
              <a:lnSpc>
                <a:spcPct val="105000"/>
              </a:lnSpc>
              <a:buNone/>
            </a:pPr>
            <a:r>
              <a:rPr lang="en-US" sz="2600" b="1">
                <a:solidFill>
                  <a:srgbClr val="F2EFDA"/>
                </a:solidFill>
                <a:latin typeface="Courier New" pitchFamily="34" charset="0"/>
                <a:ea typeface="Courier New" pitchFamily="34" charset="-122"/>
                <a:cs typeface="Courier New" pitchFamily="34" charset="-120"/>
              </a:rPr>
              <a:t>7</a:t>
            </a:r>
            <a:endParaRPr lang="en-US" sz="2600"/>
          </a:p>
        </p:txBody>
      </p:sp>
      <p:sp>
        <p:nvSpPr>
          <p:cNvPr id="23" name="Text 20"/>
          <p:cNvSpPr/>
          <p:nvPr/>
        </p:nvSpPr>
        <p:spPr>
          <a:xfrm>
            <a:off x="6781722" y="5778757"/>
            <a:ext cx="1865766" cy="332905"/>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r>
              <a:rPr lang="en-US" sz="1200" dirty="0">
                <a:solidFill>
                  <a:srgbClr val="B3BC9A"/>
                </a:solidFill>
                <a:latin typeface="Arial" pitchFamily="34" charset="0"/>
                <a:ea typeface="Arial" pitchFamily="34" charset="-122"/>
                <a:cs typeface="Arial" pitchFamily="34" charset="-120"/>
              </a:rPr>
              <a:t xml:space="preserve"> </a:t>
            </a:r>
            <a:r>
              <a:rPr lang="en-US" sz="1200" dirty="0" err="1">
                <a:solidFill>
                  <a:srgbClr val="B3BC9A"/>
                </a:solidFill>
                <a:latin typeface="Arial" pitchFamily="34" charset="0"/>
                <a:ea typeface="Arial" pitchFamily="34" charset="-122"/>
                <a:cs typeface="Arial" pitchFamily="34" charset="-120"/>
              </a:rPr>
              <a:t>ohne</a:t>
            </a:r>
            <a:r>
              <a:rPr lang="en-US" sz="1200" dirty="0">
                <a:solidFill>
                  <a:srgbClr val="B3BC9A"/>
                </a:solidFill>
                <a:latin typeface="Arial" pitchFamily="34" charset="0"/>
                <a:ea typeface="Arial" pitchFamily="34" charset="-122"/>
                <a:cs typeface="Arial" pitchFamily="34" charset="-120"/>
              </a:rPr>
              <a:t xml:space="preserve"> </a:t>
            </a:r>
            <a:r>
              <a:rPr lang="en-US" sz="1200" dirty="0" err="1">
                <a:solidFill>
                  <a:srgbClr val="B3BC9A"/>
                </a:solidFill>
                <a:latin typeface="Arial" pitchFamily="34" charset="0"/>
                <a:ea typeface="Arial" pitchFamily="34" charset="-122"/>
                <a:cs typeface="Arial" pitchFamily="34" charset="-120"/>
              </a:rPr>
              <a:t>Ausreißer</a:t>
            </a:r>
            <a:endParaRPr lang="en-US" sz="1200" dirty="0"/>
          </a:p>
        </p:txBody>
      </p:sp>
      <p:grpSp>
        <p:nvGrpSpPr>
          <p:cNvPr id="4" name="Gruppieren 3">
            <a:extLst>
              <a:ext uri="{FF2B5EF4-FFF2-40B4-BE49-F238E27FC236}">
                <a16:creationId xmlns:a16="http://schemas.microsoft.com/office/drawing/2014/main" id="{875E9B17-88F9-7450-14EE-80A82D92FC17}"/>
              </a:ext>
            </a:extLst>
          </p:cNvPr>
          <p:cNvGrpSpPr/>
          <p:nvPr/>
        </p:nvGrpSpPr>
        <p:grpSpPr>
          <a:xfrm>
            <a:off x="9090308" y="5143247"/>
            <a:ext cx="2701936" cy="1166354"/>
            <a:chOff x="9090308" y="5143247"/>
            <a:chExt cx="2701936" cy="1166354"/>
          </a:xfrm>
        </p:grpSpPr>
        <p:sp>
          <p:nvSpPr>
            <p:cNvPr id="24" name="Shape 21"/>
            <p:cNvSpPr/>
            <p:nvPr/>
          </p:nvSpPr>
          <p:spPr>
            <a:xfrm>
              <a:off x="9090308" y="5143247"/>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p:cNvSpPr/>
            <p:nvPr/>
          </p:nvSpPr>
          <p:spPr>
            <a:xfrm>
              <a:off x="9355958" y="5295951"/>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p:cNvSpPr/>
            <p:nvPr/>
          </p:nvSpPr>
          <p:spPr>
            <a:xfrm>
              <a:off x="9355958" y="5778755"/>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pSp>
        <p:nvGrpSpPr>
          <p:cNvPr id="41" name="Gruppieren 40">
            <a:extLst>
              <a:ext uri="{FF2B5EF4-FFF2-40B4-BE49-F238E27FC236}">
                <a16:creationId xmlns:a16="http://schemas.microsoft.com/office/drawing/2014/main" id="{99382E20-8895-FB84-CB5A-BA43FE06AAAC}"/>
              </a:ext>
            </a:extLst>
          </p:cNvPr>
          <p:cNvGrpSpPr/>
          <p:nvPr/>
        </p:nvGrpSpPr>
        <p:grpSpPr>
          <a:xfrm>
            <a:off x="341036" y="1730044"/>
            <a:ext cx="5779249" cy="4366262"/>
            <a:chOff x="341036" y="1730044"/>
            <a:chExt cx="5779249" cy="4366262"/>
          </a:xfrm>
        </p:grpSpPr>
        <p:sp>
          <p:nvSpPr>
            <p:cNvPr id="35" name="Shape 16">
              <a:extLst>
                <a:ext uri="{FF2B5EF4-FFF2-40B4-BE49-F238E27FC236}">
                  <a16:creationId xmlns:a16="http://schemas.microsoft.com/office/drawing/2014/main" id="{348D57E5-985C-505A-706B-DE2174DEE793}"/>
                </a:ext>
              </a:extLst>
            </p:cNvPr>
            <p:cNvSpPr/>
            <p:nvPr/>
          </p:nvSpPr>
          <p:spPr>
            <a:xfrm>
              <a:off x="341036" y="1730044"/>
              <a:ext cx="5779249" cy="436626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7" name="Shape 4"/>
            <p:cNvSpPr/>
            <p:nvPr/>
          </p:nvSpPr>
          <p:spPr>
            <a:xfrm>
              <a:off x="634594" y="1904695"/>
              <a:ext cx="5206594" cy="457200"/>
            </a:xfrm>
            <a:prstGeom prst="rect">
              <a:avLst/>
            </a:prstGeom>
            <a:solidFill>
              <a:srgbClr val="2B513D"/>
            </a:solidFill>
            <a:ln/>
          </p:spPr>
          <p:txBody>
            <a:bodyPr/>
            <a:lstStyle/>
            <a:p>
              <a:endParaRPr lang="de-DE"/>
            </a:p>
          </p:txBody>
        </p:sp>
        <p:sp>
          <p:nvSpPr>
            <p:cNvPr id="8" name="Text 5"/>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Unternehmen mit Bilanz, GuV &amp; Cashflow</a:t>
              </a:r>
              <a:endParaRPr lang="en-US" sz="1200"/>
            </a:p>
          </p:txBody>
        </p:sp>
        <p:sp>
          <p:nvSpPr>
            <p:cNvPr id="9" name="Text 6"/>
            <p:cNvSpPr/>
            <p:nvPr/>
          </p:nvSpPr>
          <p:spPr>
            <a:xfrm>
              <a:off x="4556034" y="1904695"/>
              <a:ext cx="1270102" cy="457200"/>
            </a:xfrm>
            <a:prstGeom prst="rect">
              <a:avLst/>
            </a:prstGeom>
            <a:noFill/>
            <a:ln/>
          </p:spPr>
          <p:txBody>
            <a:bodyPr wrap="square" rtlCol="0" anchor="ctr"/>
            <a:lstStyle/>
            <a:p>
              <a:pPr algn="r">
                <a:lnSpc>
                  <a:spcPct val="105000"/>
                </a:lnSpc>
              </a:pPr>
              <a:r>
                <a:rPr lang="en-US" sz="1700" b="1">
                  <a:solidFill>
                    <a:srgbClr val="78A2F9"/>
                  </a:solidFill>
                  <a:latin typeface="Courier New" pitchFamily="34" charset="0"/>
                  <a:cs typeface="Courier New" pitchFamily="34" charset="-120"/>
                </a:rPr>
                <a:t>5.871</a:t>
              </a:r>
            </a:p>
          </p:txBody>
        </p:sp>
        <p:sp>
          <p:nvSpPr>
            <p:cNvPr id="15" name="Text 12"/>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a:solidFill>
                    <a:srgbClr val="092E1D"/>
                  </a:solidFill>
                  <a:latin typeface="Arial" pitchFamily="34" charset="0"/>
                  <a:ea typeface="Arial" pitchFamily="34" charset="-122"/>
                  <a:cs typeface="Arial" pitchFamily="34" charset="-120"/>
                </a:rPr>
                <a:t>Finale Stichprobe</a:t>
              </a:r>
              <a:endParaRPr lang="en-US" sz="1200"/>
            </a:p>
          </p:txBody>
        </p:sp>
        <p:sp>
          <p:nvSpPr>
            <p:cNvPr id="30" name="Shape 4">
              <a:extLst>
                <a:ext uri="{FF2B5EF4-FFF2-40B4-BE49-F238E27FC236}">
                  <a16:creationId xmlns:a16="http://schemas.microsoft.com/office/drawing/2014/main" id="{269889F2-24E1-C3BB-ADC4-6D219639DC73}"/>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F61D5EB5-456D-E278-FEE2-7FE120AD779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 xml:space="preserve">Finale </a:t>
              </a:r>
              <a:r>
                <a:rPr lang="en-US" sz="1200" b="1" err="1">
                  <a:solidFill>
                    <a:srgbClr val="F2EFDA"/>
                  </a:solidFill>
                  <a:latin typeface="Arial" pitchFamily="34" charset="0"/>
                  <a:ea typeface="Arial" pitchFamily="34" charset="-122"/>
                  <a:cs typeface="Arial" pitchFamily="34" charset="-120"/>
                </a:rPr>
                <a:t>Stichprobe</a:t>
              </a:r>
              <a:endParaRPr lang="en-US" sz="1200"/>
            </a:p>
          </p:txBody>
        </p:sp>
        <p:sp>
          <p:nvSpPr>
            <p:cNvPr id="16" name="Text 13"/>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a:solidFill>
                    <a:srgbClr val="78A2F9"/>
                  </a:solidFill>
                  <a:latin typeface="Courier New" pitchFamily="34" charset="0"/>
                  <a:ea typeface="Courier New" pitchFamily="34" charset="-122"/>
                  <a:cs typeface="Courier New" pitchFamily="34" charset="-120"/>
                </a:rPr>
                <a:t>932</a:t>
              </a:r>
              <a:endParaRPr lang="en-US" sz="1700">
                <a:solidFill>
                  <a:srgbClr val="78A2F9"/>
                </a:solidFill>
              </a:endParaRPr>
            </a:p>
          </p:txBody>
        </p:sp>
      </p:grpSp>
      <p:graphicFrame>
        <p:nvGraphicFramePr>
          <p:cNvPr id="34" name="Tabelle 33">
            <a:extLst>
              <a:ext uri="{FF2B5EF4-FFF2-40B4-BE49-F238E27FC236}">
                <a16:creationId xmlns:a16="http://schemas.microsoft.com/office/drawing/2014/main" id="{E7176041-190C-FA1B-1488-71AC7A54F4D2}"/>
              </a:ext>
            </a:extLst>
          </p:cNvPr>
          <p:cNvGraphicFramePr>
            <a:graphicFrameLocks noGrp="1"/>
          </p:cNvGraphicFramePr>
          <p:nvPr>
            <p:extLst>
              <p:ext uri="{D42A27DB-BD31-4B8C-83A1-F6EECF244321}">
                <p14:modId xmlns:p14="http://schemas.microsoft.com/office/powerpoint/2010/main" val="4237828810"/>
              </p:ext>
            </p:extLst>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ctr">
                        <a:lnSpc>
                          <a:spcPct val="130000"/>
                        </a:lnSpc>
                        <a:spcBef>
                          <a:spcPts val="600"/>
                        </a:spcBef>
                        <a:buNone/>
                      </a:pPr>
                      <a:r>
                        <a:rPr lang="nb-NO" sz="1200" kern="1200">
                          <a:solidFill>
                            <a:srgbClr val="B3BC9A"/>
                          </a:solidFill>
                          <a:latin typeface="Arial" pitchFamily="34" charset="0"/>
                          <a:cs typeface="Arial" pitchFamily="34" charset="-120"/>
                        </a:rPr>
                        <a:t>Sektor-Filter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883</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47583215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ADR-Filter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5776230"/>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Vollständigkeitsfilter (100 Quartale)</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62203985"/>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Outlier-Detection</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2056506140"/>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NaN</a:t>
                      </a:r>
                      <a:r>
                        <a:rPr lang="de-DE" sz="1200" kern="1200">
                          <a:solidFill>
                            <a:srgbClr val="B3BC9A"/>
                          </a:solidFill>
                          <a:latin typeface="Arial" pitchFamily="34" charset="0"/>
                          <a:cs typeface="Arial" pitchFamily="34" charset="-120"/>
                        </a:rPr>
                        <a:t>-/Qualitätsfilter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44</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26919884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765662456"/>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Winsorisierung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719891346"/>
                  </a:ext>
                </a:extLst>
              </a:tr>
            </a:tbl>
          </a:graphicData>
        </a:graphic>
      </p:graphicFrame>
      <p:sp>
        <p:nvSpPr>
          <p:cNvPr id="36" name="Textfeld 35">
            <a:extLst>
              <a:ext uri="{FF2B5EF4-FFF2-40B4-BE49-F238E27FC236}">
                <a16:creationId xmlns:a16="http://schemas.microsoft.com/office/drawing/2014/main" id="{FE34ABDE-D9D2-8B5B-C910-E70B69B7F15E}"/>
              </a:ext>
            </a:extLst>
          </p:cNvPr>
          <p:cNvSpPr txBox="1"/>
          <p:nvPr/>
        </p:nvSpPr>
        <p:spPr>
          <a:xfrm>
            <a:off x="6216120" y="5530986"/>
            <a:ext cx="277640" cy="307777"/>
          </a:xfrm>
          <a:prstGeom prst="rect">
            <a:avLst/>
          </a:prstGeom>
          <a:noFill/>
        </p:spPr>
        <p:txBody>
          <a:bodyPr wrap="none" rtlCol="0">
            <a:spAutoFit/>
          </a:bodyPr>
          <a:lstStyle/>
          <a:p>
            <a:r>
              <a:rPr lang="de-DE" sz="1400">
                <a:solidFill>
                  <a:srgbClr val="F3EFDA"/>
                </a:solidFill>
              </a:rPr>
              <a:t>X</a:t>
            </a:r>
          </a:p>
        </p:txBody>
      </p:sp>
      <p:sp>
        <p:nvSpPr>
          <p:cNvPr id="38" name="Textfeld 37">
            <a:extLst>
              <a:ext uri="{FF2B5EF4-FFF2-40B4-BE49-F238E27FC236}">
                <a16:creationId xmlns:a16="http://schemas.microsoft.com/office/drawing/2014/main" id="{C27E94C8-1375-3175-68CA-8D6233FDD11C}"/>
              </a:ext>
            </a:extLst>
          </p:cNvPr>
          <p:cNvSpPr txBox="1"/>
          <p:nvPr/>
        </p:nvSpPr>
        <p:spPr>
          <a:xfrm>
            <a:off x="8838317" y="5609009"/>
            <a:ext cx="274434" cy="307777"/>
          </a:xfrm>
          <a:prstGeom prst="rect">
            <a:avLst/>
          </a:prstGeom>
          <a:noFill/>
        </p:spPr>
        <p:txBody>
          <a:bodyPr wrap="none" rtlCol="0">
            <a:spAutoFit/>
          </a:bodyPr>
          <a:lstStyle/>
          <a:p>
            <a:r>
              <a:rPr lang="de-DE" sz="1400">
                <a:solidFill>
                  <a:srgbClr val="F3EFDA"/>
                </a:solidFill>
              </a:rPr>
              <a:t>=</a:t>
            </a:r>
          </a:p>
        </p:txBody>
      </p:sp>
      <p:pic>
        <p:nvPicPr>
          <p:cNvPr id="40" name="Grafik 39">
            <a:extLst>
              <a:ext uri="{FF2B5EF4-FFF2-40B4-BE49-F238E27FC236}">
                <a16:creationId xmlns:a16="http://schemas.microsoft.com/office/drawing/2014/main" id="{D066B4EF-CF18-91A1-7017-A86AE285C374}"/>
              </a:ext>
            </a:extLst>
          </p:cNvPr>
          <p:cNvPicPr>
            <a:picLocks noChangeAspect="1"/>
          </p:cNvPicPr>
          <p:nvPr/>
        </p:nvPicPr>
        <p:blipFill>
          <a:blip r:embed="rId3"/>
          <a:srcRect l="9912" t="11882" r="47705" b="43348"/>
          <a:stretch>
            <a:fillRect/>
          </a:stretch>
        </p:blipFill>
        <p:spPr>
          <a:xfrm>
            <a:off x="6742971" y="2007110"/>
            <a:ext cx="4757738" cy="2570722"/>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1000"/>
                                        <p:tgtEl>
                                          <p:spTgt spid="40"/>
                                        </p:tgtEl>
                                      </p:cBhvr>
                                    </p:animEffect>
                                    <p:anim calcmode="lin" valueType="num">
                                      <p:cBhvr>
                                        <p:cTn id="35" dur="1000" fill="hold"/>
                                        <p:tgtEl>
                                          <p:spTgt spid="40"/>
                                        </p:tgtEl>
                                        <p:attrNameLst>
                                          <p:attrName>ppt_x</p:attrName>
                                        </p:attrNameLst>
                                      </p:cBhvr>
                                      <p:tavLst>
                                        <p:tav tm="0">
                                          <p:val>
                                            <p:strVal val="#ppt_x"/>
                                          </p:val>
                                        </p:tav>
                                        <p:tav tm="100000">
                                          <p:val>
                                            <p:strVal val="#ppt_x"/>
                                          </p:val>
                                        </p:tav>
                                      </p:tavLst>
                                    </p:anim>
                                    <p:anim calcmode="lin" valueType="num">
                                      <p:cBhvr>
                                        <p:cTn id="36" dur="1000" fill="hold"/>
                                        <p:tgtEl>
                                          <p:spTgt spid="4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1000"/>
                                        <p:tgtEl>
                                          <p:spTgt spid="18"/>
                                        </p:tgtEl>
                                      </p:cBhvr>
                                    </p:animEffect>
                                    <p:anim calcmode="lin" valueType="num">
                                      <p:cBhvr>
                                        <p:cTn id="40" dur="1000" fill="hold"/>
                                        <p:tgtEl>
                                          <p:spTgt spid="18"/>
                                        </p:tgtEl>
                                        <p:attrNameLst>
                                          <p:attrName>ppt_x</p:attrName>
                                        </p:attrNameLst>
                                      </p:cBhvr>
                                      <p:tavLst>
                                        <p:tav tm="0">
                                          <p:val>
                                            <p:strVal val="#ppt_x"/>
                                          </p:val>
                                        </p:tav>
                                        <p:tav tm="100000">
                                          <p:val>
                                            <p:strVal val="#ppt_x"/>
                                          </p:val>
                                        </p:tav>
                                      </p:tavLst>
                                    </p:anim>
                                    <p:anim calcmode="lin" valueType="num">
                                      <p:cBhvr>
                                        <p:cTn id="4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3" grpId="0" animBg="1"/>
      <p:bldP spid="36"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 xml:space="preserve">AR (1) auf </a:t>
            </a:r>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xml:space="preserve"> </a:t>
            </a:r>
            <a:r>
              <a:rPr lang="en-US" sz="2100" b="1" kern="0" spc="-50" dirty="0" err="1">
                <a:solidFill>
                  <a:srgbClr val="F2EFDA"/>
                </a:solidFill>
                <a:latin typeface="Arial" pitchFamily="34" charset="0"/>
                <a:ea typeface="Arial" pitchFamily="34" charset="-122"/>
                <a:cs typeface="Arial" pitchFamily="34" charset="-120"/>
              </a:rPr>
              <a:t>Differenzen</a:t>
            </a:r>
            <a:endParaRPr lang="en-US" sz="2100" dirty="0"/>
          </a:p>
        </p:txBody>
      </p:sp>
      <p:sp>
        <p:nvSpPr>
          <p:cNvPr id="7" name="Shape 4"/>
          <p:cNvSpPr/>
          <p:nvPr/>
        </p:nvSpPr>
        <p:spPr>
          <a:xfrm>
            <a:off x="4315744" y="5522510"/>
            <a:ext cx="4355418" cy="761695"/>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4561935" y="5525986"/>
            <a:ext cx="3863036" cy="761695"/>
          </a:xfrm>
          <a:prstGeom prst="rect">
            <a:avLst/>
          </a:prstGeom>
          <a:noFill/>
          <a:ln/>
        </p:spPr>
        <p:txBody>
          <a:bodyPr wrap="square" rtlCol="0" anchor="ctr"/>
          <a:lstStyle/>
          <a:p>
            <a:pPr marL="0" indent="0" algn="l">
              <a:lnSpc>
                <a:spcPct val="105000"/>
              </a:lnSpc>
              <a:buNone/>
            </a:pPr>
            <a:r>
              <a:rPr lang="en-US" sz="2000" dirty="0" err="1">
                <a:solidFill>
                  <a:srgbClr val="F2EFDA"/>
                </a:solidFill>
                <a:latin typeface="Courier New" pitchFamily="34" charset="0"/>
                <a:ea typeface="Courier New" pitchFamily="34" charset="-122"/>
                <a:cs typeface="Courier New" pitchFamily="34" charset="-120"/>
              </a:rPr>
              <a:t>ΔYt</a:t>
            </a:r>
            <a:r>
              <a:rPr lang="en-US" sz="2000" dirty="0">
                <a:solidFill>
                  <a:srgbClr val="F2EFDA"/>
                </a:solidFill>
                <a:latin typeface="Courier New" pitchFamily="34" charset="0"/>
                <a:ea typeface="Courier New" pitchFamily="34" charset="-122"/>
                <a:cs typeface="Courier New" pitchFamily="34" charset="-120"/>
              </a:rPr>
              <a:t xml:space="preserve"> = c + </a:t>
            </a:r>
            <a:r>
              <a:rPr lang="en-US" sz="2000" b="1" dirty="0" err="1">
                <a:solidFill>
                  <a:srgbClr val="78A2F9"/>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xml:space="preserve"> · ΔYt−1 + </a:t>
            </a:r>
            <a:r>
              <a:rPr lang="en-US" sz="2000" dirty="0" err="1">
                <a:solidFill>
                  <a:srgbClr val="F2EFDA"/>
                </a:solidFill>
                <a:latin typeface="Courier New" pitchFamily="34" charset="0"/>
                <a:cs typeface="Courier New" pitchFamily="34" charset="-120"/>
              </a:rPr>
              <a:t>εt</a:t>
            </a:r>
            <a:endParaRPr lang="en-US" sz="2000" dirty="0">
              <a:solidFill>
                <a:srgbClr val="F2EFDA"/>
              </a:solidFill>
              <a:latin typeface="Courier New" pitchFamily="34" charset="0"/>
              <a:cs typeface="Courier New" pitchFamily="34" charset="-120"/>
            </a:endParaRPr>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p:cNvGraphicFramePr/>
          <p:nvPr>
            <p:extLst>
              <p:ext uri="{D42A27DB-BD31-4B8C-83A1-F6EECF244321}">
                <p14:modId xmlns:p14="http://schemas.microsoft.com/office/powerpoint/2010/main" val="2505003258"/>
              </p:ext>
            </p:extLst>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p:cNvCxnSpPr/>
          <p:nvPr/>
        </p:nvCxnSpPr>
        <p:spPr>
          <a:xfrm>
            <a:off x="1142187" y="3612474"/>
            <a:ext cx="10033000" cy="0"/>
          </a:xfrm>
          <a:prstGeom prst="line">
            <a:avLst/>
          </a:prstGeom>
          <a:ln w="12700" cap="rnd">
            <a:solidFill>
              <a:srgbClr val="E6D34F"/>
            </a:solidFill>
            <a:prstDash val="dash"/>
          </a:ln>
        </p:spPr>
      </p:cxnSp>
      <p:sp>
        <p:nvSpPr>
          <p:cNvPr id="602" name="Label_Mittelwert_Phi"/>
          <p:cNvSpPr txBox="1"/>
          <p:nvPr/>
        </p:nvSpPr>
        <p:spPr>
          <a:xfrm>
            <a:off x="2331271" y="4247561"/>
            <a:ext cx="211116" cy="228600"/>
          </a:xfrm>
          <a:prstGeom prst="rect">
            <a:avLst/>
          </a:prstGeom>
          <a:noFill/>
        </p:spPr>
        <p:txBody>
          <a:bodyPr wrap="none" lIns="0" tIns="0" rIns="0" bIns="0" anchor="ctr"/>
          <a:lstStyle/>
          <a:p>
            <a:pPr algn="r"/>
            <a:r>
              <a:rPr lang="el-GR" sz="1400" b="1" dirty="0">
                <a:solidFill>
                  <a:srgbClr val="E6D34F"/>
                </a:solidFill>
              </a:rPr>
              <a:t xml:space="preserve">φ </a:t>
            </a:r>
            <a:endParaRPr lang="de-DE" sz="1400" b="1" dirty="0">
              <a:solidFill>
                <a:srgbClr val="E6D34F"/>
              </a:solidFill>
            </a:endParaRPr>
          </a:p>
        </p:txBody>
      </p:sp>
      <p:sp>
        <p:nvSpPr>
          <p:cNvPr id="603" name="Pfeil_MeanReversion_Peak_Phi"/>
          <p:cNvSpPr/>
          <p:nvPr/>
        </p:nvSpPr>
        <p:spPr>
          <a:xfrm rot="16200000">
            <a:off x="6652964" y="2937229"/>
            <a:ext cx="569300" cy="317502"/>
          </a:xfrm>
          <a:custGeom>
            <a:avLst/>
            <a:gdLst/>
            <a:ahLst/>
            <a:cxnLst/>
            <a:rect l="0" t="0" r="0" b="0"/>
            <a:pathLst>
              <a:path w="333756" h="698500">
                <a:moveTo>
                  <a:pt x="25400" y="25400"/>
                </a:moveTo>
                <a:cubicBezTo>
                  <a:pt x="252222" y="195199"/>
                  <a:pt x="308356" y="415417"/>
                  <a:pt x="190500" y="673100"/>
                </a:cubicBezTo>
              </a:path>
            </a:pathLst>
          </a:custGeom>
          <a:noFill/>
          <a:ln w="19050" cap="rnd">
            <a:solidFill>
              <a:srgbClr val="E6D34F"/>
            </a:solidFill>
            <a:tailEnd type="triangle" w="med" len="med"/>
          </a:ln>
        </p:spPr>
        <p:txBody>
          <a:bodyPr/>
          <a:lstStyle/>
          <a:p>
            <a:endParaRPr lang="de-DE"/>
          </a:p>
        </p:txBody>
      </p:sp>
      <p:sp>
        <p:nvSpPr>
          <p:cNvPr id="604" name="Pfeil_MeanReversion_Trough_Phi"/>
          <p:cNvSpPr/>
          <p:nvPr/>
        </p:nvSpPr>
        <p:spPr>
          <a:xfrm rot="17287761" flipV="1">
            <a:off x="1928475" y="4159454"/>
            <a:ext cx="533271" cy="334087"/>
          </a:xfrm>
          <a:custGeom>
            <a:avLst/>
            <a:gdLst/>
            <a:ahLst/>
            <a:cxnLst/>
            <a:rect l="0" t="0" r="0" b="0"/>
            <a:pathLst>
              <a:path w="336550" h="1016000">
                <a:moveTo>
                  <a:pt x="146050" y="990600"/>
                </a:moveTo>
                <a:cubicBezTo>
                  <a:pt x="25273" y="642112"/>
                  <a:pt x="81407" y="313944"/>
                  <a:pt x="311150" y="25400"/>
                </a:cubicBezTo>
              </a:path>
            </a:pathLst>
          </a:custGeom>
          <a:noFill/>
          <a:ln w="19050" cap="rnd">
            <a:solidFill>
              <a:srgbClr val="E6D34F"/>
            </a:solidFill>
            <a:tailEnd type="triangle" w="med" len="med"/>
          </a:ln>
        </p:spPr>
        <p:txBody>
          <a:bodyPr/>
          <a:lstStyle/>
          <a:p>
            <a:endParaRPr lang="de-DE"/>
          </a:p>
        </p:txBody>
      </p:sp>
      <p:sp>
        <p:nvSpPr>
          <p:cNvPr id="10" name="Label_Mittelwert_Phi">
            <a:extLst>
              <a:ext uri="{FF2B5EF4-FFF2-40B4-BE49-F238E27FC236}">
                <a16:creationId xmlns:a16="http://schemas.microsoft.com/office/drawing/2014/main" id="{BCE3EBD0-AD79-50B7-7404-5515ADA9196A}"/>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xml:space="preserve"> </a:t>
            </a:r>
            <a:endParaRPr lang="de-DE" sz="1400" b="1" dirty="0">
              <a:solidFill>
                <a:srgbClr val="E6D34F"/>
              </a:solidFill>
            </a:endParaRPr>
          </a:p>
        </p:txBody>
      </p:sp>
      <p:grpSp>
        <p:nvGrpSpPr>
          <p:cNvPr id="14" name="Gruppieren 13">
            <a:extLst>
              <a:ext uri="{FF2B5EF4-FFF2-40B4-BE49-F238E27FC236}">
                <a16:creationId xmlns:a16="http://schemas.microsoft.com/office/drawing/2014/main" id="{495AFE09-C7B8-A0EF-8763-C41569A99F8E}"/>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76AA765B-779C-1C63-0FB2-DCC63FCF45A6}"/>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6531892E-E5F6-2C35-CACB-992F5F84BFCF}"/>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60D3C51D-A5EE-2DF4-1AF8-A036A56DBC43}"/>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2" name="Label_Mittelwert_Phi">
            <a:extLst>
              <a:ext uri="{FF2B5EF4-FFF2-40B4-BE49-F238E27FC236}">
                <a16:creationId xmlns:a16="http://schemas.microsoft.com/office/drawing/2014/main" id="{8D70BE7B-0330-0FEC-2C6D-55A52B1DE595}"/>
              </a:ext>
            </a:extLst>
          </p:cNvPr>
          <p:cNvSpPr txBox="1"/>
          <p:nvPr/>
        </p:nvSpPr>
        <p:spPr>
          <a:xfrm>
            <a:off x="6721269" y="2803862"/>
            <a:ext cx="211116" cy="228600"/>
          </a:xfrm>
          <a:prstGeom prst="rect">
            <a:avLst/>
          </a:prstGeom>
          <a:noFill/>
        </p:spPr>
        <p:txBody>
          <a:bodyPr wrap="none" lIns="0" tIns="0" rIns="0" bIns="0" anchor="ctr"/>
          <a:lstStyle/>
          <a:p>
            <a:pPr algn="r"/>
            <a:r>
              <a:rPr lang="el-GR" sz="1400" b="1" dirty="0">
                <a:solidFill>
                  <a:srgbClr val="E6D34F"/>
                </a:solidFill>
              </a:rPr>
              <a:t xml:space="preserve">φ </a:t>
            </a:r>
            <a:endParaRPr lang="de-DE" sz="1400" b="1" dirty="0">
              <a:solidFill>
                <a:srgbClr val="E6D34F"/>
              </a:solidFill>
            </a:endParaRPr>
          </a:p>
        </p:txBody>
      </p:sp>
      <p:sp>
        <p:nvSpPr>
          <p:cNvPr id="16" name="Textfeld 15">
            <a:extLst>
              <a:ext uri="{FF2B5EF4-FFF2-40B4-BE49-F238E27FC236}">
                <a16:creationId xmlns:a16="http://schemas.microsoft.com/office/drawing/2014/main" id="{B5B9AD8C-CC39-FD93-8562-4DFC67983212}"/>
              </a:ext>
            </a:extLst>
          </p:cNvPr>
          <p:cNvSpPr txBox="1"/>
          <p:nvPr/>
        </p:nvSpPr>
        <p:spPr>
          <a:xfrm>
            <a:off x="1895517" y="758743"/>
            <a:ext cx="6094070" cy="415498"/>
          </a:xfrm>
          <a:prstGeom prst="rect">
            <a:avLst/>
          </a:prstGeom>
          <a:noFill/>
        </p:spPr>
        <p:txBody>
          <a:bodyPr wrap="square">
            <a:spAutoFit/>
          </a:bodyPr>
          <a:lstStyle/>
          <a:p>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xml:space="preserve"> </a:t>
            </a:r>
            <a:r>
              <a:rPr lang="en-US" sz="2100" b="1" kern="0" spc="-50" dirty="0" err="1">
                <a:solidFill>
                  <a:srgbClr val="F2EFDA"/>
                </a:solidFill>
                <a:latin typeface="Arial" pitchFamily="34" charset="0"/>
                <a:ea typeface="Arial" pitchFamily="34" charset="-122"/>
                <a:cs typeface="Arial" pitchFamily="34" charset="-120"/>
              </a:rPr>
              <a:t>Differenzen</a:t>
            </a:r>
            <a:endParaRPr lang="de-DE" sz="2100" dirty="0"/>
          </a:p>
        </p:txBody>
      </p:sp>
      <p:sp>
        <p:nvSpPr>
          <p:cNvPr id="15" name="Textfeld 14">
            <a:extLst>
              <a:ext uri="{FF2B5EF4-FFF2-40B4-BE49-F238E27FC236}">
                <a16:creationId xmlns:a16="http://schemas.microsoft.com/office/drawing/2014/main" id="{C1FEEA0A-C4FF-ED6F-8259-166B5980C00C}"/>
              </a:ext>
            </a:extLst>
          </p:cNvPr>
          <p:cNvSpPr txBox="1"/>
          <p:nvPr/>
        </p:nvSpPr>
        <p:spPr>
          <a:xfrm rot="16200000">
            <a:off x="70944" y="3385295"/>
            <a:ext cx="957378" cy="338554"/>
          </a:xfrm>
          <a:prstGeom prst="rect">
            <a:avLst/>
          </a:prstGeom>
          <a:noFill/>
        </p:spPr>
        <p:txBody>
          <a:bodyPr wrap="none" rtlCol="0">
            <a:spAutoFit/>
          </a:bodyPr>
          <a:lstStyle/>
          <a:p>
            <a:r>
              <a:rPr lang="de-DE" sz="1600" b="1" dirty="0">
                <a:solidFill>
                  <a:srgbClr val="F2EFDA"/>
                </a:solidFill>
              </a:rPr>
              <a:t>Kennzahl</a:t>
            </a:r>
          </a:p>
        </p:txBody>
      </p:sp>
    </p:spTree>
    <p:extLst>
      <p:ext uri="{BB962C8B-B14F-4D97-AF65-F5344CB8AC3E}">
        <p14:creationId xmlns:p14="http://schemas.microsoft.com/office/powerpoint/2010/main" val="7190697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6"/>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a:extLst>
            <a:ext uri="{FF2B5EF4-FFF2-40B4-BE49-F238E27FC236}">
              <a16:creationId xmlns:a16="http://schemas.microsoft.com/office/drawing/2014/main" id="{F61C2813-B6F1-74E0-8964-CD5A11E36E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B2FB-190A-67A0-C860-53C641DDAC82}"/>
              </a:ext>
            </a:extLst>
          </p:cNvPr>
          <p:cNvSpPr/>
          <p:nvPr/>
        </p:nvSpPr>
        <p:spPr>
          <a:xfrm>
            <a:off x="0" y="0"/>
            <a:ext cx="12191695" cy="38405"/>
          </a:xfrm>
          <a:prstGeom prst="rect">
            <a:avLst/>
          </a:prstGeom>
          <a:solidFill>
            <a:srgbClr val="DBDEE2"/>
          </a:solidFill>
          <a:ln/>
        </p:spPr>
        <p:txBody>
          <a:bodyPr/>
          <a:lstStyle/>
          <a:p>
            <a:endParaRPr lang="de-DE"/>
          </a:p>
        </p:txBody>
      </p:sp>
      <p:sp>
        <p:nvSpPr>
          <p:cNvPr id="5" name="Text 2">
            <a:extLst>
              <a:ext uri="{FF2B5EF4-FFF2-40B4-BE49-F238E27FC236}">
                <a16:creationId xmlns:a16="http://schemas.microsoft.com/office/drawing/2014/main" id="{3C451C1A-8AF3-EDB6-3BCE-11B7F76C7686}"/>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a:extLst>
              <a:ext uri="{FF2B5EF4-FFF2-40B4-BE49-F238E27FC236}">
                <a16:creationId xmlns:a16="http://schemas.microsoft.com/office/drawing/2014/main" id="{62D9103C-85D0-1A3D-22ED-3A2D8CBC7FCB}"/>
              </a:ext>
            </a:extLst>
          </p:cNvPr>
          <p:cNvSpPr/>
          <p:nvPr/>
        </p:nvSpPr>
        <p:spPr>
          <a:xfrm>
            <a:off x="634594" y="761695"/>
            <a:ext cx="10921594" cy="399593"/>
          </a:xfrm>
          <a:prstGeom prst="rect">
            <a:avLst/>
          </a:prstGeom>
          <a:noFill/>
          <a:ln/>
        </p:spPr>
        <p:txBody>
          <a:bodyPr wrap="square" rtlCol="0" anchor="t"/>
          <a:lstStyle/>
          <a:p>
            <a:r>
              <a:rPr lang="en-US" sz="2100" b="1" kern="0" spc="-50" dirty="0" err="1">
                <a:solidFill>
                  <a:srgbClr val="F2EFDA"/>
                </a:solidFill>
                <a:latin typeface="Arial" pitchFamily="34" charset="0"/>
                <a:ea typeface="Arial" pitchFamily="34" charset="-122"/>
                <a:cs typeface="Arial" pitchFamily="34" charset="-120"/>
              </a:rPr>
              <a:t>Veränderungsvolatilität</a:t>
            </a:r>
            <a:endParaRPr lang="en-US" sz="2100" dirty="0"/>
          </a:p>
        </p:txBody>
      </p:sp>
      <p:sp>
        <p:nvSpPr>
          <p:cNvPr id="3" name="Text 1">
            <a:extLst>
              <a:ext uri="{FF2B5EF4-FFF2-40B4-BE49-F238E27FC236}">
                <a16:creationId xmlns:a16="http://schemas.microsoft.com/office/drawing/2014/main" id="{C883CA9D-A844-9A22-C4E5-69D6BCD2D21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a:extLst>
              <a:ext uri="{FF2B5EF4-FFF2-40B4-BE49-F238E27FC236}">
                <a16:creationId xmlns:a16="http://schemas.microsoft.com/office/drawing/2014/main" id="{0DB63EAD-7534-C947-73C8-21E9ED7ECC05}"/>
              </a:ext>
            </a:extLst>
          </p:cNvPr>
          <p:cNvGraphicFramePr/>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a:extLst>
              <a:ext uri="{FF2B5EF4-FFF2-40B4-BE49-F238E27FC236}">
                <a16:creationId xmlns:a16="http://schemas.microsoft.com/office/drawing/2014/main" id="{83F66AAD-09A2-1A17-F313-5CF3F3B7EF12}"/>
              </a:ext>
            </a:extLst>
          </p:cNvPr>
          <p:cNvCxnSpPr/>
          <p:nvPr/>
        </p:nvCxnSpPr>
        <p:spPr>
          <a:xfrm>
            <a:off x="1142187" y="3612474"/>
            <a:ext cx="10033000" cy="0"/>
          </a:xfrm>
          <a:prstGeom prst="line">
            <a:avLst/>
          </a:prstGeom>
          <a:ln w="12700" cap="rnd">
            <a:solidFill>
              <a:srgbClr val="E6D34F"/>
            </a:solidFill>
            <a:prstDash val="dash"/>
          </a:ln>
        </p:spPr>
      </p:cxnSp>
      <p:sp>
        <p:nvSpPr>
          <p:cNvPr id="10" name="Label_Mittelwert_Phi">
            <a:extLst>
              <a:ext uri="{FF2B5EF4-FFF2-40B4-BE49-F238E27FC236}">
                <a16:creationId xmlns:a16="http://schemas.microsoft.com/office/drawing/2014/main" id="{1C4BD6DF-0E74-E353-88FB-94DD8C069095}"/>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xml:space="preserve"> </a:t>
            </a:r>
            <a:endParaRPr lang="de-DE" sz="1400" b="1" dirty="0">
              <a:solidFill>
                <a:srgbClr val="E6D34F"/>
              </a:solidFill>
            </a:endParaRPr>
          </a:p>
        </p:txBody>
      </p:sp>
      <p:grpSp>
        <p:nvGrpSpPr>
          <p:cNvPr id="14" name="Gruppieren 13">
            <a:extLst>
              <a:ext uri="{FF2B5EF4-FFF2-40B4-BE49-F238E27FC236}">
                <a16:creationId xmlns:a16="http://schemas.microsoft.com/office/drawing/2014/main" id="{59E07578-278C-FD13-C011-F445DCAA18B2}"/>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500A11CE-91DA-DFF1-1D94-5BE8DE7161EA}"/>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B83BD454-504E-8A3C-6C31-C8417DA5D7B7}"/>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1A6FD065-913F-1F27-5BD3-B40236E90CED}"/>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3" name="Shape 4">
            <a:extLst>
              <a:ext uri="{FF2B5EF4-FFF2-40B4-BE49-F238E27FC236}">
                <a16:creationId xmlns:a16="http://schemas.microsoft.com/office/drawing/2014/main" id="{AD42079C-DA00-E929-46EC-33148230D956}"/>
              </a:ext>
            </a:extLst>
          </p:cNvPr>
          <p:cNvSpPr/>
          <p:nvPr/>
        </p:nvSpPr>
        <p:spPr>
          <a:xfrm>
            <a:off x="4286402" y="5199975"/>
            <a:ext cx="3619196" cy="1285646"/>
          </a:xfrm>
          <a:prstGeom prst="roundRect">
            <a:avLst>
              <a:gd name="adj" fmla="val 13325"/>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15" name="Text 5">
                <a:extLst>
                  <a:ext uri="{FF2B5EF4-FFF2-40B4-BE49-F238E27FC236}">
                    <a16:creationId xmlns:a16="http://schemas.microsoft.com/office/drawing/2014/main" id="{46A8EF8F-C624-FA76-5BD4-923FC1C4789A}"/>
                  </a:ext>
                </a:extLst>
              </p:cNvPr>
              <p:cNvSpPr/>
              <p:nvPr/>
            </p:nvSpPr>
            <p:spPr>
              <a:xfrm>
                <a:off x="4286402" y="5459517"/>
                <a:ext cx="3619196" cy="761695"/>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r>
                        <m:rPr>
                          <m:nor/>
                        </m:rPr>
                        <a:rPr lang="de-DE" sz="2000" b="0" i="0" dirty="0">
                          <a:solidFill>
                            <a:srgbClr val="78A2F9"/>
                          </a:solidFill>
                          <a:latin typeface="Courier New" pitchFamily="34" charset="0"/>
                          <a:ea typeface="Courier New" pitchFamily="34" charset="-122"/>
                          <a:cs typeface="Courier New" pitchFamily="34" charset="-120"/>
                        </a:rPr>
                        <m:t>𝜎</m:t>
                      </m:r>
                      <m:r>
                        <a:rPr lang="de-DE" sz="2000" b="1" smtClean="0">
                          <a:solidFill>
                            <a:srgbClr val="F3EFDA"/>
                          </a:solidFill>
                          <a:latin typeface="Cambria Math" panose="02040503050406030204" pitchFamily="18" charset="0"/>
                          <a:ea typeface="Courier New" pitchFamily="34" charset="-122"/>
                          <a:cs typeface="Courier New" pitchFamily="34" charset="-120"/>
                        </a:rPr>
                        <m:t>=</m:t>
                      </m:r>
                      <m:rad>
                        <m:radPr>
                          <m:degHide m:val="on"/>
                          <m:ctrlPr>
                            <a:rPr lang="de-DE" sz="2000" b="1" i="1" smtClean="0">
                              <a:solidFill>
                                <a:srgbClr val="F3EFDA"/>
                              </a:solidFill>
                              <a:latin typeface="Cambria Math" panose="02040503050406030204" pitchFamily="18" charset="0"/>
                              <a:ea typeface="Courier New" pitchFamily="34" charset="-122"/>
                              <a:cs typeface="Courier New" pitchFamily="34" charset="-120"/>
                            </a:rPr>
                          </m:ctrlPr>
                        </m:radPr>
                        <m:deg/>
                        <m:e>
                          <m:f>
                            <m:fPr>
                              <m:ctrlPr>
                                <a:rPr lang="de-DE" sz="2000" b="1" i="1">
                                  <a:solidFill>
                                    <a:srgbClr val="F3EFDA"/>
                                  </a:solidFill>
                                  <a:latin typeface="Cambria Math" panose="02040503050406030204" pitchFamily="18" charset="0"/>
                                  <a:ea typeface="Courier New" pitchFamily="34" charset="-122"/>
                                  <a:cs typeface="Courier New" pitchFamily="34" charset="-120"/>
                                </a:rPr>
                              </m:ctrlPr>
                            </m:fPr>
                            <m:num>
                              <m:r>
                                <a:rPr lang="de-DE" sz="2000" b="1">
                                  <a:solidFill>
                                    <a:srgbClr val="F3EFDA"/>
                                  </a:solidFill>
                                  <a:latin typeface="Cambria Math" panose="02040503050406030204" pitchFamily="18" charset="0"/>
                                  <a:ea typeface="Courier New" pitchFamily="34" charset="-122"/>
                                  <a:cs typeface="Courier New" pitchFamily="34" charset="-120"/>
                                </a:rPr>
                                <m:t>1</m:t>
                              </m:r>
                            </m:num>
                            <m:den>
                              <m:r>
                                <a:rPr lang="de-DE" sz="2000" b="1">
                                  <a:solidFill>
                                    <a:srgbClr val="F3EFDA"/>
                                  </a:solidFill>
                                  <a:latin typeface="Cambria Math" panose="02040503050406030204" pitchFamily="18" charset="0"/>
                                  <a:ea typeface="Courier New" pitchFamily="34" charset="-122"/>
                                  <a:cs typeface="Courier New" pitchFamily="34" charset="-120"/>
                                </a:rPr>
                                <m:t>𝑛</m:t>
                              </m:r>
                              <m:r>
                                <a:rPr lang="de-DE" sz="2000" b="1">
                                  <a:solidFill>
                                    <a:srgbClr val="F3EFDA"/>
                                  </a:solidFill>
                                  <a:latin typeface="Cambria Math" panose="02040503050406030204" pitchFamily="18" charset="0"/>
                                  <a:ea typeface="Courier New" pitchFamily="34" charset="-122"/>
                                  <a:cs typeface="Courier New" pitchFamily="34" charset="-120"/>
                                </a:rPr>
                                <m:t>−1</m:t>
                              </m:r>
                            </m:den>
                          </m:f>
                          <m:nary>
                            <m:naryPr>
                              <m:chr m:val="∑"/>
                              <m:grow m:val="on"/>
                              <m:ctrlPr>
                                <a:rPr lang="de-DE" sz="2000" b="1" i="1">
                                  <a:solidFill>
                                    <a:srgbClr val="F3EFDA"/>
                                  </a:solidFill>
                                  <a:latin typeface="Cambria Math" panose="02040503050406030204" pitchFamily="18" charset="0"/>
                                  <a:ea typeface="Courier New" pitchFamily="34" charset="-122"/>
                                  <a:cs typeface="Courier New" pitchFamily="34" charset="-120"/>
                                </a:rPr>
                              </m:ctrlPr>
                            </m:naryPr>
                            <m:sub>
                              <m:r>
                                <a:rPr lang="de-DE" sz="2000" b="1">
                                  <a:solidFill>
                                    <a:srgbClr val="F3EFDA"/>
                                  </a:solidFill>
                                  <a:latin typeface="Cambria Math" panose="02040503050406030204" pitchFamily="18" charset="0"/>
                                  <a:ea typeface="Courier New" pitchFamily="34" charset="-122"/>
                                  <a:cs typeface="Courier New" pitchFamily="34" charset="-120"/>
                                </a:rPr>
                                <m:t>𝑡</m:t>
                              </m:r>
                              <m:r>
                                <a:rPr lang="de-DE" sz="2000" b="1">
                                  <a:solidFill>
                                    <a:srgbClr val="F3EFDA"/>
                                  </a:solidFill>
                                  <a:latin typeface="Cambria Math" panose="02040503050406030204" pitchFamily="18" charset="0"/>
                                  <a:ea typeface="Courier New" pitchFamily="34" charset="-122"/>
                                  <a:cs typeface="Courier New" pitchFamily="34" charset="-120"/>
                                </a:rPr>
                                <m:t>=2</m:t>
                              </m:r>
                            </m:sub>
                            <m:sup>
                              <m:r>
                                <a:rPr lang="de-DE" sz="2000" b="1">
                                  <a:solidFill>
                                    <a:srgbClr val="F3EFDA"/>
                                  </a:solidFill>
                                  <a:latin typeface="Cambria Math" panose="02040503050406030204" pitchFamily="18" charset="0"/>
                                  <a:ea typeface="Courier New" pitchFamily="34" charset="-122"/>
                                  <a:cs typeface="Courier New" pitchFamily="34" charset="-120"/>
                                </a:rPr>
                                <m:t>𝑛</m:t>
                              </m:r>
                            </m:sup>
                            <m:e>
                              <m:r>
                                <a:rPr lang="de-DE" sz="2000" b="1">
                                  <a:solidFill>
                                    <a:srgbClr val="F3EFDA"/>
                                  </a:solidFill>
                                  <a:latin typeface="Cambria Math" panose="02040503050406030204" pitchFamily="18" charset="0"/>
                                  <a:ea typeface="Courier New" pitchFamily="34" charset="-122"/>
                                  <a:cs typeface="Courier New" pitchFamily="34" charset="-120"/>
                                </a:rPr>
                                <m:t>(</m:t>
                              </m:r>
                            </m:e>
                          </m:nary>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𝛥</m:t>
                              </m:r>
                              <m:sSub>
                                <m:sSubPr>
                                  <m:ctrlPr>
                                    <a:rPr lang="de-DE" sz="2000" b="1" i="1">
                                      <a:solidFill>
                                        <a:srgbClr val="F3EFDA"/>
                                      </a:solidFill>
                                      <a:latin typeface="Cambria Math" panose="02040503050406030204" pitchFamily="18" charset="0"/>
                                      <a:ea typeface="Courier New" pitchFamily="34" charset="-122"/>
                                      <a:cs typeface="Courier New" pitchFamily="34" charset="-120"/>
                                    </a:rPr>
                                  </m:ctrlPr>
                                </m:sSubPr>
                                <m:e>
                                  <m:r>
                                    <a:rPr lang="de-DE" sz="2000" b="1">
                                      <a:solidFill>
                                        <a:srgbClr val="F3EFDA"/>
                                      </a:solidFill>
                                      <a:latin typeface="Cambria Math" panose="02040503050406030204" pitchFamily="18" charset="0"/>
                                      <a:ea typeface="Courier New" pitchFamily="34" charset="-122"/>
                                      <a:cs typeface="Courier New" pitchFamily="34" charset="-120"/>
                                    </a:rPr>
                                    <m:t>𝑦</m:t>
                                  </m:r>
                                </m:e>
                                <m:sub>
                                  <m:r>
                                    <a:rPr lang="de-DE" sz="2000" b="1">
                                      <a:solidFill>
                                        <a:srgbClr val="F3EFDA"/>
                                      </a:solidFill>
                                      <a:latin typeface="Cambria Math" panose="02040503050406030204" pitchFamily="18" charset="0"/>
                                      <a:ea typeface="Courier New" pitchFamily="34" charset="-122"/>
                                      <a:cs typeface="Courier New" pitchFamily="34" charset="-120"/>
                                    </a:rPr>
                                    <m:t>𝑡</m:t>
                                  </m:r>
                                </m:sub>
                              </m:sSub>
                              <m:r>
                                <a:rPr lang="de-DE" sz="2000" b="1">
                                  <a:solidFill>
                                    <a:srgbClr val="F3EFDA"/>
                                  </a:solidFill>
                                  <a:latin typeface="Cambria Math" panose="02040503050406030204" pitchFamily="18" charset="0"/>
                                  <a:ea typeface="Courier New" pitchFamily="34" charset="-122"/>
                                  <a:cs typeface="Courier New" pitchFamily="34" charset="-120"/>
                                </a:rPr>
                                <m:t>−</m:t>
                              </m:r>
                              <m:acc>
                                <m:accPr>
                                  <m:chr m:val="̄"/>
                                  <m:ctrlPr>
                                    <a:rPr lang="de-DE" sz="2000" b="1" i="1">
                                      <a:solidFill>
                                        <a:srgbClr val="F3EFDA"/>
                                      </a:solidFill>
                                      <a:latin typeface="Cambria Math" panose="02040503050406030204" pitchFamily="18" charset="0"/>
                                      <a:ea typeface="Courier New" pitchFamily="34" charset="-122"/>
                                      <a:cs typeface="Courier New" pitchFamily="34" charset="-120"/>
                                    </a:rPr>
                                  </m:ctrlPr>
                                </m:accPr>
                                <m:e>
                                  <m:r>
                                    <a:rPr lang="de-DE" sz="2000" b="1">
                                      <a:solidFill>
                                        <a:srgbClr val="F3EFDA"/>
                                      </a:solidFill>
                                      <a:latin typeface="Cambria Math" panose="02040503050406030204" pitchFamily="18" charset="0"/>
                                      <a:ea typeface="Courier New" pitchFamily="34" charset="-122"/>
                                      <a:cs typeface="Courier New" pitchFamily="34" charset="-120"/>
                                    </a:rPr>
                                    <m:t>𝛥</m:t>
                                  </m:r>
                                  <m:r>
                                    <a:rPr lang="de-DE" sz="2000" b="1">
                                      <a:solidFill>
                                        <a:srgbClr val="F3EFDA"/>
                                      </a:solidFill>
                                      <a:latin typeface="Cambria Math" panose="02040503050406030204" pitchFamily="18" charset="0"/>
                                      <a:ea typeface="Courier New" pitchFamily="34" charset="-122"/>
                                      <a:cs typeface="Courier New" pitchFamily="34" charset="-120"/>
                                    </a:rPr>
                                    <m:t>𝑦</m:t>
                                  </m:r>
                                </m:e>
                              </m:acc>
                              <m:sSup>
                                <m:sSupPr>
                                  <m:ctrlPr>
                                    <a:rPr lang="de-DE" sz="2000" b="1" i="1">
                                      <a:solidFill>
                                        <a:srgbClr val="F3EFDA"/>
                                      </a:solidFill>
                                      <a:latin typeface="Cambria Math" panose="02040503050406030204" pitchFamily="18" charset="0"/>
                                      <a:ea typeface="Courier New" pitchFamily="34" charset="-122"/>
                                      <a:cs typeface="Courier New" pitchFamily="34" charset="-120"/>
                                    </a:rPr>
                                  </m:ctrlPr>
                                </m:sSupPr>
                                <m:e>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m:t>
                                      </m:r>
                                    </m:e>
                                  </m:d>
                                </m:e>
                                <m:sup>
                                  <m:r>
                                    <a:rPr lang="de-DE" sz="2000" b="1">
                                      <a:solidFill>
                                        <a:srgbClr val="F3EFDA"/>
                                      </a:solidFill>
                                      <a:latin typeface="Cambria Math" panose="02040503050406030204" pitchFamily="18" charset="0"/>
                                      <a:ea typeface="Courier New" pitchFamily="34" charset="-122"/>
                                      <a:cs typeface="Courier New" pitchFamily="34" charset="-120"/>
                                    </a:rPr>
                                    <m:t>2</m:t>
                                  </m:r>
                                </m:sup>
                              </m:sSup>
                            </m:e>
                          </m:d>
                        </m:e>
                      </m:rad>
                    </m:oMath>
                  </m:oMathPara>
                </a14:m>
                <a:endParaRPr lang="en-US" sz="2000" b="1" dirty="0">
                  <a:solidFill>
                    <a:srgbClr val="78A2F9"/>
                  </a:solidFill>
                  <a:latin typeface="Courier New" pitchFamily="34" charset="0"/>
                  <a:ea typeface="Courier New" pitchFamily="34" charset="-122"/>
                  <a:cs typeface="Courier New" pitchFamily="34" charset="-120"/>
                </a:endParaRPr>
              </a:p>
            </p:txBody>
          </p:sp>
        </mc:Choice>
        <mc:Fallback xmlns="">
          <p:sp>
            <p:nvSpPr>
              <p:cNvPr id="15" name="Text 5">
                <a:extLst>
                  <a:ext uri="{FF2B5EF4-FFF2-40B4-BE49-F238E27FC236}">
                    <a16:creationId xmlns:a16="http://schemas.microsoft.com/office/drawing/2014/main" id="{46A8EF8F-C624-FA76-5BD4-923FC1C4789A}"/>
                  </a:ext>
                </a:extLst>
              </p:cNvPr>
              <p:cNvSpPr>
                <a:spLocks noRot="1" noChangeAspect="1" noMove="1" noResize="1" noEditPoints="1" noAdjustHandles="1" noChangeArrowheads="1" noChangeShapeType="1" noTextEdit="1"/>
              </p:cNvSpPr>
              <p:nvPr/>
            </p:nvSpPr>
            <p:spPr>
              <a:xfrm>
                <a:off x="4286402" y="5459517"/>
                <a:ext cx="3619196" cy="761695"/>
              </a:xfrm>
              <a:prstGeom prst="rect">
                <a:avLst/>
              </a:prstGeom>
              <a:blipFill>
                <a:blip r:embed="rId4"/>
                <a:stretch>
                  <a:fillRect t="-134426" b="-204918"/>
                </a:stretch>
              </a:blipFill>
              <a:ln/>
            </p:spPr>
            <p:txBody>
              <a:bodyPr/>
              <a:lstStyle/>
              <a:p>
                <a:r>
                  <a:rPr lang="de-DE">
                    <a:noFill/>
                  </a:rPr>
                  <a:t> </a:t>
                </a:r>
              </a:p>
            </p:txBody>
          </p:sp>
        </mc:Fallback>
      </mc:AlternateContent>
      <p:cxnSp>
        <p:nvCxnSpPr>
          <p:cNvPr id="16" name="Pfeil_Sigma_Amplitude">
            <a:extLst>
              <a:ext uri="{FF2B5EF4-FFF2-40B4-BE49-F238E27FC236}">
                <a16:creationId xmlns:a16="http://schemas.microsoft.com/office/drawing/2014/main" id="{19101B1A-E308-A2C5-34CE-D8F7277FBFD2}"/>
              </a:ext>
            </a:extLst>
          </p:cNvPr>
          <p:cNvCxnSpPr>
            <a:cxnSpLocks/>
          </p:cNvCxnSpPr>
          <p:nvPr/>
        </p:nvCxnSpPr>
        <p:spPr>
          <a:xfrm>
            <a:off x="11669349" y="2954114"/>
            <a:ext cx="0" cy="1455615"/>
          </a:xfrm>
          <a:prstGeom prst="line">
            <a:avLst/>
          </a:prstGeom>
          <a:ln w="19050" cap="rnd">
            <a:solidFill>
              <a:srgbClr val="E6D34F"/>
            </a:solidFill>
            <a:headEnd type="triangle" w="med" len="med"/>
            <a:tailEnd type="triangle" w="med" len="med"/>
          </a:ln>
        </p:spPr>
      </p:cxnSp>
      <p:cxnSp>
        <p:nvCxnSpPr>
          <p:cNvPr id="17" name="Hilfslinie_Sigma_Oben">
            <a:extLst>
              <a:ext uri="{FF2B5EF4-FFF2-40B4-BE49-F238E27FC236}">
                <a16:creationId xmlns:a16="http://schemas.microsoft.com/office/drawing/2014/main" id="{67A37EF3-08E4-E1E5-41B2-52BC693105B2}"/>
              </a:ext>
            </a:extLst>
          </p:cNvPr>
          <p:cNvCxnSpPr/>
          <p:nvPr/>
        </p:nvCxnSpPr>
        <p:spPr>
          <a:xfrm>
            <a:off x="11351849" y="2974628"/>
            <a:ext cx="317500" cy="0"/>
          </a:xfrm>
          <a:prstGeom prst="line">
            <a:avLst/>
          </a:prstGeom>
          <a:ln w="9525" cap="rnd">
            <a:solidFill>
              <a:srgbClr val="E6D34F"/>
            </a:solidFill>
            <a:prstDash val="dash"/>
          </a:ln>
        </p:spPr>
      </p:cxnSp>
      <p:cxnSp>
        <p:nvCxnSpPr>
          <p:cNvPr id="18" name="Hilfslinie_Sigma_Unten">
            <a:extLst>
              <a:ext uri="{FF2B5EF4-FFF2-40B4-BE49-F238E27FC236}">
                <a16:creationId xmlns:a16="http://schemas.microsoft.com/office/drawing/2014/main" id="{F6C1F759-4EBC-BA94-1F4B-B635FAAFCE8C}"/>
              </a:ext>
            </a:extLst>
          </p:cNvPr>
          <p:cNvCxnSpPr/>
          <p:nvPr/>
        </p:nvCxnSpPr>
        <p:spPr>
          <a:xfrm>
            <a:off x="11351849" y="4367723"/>
            <a:ext cx="317500" cy="0"/>
          </a:xfrm>
          <a:prstGeom prst="line">
            <a:avLst/>
          </a:prstGeom>
          <a:ln w="9525" cap="rnd">
            <a:solidFill>
              <a:srgbClr val="E6D34F"/>
            </a:solidFill>
            <a:prstDash val="dash"/>
          </a:ln>
        </p:spPr>
      </p:cxnSp>
      <p:sp>
        <p:nvSpPr>
          <p:cNvPr id="19" name="Label_Sigma">
            <a:extLst>
              <a:ext uri="{FF2B5EF4-FFF2-40B4-BE49-F238E27FC236}">
                <a16:creationId xmlns:a16="http://schemas.microsoft.com/office/drawing/2014/main" id="{9942469C-DB05-C1D8-5F99-0568CBCE3C33}"/>
              </a:ext>
            </a:extLst>
          </p:cNvPr>
          <p:cNvSpPr txBox="1"/>
          <p:nvPr/>
        </p:nvSpPr>
        <p:spPr>
          <a:xfrm>
            <a:off x="11758249" y="3462114"/>
            <a:ext cx="431800" cy="304800"/>
          </a:xfrm>
          <a:prstGeom prst="rect">
            <a:avLst/>
          </a:prstGeom>
          <a:noFill/>
        </p:spPr>
        <p:txBody>
          <a:bodyPr wrap="none" lIns="0" tIns="0" rIns="0" bIns="0" anchor="ctr"/>
          <a:lstStyle/>
          <a:p>
            <a:pPr algn="ctr"/>
            <a:r>
              <a:rPr lang="de-DE" sz="1800" b="1" dirty="0" err="1">
                <a:solidFill>
                  <a:srgbClr val="E6D34F"/>
                </a:solidFill>
              </a:rPr>
              <a:t>σ</a:t>
            </a:r>
            <a:endParaRPr lang="de-DE" sz="1800" b="1" dirty="0">
              <a:solidFill>
                <a:srgbClr val="E6D34F"/>
              </a:solidFill>
            </a:endParaRPr>
          </a:p>
        </p:txBody>
      </p:sp>
      <p:cxnSp>
        <p:nvCxnSpPr>
          <p:cNvPr id="20" name="Pfeil_Sigma_Amplitude">
            <a:extLst>
              <a:ext uri="{FF2B5EF4-FFF2-40B4-BE49-F238E27FC236}">
                <a16:creationId xmlns:a16="http://schemas.microsoft.com/office/drawing/2014/main" id="{8E0D388A-CBE1-9C2D-34B8-9286DBBAA726}"/>
              </a:ext>
            </a:extLst>
          </p:cNvPr>
          <p:cNvCxnSpPr>
            <a:cxnSpLocks/>
          </p:cNvCxnSpPr>
          <p:nvPr/>
        </p:nvCxnSpPr>
        <p:spPr>
          <a:xfrm>
            <a:off x="3393844" y="3281583"/>
            <a:ext cx="0" cy="709190"/>
          </a:xfrm>
          <a:prstGeom prst="line">
            <a:avLst/>
          </a:prstGeom>
          <a:ln w="19050" cap="rnd">
            <a:solidFill>
              <a:srgbClr val="E6D34F"/>
            </a:solidFill>
            <a:headEnd type="triangle" w="med" len="med"/>
            <a:tailEnd type="triangle" w="med" len="med"/>
          </a:ln>
        </p:spPr>
      </p:cxnSp>
      <p:cxnSp>
        <p:nvCxnSpPr>
          <p:cNvPr id="21" name="Hilfslinie_Sigma_Oben">
            <a:extLst>
              <a:ext uri="{FF2B5EF4-FFF2-40B4-BE49-F238E27FC236}">
                <a16:creationId xmlns:a16="http://schemas.microsoft.com/office/drawing/2014/main" id="{7BCCC8BC-B819-BDD5-BBA1-C1BDD7635CA8}"/>
              </a:ext>
            </a:extLst>
          </p:cNvPr>
          <p:cNvCxnSpPr/>
          <p:nvPr/>
        </p:nvCxnSpPr>
        <p:spPr>
          <a:xfrm>
            <a:off x="3241599" y="3281583"/>
            <a:ext cx="317500" cy="0"/>
          </a:xfrm>
          <a:prstGeom prst="line">
            <a:avLst/>
          </a:prstGeom>
          <a:ln w="9525" cap="rnd">
            <a:solidFill>
              <a:srgbClr val="E6D34F"/>
            </a:solidFill>
            <a:prstDash val="dash"/>
          </a:ln>
        </p:spPr>
      </p:cxnSp>
      <p:cxnSp>
        <p:nvCxnSpPr>
          <p:cNvPr id="22" name="Hilfslinie_Sigma_Oben">
            <a:extLst>
              <a:ext uri="{FF2B5EF4-FFF2-40B4-BE49-F238E27FC236}">
                <a16:creationId xmlns:a16="http://schemas.microsoft.com/office/drawing/2014/main" id="{77CA50E0-7F4F-750A-F3A1-267108A9FBEA}"/>
              </a:ext>
            </a:extLst>
          </p:cNvPr>
          <p:cNvCxnSpPr/>
          <p:nvPr/>
        </p:nvCxnSpPr>
        <p:spPr>
          <a:xfrm>
            <a:off x="3052473" y="3995844"/>
            <a:ext cx="317500" cy="0"/>
          </a:xfrm>
          <a:prstGeom prst="line">
            <a:avLst/>
          </a:prstGeom>
          <a:ln w="9525" cap="rnd">
            <a:solidFill>
              <a:srgbClr val="E6D34F"/>
            </a:solidFill>
            <a:prstDash val="dash"/>
          </a:ln>
        </p:spPr>
      </p:cxn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C87BF89A-9103-67D6-1DF8-54636BA18E65}"/>
                  </a:ext>
                </a:extLst>
              </p:cNvPr>
              <p:cNvSpPr txBox="1"/>
              <p:nvPr/>
            </p:nvSpPr>
            <p:spPr>
              <a:xfrm>
                <a:off x="2760988" y="4150871"/>
                <a:ext cx="961221" cy="371064"/>
              </a:xfrm>
              <a:prstGeom prst="rect">
                <a:avLst/>
              </a:prstGeom>
              <a:noFill/>
            </p:spPr>
            <p:txBody>
              <a:bodyPr wrap="none" lIns="0" tIns="0" rIns="0" bIns="0" anchor="ctr"/>
              <a:lstStyle>
                <a:lvl1pPr algn="ctr">
                  <a:defRPr b="1">
                    <a:solidFill>
                      <a:srgbClr val="E6D34F"/>
                    </a:solidFill>
                  </a:defRPr>
                </a:lvl1pPr>
              </a:lstStyle>
              <a:p>
                <a:pPr/>
                <a14:m>
                  <m:oMathPara xmlns:m="http://schemas.openxmlformats.org/officeDocument/2006/math">
                    <m:oMathParaPr>
                      <m:jc m:val="centerGroup"/>
                    </m:oMathParaPr>
                    <m:oMath xmlns:m="http://schemas.openxmlformats.org/officeDocument/2006/math">
                      <m:r>
                        <a:rPr lang="de-DE">
                          <a:latin typeface="Cambria Math" panose="02040503050406030204" pitchFamily="18" charset="0"/>
                        </a:rPr>
                        <m:t>𝛥</m:t>
                      </m:r>
                      <m:sSub>
                        <m:sSubPr>
                          <m:ctrlPr>
                            <a:rPr lang="de-DE" i="1">
                              <a:latin typeface="Cambria Math" panose="02040503050406030204" pitchFamily="18" charset="0"/>
                            </a:rPr>
                          </m:ctrlPr>
                        </m:sSubPr>
                        <m:e>
                          <m:r>
                            <a:rPr lang="de-DE">
                              <a:latin typeface="Cambria Math" panose="02040503050406030204" pitchFamily="18" charset="0"/>
                            </a:rPr>
                            <m:t>𝑦</m:t>
                          </m:r>
                        </m:e>
                        <m:sub>
                          <m:r>
                            <a:rPr lang="de-DE">
                              <a:latin typeface="Cambria Math" panose="02040503050406030204" pitchFamily="18" charset="0"/>
                            </a:rPr>
                            <m:t>𝑡</m:t>
                          </m:r>
                        </m:sub>
                      </m:sSub>
                      <m:r>
                        <a:rPr lang="de-DE">
                          <a:latin typeface="Cambria Math" panose="02040503050406030204" pitchFamily="18" charset="0"/>
                        </a:rPr>
                        <m:t>−</m:t>
                      </m:r>
                      <m:acc>
                        <m:accPr>
                          <m:chr m:val="̄"/>
                          <m:ctrlPr>
                            <a:rPr lang="de-DE" i="1">
                              <a:latin typeface="Cambria Math" panose="02040503050406030204" pitchFamily="18" charset="0"/>
                            </a:rPr>
                          </m:ctrlPr>
                        </m:accPr>
                        <m:e>
                          <m:r>
                            <a:rPr lang="de-DE">
                              <a:latin typeface="Cambria Math" panose="02040503050406030204" pitchFamily="18" charset="0"/>
                            </a:rPr>
                            <m:t>𝛥</m:t>
                          </m:r>
                          <m:r>
                            <a:rPr lang="de-DE">
                              <a:latin typeface="Cambria Math" panose="02040503050406030204" pitchFamily="18" charset="0"/>
                            </a:rPr>
                            <m:t>𝑦</m:t>
                          </m:r>
                        </m:e>
                      </m:acc>
                    </m:oMath>
                  </m:oMathPara>
                </a14:m>
                <a:endParaRPr lang="de-DE" dirty="0"/>
              </a:p>
            </p:txBody>
          </p:sp>
        </mc:Choice>
        <mc:Fallback xmlns="">
          <p:sp>
            <p:nvSpPr>
              <p:cNvPr id="23" name="Textfeld 22">
                <a:extLst>
                  <a:ext uri="{FF2B5EF4-FFF2-40B4-BE49-F238E27FC236}">
                    <a16:creationId xmlns:a16="http://schemas.microsoft.com/office/drawing/2014/main" id="{C87BF89A-9103-67D6-1DF8-54636BA18E65}"/>
                  </a:ext>
                </a:extLst>
              </p:cNvPr>
              <p:cNvSpPr txBox="1">
                <a:spLocks noRot="1" noChangeAspect="1" noMove="1" noResize="1" noEditPoints="1" noAdjustHandles="1" noChangeArrowheads="1" noChangeShapeType="1" noTextEdit="1"/>
              </p:cNvSpPr>
              <p:nvPr/>
            </p:nvSpPr>
            <p:spPr>
              <a:xfrm>
                <a:off x="2760988" y="4150871"/>
                <a:ext cx="961221" cy="371064"/>
              </a:xfrm>
              <a:prstGeom prst="rect">
                <a:avLst/>
              </a:prstGeom>
              <a:blipFill>
                <a:blip r:embed="rId5"/>
                <a:stretch>
                  <a:fillRect l="-6494" r="-3896" b="-9677"/>
                </a:stretch>
              </a:blipFill>
            </p:spPr>
            <p:txBody>
              <a:bodyPr/>
              <a:lstStyle/>
              <a:p>
                <a:r>
                  <a:rPr lang="de-DE">
                    <a:noFill/>
                  </a:rPr>
                  <a:t> </a:t>
                </a:r>
              </a:p>
            </p:txBody>
          </p:sp>
        </mc:Fallback>
      </mc:AlternateContent>
      <p:sp>
        <p:nvSpPr>
          <p:cNvPr id="7" name="Textfeld 6">
            <a:extLst>
              <a:ext uri="{FF2B5EF4-FFF2-40B4-BE49-F238E27FC236}">
                <a16:creationId xmlns:a16="http://schemas.microsoft.com/office/drawing/2014/main" id="{B3D616A4-3FEE-AFC8-543C-2E0F455E7B2B}"/>
              </a:ext>
            </a:extLst>
          </p:cNvPr>
          <p:cNvSpPr txBox="1"/>
          <p:nvPr/>
        </p:nvSpPr>
        <p:spPr>
          <a:xfrm rot="16200000">
            <a:off x="70944" y="3385295"/>
            <a:ext cx="957378" cy="338554"/>
          </a:xfrm>
          <a:prstGeom prst="rect">
            <a:avLst/>
          </a:prstGeom>
          <a:noFill/>
        </p:spPr>
        <p:txBody>
          <a:bodyPr wrap="none" rtlCol="0">
            <a:spAutoFit/>
          </a:bodyPr>
          <a:lstStyle/>
          <a:p>
            <a:r>
              <a:rPr lang="de-DE" sz="1600" b="1" dirty="0">
                <a:solidFill>
                  <a:srgbClr val="F2EFDA"/>
                </a:solidFill>
              </a:rPr>
              <a:t>Kennzahl</a:t>
            </a:r>
          </a:p>
        </p:txBody>
      </p:sp>
    </p:spTree>
    <p:extLst>
      <p:ext uri="{BB962C8B-B14F-4D97-AF65-F5344CB8AC3E}">
        <p14:creationId xmlns:p14="http://schemas.microsoft.com/office/powerpoint/2010/main" val="373924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Shape 16">
            <a:extLst>
              <a:ext uri="{FF2B5EF4-FFF2-40B4-BE49-F238E27FC236}">
                <a16:creationId xmlns:a16="http://schemas.microsoft.com/office/drawing/2014/main" id="{0EDC59D2-A420-643C-D8EA-9C0E9711EF60}"/>
              </a:ext>
            </a:extLst>
          </p:cNvPr>
          <p:cNvSpPr/>
          <p:nvPr/>
        </p:nvSpPr>
        <p:spPr>
          <a:xfrm>
            <a:off x="341036" y="1619701"/>
            <a:ext cx="5779249" cy="45840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05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 xml:space="preserve">Vier </a:t>
            </a:r>
            <a:r>
              <a:rPr lang="en-US" sz="2300" b="1" kern="0" spc="-50" dirty="0" err="1">
                <a:solidFill>
                  <a:srgbClr val="F2EFDA"/>
                </a:solidFill>
                <a:latin typeface="Arial" pitchFamily="34" charset="0"/>
                <a:ea typeface="Arial" pitchFamily="34" charset="-122"/>
                <a:cs typeface="Arial" pitchFamily="34" charset="-120"/>
              </a:rPr>
              <a:t>Quadranten</a:t>
            </a:r>
            <a:endParaRPr lang="en-US" sz="2300" dirty="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METHODIK</a:t>
            </a:r>
          </a:p>
        </p:txBody>
      </p:sp>
      <p:sp>
        <p:nvSpPr>
          <p:cNvPr id="34" name="Shape 12">
            <a:extLst>
              <a:ext uri="{FF2B5EF4-FFF2-40B4-BE49-F238E27FC236}">
                <a16:creationId xmlns:a16="http://schemas.microsoft.com/office/drawing/2014/main" id="{24307684-3263-A01D-89DE-A5FB50BAB70B}"/>
              </a:ext>
            </a:extLst>
          </p:cNvPr>
          <p:cNvSpPr/>
          <p:nvPr/>
        </p:nvSpPr>
        <p:spPr>
          <a:xfrm>
            <a:off x="6465620" y="13681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758B25B-3AB3-7352-18FD-624509E04F2F}"/>
              </a:ext>
            </a:extLst>
          </p:cNvPr>
          <p:cNvSpPr/>
          <p:nvPr/>
        </p:nvSpPr>
        <p:spPr>
          <a:xfrm>
            <a:off x="6500651" y="15860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0F6E75AC-BC04-351D-2E4F-F498A1E3A861}"/>
              </a:ext>
            </a:extLst>
          </p:cNvPr>
          <p:cNvSpPr/>
          <p:nvPr/>
        </p:nvSpPr>
        <p:spPr>
          <a:xfrm>
            <a:off x="6599840" y="16197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xml:space="preserve">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ml:space="preserve"> x- und y- </a:t>
            </a:r>
            <a:r>
              <a:rPr lang="en-US" sz="1400" dirty="0" err="1">
                <a:solidFill>
                  <a:srgbClr val="F2EFDA"/>
                </a:solidFill>
                <a:latin typeface="Arial" pitchFamily="34" charset="0"/>
                <a:ea typeface="Arial" pitchFamily="34" charset="-122"/>
                <a:cs typeface="Arial" pitchFamily="34" charset="-120"/>
              </a:rPr>
              <a:t>Koordinate</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6464959" y="31458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D333D71B-7735-4E3B-E0A9-25B8FC061182}"/>
              </a:ext>
            </a:extLst>
          </p:cNvPr>
          <p:cNvSpPr/>
          <p:nvPr/>
        </p:nvSpPr>
        <p:spPr>
          <a:xfrm>
            <a:off x="6499990" y="33637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F9C655DB-7830-A7FF-D5A2-0E4F3ABB8791}"/>
              </a:ext>
            </a:extLst>
          </p:cNvPr>
          <p:cNvSpPr/>
          <p:nvPr/>
        </p:nvSpPr>
        <p:spPr>
          <a:xfrm>
            <a:off x="6524469" y="33973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Unterteilung</a:t>
            </a:r>
            <a:r>
              <a:rPr lang="en-US" sz="1400" dirty="0">
                <a:solidFill>
                  <a:srgbClr val="F2EFDA"/>
                </a:solidFill>
                <a:latin typeface="Arial" pitchFamily="34" charset="0"/>
                <a:ea typeface="Arial" pitchFamily="34" charset="-122"/>
                <a:cs typeface="Arial" pitchFamily="34" charset="-120"/>
              </a:rPr>
              <a:t xml:space="preserve"> für </a:t>
            </a:r>
            <a:r>
              <a:rPr lang="en-US" sz="1400" dirty="0" err="1">
                <a:solidFill>
                  <a:srgbClr val="F2EFDA"/>
                </a:solidFill>
                <a:latin typeface="Arial" pitchFamily="34" charset="0"/>
                <a:ea typeface="Arial" pitchFamily="34" charset="-122"/>
                <a:cs typeface="Arial" pitchFamily="34" charset="-120"/>
              </a:rPr>
              <a:t>jede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xml:space="preserve"> Median-Split</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6464959" y="4955748"/>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44" name="Text 13">
            <a:extLst>
              <a:ext uri="{FF2B5EF4-FFF2-40B4-BE49-F238E27FC236}">
                <a16:creationId xmlns:a16="http://schemas.microsoft.com/office/drawing/2014/main" id="{BC43F0F2-B75D-F18B-705B-F8E91A32425B}"/>
              </a:ext>
            </a:extLst>
          </p:cNvPr>
          <p:cNvSpPr/>
          <p:nvPr/>
        </p:nvSpPr>
        <p:spPr>
          <a:xfrm>
            <a:off x="6499990" y="5173653"/>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3</a:t>
            </a:r>
            <a:endParaRPr lang="en-US" sz="1400"/>
          </a:p>
        </p:txBody>
      </p:sp>
      <p:sp>
        <p:nvSpPr>
          <p:cNvPr id="46" name="Text 15">
            <a:extLst>
              <a:ext uri="{FF2B5EF4-FFF2-40B4-BE49-F238E27FC236}">
                <a16:creationId xmlns:a16="http://schemas.microsoft.com/office/drawing/2014/main" id="{2F9779FA-E5BC-D265-7BD6-B12B84E76E69}"/>
              </a:ext>
            </a:extLst>
          </p:cNvPr>
          <p:cNvSpPr/>
          <p:nvPr/>
        </p:nvSpPr>
        <p:spPr>
          <a:xfrm>
            <a:off x="6524469" y="5207308"/>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xml:space="preserve"> Variation ρ² ≤ 6 %</a:t>
            </a:r>
            <a:endParaRPr lang="en-US" sz="1400" dirty="0"/>
          </a:p>
        </p:txBody>
      </p:sp>
      <p:sp>
        <p:nvSpPr>
          <p:cNvPr id="47" name="Shape 14">
            <a:extLst>
              <a:ext uri="{FF2B5EF4-FFF2-40B4-BE49-F238E27FC236}">
                <a16:creationId xmlns:a16="http://schemas.microsoft.com/office/drawing/2014/main" id="{97DFBAE3-357A-F11D-FA76-D410C78576F2}"/>
              </a:ext>
            </a:extLst>
          </p:cNvPr>
          <p:cNvSpPr/>
          <p:nvPr/>
        </p:nvSpPr>
        <p:spPr>
          <a:xfrm>
            <a:off x="6891119" y="17213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A9F28197-AC8F-5CCA-E246-4FC83BBCC1F3}"/>
              </a:ext>
            </a:extLst>
          </p:cNvPr>
          <p:cNvSpPr/>
          <p:nvPr/>
        </p:nvSpPr>
        <p:spPr>
          <a:xfrm>
            <a:off x="6889861" y="3512104"/>
            <a:ext cx="4427756" cy="18000"/>
          </a:xfrm>
          <a:prstGeom prst="rect">
            <a:avLst/>
          </a:prstGeom>
          <a:solidFill>
            <a:srgbClr val="DBDEE2"/>
          </a:solidFill>
          <a:ln/>
        </p:spPr>
        <p:txBody>
          <a:bodyPr/>
          <a:lstStyle/>
          <a:p>
            <a:endParaRPr lang="de-DE"/>
          </a:p>
        </p:txBody>
      </p:sp>
      <p:sp>
        <p:nvSpPr>
          <p:cNvPr id="49" name="Shape 14">
            <a:extLst>
              <a:ext uri="{FF2B5EF4-FFF2-40B4-BE49-F238E27FC236}">
                <a16:creationId xmlns:a16="http://schemas.microsoft.com/office/drawing/2014/main" id="{788F02BE-EE59-0DFB-3743-D055F98990BB}"/>
              </a:ext>
            </a:extLst>
          </p:cNvPr>
          <p:cNvSpPr/>
          <p:nvPr/>
        </p:nvSpPr>
        <p:spPr>
          <a:xfrm>
            <a:off x="6889861" y="5322016"/>
            <a:ext cx="4427756" cy="18000"/>
          </a:xfrm>
          <a:prstGeom prst="rect">
            <a:avLst/>
          </a:prstGeom>
          <a:solidFill>
            <a:srgbClr val="DBDEE2"/>
          </a:solidFill>
          <a:ln/>
        </p:spPr>
        <p:txBody>
          <a:bodyPr/>
          <a:lstStyle/>
          <a:p>
            <a:endParaRPr lang="de-DE"/>
          </a:p>
        </p:txBody>
      </p:sp>
      <p:grpSp>
        <p:nvGrpSpPr>
          <p:cNvPr id="4" name="Gruppieren 3">
            <a:extLst>
              <a:ext uri="{FF2B5EF4-FFF2-40B4-BE49-F238E27FC236}">
                <a16:creationId xmlns:a16="http://schemas.microsoft.com/office/drawing/2014/main" id="{F55B37CB-C036-7061-87B0-8835DD0E9D0B}"/>
              </a:ext>
            </a:extLst>
          </p:cNvPr>
          <p:cNvGrpSpPr>
            <a:grpSpLocks noChangeAspect="1"/>
          </p:cNvGrpSpPr>
          <p:nvPr/>
        </p:nvGrpSpPr>
        <p:grpSpPr>
          <a:xfrm>
            <a:off x="725364" y="1509315"/>
            <a:ext cx="4291933" cy="4474141"/>
            <a:chOff x="1310081" y="1802745"/>
            <a:chExt cx="3314157" cy="3454855"/>
          </a:xfrm>
        </p:grpSpPr>
        <p:sp>
          <p:nvSpPr>
            <p:cNvPr id="50" name="Shape 20">
              <a:extLst>
                <a:ext uri="{FF2B5EF4-FFF2-40B4-BE49-F238E27FC236}">
                  <a16:creationId xmlns:a16="http://schemas.microsoft.com/office/drawing/2014/main" id="{43D0FA38-5B66-D1EB-7410-D66597F45441}"/>
                </a:ext>
              </a:extLst>
            </p:cNvPr>
            <p:cNvSpPr/>
            <p:nvPr/>
          </p:nvSpPr>
          <p:spPr>
            <a:xfrm>
              <a:off x="1726794" y="2325431"/>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51" name="Text 21">
              <a:extLst>
                <a:ext uri="{FF2B5EF4-FFF2-40B4-BE49-F238E27FC236}">
                  <a16:creationId xmlns:a16="http://schemas.microsoft.com/office/drawing/2014/main" id="{D68C807F-9DB3-C586-A8D5-A55B9B248FE3}"/>
                </a:ext>
              </a:extLst>
            </p:cNvPr>
            <p:cNvSpPr/>
            <p:nvPr/>
          </p:nvSpPr>
          <p:spPr>
            <a:xfrm>
              <a:off x="1726794" y="2544122"/>
              <a:ext cx="1384402" cy="437080"/>
            </a:xfrm>
            <a:prstGeom prst="rect">
              <a:avLst/>
            </a:prstGeom>
            <a:noFill/>
            <a:ln/>
          </p:spPr>
          <p:txBody>
            <a:bodyPr wrap="square" rtlCol="0" anchor="t"/>
            <a:lstStyle/>
            <a:p>
              <a:pPr marL="0" indent="0" algn="ctr">
                <a:lnSpc>
                  <a:spcPct val="105000"/>
                </a:lnSpc>
                <a:buNone/>
              </a:pPr>
              <a:r>
                <a:rPr lang="en-US" sz="1200" b="1" kern="0" spc="100" dirty="0">
                  <a:solidFill>
                    <a:srgbClr val="6AA7F4"/>
                  </a:solidFill>
                  <a:latin typeface="Courier New" pitchFamily="34" charset="0"/>
                  <a:ea typeface="Courier New" pitchFamily="34" charset="-122"/>
                  <a:cs typeface="Courier New" pitchFamily="34" charset="-120"/>
                </a:rPr>
                <a:t>KORREKTIV-VOLATIL</a:t>
              </a:r>
              <a:endParaRPr lang="en-US" sz="1200" dirty="0"/>
            </a:p>
          </p:txBody>
        </p:sp>
        <p:sp>
          <p:nvSpPr>
            <p:cNvPr id="52" name="Text 22">
              <a:extLst>
                <a:ext uri="{FF2B5EF4-FFF2-40B4-BE49-F238E27FC236}">
                  <a16:creationId xmlns:a16="http://schemas.microsoft.com/office/drawing/2014/main" id="{4F4D47BB-1E6E-389D-B9D7-BADF3844ECBC}"/>
                </a:ext>
              </a:extLst>
            </p:cNvPr>
            <p:cNvSpPr/>
            <p:nvPr/>
          </p:nvSpPr>
          <p:spPr>
            <a:xfrm>
              <a:off x="1726793" y="3057845"/>
              <a:ext cx="1379722" cy="32015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3" name="Shape 23">
              <a:extLst>
                <a:ext uri="{FF2B5EF4-FFF2-40B4-BE49-F238E27FC236}">
                  <a16:creationId xmlns:a16="http://schemas.microsoft.com/office/drawing/2014/main" id="{5C0E9600-EE8E-D8BE-0A4D-5EF6760D0953}"/>
                </a:ext>
              </a:extLst>
            </p:cNvPr>
            <p:cNvSpPr/>
            <p:nvPr/>
          </p:nvSpPr>
          <p:spPr>
            <a:xfrm>
              <a:off x="3212694" y="2325431"/>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54" name="Text 24">
              <a:extLst>
                <a:ext uri="{FF2B5EF4-FFF2-40B4-BE49-F238E27FC236}">
                  <a16:creationId xmlns:a16="http://schemas.microsoft.com/office/drawing/2014/main" id="{8B12939C-1556-5600-C571-E191A5A263CA}"/>
                </a:ext>
              </a:extLst>
            </p:cNvPr>
            <p:cNvSpPr/>
            <p:nvPr/>
          </p:nvSpPr>
          <p:spPr>
            <a:xfrm>
              <a:off x="3219814" y="2549639"/>
              <a:ext cx="1384402" cy="455113"/>
            </a:xfrm>
            <a:prstGeom prst="rect">
              <a:avLst/>
            </a:prstGeom>
            <a:noFill/>
            <a:ln/>
          </p:spPr>
          <p:txBody>
            <a:bodyPr wrap="square" rtlCol="0" anchor="t"/>
            <a:lstStyle/>
            <a:p>
              <a:pPr marL="0" indent="0" algn="ctr">
                <a:lnSpc>
                  <a:spcPct val="105000"/>
                </a:lnSpc>
                <a:buNone/>
              </a:pPr>
              <a:r>
                <a:rPr lang="en-US" sz="1200" b="1" kern="0" spc="100" dirty="0">
                  <a:solidFill>
                    <a:srgbClr val="F36451"/>
                  </a:solidFill>
                  <a:latin typeface="Courier New" pitchFamily="34" charset="0"/>
                  <a:ea typeface="Courier New" pitchFamily="34" charset="-122"/>
                  <a:cs typeface="Courier New" pitchFamily="34" charset="-120"/>
                </a:rPr>
                <a:t>PERSISTENT-VOLATIL</a:t>
              </a:r>
              <a:endParaRPr lang="en-US" sz="1200" dirty="0"/>
            </a:p>
          </p:txBody>
        </p:sp>
        <p:sp>
          <p:nvSpPr>
            <p:cNvPr id="55" name="Text 25">
              <a:extLst>
                <a:ext uri="{FF2B5EF4-FFF2-40B4-BE49-F238E27FC236}">
                  <a16:creationId xmlns:a16="http://schemas.microsoft.com/office/drawing/2014/main" id="{CD27CF29-98B7-ED80-4C33-9FD1BD39A197}"/>
                </a:ext>
              </a:extLst>
            </p:cNvPr>
            <p:cNvSpPr/>
            <p:nvPr/>
          </p:nvSpPr>
          <p:spPr>
            <a:xfrm>
              <a:off x="3212694" y="3044687"/>
              <a:ext cx="1384402" cy="39584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a:t>
              </a:r>
              <a:br>
                <a:rPr lang="en-US" sz="1050" dirty="0">
                  <a:solidFill>
                    <a:srgbClr val="B3BC9A"/>
                  </a:solidFill>
                  <a:latin typeface="Arial" pitchFamily="34" charset="0"/>
                  <a:ea typeface="Arial" pitchFamily="34" charset="-122"/>
                  <a:cs typeface="Arial" pitchFamily="34" charset="-120"/>
                </a:rPr>
              </a:b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6" name="Shape 26">
              <a:extLst>
                <a:ext uri="{FF2B5EF4-FFF2-40B4-BE49-F238E27FC236}">
                  <a16:creationId xmlns:a16="http://schemas.microsoft.com/office/drawing/2014/main" id="{3B6F4360-4D96-FB1C-EF59-95A25FC882A4}"/>
                </a:ext>
              </a:extLst>
            </p:cNvPr>
            <p:cNvSpPr/>
            <p:nvPr/>
          </p:nvSpPr>
          <p:spPr>
            <a:xfrm>
              <a:off x="1726794" y="3822906"/>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57" name="Text 27">
              <a:extLst>
                <a:ext uri="{FF2B5EF4-FFF2-40B4-BE49-F238E27FC236}">
                  <a16:creationId xmlns:a16="http://schemas.microsoft.com/office/drawing/2014/main" id="{A5ACDA0C-E803-8DF9-11F1-6860DE609810}"/>
                </a:ext>
              </a:extLst>
            </p:cNvPr>
            <p:cNvSpPr/>
            <p:nvPr/>
          </p:nvSpPr>
          <p:spPr>
            <a:xfrm>
              <a:off x="1733194" y="4030011"/>
              <a:ext cx="1371601" cy="382304"/>
            </a:xfrm>
            <a:prstGeom prst="rect">
              <a:avLst/>
            </a:prstGeom>
            <a:noFill/>
            <a:ln/>
          </p:spPr>
          <p:txBody>
            <a:bodyPr wrap="square" rtlCol="0" anchor="t"/>
            <a:lstStyle/>
            <a:p>
              <a:pPr marL="0" indent="0" algn="ctr">
                <a:lnSpc>
                  <a:spcPct val="105000"/>
                </a:lnSpc>
                <a:buNone/>
              </a:pPr>
              <a:r>
                <a:rPr lang="en-US" sz="1200" b="1" kern="0" spc="100" dirty="0">
                  <a:solidFill>
                    <a:srgbClr val="3EB977"/>
                  </a:solidFill>
                  <a:latin typeface="Courier New" pitchFamily="34" charset="0"/>
                  <a:ea typeface="Courier New" pitchFamily="34" charset="-122"/>
                  <a:cs typeface="Courier New" pitchFamily="34" charset="-120"/>
                </a:rPr>
                <a:t>KORREKTIV-</a:t>
              </a:r>
              <a:br>
                <a:rPr lang="en-US" sz="1200" b="1" kern="0" spc="100" dirty="0">
                  <a:solidFill>
                    <a:srgbClr val="3EB977"/>
                  </a:solidFill>
                  <a:latin typeface="Courier New" pitchFamily="34" charset="0"/>
                  <a:ea typeface="Courier New" pitchFamily="34" charset="-122"/>
                  <a:cs typeface="Courier New" pitchFamily="34" charset="-120"/>
                </a:rPr>
              </a:br>
              <a:r>
                <a:rPr lang="en-US" sz="1200" b="1" kern="0" spc="100" dirty="0">
                  <a:solidFill>
                    <a:srgbClr val="3EB977"/>
                  </a:solidFill>
                  <a:latin typeface="Courier New" pitchFamily="34" charset="0"/>
                  <a:ea typeface="Courier New" pitchFamily="34" charset="-122"/>
                  <a:cs typeface="Courier New" pitchFamily="34" charset="-120"/>
                </a:rPr>
                <a:t>STABIL</a:t>
              </a:r>
              <a:endParaRPr lang="en-US" sz="1200" dirty="0"/>
            </a:p>
          </p:txBody>
        </p:sp>
        <p:sp>
          <p:nvSpPr>
            <p:cNvPr id="58" name="Text 28">
              <a:extLst>
                <a:ext uri="{FF2B5EF4-FFF2-40B4-BE49-F238E27FC236}">
                  <a16:creationId xmlns:a16="http://schemas.microsoft.com/office/drawing/2014/main" id="{B2A24319-FA2F-99B4-BAC3-141988FD0074}"/>
                </a:ext>
              </a:extLst>
            </p:cNvPr>
            <p:cNvSpPr/>
            <p:nvPr/>
          </p:nvSpPr>
          <p:spPr>
            <a:xfrm>
              <a:off x="1726793" y="4613919"/>
              <a:ext cx="1371601"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 xml:space="preserve">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9" name="Shape 29">
              <a:extLst>
                <a:ext uri="{FF2B5EF4-FFF2-40B4-BE49-F238E27FC236}">
                  <a16:creationId xmlns:a16="http://schemas.microsoft.com/office/drawing/2014/main" id="{49DD4501-F484-83BB-84D6-BA1B6D836013}"/>
                </a:ext>
              </a:extLst>
            </p:cNvPr>
            <p:cNvSpPr/>
            <p:nvPr/>
          </p:nvSpPr>
          <p:spPr>
            <a:xfrm>
              <a:off x="3212694" y="3822906"/>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60" name="Text 30">
              <a:extLst>
                <a:ext uri="{FF2B5EF4-FFF2-40B4-BE49-F238E27FC236}">
                  <a16:creationId xmlns:a16="http://schemas.microsoft.com/office/drawing/2014/main" id="{1EC9A50B-FAFF-4700-7EAF-1E0AE6B1C685}"/>
                </a:ext>
              </a:extLst>
            </p:cNvPr>
            <p:cNvSpPr/>
            <p:nvPr/>
          </p:nvSpPr>
          <p:spPr>
            <a:xfrm>
              <a:off x="3230660" y="4039282"/>
              <a:ext cx="1359531" cy="382304"/>
            </a:xfrm>
            <a:prstGeom prst="rect">
              <a:avLst/>
            </a:prstGeom>
            <a:noFill/>
            <a:ln/>
          </p:spPr>
          <p:txBody>
            <a:bodyPr wrap="square" rtlCol="0" anchor="t"/>
            <a:lstStyle/>
            <a:p>
              <a:pPr marL="0" indent="0" algn="ctr">
                <a:lnSpc>
                  <a:spcPct val="105000"/>
                </a:lnSpc>
                <a:buNone/>
              </a:pPr>
              <a:r>
                <a:rPr lang="en-US" sz="1200" b="1" kern="0" spc="100" dirty="0">
                  <a:solidFill>
                    <a:srgbClr val="E4CA5F"/>
                  </a:solidFill>
                  <a:latin typeface="Courier New" pitchFamily="34" charset="0"/>
                  <a:ea typeface="Courier New" pitchFamily="34" charset="-122"/>
                  <a:cs typeface="Courier New" pitchFamily="34" charset="-120"/>
                </a:rPr>
                <a:t>PERSISTENT-STABIL</a:t>
              </a:r>
              <a:endParaRPr lang="en-US" sz="1200" dirty="0"/>
            </a:p>
          </p:txBody>
        </p:sp>
        <p:sp>
          <p:nvSpPr>
            <p:cNvPr id="61" name="Text 31">
              <a:extLst>
                <a:ext uri="{FF2B5EF4-FFF2-40B4-BE49-F238E27FC236}">
                  <a16:creationId xmlns:a16="http://schemas.microsoft.com/office/drawing/2014/main" id="{F55F4CEE-18D1-F87C-8A60-84B1455C5904}"/>
                </a:ext>
              </a:extLst>
            </p:cNvPr>
            <p:cNvSpPr/>
            <p:nvPr/>
          </p:nvSpPr>
          <p:spPr>
            <a:xfrm>
              <a:off x="3219814" y="4621036"/>
              <a:ext cx="1371602"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 xml:space="preserve">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xml:space="preserve">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62" name="Shape 32">
              <a:extLst>
                <a:ext uri="{FF2B5EF4-FFF2-40B4-BE49-F238E27FC236}">
                  <a16:creationId xmlns:a16="http://schemas.microsoft.com/office/drawing/2014/main" id="{69683159-F678-5F61-F286-5344430851B2}"/>
                </a:ext>
              </a:extLst>
            </p:cNvPr>
            <p:cNvSpPr/>
            <p:nvPr/>
          </p:nvSpPr>
          <p:spPr>
            <a:xfrm>
              <a:off x="3158378" y="2337006"/>
              <a:ext cx="25603" cy="2920594"/>
            </a:xfrm>
            <a:prstGeom prst="rect">
              <a:avLst/>
            </a:prstGeom>
            <a:solidFill>
              <a:srgbClr val="DBDEE2"/>
            </a:solidFill>
            <a:ln/>
          </p:spPr>
          <p:txBody>
            <a:bodyPr/>
            <a:lstStyle/>
            <a:p>
              <a:endParaRPr lang="de-DE"/>
            </a:p>
          </p:txBody>
        </p:sp>
        <p:sp>
          <p:nvSpPr>
            <p:cNvPr id="63" name="Shape 33">
              <a:extLst>
                <a:ext uri="{FF2B5EF4-FFF2-40B4-BE49-F238E27FC236}">
                  <a16:creationId xmlns:a16="http://schemas.microsoft.com/office/drawing/2014/main" id="{B86CF289-76D7-CE78-EAD0-7D42DFC1F768}"/>
                </a:ext>
              </a:extLst>
            </p:cNvPr>
            <p:cNvSpPr/>
            <p:nvPr/>
          </p:nvSpPr>
          <p:spPr>
            <a:xfrm>
              <a:off x="1703644" y="3762266"/>
              <a:ext cx="2920594" cy="25603"/>
            </a:xfrm>
            <a:prstGeom prst="rect">
              <a:avLst/>
            </a:prstGeom>
            <a:solidFill>
              <a:srgbClr val="DBDEE2"/>
            </a:solidFill>
            <a:ln/>
          </p:spPr>
          <p:txBody>
            <a:bodyPr/>
            <a:lstStyle/>
            <a:p>
              <a:endParaRPr lang="de-DE"/>
            </a:p>
          </p:txBody>
        </p:sp>
        <p:sp>
          <p:nvSpPr>
            <p:cNvPr id="64" name="Shape 34">
              <a:extLst>
                <a:ext uri="{FF2B5EF4-FFF2-40B4-BE49-F238E27FC236}">
                  <a16:creationId xmlns:a16="http://schemas.microsoft.com/office/drawing/2014/main" id="{DD24F446-4365-620B-1939-07059F9CBEBB}"/>
                </a:ext>
              </a:extLst>
            </p:cNvPr>
            <p:cNvSpPr/>
            <p:nvPr/>
          </p:nvSpPr>
          <p:spPr>
            <a:xfrm>
              <a:off x="1782789" y="3877686"/>
              <a:ext cx="107899" cy="107899"/>
            </a:xfrm>
            <a:prstGeom prst="ellipse">
              <a:avLst/>
            </a:prstGeom>
            <a:solidFill>
              <a:srgbClr val="3EB977"/>
            </a:solidFill>
            <a:ln/>
          </p:spPr>
          <p:txBody>
            <a:bodyPr/>
            <a:lstStyle/>
            <a:p>
              <a:endParaRPr lang="de-DE"/>
            </a:p>
          </p:txBody>
        </p:sp>
        <p:sp>
          <p:nvSpPr>
            <p:cNvPr id="65" name="Shape 35">
              <a:extLst>
                <a:ext uri="{FF2B5EF4-FFF2-40B4-BE49-F238E27FC236}">
                  <a16:creationId xmlns:a16="http://schemas.microsoft.com/office/drawing/2014/main" id="{53FBED0A-AD80-DF02-DF7A-7521358B3738}"/>
                </a:ext>
              </a:extLst>
            </p:cNvPr>
            <p:cNvSpPr/>
            <p:nvPr/>
          </p:nvSpPr>
          <p:spPr>
            <a:xfrm>
              <a:off x="1782790" y="2378722"/>
              <a:ext cx="107899" cy="107899"/>
            </a:xfrm>
            <a:prstGeom prst="ellipse">
              <a:avLst/>
            </a:prstGeom>
            <a:solidFill>
              <a:srgbClr val="6AA7F4"/>
            </a:solidFill>
            <a:ln/>
          </p:spPr>
          <p:txBody>
            <a:bodyPr/>
            <a:lstStyle/>
            <a:p>
              <a:endParaRPr lang="de-DE"/>
            </a:p>
          </p:txBody>
        </p:sp>
        <p:sp>
          <p:nvSpPr>
            <p:cNvPr id="66" name="Shape 36">
              <a:extLst>
                <a:ext uri="{FF2B5EF4-FFF2-40B4-BE49-F238E27FC236}">
                  <a16:creationId xmlns:a16="http://schemas.microsoft.com/office/drawing/2014/main" id="{4EA99839-0C4B-6EF0-A602-7B8E466501D8}"/>
                </a:ext>
              </a:extLst>
            </p:cNvPr>
            <p:cNvSpPr/>
            <p:nvPr/>
          </p:nvSpPr>
          <p:spPr>
            <a:xfrm>
              <a:off x="3268690" y="3882021"/>
              <a:ext cx="107899" cy="107899"/>
            </a:xfrm>
            <a:prstGeom prst="ellipse">
              <a:avLst/>
            </a:prstGeom>
            <a:solidFill>
              <a:srgbClr val="E4CA5F"/>
            </a:solidFill>
            <a:ln/>
          </p:spPr>
          <p:txBody>
            <a:bodyPr/>
            <a:lstStyle/>
            <a:p>
              <a:endParaRPr lang="de-DE"/>
            </a:p>
          </p:txBody>
        </p:sp>
        <p:sp>
          <p:nvSpPr>
            <p:cNvPr id="67" name="Shape 37">
              <a:extLst>
                <a:ext uri="{FF2B5EF4-FFF2-40B4-BE49-F238E27FC236}">
                  <a16:creationId xmlns:a16="http://schemas.microsoft.com/office/drawing/2014/main" id="{43EC3E95-2106-E459-36A8-4A8A57F460BF}"/>
                </a:ext>
              </a:extLst>
            </p:cNvPr>
            <p:cNvSpPr/>
            <p:nvPr/>
          </p:nvSpPr>
          <p:spPr>
            <a:xfrm>
              <a:off x="3264336" y="2376169"/>
              <a:ext cx="107899" cy="107899"/>
            </a:xfrm>
            <a:prstGeom prst="ellipse">
              <a:avLst/>
            </a:prstGeom>
            <a:solidFill>
              <a:srgbClr val="F36451"/>
            </a:solidFill>
            <a:ln/>
          </p:spPr>
          <p:txBody>
            <a:bodyPr/>
            <a:lstStyle/>
            <a:p>
              <a:endParaRPr lang="de-DE"/>
            </a:p>
          </p:txBody>
        </p:sp>
        <p:sp>
          <p:nvSpPr>
            <p:cNvPr id="68" name="Text 9">
              <a:extLst>
                <a:ext uri="{FF2B5EF4-FFF2-40B4-BE49-F238E27FC236}">
                  <a16:creationId xmlns:a16="http://schemas.microsoft.com/office/drawing/2014/main" id="{C98A64F0-A3AF-9C66-F182-C22FD0857B7B}"/>
                </a:ext>
              </a:extLst>
            </p:cNvPr>
            <p:cNvSpPr/>
            <p:nvPr/>
          </p:nvSpPr>
          <p:spPr>
            <a:xfrm>
              <a:off x="3005334" y="1802745"/>
              <a:ext cx="571500" cy="622706"/>
            </a:xfrm>
            <a:prstGeom prst="rect">
              <a:avLst/>
            </a:prstGeom>
            <a:noFill/>
            <a:ln/>
          </p:spPr>
          <p:txBody>
            <a:bodyPr wrap="square" rtlCol="0" anchor="ctr"/>
            <a:lstStyle/>
            <a:p>
              <a:pPr marL="0" indent="0" algn="l">
                <a:lnSpc>
                  <a:spcPct val="105000"/>
                </a:lnSpc>
                <a:buNone/>
              </a:pPr>
              <a:r>
                <a:rPr lang="en-US" sz="3200" b="1" dirty="0" err="1">
                  <a:solidFill>
                    <a:srgbClr val="79A2F9"/>
                  </a:solidFill>
                  <a:latin typeface="Courier New" pitchFamily="34" charset="0"/>
                  <a:ea typeface="Courier New" pitchFamily="34" charset="-122"/>
                  <a:cs typeface="Courier New" pitchFamily="34" charset="-120"/>
                </a:rPr>
                <a:t>σ</a:t>
              </a:r>
              <a:endParaRPr lang="en-US" sz="3200" dirty="0"/>
            </a:p>
          </p:txBody>
        </p:sp>
        <p:sp>
          <p:nvSpPr>
            <p:cNvPr id="69" name="Text 5">
              <a:extLst>
                <a:ext uri="{FF2B5EF4-FFF2-40B4-BE49-F238E27FC236}">
                  <a16:creationId xmlns:a16="http://schemas.microsoft.com/office/drawing/2014/main" id="{76ED3E53-D4F2-91DE-D1AB-EC86E59ECB23}"/>
                </a:ext>
              </a:extLst>
            </p:cNvPr>
            <p:cNvSpPr/>
            <p:nvPr/>
          </p:nvSpPr>
          <p:spPr>
            <a:xfrm>
              <a:off x="1310081" y="3423630"/>
              <a:ext cx="571500" cy="558698"/>
            </a:xfrm>
            <a:prstGeom prst="rect">
              <a:avLst/>
            </a:prstGeom>
            <a:noFill/>
            <a:ln/>
          </p:spPr>
          <p:txBody>
            <a:bodyPr wrap="square" rtlCol="0" anchor="ctr"/>
            <a:lstStyle/>
            <a:p>
              <a:pPr marL="0" indent="0" algn="l">
                <a:lnSpc>
                  <a:spcPct val="105000"/>
                </a:lnSpc>
                <a:buNone/>
              </a:pPr>
              <a:r>
                <a:rPr lang="en-US" sz="3200" b="1" dirty="0" err="1">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6AE3-2958-86C4-EA4B-A7C133CF00E9}"/>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D6B3AFD3-278C-CC88-CC82-21CD99B1B7D9}"/>
              </a:ext>
            </a:extLst>
          </p:cNvPr>
          <p:cNvSpPr/>
          <p:nvPr/>
        </p:nvSpPr>
        <p:spPr>
          <a:xfrm>
            <a:off x="341036" y="1874345"/>
            <a:ext cx="5779249" cy="3770421"/>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8F76EE4-7095-C527-A9B1-59C2C33C6A69}"/>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4E43CEA6-40CF-97DB-8DE7-86C1F98B36E0}"/>
              </a:ext>
            </a:extLst>
          </p:cNvPr>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err="1">
                <a:solidFill>
                  <a:srgbClr val="F2EFDA"/>
                </a:solidFill>
                <a:latin typeface="Arial" pitchFamily="34" charset="0"/>
                <a:ea typeface="Arial" pitchFamily="34" charset="-122"/>
                <a:cs typeface="Arial" pitchFamily="34" charset="-120"/>
              </a:rPr>
              <a:t>Volatilität: nennergetrieben</a:t>
            </a:r>
            <a:endParaRPr lang="en-US" sz="2300" dirty="0"/>
          </a:p>
        </p:txBody>
      </p:sp>
      <p:sp>
        <p:nvSpPr>
          <p:cNvPr id="34" name="Shape 12">
            <a:extLst>
              <a:ext uri="{FF2B5EF4-FFF2-40B4-BE49-F238E27FC236}">
                <a16:creationId xmlns:a16="http://schemas.microsoft.com/office/drawing/2014/main" id="{7FCD2A1A-87C8-6BF7-50C6-EFC387BDF27D}"/>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80D7BD54-8536-2ECC-3528-A5C162FD261F}"/>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F354A542-B7E2-5DF2-61C2-A7E76B40FB54}"/>
              </a:ext>
            </a:extLst>
          </p:cNvPr>
          <p:cNvSpPr/>
          <p:nvPr/>
        </p:nvSpPr>
        <p:spPr>
          <a:xfrm>
            <a:off x="6599840" y="18864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σ ist nennergetrieben — Median 0,017 (ROA) bis 0,32 (Current Ratio)</a:t>
            </a:r>
            <a:endParaRPr lang="en-US" sz="1400" dirty="0"/>
          </a:p>
        </p:txBody>
      </p:sp>
      <p:sp>
        <p:nvSpPr>
          <p:cNvPr id="38" name="Shape 12">
            <a:extLst>
              <a:ext uri="{FF2B5EF4-FFF2-40B4-BE49-F238E27FC236}">
                <a16:creationId xmlns:a16="http://schemas.microsoft.com/office/drawing/2014/main" id="{98BFFF3D-6319-AE59-D613-2D58068531D2}"/>
              </a:ext>
            </a:extLst>
          </p:cNvPr>
          <p:cNvSpPr/>
          <p:nvPr/>
        </p:nvSpPr>
        <p:spPr>
          <a:xfrm>
            <a:off x="6464959" y="43269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19A4CB85-CA88-B4AD-7961-DCBB8546D8A5}"/>
              </a:ext>
            </a:extLst>
          </p:cNvPr>
          <p:cNvSpPr/>
          <p:nvPr/>
        </p:nvSpPr>
        <p:spPr>
          <a:xfrm>
            <a:off x="6499990" y="45448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002A0DB6-A72F-2501-1C81-9205EEE528A6}"/>
              </a:ext>
            </a:extLst>
          </p:cNvPr>
          <p:cNvSpPr/>
          <p:nvPr/>
        </p:nvSpPr>
        <p:spPr>
          <a:xfrm>
            <a:off x="6524469" y="45784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Vergleich nur innerhalb der Kennzahl — Median-Split je Kennzahl</a:t>
            </a:r>
            <a:endParaRPr lang="en-US" sz="1400" dirty="0"/>
          </a:p>
        </p:txBody>
      </p:sp>
      <p:sp>
        <p:nvSpPr>
          <p:cNvPr id="47" name="Shape 14">
            <a:extLst>
              <a:ext uri="{FF2B5EF4-FFF2-40B4-BE49-F238E27FC236}">
                <a16:creationId xmlns:a16="http://schemas.microsoft.com/office/drawing/2014/main" id="{DDC8FF6E-86DF-59FE-6395-C6EDF8FA85BF}"/>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1649496-72AC-50AA-1388-3D47B135039A}"/>
              </a:ext>
            </a:extLst>
          </p:cNvPr>
          <p:cNvSpPr/>
          <p:nvPr/>
        </p:nvSpPr>
        <p:spPr>
          <a:xfrm>
            <a:off x="6889861" y="469320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D893F2EE-AFBA-49F1-248F-B0D0F2C404F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365483DB-4C52-B652-C386-83796DFDCDE4}"/>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A156F4D-08B3-1179-BFD0-011F980800FF}"/>
              </a:ext>
            </a:extLst>
          </p:cNvPr>
          <p:cNvPicPr>
            <a:picLocks noChangeAspect="1"/>
          </p:cNvPicPr>
          <p:nvPr/>
        </p:nvPicPr>
        <p:blipFill>
          <a:blip r:embed="rId3"/>
          <a:srcRect t="25674" b="858"/>
          <a:stretch>
            <a:fillRect/>
          </a:stretch>
        </p:blipFill>
        <p:spPr>
          <a:xfrm>
            <a:off x="503968" y="2062297"/>
            <a:ext cx="5479312" cy="3430646"/>
          </a:xfrm>
          <a:prstGeom prst="rect">
            <a:avLst/>
          </a:prstGeom>
        </p:spPr>
      </p:pic>
    </p:spTree>
    <p:extLst>
      <p:ext uri="{BB962C8B-B14F-4D97-AF65-F5344CB8AC3E}">
        <p14:creationId xmlns:p14="http://schemas.microsoft.com/office/powerpoint/2010/main" val="1898370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54E2-93E6-548D-DCAF-2312C9FED33D}"/>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58751C72-77DA-2661-918E-370AF53AC66A}"/>
              </a:ext>
            </a:extLst>
          </p:cNvPr>
          <p:cNvSpPr/>
          <p:nvPr/>
        </p:nvSpPr>
        <p:spPr>
          <a:xfrm>
            <a:off x="341036" y="1396324"/>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60C96A02-5AF6-056C-F8EE-45FE34958FB3}"/>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5452EF61-7228-88E4-1CDC-81F7E8B57524}"/>
              </a:ext>
            </a:extLst>
          </p:cNvPr>
          <p:cNvSpPr/>
          <p:nvPr/>
        </p:nvSpPr>
        <p:spPr>
          <a:xfrm>
            <a:off x="634594" y="761695"/>
            <a:ext cx="10921594" cy="437998"/>
          </a:xfrm>
          <a:prstGeom prst="rect">
            <a:avLst/>
          </a:prstGeom>
          <a:noFill/>
          <a:ln/>
        </p:spPr>
        <p:txBody>
          <a:bodyPr wrap="square" rtlCol="0" anchor="t"/>
          <a:lstStyle/>
          <a:p>
            <a:r>
              <a:rPr lang="en-US" sz="2400" b="1" kern="0" spc="-50" dirty="0">
                <a:solidFill>
                  <a:srgbClr val="F2EFDA"/>
                </a:solidFill>
                <a:latin typeface="Arial" pitchFamily="34" charset="0"/>
                <a:ea typeface="Arial" pitchFamily="34" charset="-122"/>
                <a:cs typeface="Arial" pitchFamily="34" charset="-120"/>
              </a:rPr>
              <a:t xml:space="preserve">Mean Reversion der </a:t>
            </a:r>
            <a:r>
              <a:rPr lang="en-US" sz="2400" b="1" kern="0" spc="-50" dirty="0" err="1">
                <a:solidFill>
                  <a:srgbClr val="F2EFDA"/>
                </a:solidFill>
                <a:latin typeface="Arial" pitchFamily="34" charset="0"/>
                <a:ea typeface="Arial" pitchFamily="34" charset="-122"/>
                <a:cs typeface="Arial" pitchFamily="34" charset="-120"/>
              </a:rPr>
              <a:t>Kennzahlen</a:t>
            </a:r>
            <a:endParaRPr lang="en-US" sz="2400" dirty="0"/>
          </a:p>
        </p:txBody>
      </p:sp>
      <p:sp>
        <p:nvSpPr>
          <p:cNvPr id="34" name="Shape 12">
            <a:extLst>
              <a:ext uri="{FF2B5EF4-FFF2-40B4-BE49-F238E27FC236}">
                <a16:creationId xmlns:a16="http://schemas.microsoft.com/office/drawing/2014/main" id="{C19EA1B0-54A6-14E5-42BC-E7B8DD39F9D3}"/>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A45F53D-63DC-BB00-0160-D4C871CE9D61}"/>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E1E571B4-D8B2-A905-6516-72E327A6E420}"/>
              </a:ext>
            </a:extLst>
          </p:cNvPr>
          <p:cNvSpPr/>
          <p:nvPr/>
        </p:nvSpPr>
        <p:spPr>
          <a:xfrm>
            <a:off x="6464959" y="333315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23ADAB6F-9E07-5994-D0C0-8357BB4BF905}"/>
              </a:ext>
            </a:extLst>
          </p:cNvPr>
          <p:cNvSpPr/>
          <p:nvPr/>
        </p:nvSpPr>
        <p:spPr>
          <a:xfrm>
            <a:off x="6499990" y="355106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552B462C-569E-D8B3-230C-01ADF26AEC5A}"/>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08D3D67-C324-1AD4-FF07-C204106BAE63}"/>
              </a:ext>
            </a:extLst>
          </p:cNvPr>
          <p:cNvSpPr/>
          <p:nvPr/>
        </p:nvSpPr>
        <p:spPr>
          <a:xfrm>
            <a:off x="6889861" y="369942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C9E04798-A04A-F7FC-5E10-B109D502408C}"/>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9772CBA-18B2-136A-524C-6208AEEBB28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E0D2427-7208-F751-19D8-19B3738F0262}"/>
              </a:ext>
            </a:extLst>
          </p:cNvPr>
          <p:cNvPicPr>
            <a:picLocks noChangeAspect="1"/>
          </p:cNvPicPr>
          <p:nvPr/>
        </p:nvPicPr>
        <p:blipFill>
          <a:blip r:embed="rId3"/>
          <a:srcRect t="9502" r="16758"/>
          <a:stretch>
            <a:fillRect/>
          </a:stretch>
        </p:blipFill>
        <p:spPr>
          <a:xfrm>
            <a:off x="540969" y="1583059"/>
            <a:ext cx="5364557" cy="4786570"/>
          </a:xfrm>
          <a:prstGeom prst="rect">
            <a:avLst/>
          </a:prstGeom>
        </p:spPr>
      </p:pic>
      <p:sp>
        <p:nvSpPr>
          <p:cNvPr id="9" name="Text 6">
            <a:extLst>
              <a:ext uri="{FF2B5EF4-FFF2-40B4-BE49-F238E27FC236}">
                <a16:creationId xmlns:a16="http://schemas.microsoft.com/office/drawing/2014/main" id="{AA2DFECD-AA68-5F59-BDD2-CF82AE6CDE12}"/>
              </a:ext>
            </a:extLst>
          </p:cNvPr>
          <p:cNvSpPr/>
          <p:nvPr/>
        </p:nvSpPr>
        <p:spPr>
          <a:xfrm>
            <a:off x="6889861" y="2168607"/>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 xml:space="preserve">&gt;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BCB1E86C-7183-E1FF-3E95-0C701BD3C690}"/>
              </a:ext>
            </a:extLst>
          </p:cNvPr>
          <p:cNvSpPr/>
          <p:nvPr/>
        </p:nvSpPr>
        <p:spPr>
          <a:xfrm>
            <a:off x="9095148" y="2168606"/>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pic>
        <p:nvPicPr>
          <p:cNvPr id="14" name="Grafik 13">
            <a:extLst>
              <a:ext uri="{FF2B5EF4-FFF2-40B4-BE49-F238E27FC236}">
                <a16:creationId xmlns:a16="http://schemas.microsoft.com/office/drawing/2014/main" id="{CFC1FD7B-A352-DD42-F8E6-AFF897202966}"/>
              </a:ext>
            </a:extLst>
          </p:cNvPr>
          <p:cNvPicPr>
            <a:picLocks noChangeAspect="1"/>
          </p:cNvPicPr>
          <p:nvPr/>
        </p:nvPicPr>
        <p:blipFill>
          <a:blip r:embed="rId4"/>
          <a:srcRect t="7867" r="17739" b="858"/>
          <a:stretch>
            <a:fillRect/>
          </a:stretch>
        </p:blipFill>
        <p:spPr>
          <a:xfrm>
            <a:off x="592719" y="1498893"/>
            <a:ext cx="5252498" cy="4966784"/>
          </a:xfrm>
          <a:prstGeom prst="rect">
            <a:avLst/>
          </a:prstGeom>
        </p:spPr>
      </p:pic>
      <p:sp>
        <p:nvSpPr>
          <p:cNvPr id="25" name="Text 6">
            <a:extLst>
              <a:ext uri="{FF2B5EF4-FFF2-40B4-BE49-F238E27FC236}">
                <a16:creationId xmlns:a16="http://schemas.microsoft.com/office/drawing/2014/main" id="{C3ED8DB7-B607-4EE4-09B2-8C239F6172C9}"/>
              </a:ext>
            </a:extLst>
          </p:cNvPr>
          <p:cNvSpPr/>
          <p:nvPr/>
        </p:nvSpPr>
        <p:spPr>
          <a:xfrm>
            <a:off x="6889864" y="3866781"/>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xml:space="preserve">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 xml:space="preserve">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94D32090-1D22-A805-3E19-49641D99EB9F}"/>
              </a:ext>
            </a:extLst>
          </p:cNvPr>
          <p:cNvSpPr/>
          <p:nvPr/>
        </p:nvSpPr>
        <p:spPr>
          <a:xfrm>
            <a:off x="9010242" y="3866781"/>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B895259A-79D7-6C58-E7EA-DB8CE637087F}"/>
              </a:ext>
            </a:extLst>
          </p:cNvPr>
          <p:cNvSpPr/>
          <p:nvPr/>
        </p:nvSpPr>
        <p:spPr>
          <a:xfrm>
            <a:off x="6464958" y="5026777"/>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4F4B6BB6-3647-3D37-CEB0-FEC11A051900}"/>
              </a:ext>
            </a:extLst>
          </p:cNvPr>
          <p:cNvSpPr/>
          <p:nvPr/>
        </p:nvSpPr>
        <p:spPr>
          <a:xfrm>
            <a:off x="6499989" y="5244682"/>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B095499C-5AD6-CA93-B65B-0091B9708F60}"/>
              </a:ext>
            </a:extLst>
          </p:cNvPr>
          <p:cNvSpPr/>
          <p:nvPr/>
        </p:nvSpPr>
        <p:spPr>
          <a:xfrm>
            <a:off x="6889860" y="5393045"/>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ED875D25-9F7F-7D76-39F4-9A1DEB15AC44}"/>
              </a:ext>
            </a:extLst>
          </p:cNvPr>
          <p:cNvSpPr/>
          <p:nvPr/>
        </p:nvSpPr>
        <p:spPr>
          <a:xfrm>
            <a:off x="6889863" y="5560402"/>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xml:space="preserve">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xml:space="preserve">  Mean-Reversion</a:t>
            </a:r>
            <a:endParaRPr lang="en-US" sz="1400" dirty="0"/>
          </a:p>
        </p:txBody>
      </p:sp>
      <p:sp>
        <p:nvSpPr>
          <p:cNvPr id="31" name="Text 8">
            <a:extLst>
              <a:ext uri="{FF2B5EF4-FFF2-40B4-BE49-F238E27FC236}">
                <a16:creationId xmlns:a16="http://schemas.microsoft.com/office/drawing/2014/main" id="{6C2C07BB-DE35-7F58-9558-44C77C5F5317}"/>
              </a:ext>
            </a:extLst>
          </p:cNvPr>
          <p:cNvSpPr/>
          <p:nvPr/>
        </p:nvSpPr>
        <p:spPr>
          <a:xfrm>
            <a:off x="9010241" y="5560402"/>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−0,04 − 0,09</a:t>
            </a:r>
            <a:endParaRPr lang="en-US" sz="2000" dirty="0"/>
          </a:p>
        </p:txBody>
      </p:sp>
    </p:spTree>
    <p:extLst>
      <p:ext uri="{BB962C8B-B14F-4D97-AF65-F5344CB8AC3E}">
        <p14:creationId xmlns:p14="http://schemas.microsoft.com/office/powerpoint/2010/main" val="1416874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2FA4-E81D-2E0B-1436-78CE73643038}"/>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745353F1-3BFC-ADE4-DF5E-AA2A8B06C8A4}"/>
              </a:ext>
            </a:extLst>
          </p:cNvPr>
          <p:cNvSpPr/>
          <p:nvPr/>
        </p:nvSpPr>
        <p:spPr>
          <a:xfrm>
            <a:off x="341036" y="469561"/>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5E81087-646C-F7A5-AA29-DFCB382C97CF}"/>
              </a:ext>
            </a:extLst>
          </p:cNvPr>
          <p:cNvSpPr/>
          <p:nvPr/>
        </p:nvSpPr>
        <p:spPr>
          <a:xfrm>
            <a:off x="0" y="0"/>
            <a:ext cx="12191695" cy="38405"/>
          </a:xfrm>
          <a:prstGeom prst="rect">
            <a:avLst/>
          </a:prstGeom>
          <a:solidFill>
            <a:srgbClr val="DBDEE2"/>
          </a:solidFill>
          <a:ln/>
        </p:spPr>
        <p:txBody>
          <a:bodyPr/>
          <a:lstStyle/>
          <a:p>
            <a:endParaRPr lang="de-DE"/>
          </a:p>
        </p:txBody>
      </p:sp>
      <p:sp>
        <p:nvSpPr>
          <p:cNvPr id="34" name="Shape 12">
            <a:extLst>
              <a:ext uri="{FF2B5EF4-FFF2-40B4-BE49-F238E27FC236}">
                <a16:creationId xmlns:a16="http://schemas.microsoft.com/office/drawing/2014/main" id="{3DB06677-B161-1A88-729A-E6EDA0D14C13}"/>
              </a:ext>
            </a:extLst>
          </p:cNvPr>
          <p:cNvSpPr/>
          <p:nvPr/>
        </p:nvSpPr>
        <p:spPr>
          <a:xfrm>
            <a:off x="6465620" y="708077"/>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54C07E23-0124-C4BC-0EA2-71246CA8078E}"/>
              </a:ext>
            </a:extLst>
          </p:cNvPr>
          <p:cNvSpPr/>
          <p:nvPr/>
        </p:nvSpPr>
        <p:spPr>
          <a:xfrm>
            <a:off x="6500651" y="925983"/>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212F8A23-05AF-6F36-B230-54A50F7E85A3}"/>
              </a:ext>
            </a:extLst>
          </p:cNvPr>
          <p:cNvSpPr/>
          <p:nvPr/>
        </p:nvSpPr>
        <p:spPr>
          <a:xfrm>
            <a:off x="6464959" y="2406393"/>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9489B989-8E37-213D-0994-D657F2BFB481}"/>
              </a:ext>
            </a:extLst>
          </p:cNvPr>
          <p:cNvSpPr/>
          <p:nvPr/>
        </p:nvSpPr>
        <p:spPr>
          <a:xfrm>
            <a:off x="6499990" y="2624298"/>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03237D3B-2012-DEF7-0A54-BC56B4C3F82E}"/>
              </a:ext>
            </a:extLst>
          </p:cNvPr>
          <p:cNvSpPr/>
          <p:nvPr/>
        </p:nvSpPr>
        <p:spPr>
          <a:xfrm>
            <a:off x="6891119" y="1061252"/>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052CE9AB-7A15-6BF7-BA06-22248A89F170}"/>
              </a:ext>
            </a:extLst>
          </p:cNvPr>
          <p:cNvSpPr/>
          <p:nvPr/>
        </p:nvSpPr>
        <p:spPr>
          <a:xfrm>
            <a:off x="6889861" y="2772661"/>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A034BBF4-9E68-F529-8FFA-83E48B2FB0D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4AB2A51-FD77-D7B4-E0C0-E213C3A239B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09264BA6-61D7-B3F6-BC59-4A3203D4F112}"/>
              </a:ext>
            </a:extLst>
          </p:cNvPr>
          <p:cNvPicPr>
            <a:picLocks noChangeAspect="1"/>
          </p:cNvPicPr>
          <p:nvPr/>
        </p:nvPicPr>
        <p:blipFill>
          <a:blip r:embed="rId3"/>
          <a:srcRect t="9502" r="16758"/>
          <a:stretch>
            <a:fillRect/>
          </a:stretch>
        </p:blipFill>
        <p:spPr>
          <a:xfrm>
            <a:off x="540969" y="656296"/>
            <a:ext cx="5364557" cy="4786570"/>
          </a:xfrm>
          <a:prstGeom prst="rect">
            <a:avLst/>
          </a:prstGeom>
        </p:spPr>
      </p:pic>
      <p:sp>
        <p:nvSpPr>
          <p:cNvPr id="9" name="Text 6">
            <a:extLst>
              <a:ext uri="{FF2B5EF4-FFF2-40B4-BE49-F238E27FC236}">
                <a16:creationId xmlns:a16="http://schemas.microsoft.com/office/drawing/2014/main" id="{2DD747AF-6C50-1B52-B0BA-D38D5D57D04A}"/>
              </a:ext>
            </a:extLst>
          </p:cNvPr>
          <p:cNvSpPr/>
          <p:nvPr/>
        </p:nvSpPr>
        <p:spPr>
          <a:xfrm>
            <a:off x="6889861" y="1241844"/>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 xml:space="preserve">&gt;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FDF0A116-617C-56BC-A5D6-771A6EF445BD}"/>
              </a:ext>
            </a:extLst>
          </p:cNvPr>
          <p:cNvSpPr/>
          <p:nvPr/>
        </p:nvSpPr>
        <p:spPr>
          <a:xfrm>
            <a:off x="9095148" y="1241843"/>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sp>
        <p:nvSpPr>
          <p:cNvPr id="25" name="Text 6">
            <a:extLst>
              <a:ext uri="{FF2B5EF4-FFF2-40B4-BE49-F238E27FC236}">
                <a16:creationId xmlns:a16="http://schemas.microsoft.com/office/drawing/2014/main" id="{07C09C03-039C-EAAC-9D95-63ECA4205ED7}"/>
              </a:ext>
            </a:extLst>
          </p:cNvPr>
          <p:cNvSpPr/>
          <p:nvPr/>
        </p:nvSpPr>
        <p:spPr>
          <a:xfrm>
            <a:off x="6889864" y="2940018"/>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xml:space="preserve">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 xml:space="preserve">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A97B506E-8AF6-85DE-2ABB-EE5DA0B15FF1}"/>
              </a:ext>
            </a:extLst>
          </p:cNvPr>
          <p:cNvSpPr/>
          <p:nvPr/>
        </p:nvSpPr>
        <p:spPr>
          <a:xfrm>
            <a:off x="9010242" y="2940018"/>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E6F6CC6D-334E-6CDF-D99A-24637F0CF1C2}"/>
              </a:ext>
            </a:extLst>
          </p:cNvPr>
          <p:cNvSpPr/>
          <p:nvPr/>
        </p:nvSpPr>
        <p:spPr>
          <a:xfrm>
            <a:off x="6464958" y="4100014"/>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26380E20-0DC4-1EEC-785D-D8AAA5F18DC8}"/>
              </a:ext>
            </a:extLst>
          </p:cNvPr>
          <p:cNvSpPr/>
          <p:nvPr/>
        </p:nvSpPr>
        <p:spPr>
          <a:xfrm>
            <a:off x="6499989" y="4317919"/>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434B39D1-3FEA-6F58-40BD-D60B74C34D61}"/>
              </a:ext>
            </a:extLst>
          </p:cNvPr>
          <p:cNvSpPr/>
          <p:nvPr/>
        </p:nvSpPr>
        <p:spPr>
          <a:xfrm>
            <a:off x="6889860" y="4466282"/>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1F0D1679-B120-1F49-57BA-090DF53030FF}"/>
              </a:ext>
            </a:extLst>
          </p:cNvPr>
          <p:cNvSpPr/>
          <p:nvPr/>
        </p:nvSpPr>
        <p:spPr>
          <a:xfrm>
            <a:off x="6889863" y="4633639"/>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xml:space="preserve">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xml:space="preserve">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xml:space="preserve">  Mean-Reversion</a:t>
            </a:r>
            <a:endParaRPr lang="en-US" sz="1400" dirty="0"/>
          </a:p>
        </p:txBody>
      </p:sp>
      <p:sp>
        <p:nvSpPr>
          <p:cNvPr id="31" name="Text 8">
            <a:extLst>
              <a:ext uri="{FF2B5EF4-FFF2-40B4-BE49-F238E27FC236}">
                <a16:creationId xmlns:a16="http://schemas.microsoft.com/office/drawing/2014/main" id="{2447E42B-9813-60B5-2A8B-9AB04AD1DF63}"/>
              </a:ext>
            </a:extLst>
          </p:cNvPr>
          <p:cNvSpPr/>
          <p:nvPr/>
        </p:nvSpPr>
        <p:spPr>
          <a:xfrm>
            <a:off x="9010241" y="4633639"/>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−0,04 − 0,09</a:t>
            </a:r>
            <a:endParaRPr lang="en-US" sz="2000" dirty="0"/>
          </a:p>
        </p:txBody>
      </p:sp>
      <p:sp>
        <p:nvSpPr>
          <p:cNvPr id="3" name="!!K_Q1">
            <a:extLst>
              <a:ext uri="{FF2B5EF4-FFF2-40B4-BE49-F238E27FC236}">
                <a16:creationId xmlns:a16="http://schemas.microsoft.com/office/drawing/2014/main" id="{702B3D6D-0D82-C280-8AFD-C34D0DD12AC5}"/>
              </a:ext>
            </a:extLst>
          </p:cNvPr>
          <p:cNvSpPr/>
          <p:nvPr/>
        </p:nvSpPr>
        <p:spPr>
          <a:xfrm>
            <a:off x="495633"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 name="!!L_Q1">
            <a:extLst>
              <a:ext uri="{FF2B5EF4-FFF2-40B4-BE49-F238E27FC236}">
                <a16:creationId xmlns:a16="http://schemas.microsoft.com/office/drawing/2014/main" id="{29130253-F7D9-5E0D-67D2-5A9DA87F2792}"/>
              </a:ext>
            </a:extLst>
          </p:cNvPr>
          <p:cNvSpPr/>
          <p:nvPr/>
        </p:nvSpPr>
        <p:spPr>
          <a:xfrm>
            <a:off x="749836"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SIGNIFIKANZRATEN</a:t>
            </a:r>
            <a:endParaRPr lang="en-US" sz="1000" dirty="0"/>
          </a:p>
        </p:txBody>
      </p:sp>
      <p:sp>
        <p:nvSpPr>
          <p:cNvPr id="10" name="!!T_Q1">
            <a:extLst>
              <a:ext uri="{FF2B5EF4-FFF2-40B4-BE49-F238E27FC236}">
                <a16:creationId xmlns:a16="http://schemas.microsoft.com/office/drawing/2014/main" id="{A9DB90E9-468B-57E5-79B7-AB5CF2298323}"/>
              </a:ext>
            </a:extLst>
          </p:cNvPr>
          <p:cNvSpPr/>
          <p:nvPr/>
        </p:nvSpPr>
        <p:spPr>
          <a:xfrm>
            <a:off x="749836" y="6204879"/>
            <a:ext cx="2998792" cy="230000"/>
          </a:xfrm>
          <a:prstGeom prst="rect">
            <a:avLst/>
          </a:prstGeom>
          <a:noFill/>
          <a:ln/>
        </p:spPr>
        <p:txBody>
          <a:bodyPr wrap="square" rtlCol="0" anchor="t"/>
          <a:lstStyle/>
          <a:p>
            <a:pPr marL="0" indent="0" algn="l">
              <a:lnSpc>
                <a:spcPct val="100000"/>
              </a:lnSpc>
              <a:buNone/>
            </a:pPr>
            <a:r>
              <a:rPr lang="en-US" sz="1250" b="1" kern="0" dirty="0">
                <a:solidFill>
                  <a:srgbClr val="78A2F9"/>
                </a:solidFill>
                <a:latin typeface="Courier New" pitchFamily="34" charset="0"/>
                <a:ea typeface="Courier New" pitchFamily="34" charset="-122"/>
                <a:cs typeface="Courier New" pitchFamily="34" charset="-120"/>
              </a:rPr>
              <a:t xml:space="preserve">&gt; 90 % </a:t>
            </a:r>
            <a:r>
              <a:rPr lang="en-US" sz="1250" b="1" kern="0" dirty="0">
                <a:solidFill>
                  <a:srgbClr val="F2EFDA"/>
                </a:solidFill>
                <a:latin typeface="Courier New" pitchFamily="34" charset="0"/>
                <a:ea typeface="Courier New" pitchFamily="34" charset="-122"/>
                <a:cs typeface="Courier New" pitchFamily="34" charset="-120"/>
              </a:rPr>
              <a:t xml:space="preserve">· </a:t>
            </a:r>
            <a:r>
              <a:rPr lang="en-US" sz="1250" b="1" kern="0" dirty="0">
                <a:solidFill>
                  <a:srgbClr val="3CBA77"/>
                </a:solidFill>
                <a:latin typeface="Courier New" pitchFamily="34" charset="0"/>
                <a:ea typeface="Courier New" pitchFamily="34" charset="-122"/>
                <a:cs typeface="Courier New" pitchFamily="34" charset="-120"/>
              </a:rPr>
              <a:t>46 %</a:t>
            </a:r>
            <a:r>
              <a:rPr lang="en-US" sz="1250" b="1" kern="0" dirty="0">
                <a:solidFill>
                  <a:srgbClr val="F2EFDA"/>
                </a:solidFill>
                <a:latin typeface="Courier New" pitchFamily="34" charset="0"/>
                <a:ea typeface="Courier New" pitchFamily="34" charset="-122"/>
                <a:cs typeface="Courier New" pitchFamily="34" charset="-120"/>
              </a:rPr>
              <a:t xml:space="preserve"> · </a:t>
            </a:r>
            <a:r>
              <a:rPr lang="en-US" sz="1250" b="1" kern="0" dirty="0">
                <a:solidFill>
                  <a:srgbClr val="F46451"/>
                </a:solidFill>
                <a:latin typeface="Courier New" pitchFamily="34" charset="0"/>
                <a:cs typeface="Courier New" pitchFamily="34" charset="-120"/>
              </a:rPr>
              <a:t>19–32 %</a:t>
            </a:r>
          </a:p>
        </p:txBody>
      </p:sp>
      <p:sp>
        <p:nvSpPr>
          <p:cNvPr id="12" name="!!K_Q2">
            <a:extLst>
              <a:ext uri="{FF2B5EF4-FFF2-40B4-BE49-F238E27FC236}">
                <a16:creationId xmlns:a16="http://schemas.microsoft.com/office/drawing/2014/main" id="{76958959-4238-A617-8B72-2C231878D7D0}"/>
              </a:ext>
            </a:extLst>
          </p:cNvPr>
          <p:cNvSpPr/>
          <p:nvPr/>
        </p:nvSpPr>
        <p:spPr>
          <a:xfrm>
            <a:off x="4202831"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3" name="!!L_Q2">
            <a:extLst>
              <a:ext uri="{FF2B5EF4-FFF2-40B4-BE49-F238E27FC236}">
                <a16:creationId xmlns:a16="http://schemas.microsoft.com/office/drawing/2014/main" id="{83137080-A3EB-B927-7A40-B7CF9AA56611}"/>
              </a:ext>
            </a:extLst>
          </p:cNvPr>
          <p:cNvSpPr/>
          <p:nvPr/>
        </p:nvSpPr>
        <p:spPr>
          <a:xfrm>
            <a:off x="4457034" y="5864879"/>
            <a:ext cx="2998792" cy="23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MODELLARTEFAKTE</a:t>
            </a:r>
            <a:endParaRPr lang="en-US" sz="1000"/>
          </a:p>
        </p:txBody>
      </p:sp>
      <p:sp>
        <p:nvSpPr>
          <p:cNvPr id="15" name="!!T_Q2">
            <a:extLst>
              <a:ext uri="{FF2B5EF4-FFF2-40B4-BE49-F238E27FC236}">
                <a16:creationId xmlns:a16="http://schemas.microsoft.com/office/drawing/2014/main" id="{DA4278AB-3367-6269-9062-606637343188}"/>
              </a:ext>
            </a:extLst>
          </p:cNvPr>
          <p:cNvSpPr/>
          <p:nvPr/>
        </p:nvSpPr>
        <p:spPr>
          <a:xfrm>
            <a:off x="4457034" y="6124879"/>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11,3 %</a:t>
            </a:r>
            <a:endParaRPr lang="en-US" sz="1250" dirty="0"/>
          </a:p>
        </p:txBody>
      </p:sp>
      <p:sp>
        <p:nvSpPr>
          <p:cNvPr id="16" name="!!K_Q3">
            <a:extLst>
              <a:ext uri="{FF2B5EF4-FFF2-40B4-BE49-F238E27FC236}">
                <a16:creationId xmlns:a16="http://schemas.microsoft.com/office/drawing/2014/main" id="{B0563130-96DE-424D-4161-E920AD40A73C}"/>
              </a:ext>
            </a:extLst>
          </p:cNvPr>
          <p:cNvSpPr/>
          <p:nvPr/>
        </p:nvSpPr>
        <p:spPr>
          <a:xfrm>
            <a:off x="7910029"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7" name="!!L_Q3">
            <a:extLst>
              <a:ext uri="{FF2B5EF4-FFF2-40B4-BE49-F238E27FC236}">
                <a16:creationId xmlns:a16="http://schemas.microsoft.com/office/drawing/2014/main" id="{66ADFB0A-14A9-A6EB-9742-187480BB9643}"/>
              </a:ext>
            </a:extLst>
          </p:cNvPr>
          <p:cNvSpPr/>
          <p:nvPr/>
        </p:nvSpPr>
        <p:spPr>
          <a:xfrm>
            <a:off x="8164232"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VOLATILE FIRMEN</a:t>
            </a:r>
            <a:endParaRPr lang="en-US" sz="1000" dirty="0"/>
          </a:p>
        </p:txBody>
      </p:sp>
      <p:sp>
        <p:nvSpPr>
          <p:cNvPr id="18" name="!!T_Q3">
            <a:extLst>
              <a:ext uri="{FF2B5EF4-FFF2-40B4-BE49-F238E27FC236}">
                <a16:creationId xmlns:a16="http://schemas.microsoft.com/office/drawing/2014/main" id="{7C4E4A49-A0F3-379D-FF5D-A51153E2E020}"/>
              </a:ext>
            </a:extLst>
          </p:cNvPr>
          <p:cNvSpPr/>
          <p:nvPr/>
        </p:nvSpPr>
        <p:spPr>
          <a:xfrm>
            <a:off x="8164232" y="6124879"/>
            <a:ext cx="2998792" cy="520000"/>
          </a:xfrm>
          <a:prstGeom prst="rect">
            <a:avLst/>
          </a:prstGeom>
          <a:noFill/>
          <a:ln/>
        </p:spPr>
        <p:txBody>
          <a:bodyPr wrap="square" rtlCol="0" anchor="t"/>
          <a:lstStyle/>
          <a:p>
            <a:pPr marL="0" indent="0" algn="l">
              <a:lnSpc>
                <a:spcPct val="100000"/>
              </a:lnSpc>
              <a:buNone/>
            </a:pPr>
            <a:r>
              <a:rPr lang="en-US" sz="1250" b="1" kern="0" dirty="0" err="1">
                <a:solidFill>
                  <a:srgbClr val="F2EFDA"/>
                </a:solidFill>
                <a:latin typeface="Courier New" pitchFamily="34" charset="0"/>
                <a:ea typeface="Courier New" pitchFamily="34" charset="-122"/>
                <a:cs typeface="Courier New" pitchFamily="34" charset="-120"/>
              </a:rPr>
              <a:t>σ</a:t>
            </a:r>
            <a:r>
              <a:rPr lang="en-US" sz="1250" b="1" kern="0" dirty="0">
                <a:solidFill>
                  <a:srgbClr val="F2EFDA"/>
                </a:solidFill>
                <a:latin typeface="Courier New" pitchFamily="34" charset="0"/>
                <a:ea typeface="Courier New" pitchFamily="34" charset="-122"/>
                <a:cs typeface="Courier New" pitchFamily="34" charset="-120"/>
              </a:rPr>
              <a:t xml:space="preserve"> &gt; 2:  </a:t>
            </a:r>
            <a:r>
              <a:rPr lang="en-US" sz="1250" b="1" kern="0" dirty="0" err="1">
                <a:solidFill>
                  <a:srgbClr val="F2EFDA"/>
                </a:solidFill>
                <a:latin typeface="Courier New" pitchFamily="34" charset="0"/>
                <a:ea typeface="Courier New" pitchFamily="34" charset="-122"/>
                <a:cs typeface="Courier New" pitchFamily="34" charset="-120"/>
              </a:rPr>
              <a:t>φ</a:t>
            </a:r>
            <a:r>
              <a:rPr lang="en-US" sz="1250" b="1" kern="0" dirty="0">
                <a:solidFill>
                  <a:srgbClr val="F2EFDA"/>
                </a:solidFill>
                <a:latin typeface="Courier New" pitchFamily="34" charset="0"/>
                <a:ea typeface="Courier New" pitchFamily="34" charset="-122"/>
                <a:cs typeface="Courier New" pitchFamily="34" charset="-120"/>
              </a:rPr>
              <a:t xml:space="preserve"> −0,34</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 xml:space="preserve">Bonferroni 37 % </a:t>
            </a:r>
            <a:r>
              <a:rPr lang="en-US" sz="950" kern="0" dirty="0" err="1">
                <a:solidFill>
                  <a:srgbClr val="B3BC9A"/>
                </a:solidFill>
                <a:latin typeface="Arial" pitchFamily="34" charset="0"/>
                <a:ea typeface="Arial" pitchFamily="34" charset="-122"/>
                <a:cs typeface="Arial" pitchFamily="34" charset="-120"/>
              </a:rPr>
              <a:t>statt</a:t>
            </a:r>
            <a:r>
              <a:rPr lang="en-US" sz="950" kern="0" dirty="0">
                <a:solidFill>
                  <a:srgbClr val="B3BC9A"/>
                </a:solidFill>
                <a:latin typeface="Arial" pitchFamily="34" charset="0"/>
                <a:ea typeface="Arial" pitchFamily="34" charset="-122"/>
                <a:cs typeface="Arial" pitchFamily="34" charset="-120"/>
              </a:rPr>
              <a:t xml:space="preserve"> 10 % (Current Ratio) —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xml:space="preserve"> </a:t>
            </a:r>
            <a:r>
              <a:rPr lang="en-US" sz="950" b="1" kern="0" dirty="0" err="1">
                <a:solidFill>
                  <a:srgbClr val="F2EFDA"/>
                </a:solidFill>
                <a:latin typeface="Arial" pitchFamily="34" charset="0"/>
                <a:ea typeface="Arial" pitchFamily="34" charset="-122"/>
                <a:cs typeface="Arial" pitchFamily="34" charset="-120"/>
              </a:rPr>
              <a:t>Bewegung</a:t>
            </a:r>
            <a:r>
              <a:rPr lang="en-US" sz="950" b="1" kern="0" dirty="0">
                <a:solidFill>
                  <a:srgbClr val="F2EFDA"/>
                </a:solidFill>
                <a:latin typeface="Arial" pitchFamily="34" charset="0"/>
                <a:ea typeface="Arial" pitchFamily="34" charset="-122"/>
                <a:cs typeface="Arial" pitchFamily="34" charset="-120"/>
              </a:rPr>
              <a:t xml:space="preserve">,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xml:space="preserve"> Signal</a:t>
            </a:r>
            <a:r>
              <a:rPr lang="en-US" sz="950" kern="0" dirty="0">
                <a:solidFill>
                  <a:srgbClr val="B3BC9A"/>
                </a:solidFill>
                <a:latin typeface="Arial" pitchFamily="34" charset="0"/>
                <a:ea typeface="Arial" pitchFamily="34" charset="-122"/>
                <a:cs typeface="Arial" pitchFamily="34" charset="-120"/>
              </a:rPr>
              <a:t>.</a:t>
            </a:r>
            <a:endParaRPr lang="en-US" sz="950" dirty="0"/>
          </a:p>
        </p:txBody>
      </p:sp>
      <p:sp>
        <p:nvSpPr>
          <p:cNvPr id="20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Mean Reversion der Kennzahlen</a:t>
            </a:r>
            <a:endParaRPr lang="en-US" sz="2000" dirty="0"/>
          </a:p>
        </p:txBody>
      </p:sp>
    </p:spTree>
    <p:extLst>
      <p:ext uri="{BB962C8B-B14F-4D97-AF65-F5344CB8AC3E}">
        <p14:creationId xmlns:p14="http://schemas.microsoft.com/office/powerpoint/2010/main" val="27825398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Kennzahl schlägt Sektor</a:t>
            </a:r>
            <a:endParaRPr lang="en-US" sz="200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STABILES PROFIL</a:t>
            </a:r>
            <a:endParaRPr lang="en-US" sz="100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Versorger · Industrie · BasisK.</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Schwerpunkte in K-S und P-S — geringe Quartalsbewegung.</a:t>
            </a:r>
            <a:endParaRPr lang="en-US" sz="87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PERSISTENTES PROFIL</a:t>
            </a:r>
            <a:endParaRPr lang="en-US" sz="100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Technologie · Grundstoffe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P-V und P-S — Wachstums- und Rohstofftrends wirken nach.</a:t>
            </a:r>
            <a:endParaRPr lang="en-US" sz="87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KORREKTIV-VOLATILES PROFIL</a:t>
            </a:r>
            <a:endParaRPr lang="en-US" sz="100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Immobilien · Komm. · Energie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große Ausschläge, schnelle Korrektur — Preis- und Investitionszyklen.</a:t>
            </a:r>
            <a:endParaRPr lang="en-US" sz="870"/>
          </a:p>
        </p:txBody>
      </p:sp>
      <p:pic>
        <p:nvPicPr>
          <p:cNvPr id="8" name="Grafik 7">
            <a:extLst>
              <a:ext uri="{FF2B5EF4-FFF2-40B4-BE49-F238E27FC236}">
                <a16:creationId xmlns:a16="http://schemas.microsoft.com/office/drawing/2014/main" id="{E31A2D6C-1E1B-E5BA-46BC-C76B6FDBB05B}"/>
              </a:ext>
            </a:extLst>
          </p:cNvPr>
          <p:cNvPicPr>
            <a:picLocks noChangeAspect="1"/>
          </p:cNvPicPr>
          <p:nvPr/>
        </p:nvPicPr>
        <p:blipFill>
          <a:blip r:embed="rId3"/>
          <a:stretch>
            <a:fillRect/>
          </a:stretch>
        </p:blipFill>
        <p:spPr>
          <a:xfrm>
            <a:off x="611664" y="1866290"/>
            <a:ext cx="5484336" cy="3221899"/>
          </a:xfrm>
          <a:prstGeom prst="rect">
            <a:avLst/>
          </a:prstGeom>
        </p:spPr>
      </p:pic>
      <p:sp>
        <p:nvSpPr>
          <p:cNvPr id="230" name="!!K_Sp1"/>
          <p:cNvSpPr/>
          <p:nvPr/>
        </p:nvSpPr>
        <p:spPr>
          <a:xfrm>
            <a:off x="6235294" y="1904695"/>
            <a:ext cx="1693631" cy="1000000"/>
          </a:xfrm>
          <a:prstGeom prst="roundRect">
            <a:avLst>
              <a:gd name="adj" fmla="val 3197"/>
            </a:avLst>
          </a:prstGeom>
          <a:solidFill>
            <a:srgbClr val="153B29"/>
          </a:solidFill>
          <a:ln w="12700">
            <a:solidFill>
              <a:srgbClr val="79A2F9"/>
            </a:solidFill>
            <a:prstDash val="solid"/>
          </a:ln>
        </p:spPr>
        <p:txBody>
          <a:bodyPr/>
          <a:lstStyle/>
          <a:p>
            <a:endParaRPr lang="de-DE"/>
          </a:p>
        </p:txBody>
      </p:sp>
      <p:sp>
        <p:nvSpPr>
          <p:cNvPr id="231" name="!!L_Sp1"/>
          <p:cNvSpPr/>
          <p:nvPr/>
        </p:nvSpPr>
        <p:spPr>
          <a:xfrm>
            <a:off x="6315294" y="2010000"/>
            <a:ext cx="1533631" cy="210000"/>
          </a:xfrm>
          <a:prstGeom prst="rect">
            <a:avLst/>
          </a:prstGeom>
          <a:noFill/>
          <a:ln/>
        </p:spPr>
        <p:txBody>
          <a:bodyPr wrap="square" rtlCol="0" anchor="t"/>
          <a:lstStyle/>
          <a:p>
            <a:pPr marL="0" indent="0" algn="ctr">
              <a:lnSpc>
                <a:spcPct val="105000"/>
              </a:lnSpc>
              <a:buNone/>
            </a:pPr>
            <a:r>
              <a:rPr lang="en-US" sz="850" b="1" kern="0" dirty="0">
                <a:solidFill>
                  <a:srgbClr val="79A2F9"/>
                </a:solidFill>
                <a:latin typeface="Courier New" pitchFamily="34" charset="0"/>
                <a:ea typeface="Courier New" pitchFamily="34" charset="-122"/>
                <a:cs typeface="Courier New" pitchFamily="34" charset="-120"/>
              </a:rPr>
              <a:t xml:space="preserve">PROFITABILITÄT</a:t>
            </a:r>
            <a:endParaRPr lang="en-US" sz="850" dirty="0"/>
          </a:p>
        </p:txBody>
      </p:sp>
      <p:sp>
        <p:nvSpPr>
          <p:cNvPr id="232" name="!!T_Sp1"/>
          <p:cNvSpPr/>
          <p:nvPr/>
        </p:nvSpPr>
        <p:spPr>
          <a:xfrm>
            <a:off x="6315294" y="2260000"/>
            <a:ext cx="1533631" cy="520000"/>
          </a:xfrm>
          <a:prstGeom prst="rect">
            <a:avLst/>
          </a:prstGeom>
          <a:noFill/>
          <a:ln/>
        </p:spPr>
        <p:txBody>
          <a:bodyPr wrap="square" rtlCol="0" anchor="t"/>
          <a:lstStyle/>
          <a:p>
            <a:pPr marL="0" indent="0" algn="ctr">
              <a:lnSpc>
                <a:spcPct val="100000"/>
              </a:lnSpc>
              <a:buNone/>
            </a:pPr>
            <a:r>
              <a:rPr lang="en-US" sz="2200" b="1" kern="0" dirty="0">
                <a:solidFill>
                  <a:srgbClr val="F2EFDA"/>
                </a:solidFill>
                <a:latin typeface="Courier New" pitchFamily="34" charset="0"/>
                <a:ea typeface="Courier New" pitchFamily="34" charset="-122"/>
                <a:cs typeface="Courier New" pitchFamily="34" charset="-120"/>
              </a:rPr>
              <a:t xml:space="preserve">0,12</a:t>
            </a:r>
            <a:endParaRPr lang="en-US" sz="2200" dirty="0"/>
          </a:p>
        </p:txBody>
      </p:sp>
      <p:sp>
        <p:nvSpPr>
          <p:cNvPr id="233" name="!!K_Sp2"/>
          <p:cNvSpPr/>
          <p:nvPr/>
        </p:nvSpPr>
        <p:spPr>
          <a:xfrm>
            <a:off x="8048925" y="1904695"/>
            <a:ext cx="1693631" cy="1000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234" name="!!L_Sp2"/>
          <p:cNvSpPr/>
          <p:nvPr/>
        </p:nvSpPr>
        <p:spPr>
          <a:xfrm>
            <a:off x="8128925" y="2010000"/>
            <a:ext cx="1533631" cy="210000"/>
          </a:xfrm>
          <a:prstGeom prst="rect">
            <a:avLst/>
          </a:prstGeom>
          <a:noFill/>
          <a:ln/>
        </p:spPr>
        <p:txBody>
          <a:bodyPr wrap="square" rtlCol="0" anchor="t"/>
          <a:lstStyle/>
          <a:p>
            <a:pPr marL="0" indent="0" algn="ctr">
              <a:lnSpc>
                <a:spcPct val="105000"/>
              </a:lnSpc>
              <a:buNone/>
            </a:pPr>
            <a:r>
              <a:rPr lang="en-US" sz="850" b="1" kern="0" dirty="0">
                <a:solidFill>
                  <a:srgbClr val="E6D34F"/>
                </a:solidFill>
                <a:latin typeface="Courier New" pitchFamily="34" charset="0"/>
                <a:ea typeface="Courier New" pitchFamily="34" charset="-122"/>
                <a:cs typeface="Courier New" pitchFamily="34" charset="-120"/>
              </a:rPr>
              <a:t xml:space="preserve">LIQUIDITÄT</a:t>
            </a:r>
            <a:endParaRPr lang="en-US" sz="850" dirty="0"/>
          </a:p>
        </p:txBody>
      </p:sp>
      <p:sp>
        <p:nvSpPr>
          <p:cNvPr id="235" name="!!T_Sp2"/>
          <p:cNvSpPr/>
          <p:nvPr/>
        </p:nvSpPr>
        <p:spPr>
          <a:xfrm>
            <a:off x="8128925" y="2260000"/>
            <a:ext cx="1533631" cy="520000"/>
          </a:xfrm>
          <a:prstGeom prst="rect">
            <a:avLst/>
          </a:prstGeom>
          <a:noFill/>
          <a:ln/>
        </p:spPr>
        <p:txBody>
          <a:bodyPr wrap="square" rtlCol="0" anchor="t"/>
          <a:lstStyle/>
          <a:p>
            <a:pPr marL="0" indent="0" algn="ctr">
              <a:lnSpc>
                <a:spcPct val="100000"/>
              </a:lnSpc>
              <a:buNone/>
            </a:pPr>
            <a:r>
              <a:rPr lang="en-US" sz="2200" b="1" kern="0" dirty="0">
                <a:solidFill>
                  <a:srgbClr val="F2EFDA"/>
                </a:solidFill>
                <a:latin typeface="Courier New" pitchFamily="34" charset="0"/>
                <a:ea typeface="Courier New" pitchFamily="34" charset="-122"/>
                <a:cs typeface="Courier New" pitchFamily="34" charset="-120"/>
              </a:rPr>
              <a:t xml:space="preserve">0,24</a:t>
            </a:r>
            <a:endParaRPr lang="en-US" sz="2200" dirty="0"/>
          </a:p>
        </p:txBody>
      </p:sp>
      <p:sp>
        <p:nvSpPr>
          <p:cNvPr id="236" name="!!K_Sp3"/>
          <p:cNvSpPr/>
          <p:nvPr/>
        </p:nvSpPr>
        <p:spPr>
          <a:xfrm>
            <a:off x="9862556" y="1904695"/>
            <a:ext cx="1693631" cy="1000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237" name="!!L_Sp3"/>
          <p:cNvSpPr/>
          <p:nvPr/>
        </p:nvSpPr>
        <p:spPr>
          <a:xfrm>
            <a:off x="9942556" y="2010000"/>
            <a:ext cx="1533631" cy="210000"/>
          </a:xfrm>
          <a:prstGeom prst="rect">
            <a:avLst/>
          </a:prstGeom>
          <a:noFill/>
          <a:ln/>
        </p:spPr>
        <p:txBody>
          <a:bodyPr wrap="square" rtlCol="0" anchor="t"/>
          <a:lstStyle/>
          <a:p>
            <a:pPr marL="0" indent="0" algn="ctr">
              <a:lnSpc>
                <a:spcPct val="105000"/>
              </a:lnSpc>
              <a:buNone/>
            </a:pPr>
            <a:r>
              <a:rPr lang="en-US" sz="850" b="1" kern="0" dirty="0">
                <a:solidFill>
                  <a:srgbClr val="F36451"/>
                </a:solidFill>
                <a:latin typeface="Courier New" pitchFamily="34" charset="0"/>
                <a:ea typeface="Courier New" pitchFamily="34" charset="-122"/>
                <a:cs typeface="Courier New" pitchFamily="34" charset="-120"/>
              </a:rPr>
              <a:t xml:space="preserve">KAPITALSTRUKTUR</a:t>
            </a:r>
            <a:endParaRPr lang="en-US" sz="850" dirty="0"/>
          </a:p>
        </p:txBody>
      </p:sp>
      <p:sp>
        <p:nvSpPr>
          <p:cNvPr id="238" name="!!T_Sp3"/>
          <p:cNvSpPr/>
          <p:nvPr/>
        </p:nvSpPr>
        <p:spPr>
          <a:xfrm>
            <a:off x="9942556" y="2260000"/>
            <a:ext cx="1533631" cy="520000"/>
          </a:xfrm>
          <a:prstGeom prst="rect">
            <a:avLst/>
          </a:prstGeom>
          <a:noFill/>
          <a:ln/>
        </p:spPr>
        <p:txBody>
          <a:bodyPr wrap="square" rtlCol="0" anchor="t"/>
          <a:lstStyle/>
          <a:p>
            <a:pPr marL="0" indent="0" algn="ctr">
              <a:lnSpc>
                <a:spcPct val="100000"/>
              </a:lnSpc>
              <a:buNone/>
            </a:pPr>
            <a:r>
              <a:rPr lang="en-US" sz="2200" b="1" kern="0" dirty="0">
                <a:solidFill>
                  <a:srgbClr val="F2EFDA"/>
                </a:solidFill>
                <a:latin typeface="Courier New" pitchFamily="34" charset="0"/>
                <a:ea typeface="Courier New" pitchFamily="34" charset="-122"/>
                <a:cs typeface="Courier New" pitchFamily="34" charset="-120"/>
              </a:rPr>
              <a:t xml:space="preserve">0,13</a:t>
            </a:r>
            <a:endParaRPr lang="en-US" sz="2200" dirty="0"/>
          </a:p>
        </p:txBody>
      </p:sp>
      <p:sp>
        <p:nvSpPr>
          <p:cNvPr id="240" name="!!U_Spann"/>
          <p:cNvSpPr/>
          <p:nvPr/>
        </p:nvSpPr>
        <p:spPr>
          <a:xfrm>
            <a:off x="6235294" y="3010000"/>
            <a:ext cx="5320894" cy="230000"/>
          </a:xfrm>
          <a:prstGeom prst="rect">
            <a:avLst/>
          </a:prstGeom>
          <a:noFill/>
          <a:ln/>
        </p:spPr>
        <p:txBody>
          <a:bodyPr wrap="square" rtlCol="0" anchor="t"/>
          <a:lstStyle/>
          <a:p>
            <a:pPr marL="0" indent="0" algn="ctr">
              <a:lnSpc>
                <a:spcPct val="105000"/>
              </a:lnSpc>
              <a:buNone/>
            </a:pPr>
            <a:r>
              <a:rPr lang="en-US" sz="950" kern="0" dirty="0">
                <a:solidFill>
                  <a:srgbClr val="798D6F"/>
                </a:solidFill>
                <a:latin typeface="Arial" pitchFamily="34" charset="0"/>
                <a:ea typeface="Arial" pitchFamily="34" charset="-122"/>
                <a:cs typeface="Arial" pitchFamily="34" charset="-120"/>
              </a:rPr>
              <a:t xml:space="preserve">φ-Spannweite der zehn Sektor-Mediane je Dynamiktyp</a:t>
            </a:r>
            <a:endParaRPr lang="en-US" sz="950" dirty="0"/>
          </a:p>
        </p:txBody>
      </p:sp>
      <p:sp>
        <p:nvSpPr>
          <p:cNvPr id="241" name="!!K_Ausn"/>
          <p:cNvSpPr/>
          <p:nvPr/>
        </p:nvSpPr>
        <p:spPr>
          <a:xfrm>
            <a:off x="6235294" y="3450000"/>
            <a:ext cx="5320894" cy="11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242" name="!!L_Ausn"/>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AUSNAHMEN — WO EXTERNE MECHANIK EINGREIFT</a:t>
            </a:r>
            <a:endParaRPr lang="en-US" sz="1000" dirty="0"/>
          </a:p>
        </p:txBody>
      </p:sp>
      <p:sp>
        <p:nvSpPr>
          <p:cNvPr id="243" name="!!T_Ausn"/>
          <p:cNvSpPr/>
          <p:nvPr/>
        </p:nvSpPr>
        <p:spPr>
          <a:xfrm>
            <a:off x="6489497" y="3860000"/>
            <a:ext cx="4812488" cy="600000"/>
          </a:xfrm>
          <a:prstGeom prst="rect">
            <a:avLst/>
          </a:prstGeom>
          <a:noFill/>
          <a:ln/>
        </p:spPr>
        <p:txBody>
          <a:bodyPr wrap="square" rtlCol="0" anchor="t"/>
          <a:lstStyle/>
          <a:p>
            <a:pPr marL="0" indent="0" algn="l">
              <a:lnSpc>
                <a:spcPct val="108000"/>
              </a:lnSpc>
              <a:buNone/>
            </a:pPr>
            <a:r>
              <a:rPr lang="en-US" sz="1000" b="1" kern="0" dirty="0">
                <a:solidFill>
                  <a:srgbClr val="F2EFDA"/>
                </a:solidFill>
                <a:latin typeface="Arial" pitchFamily="34" charset="0"/>
                <a:ea typeface="Arial" pitchFamily="34" charset="-122"/>
                <a:cs typeface="Arial" pitchFamily="34" charset="-120"/>
              </a:rPr>
              <a:t xml:space="preserve">Immobilien</a:t>
            </a:r>
            <a:r>
              <a:rPr lang="en-US" sz="1000" kern="0" dirty="0">
                <a:solidFill>
                  <a:srgbClr val="B3BC9A"/>
                </a:solidFill>
                <a:latin typeface="Arial" pitchFamily="34" charset="0"/>
                <a:ea typeface="Arial" pitchFamily="34" charset="-122"/>
                <a:cs typeface="Arial" pitchFamily="34" charset="-120"/>
              </a:rPr>
              <a:t xml:space="preserve">: σ 2,6-fach, stärkste CR-Korrektur (REIT-Refinanzierung) · </a:t>
            </a:r>
            <a:r>
              <a:rPr lang="en-US" sz="1000" b="1" kern="0" dirty="0">
                <a:solidFill>
                  <a:srgbClr val="F2EFDA"/>
                </a:solidFill>
                <a:latin typeface="Arial" pitchFamily="34" charset="0"/>
                <a:ea typeface="Arial" pitchFamily="34" charset="-122"/>
                <a:cs typeface="Arial" pitchFamily="34" charset="-120"/>
              </a:rPr>
              <a:t xml:space="preserve">Versorger</a:t>
            </a:r>
            <a:r>
              <a:rPr lang="en-US" sz="1000" kern="0" dirty="0">
                <a:solidFill>
                  <a:srgbClr val="B3BC9A"/>
                </a:solidFill>
                <a:latin typeface="Arial" pitchFamily="34" charset="0"/>
                <a:ea typeface="Arial" pitchFamily="34" charset="-122"/>
                <a:cs typeface="Arial" pitchFamily="34" charset="-120"/>
              </a:rPr>
              <a:t xml:space="preserve">: einzige konsistente Kapitalstruktur-Korrektur (Regulierung).</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08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err="1">
                <a:solidFill>
                  <a:srgbClr val="F2EFDA"/>
                </a:solidFill>
                <a:latin typeface="Arial" pitchFamily="34" charset="0"/>
                <a:ea typeface="Arial" pitchFamily="34" charset="-122"/>
                <a:cs typeface="Arial" pitchFamily="34" charset="-120"/>
              </a:rPr>
              <a:t>Konstruktion</a:t>
            </a:r>
            <a:r>
              <a:rPr lang="en-US" sz="2300" b="1" kern="0" spc="-50">
                <a:solidFill>
                  <a:srgbClr val="F2EFDA"/>
                </a:solidFill>
                <a:latin typeface="Arial" pitchFamily="34" charset="0"/>
                <a:ea typeface="Arial" pitchFamily="34" charset="-122"/>
                <a:cs typeface="Arial" pitchFamily="34" charset="-120"/>
              </a:rPr>
              <a:t xml:space="preserve"> und Korrekturmechanismus</a:t>
            </a:r>
            <a:endParaRPr lang="en-US" sz="2300"/>
          </a:p>
        </p:txBody>
      </p:sp>
      <p:sp>
        <p:nvSpPr>
          <p:cNvPr id="17" name="Shape 14"/>
          <p:cNvSpPr/>
          <p:nvPr/>
        </p:nvSpPr>
        <p:spPr>
          <a:xfrm>
            <a:off x="634594"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4090654"/>
            <a:ext cx="88697" cy="55227"/>
          </a:xfrm>
          <a:prstGeom prst="ellipse">
            <a:avLst/>
          </a:prstGeom>
          <a:solidFill>
            <a:srgbClr val="79A2F9"/>
          </a:solidFill>
          <a:ln/>
        </p:spPr>
        <p:txBody>
          <a:bodyPr/>
          <a:lstStyle/>
          <a:p>
            <a:endParaRPr lang="de-DE"/>
          </a:p>
        </p:txBody>
      </p:sp>
      <p:sp>
        <p:nvSpPr>
          <p:cNvPr id="19" name="Text 16"/>
          <p:cNvSpPr/>
          <p:nvPr/>
        </p:nvSpPr>
        <p:spPr>
          <a:xfrm>
            <a:off x="1143000" y="3995557"/>
            <a:ext cx="4572000" cy="355840"/>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Der Markt korrigiert die Profitabilität</a:t>
            </a:r>
            <a:endParaRPr lang="en-US" sz="1500"/>
          </a:p>
        </p:txBody>
      </p:sp>
      <p:sp>
        <p:nvSpPr>
          <p:cNvPr id="20" name="Text 17"/>
          <p:cNvSpPr/>
          <p:nvPr/>
        </p:nvSpPr>
        <p:spPr>
          <a:xfrm>
            <a:off x="940308" y="4511335"/>
            <a:ext cx="4699102" cy="1106806"/>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 xml:space="preserve">Überrenditen ziehen Wettbewerber an, Unterrenditen erzwingen Anpassung — </a:t>
            </a:r>
            <a:r>
              <a:rPr lang="en-US" sz="1200" b="1">
                <a:solidFill>
                  <a:srgbClr val="F2EFDA"/>
                </a:solidFill>
                <a:latin typeface="Arial" pitchFamily="34" charset="0"/>
                <a:ea typeface="Arial" pitchFamily="34" charset="-122"/>
                <a:cs typeface="Arial" pitchFamily="34" charset="-120"/>
              </a:rPr>
              <a:t>Korrektur ohne Zutun des Unternehmens</a:t>
            </a:r>
            <a:r>
              <a:rPr lang="en-US" sz="1200">
                <a:solidFill>
                  <a:srgbClr val="B3BC9A"/>
                </a:solidFill>
                <a:latin typeface="Arial" pitchFamily="34" charset="0"/>
                <a:ea typeface="Arial" pitchFamily="34" charset="-122"/>
                <a:cs typeface="Arial" pitchFamily="34" charset="-120"/>
              </a:rPr>
              <a:t xml:space="preserve"> (Fama/French 2000: ≈ 38 % p. a.).</a:t>
            </a:r>
            <a:endParaRPr lang="en-US" sz="1200"/>
          </a:p>
        </p:txBody>
      </p:sp>
      <p:sp>
        <p:nvSpPr>
          <p:cNvPr id="21" name="Shape 18"/>
          <p:cNvSpPr/>
          <p:nvPr/>
        </p:nvSpPr>
        <p:spPr>
          <a:xfrm>
            <a:off x="6235293"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8" y="4090655"/>
            <a:ext cx="88697" cy="66940"/>
          </a:xfrm>
          <a:prstGeom prst="ellipse">
            <a:avLst/>
          </a:prstGeom>
          <a:solidFill>
            <a:srgbClr val="F36451"/>
          </a:solidFill>
          <a:ln/>
        </p:spPr>
        <p:txBody>
          <a:bodyPr/>
          <a:lstStyle/>
          <a:p>
            <a:endParaRPr lang="de-DE"/>
          </a:p>
        </p:txBody>
      </p:sp>
      <p:sp>
        <p:nvSpPr>
          <p:cNvPr id="23" name="Text 20"/>
          <p:cNvSpPr/>
          <p:nvPr/>
        </p:nvSpPr>
        <p:spPr>
          <a:xfrm>
            <a:off x="6743699" y="3995556"/>
            <a:ext cx="4572000" cy="520293"/>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Das Management entscheidet die Kapitalstruktur</a:t>
            </a:r>
            <a:endParaRPr lang="en-US" sz="1500"/>
          </a:p>
        </p:txBody>
      </p:sp>
      <p:sp>
        <p:nvSpPr>
          <p:cNvPr id="24" name="Text 21"/>
          <p:cNvSpPr/>
          <p:nvPr/>
        </p:nvSpPr>
        <p:spPr>
          <a:xfrm>
            <a:off x="6552589" y="4770054"/>
            <a:ext cx="4699102" cy="848087"/>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 xml:space="preserve">Kein Marktmechanismus zieht die Bilanz zur Norm — </a:t>
            </a:r>
            <a:r>
              <a:rPr lang="en-US" sz="1200" b="1">
                <a:solidFill>
                  <a:srgbClr val="F2EFDA"/>
                </a:solidFill>
                <a:latin typeface="Arial" pitchFamily="34" charset="0"/>
                <a:ea typeface="Arial" pitchFamily="34" charset="-122"/>
                <a:cs typeface="Arial" pitchFamily="34" charset="-120"/>
              </a:rPr>
              <a:t>nur Emission, Rückkauf, Dividende</a:t>
            </a:r>
            <a:r>
              <a:rPr lang="en-US" sz="1200">
                <a:solidFill>
                  <a:srgbClr val="B3BC9A"/>
                </a:solidFill>
                <a:latin typeface="Arial" pitchFamily="34" charset="0"/>
                <a:ea typeface="Arial" pitchFamily="34" charset="-122"/>
                <a:cs typeface="Arial" pitchFamily="34" charset="-120"/>
              </a:rPr>
              <a:t xml:space="preserve"> (Pecking Order, Market Timing, Trade-off).</a:t>
            </a:r>
            <a:endParaRPr lang="en-US" sz="120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2573784" y="1441866"/>
            <a:ext cx="7043213" cy="2206647"/>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1</a:t>
            </a:r>
          </a:p>
        </p:txBody>
      </p:sp>
      <p:sp>
        <p:nvSpPr>
          <p:cNvPr id="210" name="!!A_Kernsatz"/>
          <p:cNvSpPr/>
          <p:nvPr/>
        </p:nvSpPr>
        <p:spPr>
          <a:xfrm>
            <a:off x="634594" y="5850000"/>
            <a:ext cx="10921594" cy="320000"/>
          </a:xfrm>
          <a:prstGeom prst="rect">
            <a:avLst/>
          </a:prstGeom>
          <a:noFill/>
          <a:ln/>
        </p:spPr>
        <p:txBody>
          <a:bodyPr wrap="square" rtlCol="0" anchor="t"/>
          <a:lstStyle/>
          <a:p>
            <a:pPr marL="0" indent="0" algn="ctr">
              <a:lnSpc>
                <a:spcPct val="105000"/>
              </a:lnSpc>
              <a:buNone/>
            </a:pPr>
            <a:r>
              <a:rPr lang="en-US" sz="1400" b="1" kern="0" dirty="0">
                <a:solidFill>
                  <a:srgbClr val="F2EFDA"/>
                </a:solidFill>
                <a:latin typeface="Arial" pitchFamily="34" charset="0"/>
                <a:ea typeface="Arial" pitchFamily="34" charset="-122"/>
                <a:cs typeface="Arial" pitchFamily="34" charset="-120"/>
              </a:rPr>
              <a:t xml:space="preserve">Der Markt korrigiert — das Management entscheidet.</a:t>
            </a:r>
            <a:endParaRPr lang="en-US" sz="1400" dirty="0"/>
          </a:p>
        </p:txBody>
      </p:sp>
      <p:sp>
        <p:nvSpPr>
          <p:cNvPr id="211" name="!!A_Robust"/>
          <p:cNvSpPr/>
          <p:nvPr/>
        </p:nvSpPr>
        <p:spPr>
          <a:xfrm>
            <a:off x="634594" y="6280000"/>
            <a:ext cx="10921594" cy="254203"/>
          </a:xfrm>
          <a:prstGeom prst="rect">
            <a:avLst/>
          </a:prstGeom>
          <a:noFill/>
          <a:ln/>
        </p:spPr>
        <p:txBody>
          <a:bodyPr wrap="square" rtlCol="0" anchor="t"/>
          <a:lstStyle/>
          <a:p>
            <a:pPr marL="0" indent="0" algn="ctr">
              <a:lnSpc>
                <a:spcPct val="105000"/>
              </a:lnSpc>
              <a:buNone/>
            </a:pPr>
            <a:r>
              <a:rPr lang="en-US" sz="950" kern="0" dirty="0">
                <a:solidFill>
                  <a:srgbClr val="798D6F"/>
                </a:solidFill>
                <a:latin typeface="Arial" pitchFamily="34" charset="0"/>
                <a:ea typeface="Arial" pitchFamily="34" charset="-122"/>
                <a:cs typeface="Arial" pitchFamily="34" charset="-120"/>
              </a:rPr>
              <a:t xml:space="preserve">Robust über 4 Modellspezifikationen · 4 Stichprobenschwellen · 4 Zeitfenster — die Mediane verschieben sich um höchstens 0,01–0,02.</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3EFDA"/>
                </a:solidFill>
                <a:latin typeface="Arial" pitchFamily="34" charset="0"/>
                <a:ea typeface="Arial" pitchFamily="34" charset="-122"/>
                <a:cs typeface="Arial" pitchFamily="34" charset="-120"/>
              </a:rPr>
              <a:t>Kopplung</a:t>
            </a:r>
            <a:r>
              <a:rPr lang="en-US" sz="2000" b="1" kern="0" spc="-50" dirty="0">
                <a:solidFill>
                  <a:srgbClr val="F3EFDA"/>
                </a:solidFill>
                <a:latin typeface="Arial" pitchFamily="34" charset="0"/>
                <a:ea typeface="Arial" pitchFamily="34" charset="-122"/>
                <a:cs typeface="Arial" pitchFamily="34" charset="-120"/>
              </a:rPr>
              <a:t xml:space="preserve"> der Mean Reversion</a:t>
            </a:r>
            <a:endParaRPr lang="en-US" sz="2000" dirty="0">
              <a:solidFill>
                <a:srgbClr val="F3EFDA"/>
              </a:solidFill>
            </a:endParaRPr>
          </a:p>
        </p:txBody>
      </p:sp>
      <p:sp>
        <p:nvSpPr>
          <p:cNvPr id="20" name="Text 17"/>
          <p:cNvSpPr/>
          <p:nvPr/>
        </p:nvSpPr>
        <p:spPr>
          <a:xfrm>
            <a:off x="634594" y="653136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 Bonferroni-korrigiert: α/21 ≈ 0,0024 je Test-Familie. Schwacher zweiter Block in der Bilanz: Debt/Equity × EK-Quote 0,33 · Current Ratio × EK-Quote 0,16.</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endParaRPr lang="en-US" sz="1200"/>
          </a:p>
        </p:txBody>
      </p:sp>
      <p:sp>
        <p:nvSpPr>
          <p:cNvPr id="41" name="!!K_Prof"/>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PROFITABILITÄTSBLOCK</a:t>
            </a:r>
            <a:endParaRPr lang="en-US" sz="1050"/>
          </a:p>
        </p:txBody>
      </p:sp>
      <p:sp>
        <p:nvSpPr>
          <p:cNvPr id="43" name="!!T_Prof"/>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0,78</a:t>
            </a:r>
            <a:r>
              <a:rPr lang="en-US" sz="1100" kern="0">
                <a:solidFill>
                  <a:srgbClr val="798D6F"/>
                </a:solidFill>
                <a:latin typeface="Courier New" pitchFamily="34" charset="0"/>
                <a:ea typeface="Courier New" pitchFamily="34" charset="-122"/>
                <a:cs typeface="Courier New" pitchFamily="34" charset="-120"/>
              </a:rPr>
              <a:t xml:space="preserve">   ROA × ROE</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 xml:space="preserve">ROA × EBIT-Marge · ROE × EBIT-Marge  - die </a:t>
            </a:r>
            <a:r>
              <a:rPr lang="en-US" sz="1000" kern="0" err="1">
                <a:solidFill>
                  <a:srgbClr val="B3BC9A"/>
                </a:solidFill>
                <a:latin typeface="Arial" pitchFamily="34" charset="0"/>
                <a:ea typeface="Arial" pitchFamily="34" charset="-122"/>
                <a:cs typeface="Arial" pitchFamily="34" charset="-120"/>
              </a:rPr>
              <a:t>Rangfolge</a:t>
            </a:r>
            <a:r>
              <a:rPr lang="en-US" sz="1000" kern="0">
                <a:solidFill>
                  <a:srgbClr val="B3BC9A"/>
                </a:solidFill>
                <a:latin typeface="Arial" pitchFamily="34" charset="0"/>
                <a:ea typeface="Arial" pitchFamily="34" charset="-122"/>
                <a:cs typeface="Arial" pitchFamily="34" charset="-120"/>
              </a:rPr>
              <a:t xml:space="preserve"> </a:t>
            </a:r>
            <a:r>
              <a:rPr lang="en-US" sz="1000" kern="0" err="1">
                <a:solidFill>
                  <a:srgbClr val="B3BC9A"/>
                </a:solidFill>
                <a:latin typeface="Arial" pitchFamily="34" charset="0"/>
                <a:ea typeface="Arial" pitchFamily="34" charset="-122"/>
                <a:cs typeface="Arial" pitchFamily="34" charset="-120"/>
              </a:rPr>
              <a:t>ist</a:t>
            </a:r>
            <a:r>
              <a:rPr lang="en-US" sz="1000" kern="0">
                <a:solidFill>
                  <a:srgbClr val="B3BC9A"/>
                </a:solidFill>
                <a:latin typeface="Arial" pitchFamily="34" charset="0"/>
                <a:ea typeface="Arial" pitchFamily="34" charset="-122"/>
                <a:cs typeface="Arial" pitchFamily="34" charset="-120"/>
              </a:rPr>
              <a:t xml:space="preserve"> </a:t>
            </a:r>
            <a:r>
              <a:rPr lang="en-US" sz="1000" kern="0" err="1">
                <a:solidFill>
                  <a:srgbClr val="B3BC9A"/>
                </a:solidFill>
                <a:latin typeface="Arial" pitchFamily="34" charset="0"/>
                <a:ea typeface="Arial" pitchFamily="34" charset="-122"/>
                <a:cs typeface="Arial" pitchFamily="34" charset="-120"/>
              </a:rPr>
              <a:t>ein</a:t>
            </a:r>
            <a:r>
              <a:rPr lang="en-US" sz="1000" kern="0">
                <a:solidFill>
                  <a:srgbClr val="B3BC9A"/>
                </a:solidFill>
                <a:latin typeface="Arial" pitchFamily="34" charset="0"/>
                <a:ea typeface="Arial" pitchFamily="34" charset="-122"/>
                <a:cs typeface="Arial" pitchFamily="34" charset="-120"/>
              </a:rPr>
              <a:t xml:space="preserve"> </a:t>
            </a:r>
            <a:r>
              <a:rPr lang="en-US" sz="1000" b="1" kern="0">
                <a:solidFill>
                  <a:srgbClr val="F2EFDA"/>
                </a:solidFill>
                <a:latin typeface="Arial" pitchFamily="34" charset="0"/>
                <a:ea typeface="Arial" pitchFamily="34" charset="-122"/>
                <a:cs typeface="Arial" pitchFamily="34" charset="-120"/>
              </a:rPr>
              <a:t>Firmenmerkmal</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FCF"/>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FCF"/>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FCF-MARGE:</a:t>
            </a:r>
            <a:endParaRPr lang="en-US" sz="1050"/>
          </a:p>
        </p:txBody>
      </p:sp>
      <p:sp>
        <p:nvSpPr>
          <p:cNvPr id="46" name="!!T_FCF"/>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0,14 … 0,19</a:t>
            </a:r>
            <a:r>
              <a:rPr lang="en-US" sz="1100" kern="0">
                <a:solidFill>
                  <a:srgbClr val="798D6F"/>
                </a:solidFill>
                <a:latin typeface="Courier New" pitchFamily="34" charset="0"/>
                <a:ea typeface="Courier New" pitchFamily="34" charset="-122"/>
                <a:cs typeface="Courier New" pitchFamily="34" charset="-120"/>
              </a:rPr>
              <a:t xml:space="preserve">   zu ROA · ROE · EBIT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 xml:space="preserve">Accruals glätten Buchgewinne, den Cashflow nicht </a:t>
            </a:r>
            <a:r>
              <a:rPr lang="en-US" sz="1000" b="1" kern="0">
                <a:solidFill>
                  <a:srgbClr val="F2EFDA"/>
                </a:solidFill>
                <a:latin typeface="Arial" pitchFamily="34" charset="0"/>
                <a:ea typeface="Arial" pitchFamily="34" charset="-122"/>
                <a:cs typeface="Arial" pitchFamily="34" charset="-120"/>
              </a:rPr>
              <a:t>eigene Korrekturlogik</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Cross"/>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Cross"/>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ZWISCHEN DEN BLÖCKEN</a:t>
            </a:r>
            <a:endParaRPr lang="en-US" sz="1050"/>
          </a:p>
        </p:txBody>
      </p:sp>
      <p:sp>
        <p:nvSpPr>
          <p:cNvPr id="49" name="!!T_Cross"/>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1 / 12</a:t>
            </a:r>
            <a:r>
              <a:rPr lang="en-US" sz="1100" kern="0">
                <a:solidFill>
                  <a:srgbClr val="798D6F"/>
                </a:solidFill>
                <a:latin typeface="Courier New" pitchFamily="34" charset="0"/>
                <a:ea typeface="Courier New" pitchFamily="34" charset="-122"/>
                <a:cs typeface="Courier New" pitchFamily="34" charset="-120"/>
              </a:rPr>
              <a:t xml:space="preserve">   Paare signifikant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 xml:space="preserve">nur ROE × EK-Quote (0,13) — direkte Folge der </a:t>
            </a:r>
            <a:r>
              <a:rPr lang="en-US" sz="1000" b="1" kern="0">
                <a:solidFill>
                  <a:srgbClr val="F2EFDA"/>
                </a:solidFill>
                <a:latin typeface="Arial" pitchFamily="34" charset="0"/>
                <a:ea typeface="Arial" pitchFamily="34" charset="-122"/>
                <a:cs typeface="Arial" pitchFamily="34" charset="-120"/>
              </a:rPr>
              <a:t>schwachen Mean-Reversion in der Kapitalstruktur</a:t>
            </a:r>
            <a:r>
              <a:rPr lang="en-US" sz="1000" kern="0">
                <a:solidFill>
                  <a:srgbClr val="B3BC9A"/>
                </a:solidFill>
                <a:latin typeface="Arial" pitchFamily="34" charset="0"/>
                <a:ea typeface="Arial" pitchFamily="34" charset="-122"/>
                <a:cs typeface="Arial" pitchFamily="34" charset="-120"/>
              </a:rPr>
              <a:t>.</a:t>
            </a:r>
            <a:endParaRPr lang="en-US" sz="1000"/>
          </a:p>
        </p:txBody>
      </p:sp>
      <p:pic>
        <p:nvPicPr>
          <p:cNvPr id="10" name="Grafik 9">
            <a:extLst>
              <a:ext uri="{FF2B5EF4-FFF2-40B4-BE49-F238E27FC236}">
                <a16:creationId xmlns:a16="http://schemas.microsoft.com/office/drawing/2014/main" id="{00379544-99A4-35CA-2644-C68BC11E76B4}"/>
              </a:ext>
            </a:extLst>
          </p:cNvPr>
          <p:cNvPicPr>
            <a:picLocks noChangeAspect="1"/>
          </p:cNvPicPr>
          <p:nvPr/>
        </p:nvPicPr>
        <p:blipFill>
          <a:blip r:embed="rId3"/>
          <a:stretch>
            <a:fillRect/>
          </a:stretch>
        </p:blipFill>
        <p:spPr>
          <a:xfrm>
            <a:off x="2045110" y="2337463"/>
            <a:ext cx="2649833" cy="2276427"/>
          </a:xfrm>
          <a:prstGeom prst="rect">
            <a:avLst/>
          </a:prstGeom>
        </p:spPr>
      </p:pic>
      <p:sp>
        <p:nvSpPr>
          <p:cNvPr id="7" name="Text 4"/>
          <p:cNvSpPr/>
          <p:nvPr/>
        </p:nvSpPr>
        <p:spPr>
          <a:xfrm>
            <a:off x="1718714" y="4704374"/>
            <a:ext cx="3542399" cy="254203"/>
          </a:xfrm>
          <a:prstGeom prst="rect">
            <a:avLst/>
          </a:prstGeom>
          <a:noFill/>
          <a:ln/>
        </p:spPr>
        <p:txBody>
          <a:bodyPr wrap="square" rtlCol="0" anchor="t"/>
          <a:lstStyle/>
          <a:p>
            <a:pPr marL="0" indent="0" algn="l">
              <a:lnSpc>
                <a:spcPct val="105000"/>
              </a:lnSpc>
              <a:buNone/>
            </a:pPr>
            <a:r>
              <a:rPr lang="en-US" sz="1100" kern="0" dirty="0" err="1">
                <a:solidFill>
                  <a:srgbClr val="B3BC9A"/>
                </a:solidFill>
                <a:latin typeface="Arial" pitchFamily="34" charset="0"/>
                <a:ea typeface="Arial" pitchFamily="34" charset="-122"/>
                <a:cs typeface="Arial" pitchFamily="34" charset="-120"/>
              </a:rPr>
              <a:t>Paarweise</a:t>
            </a:r>
            <a:r>
              <a:rPr lang="en-US" sz="1100" kern="0" dirty="0">
                <a:solidFill>
                  <a:srgbClr val="B3BC9A"/>
                </a:solidFill>
                <a:latin typeface="Arial" pitchFamily="34" charset="0"/>
                <a:ea typeface="Arial" pitchFamily="34" charset="-122"/>
                <a:cs typeface="Arial" pitchFamily="34" charset="-120"/>
              </a:rPr>
              <a:t xml:space="preserve"> Spearman-</a:t>
            </a:r>
            <a:r>
              <a:rPr lang="en-US" sz="1100" kern="0" dirty="0" err="1">
                <a:solidFill>
                  <a:srgbClr val="B3BC9A"/>
                </a:solidFill>
                <a:latin typeface="Arial" pitchFamily="34" charset="0"/>
                <a:ea typeface="Arial" pitchFamily="34" charset="-122"/>
                <a:cs typeface="Arial" pitchFamily="34" charset="-120"/>
              </a:rPr>
              <a:t>Korrelation</a:t>
            </a:r>
            <a:r>
              <a:rPr lang="en-US" sz="1100" kern="0" dirty="0">
                <a:solidFill>
                  <a:srgbClr val="B3BC9A"/>
                </a:solidFill>
                <a:latin typeface="Arial" pitchFamily="34" charset="0"/>
                <a:ea typeface="Arial" pitchFamily="34" charset="-122"/>
                <a:cs typeface="Arial" pitchFamily="34" charset="-120"/>
              </a:rPr>
              <a:t xml:space="preserve"> der </a:t>
            </a:r>
            <a:r>
              <a:rPr lang="en-US" sz="1100" kern="0" dirty="0" err="1">
                <a:solidFill>
                  <a:srgbClr val="B3BC9A"/>
                </a:solidFill>
                <a:latin typeface="Arial" pitchFamily="34" charset="0"/>
                <a:ea typeface="Arial" pitchFamily="34" charset="-122"/>
                <a:cs typeface="Arial" pitchFamily="34" charset="-120"/>
              </a:rPr>
              <a:t>firmenspezifisch</a:t>
            </a:r>
            <a:r>
              <a:rPr lang="en-US" sz="1100" kern="0" dirty="0">
                <a:solidFill>
                  <a:srgbClr val="B3BC9A"/>
                </a:solidFill>
                <a:latin typeface="Arial" pitchFamily="34" charset="0"/>
                <a:ea typeface="Arial" pitchFamily="34" charset="-122"/>
                <a:cs typeface="Arial" pitchFamily="34" charset="-120"/>
              </a:rPr>
              <a:t xml:space="preserve"> </a:t>
            </a:r>
            <a:r>
              <a:rPr lang="en-US" sz="1100" kern="0" dirty="0" err="1">
                <a:solidFill>
                  <a:srgbClr val="B3BC9A"/>
                </a:solidFill>
                <a:latin typeface="Arial" pitchFamily="34" charset="0"/>
                <a:ea typeface="Arial" pitchFamily="34" charset="-122"/>
                <a:cs typeface="Arial" pitchFamily="34" charset="-120"/>
              </a:rPr>
              <a:t>geschätzten</a:t>
            </a:r>
            <a:r>
              <a:rPr lang="en-US" sz="1100" kern="0" dirty="0">
                <a:solidFill>
                  <a:srgbClr val="B3BC9A"/>
                </a:solidFill>
                <a:latin typeface="Arial" pitchFamily="34" charset="0"/>
                <a:ea typeface="Arial" pitchFamily="34" charset="-122"/>
                <a:cs typeface="Arial" pitchFamily="34" charset="-120"/>
              </a:rPr>
              <a:t xml:space="preserve"> Parameter </a:t>
            </a:r>
            <a:r>
              <a:rPr lang="en-US" sz="1100" kern="0" dirty="0" err="1">
                <a:solidFill>
                  <a:srgbClr val="B3BC9A"/>
                </a:solidFill>
                <a:latin typeface="Arial" pitchFamily="34" charset="0"/>
                <a:ea typeface="Arial" pitchFamily="34" charset="-122"/>
                <a:cs typeface="Arial" pitchFamily="34" charset="-120"/>
              </a:rPr>
              <a:t>über</a:t>
            </a:r>
            <a:r>
              <a:rPr lang="en-US" sz="1100" kern="0" dirty="0">
                <a:solidFill>
                  <a:srgbClr val="B3BC9A"/>
                </a:solidFill>
                <a:latin typeface="Arial" pitchFamily="34" charset="0"/>
                <a:ea typeface="Arial" pitchFamily="34" charset="-122"/>
                <a:cs typeface="Arial" pitchFamily="34" charset="-120"/>
              </a:rPr>
              <a:t xml:space="preserve"> 932 </a:t>
            </a:r>
            <a:r>
              <a:rPr lang="en-US" sz="1100" kern="0" dirty="0" err="1">
                <a:solidFill>
                  <a:srgbClr val="B3BC9A"/>
                </a:solidFill>
                <a:latin typeface="Arial" pitchFamily="34" charset="0"/>
                <a:ea typeface="Arial" pitchFamily="34" charset="-122"/>
                <a:cs typeface="Arial" pitchFamily="34" charset="-120"/>
              </a:rPr>
              <a:t>Unternehmen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Kopplung</a:t>
            </a:r>
            <a:r>
              <a:rPr lang="en-US" sz="2000" b="1" kern="0" spc="-50" dirty="0">
                <a:solidFill>
                  <a:srgbClr val="F2EFDA"/>
                </a:solidFill>
                <a:latin typeface="Arial" pitchFamily="34" charset="0"/>
                <a:ea typeface="Arial" pitchFamily="34" charset="-122"/>
                <a:cs typeface="Arial" pitchFamily="34" charset="-120"/>
              </a:rPr>
              <a:t xml:space="preserve"> der </a:t>
            </a:r>
            <a:r>
              <a:rPr lang="en-US" sz="2000" b="1" kern="0" spc="-50" dirty="0" err="1">
                <a:solidFill>
                  <a:srgbClr val="F2EFDA"/>
                </a:solidFill>
                <a:latin typeface="Arial" pitchFamily="34" charset="0"/>
                <a:ea typeface="Arial" pitchFamily="34" charset="-122"/>
                <a:cs typeface="Arial" pitchFamily="34" charset="-120"/>
              </a:rPr>
              <a:t>Volatilität</a:t>
            </a:r>
            <a:endParaRPr lang="en-US" sz="20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r>
              <a:rPr lang="en-US" sz="1200" b="1" kern="0">
                <a:solidFill>
                  <a:srgbClr val="F2EFDA"/>
                </a:solidFill>
                <a:latin typeface="Courier New" pitchFamily="34" charset="0"/>
                <a:ea typeface="Courier New" pitchFamily="34" charset="-122"/>
                <a:cs typeface="Courier New" pitchFamily="34" charset="-120"/>
              </a:rPr>
              <a:t xml:space="preserve">   9 / 21 Paare*</a:t>
            </a:r>
            <a:endParaRPr lang="en-US" sz="120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a:solidFill>
                  <a:srgbClr val="79A2F9"/>
                </a:solidFill>
                <a:latin typeface="Courier New" pitchFamily="34" charset="0"/>
                <a:ea typeface="Courier New" pitchFamily="34" charset="-122"/>
                <a:cs typeface="Courier New" pitchFamily="34" charset="-120"/>
              </a:rPr>
              <a:t xml:space="preserve">σ  </a:t>
            </a:r>
            <a:r>
              <a:rPr lang="en-US" sz="1200" b="1" kern="0">
                <a:solidFill>
                  <a:srgbClr val="F2EFDA"/>
                </a:solidFill>
                <a:latin typeface="Courier New" pitchFamily="34" charset="0"/>
                <a:ea typeface="Courier New" pitchFamily="34" charset="-122"/>
                <a:cs typeface="Courier New" pitchFamily="34" charset="-120"/>
              </a:rPr>
              <a:t>Volatilitäts-Matrix</a:t>
            </a:r>
            <a:r>
              <a:rPr lang="en-US" sz="1200" b="1" kern="0">
                <a:solidFill>
                  <a:srgbClr val="79A2F9"/>
                </a:solidFill>
                <a:latin typeface="Courier New" pitchFamily="34" charset="0"/>
                <a:ea typeface="Courier New" pitchFamily="34" charset="-122"/>
                <a:cs typeface="Courier New" pitchFamily="34" charset="-120"/>
              </a:rPr>
              <a:t xml:space="preserve">   19 / 21 Paare*</a:t>
            </a:r>
            <a:endParaRPr lang="en-US" sz="120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 xml:space="preserve">EK-Quote: </a:t>
            </a:r>
            <a:r>
              <a:rPr lang="en-US" sz="1000" b="1" kern="0">
                <a:solidFill>
                  <a:srgbClr val="F2EFDA"/>
                </a:solidFill>
                <a:latin typeface="Arial" pitchFamily="34" charset="0"/>
                <a:ea typeface="Arial" pitchFamily="34" charset="-122"/>
                <a:cs typeface="Arial" pitchFamily="34" charset="-120"/>
              </a:rPr>
              <a:t>als einzige mit allen sechs anderen gekoppelt</a:t>
            </a:r>
            <a:r>
              <a:rPr lang="en-US" sz="1000" kern="0">
                <a:solidFill>
                  <a:srgbClr val="B3BC9A"/>
                </a:solidFill>
                <a:latin typeface="Arial" pitchFamily="34" charset="0"/>
                <a:ea typeface="Arial" pitchFamily="34" charset="-122"/>
                <a:cs typeface="Arial" pitchFamily="34" charset="-120"/>
              </a:rPr>
              <a:t xml:space="preserve"> (0,19 – 0,52).</a:t>
            </a:r>
            <a:endParaRPr lang="en-US" sz="1000"/>
          </a:p>
        </p:txBody>
      </p:sp>
      <p:sp>
        <p:nvSpPr>
          <p:cNvPr id="51" name="!!K_PhiSig"/>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2" name="!!K_LeadLag"/>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pic>
        <p:nvPicPr>
          <p:cNvPr id="4" name="Grafik 3">
            <a:extLst>
              <a:ext uri="{FF2B5EF4-FFF2-40B4-BE49-F238E27FC236}">
                <a16:creationId xmlns:a16="http://schemas.microsoft.com/office/drawing/2014/main" id="{E9C823C0-400F-559D-FF7D-3B4B9462F7DE}"/>
              </a:ext>
            </a:extLst>
          </p:cNvPr>
          <p:cNvPicPr>
            <a:picLocks noChangeAspect="1"/>
          </p:cNvPicPr>
          <p:nvPr/>
        </p:nvPicPr>
        <p:blipFill>
          <a:blip r:embed="rId3"/>
          <a:stretch>
            <a:fillRect/>
          </a:stretch>
        </p:blipFill>
        <p:spPr>
          <a:xfrm>
            <a:off x="2045110" y="2337463"/>
            <a:ext cx="2649833" cy="2276427"/>
          </a:xfrm>
          <a:prstGeom prst="rect">
            <a:avLst/>
          </a:prstGeom>
        </p:spPr>
      </p:pic>
      <p:pic>
        <p:nvPicPr>
          <p:cNvPr id="10" name="Grafik 9">
            <a:extLst>
              <a:ext uri="{FF2B5EF4-FFF2-40B4-BE49-F238E27FC236}">
                <a16:creationId xmlns:a16="http://schemas.microsoft.com/office/drawing/2014/main" id="{B41E5FEB-D64B-7C55-724A-3C9AA3890F48}"/>
              </a:ext>
            </a:extLst>
          </p:cNvPr>
          <p:cNvPicPr>
            <a:picLocks noChangeAspect="1"/>
          </p:cNvPicPr>
          <p:nvPr/>
        </p:nvPicPr>
        <p:blipFill>
          <a:blip r:embed="rId4"/>
          <a:stretch>
            <a:fillRect/>
          </a:stretch>
        </p:blipFill>
        <p:spPr>
          <a:xfrm>
            <a:off x="7561458" y="2431244"/>
            <a:ext cx="2668566" cy="2292520"/>
          </a:xfrm>
          <a:prstGeom prst="rect">
            <a:avLst/>
          </a:prstGeom>
        </p:spPr>
      </p:pic>
      <p:sp>
        <p:nvSpPr>
          <p:cNvPr id="31" name="!!B_PhiMatrix"/>
          <p:cNvSpPr/>
          <p:nvPr/>
        </p:nvSpPr>
        <p:spPr>
          <a:xfrm>
            <a:off x="787719" y="5807201"/>
            <a:ext cx="4914480" cy="350889"/>
          </a:xfrm>
          <a:prstGeom prst="rect">
            <a:avLst/>
          </a:prstGeom>
          <a:noFill/>
          <a:ln/>
        </p:spPr>
        <p:txBody>
          <a:bodyPr wrap="square" rtlCol="0" anchor="t"/>
          <a:lstStyle/>
          <a:p>
            <a:pPr marL="0" indent="0" algn="l">
              <a:lnSpc>
                <a:spcPct val="105000"/>
              </a:lnSpc>
              <a:buNone/>
            </a:pPr>
            <a:r>
              <a:rPr lang="en-US" sz="1500" b="1" kern="0" dirty="0" err="1">
                <a:solidFill>
                  <a:srgbClr val="F2EFDA"/>
                </a:solidFill>
                <a:latin typeface="Courier New" pitchFamily="34" charset="0"/>
                <a:cs typeface="Courier New" pitchFamily="34" charset="-120"/>
              </a:rPr>
              <a:t>Kopplung</a:t>
            </a:r>
            <a:r>
              <a:rPr lang="en-US" sz="1500" b="1" kern="0" dirty="0">
                <a:solidFill>
                  <a:srgbClr val="F2EFDA"/>
                </a:solidFill>
                <a:latin typeface="Courier New" pitchFamily="34" charset="0"/>
                <a:cs typeface="Courier New" pitchFamily="34" charset="-120"/>
              </a:rPr>
              <a:t xml:space="preserve"> </a:t>
            </a:r>
            <a:r>
              <a:rPr lang="en-US" sz="1500" b="1" kern="0" dirty="0" err="1">
                <a:solidFill>
                  <a:srgbClr val="F2EFDA"/>
                </a:solidFill>
                <a:latin typeface="Courier New" pitchFamily="34" charset="0"/>
                <a:cs typeface="Courier New" pitchFamily="34" charset="-120"/>
              </a:rPr>
              <a:t>nur</a:t>
            </a:r>
            <a:r>
              <a:rPr lang="en-US" sz="1500" b="1" kern="0" dirty="0">
                <a:solidFill>
                  <a:srgbClr val="F2EFDA"/>
                </a:solidFill>
                <a:latin typeface="Courier New" pitchFamily="34" charset="0"/>
                <a:cs typeface="Courier New" pitchFamily="34" charset="-120"/>
              </a:rPr>
              <a:t xml:space="preserve"> </a:t>
            </a:r>
            <a:r>
              <a:rPr lang="en-US" sz="1500" b="1" kern="0" dirty="0" err="1">
                <a:solidFill>
                  <a:srgbClr val="F2EFDA"/>
                </a:solidFill>
                <a:latin typeface="Courier New" pitchFamily="34" charset="0"/>
                <a:cs typeface="Courier New" pitchFamily="34" charset="-120"/>
              </a:rPr>
              <a:t>innerhalb</a:t>
            </a:r>
            <a:r>
              <a:rPr lang="en-US" sz="1500" b="1" kern="0" dirty="0">
                <a:solidFill>
                  <a:srgbClr val="F2EFDA"/>
                </a:solidFill>
                <a:latin typeface="Courier New" pitchFamily="34" charset="0"/>
                <a:cs typeface="Courier New" pitchFamily="34" charset="-120"/>
              </a:rPr>
              <a:t xml:space="preserve"> der </a:t>
            </a:r>
            <a:r>
              <a:rPr lang="en-US" sz="1500" b="1" kern="0" dirty="0" err="1">
                <a:solidFill>
                  <a:srgbClr val="F2EFDA"/>
                </a:solidFill>
                <a:latin typeface="Courier New" pitchFamily="34" charset="0"/>
                <a:cs typeface="Courier New" pitchFamily="34" charset="-120"/>
              </a:rPr>
              <a:t>Profitabilität</a:t>
            </a:r>
            <a:endParaRPr lang="en-US" sz="1500" b="1" kern="0" dirty="0">
              <a:solidFill>
                <a:srgbClr val="F2EFDA"/>
              </a:solidFill>
              <a:latin typeface="Courier New" pitchFamily="34" charset="0"/>
              <a:cs typeface="Courier New" pitchFamily="34" charset="-120"/>
            </a:endParaRPr>
          </a:p>
        </p:txBody>
      </p:sp>
      <p:sp>
        <p:nvSpPr>
          <p:cNvPr id="212" name="!!B_SigKern"/>
          <p:cNvSpPr/>
          <p:nvPr/>
        </p:nvSpPr>
        <p:spPr>
          <a:xfrm>
            <a:off x="6388419" y="5807201"/>
            <a:ext cx="4914480" cy="350889"/>
          </a:xfrm>
          <a:prstGeom prst="rect">
            <a:avLst/>
          </a:prstGeom>
          <a:noFill/>
          <a:ln/>
        </p:spPr>
        <p:txBody>
          <a:bodyPr wrap="square" rtlCol="0" anchor="t"/>
          <a:lstStyle/>
          <a:p>
            <a:pPr marL="0" indent="0" algn="ctr">
              <a:lnSpc>
                <a:spcPct val="104000"/>
              </a:lnSpc>
              <a:buNone/>
            </a:pPr>
            <a:r>
              <a:rPr lang="en-US" sz="1200" b="1" kern="0" dirty="0">
                <a:solidFill>
                  <a:srgbClr val="F2EFDA"/>
                </a:solidFill>
                <a:latin typeface="Courier New" pitchFamily="34" charset="0"/>
                <a:ea typeface="Courier New" pitchFamily="34" charset="-122"/>
                <a:cs typeface="Courier New" pitchFamily="34" charset="-120"/>
              </a:rPr>
              <a:t xml:space="preserve">Schocks treffen gemeinsam — korrigiert wird kennzahlspezifisch</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10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Die Verschuldung driftet — in allen zehn Sektoren</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AR(1)-Drift c: je Unternehmen im rollierenden 25-Quartal-Fenster geschätzt, als Median über die Sektor-Firmen — der Trend direkt aus den Quartalsveränderungen.</a:t>
            </a:r>
            <a:endParaRPr lang="en-US" sz="1100"/>
          </a:p>
        </p:txBody>
      </p:sp>
      <p:sp>
        <p:nvSpPr>
          <p:cNvPr id="20" name="Text 17"/>
          <p:cNvSpPr/>
          <p:nvPr/>
        </p:nvSpPr>
        <p:spPr>
          <a:xfrm>
            <a:off x="634594" y="5350000"/>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Validierung: Niveau-Trend und c messen denselben Pfad — r = 0,86 (ab 2006Q2), Vorzeichen-Übereinstimmung 54/70. GFC und COVID schattiert; Dot-Com liegt vor dem ersten c-Fenster.</a:t>
            </a:r>
            <a:endParaRPr lang="en-US" sz="900"/>
          </a:p>
        </p:txBody>
      </p:sp>
      <p:sp>
        <p:nvSpPr>
          <p:cNvPr id="71" name="!!K_Tech"/>
          <p:cNvSpPr/>
          <p:nvPr/>
        </p:nvSpPr>
        <p:spPr>
          <a:xfrm>
            <a:off x="6235294" y="1750000"/>
            <a:ext cx="5320894" cy="15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Tech"/>
          <p:cNvSpPr/>
          <p:nvPr/>
        </p:nvSpPr>
        <p:spPr>
          <a:xfrm>
            <a:off x="6489497" y="1880000"/>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ERGEBNIS DEBT/EQUITY</a:t>
            </a:r>
            <a:endParaRPr lang="en-US" sz="1050"/>
          </a:p>
        </p:txBody>
      </p:sp>
      <p:sp>
        <p:nvSpPr>
          <p:cNvPr id="74" name="!!K_Vorz"/>
          <p:cNvSpPr/>
          <p:nvPr/>
        </p:nvSpPr>
        <p:spPr>
          <a:xfrm>
            <a:off x="6235294" y="3450000"/>
            <a:ext cx="5320894" cy="16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Vorz"/>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VORZEICHEN-BILANZ · 70 SEKTOR-KENNZAHL-KOMBINATIONEN</a:t>
            </a:r>
            <a:endParaRPr lang="en-US" sz="1050"/>
          </a:p>
        </p:txBody>
      </p:sp>
      <p:sp>
        <p:nvSpPr>
          <p:cNvPr id="76" name="!!T_Vorz"/>
          <p:cNvSpPr/>
          <p:nvPr/>
        </p:nvSpPr>
        <p:spPr>
          <a:xfrm>
            <a:off x="6489497" y="3850000"/>
            <a:ext cx="4812488" cy="11200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44 / 70</a:t>
            </a:r>
            <a:r>
              <a:rPr lang="en-US" sz="1100" kern="0">
                <a:solidFill>
                  <a:srgbClr val="798D6F"/>
                </a:solidFill>
                <a:latin typeface="Courier New" pitchFamily="34" charset="0"/>
                <a:ea typeface="Courier New" pitchFamily="34" charset="-122"/>
                <a:cs typeface="Courier New" pitchFamily="34" charset="-120"/>
              </a:rPr>
              <a:t xml:space="preserve">   c-Mediane positiv</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 xml:space="preserve">Debt/Equity in </a:t>
            </a:r>
            <a:r>
              <a:rPr lang="en-US" sz="1000" b="1" kern="0">
                <a:solidFill>
                  <a:srgbClr val="F2EFDA"/>
                </a:solidFill>
                <a:latin typeface="Arial" pitchFamily="34" charset="0"/>
                <a:ea typeface="Arial" pitchFamily="34" charset="-122"/>
                <a:cs typeface="Arial" pitchFamily="34" charset="-120"/>
              </a:rPr>
              <a:t>10/10 Sektoren positiv</a:t>
            </a:r>
            <a:r>
              <a:rPr lang="en-US" sz="1000" kern="0">
                <a:solidFill>
                  <a:srgbClr val="B3BC9A"/>
                </a:solidFill>
                <a:latin typeface="Arial" pitchFamily="34" charset="0"/>
                <a:ea typeface="Arial" pitchFamily="34" charset="-122"/>
                <a:cs typeface="Arial" pitchFamily="34" charset="-120"/>
              </a:rPr>
              <a:t xml:space="preserve"> · FCF-Marge 9/10 · EBIT-Marge 8/10 — EK-Quote in 7/10 negativ: </a:t>
            </a:r>
            <a:r>
              <a:rPr lang="en-US" sz="1000" b="1" kern="0">
                <a:solidFill>
                  <a:srgbClr val="F2EFDA"/>
                </a:solidFill>
                <a:latin typeface="Arial" pitchFamily="34" charset="0"/>
                <a:ea typeface="Arial" pitchFamily="34" charset="-122"/>
                <a:cs typeface="Arial" pitchFamily="34" charset="-120"/>
              </a:rPr>
              <a:t>Verschuldungs- und Margenexpansion</a:t>
            </a:r>
            <a:r>
              <a:rPr lang="en-US" sz="1000" kern="0">
                <a:solidFill>
                  <a:srgbClr val="B3BC9A"/>
                </a:solidFill>
                <a:latin typeface="Arial" pitchFamily="34" charset="0"/>
                <a:ea typeface="Arial" pitchFamily="34" charset="-122"/>
                <a:cs typeface="Arial" pitchFamily="34" charset="-120"/>
              </a:rPr>
              <a:t xml:space="preserve"> (Bates et al. 2009; Graham et al. 2015).</a:t>
            </a:r>
            <a:endParaRPr lang="en-US" sz="1000"/>
          </a:p>
        </p:txBody>
      </p:sp>
      <p:pic>
        <p:nvPicPr>
          <p:cNvPr id="10" name="Grafik 9">
            <a:extLst>
              <a:ext uri="{FF2B5EF4-FFF2-40B4-BE49-F238E27FC236}">
                <a16:creationId xmlns:a16="http://schemas.microsoft.com/office/drawing/2014/main" id="{22E47D9B-033D-43BE-53E1-576C4D77197A}"/>
              </a:ext>
            </a:extLst>
          </p:cNvPr>
          <p:cNvPicPr>
            <a:picLocks noChangeAspect="1"/>
          </p:cNvPicPr>
          <p:nvPr/>
        </p:nvPicPr>
        <p:blipFill>
          <a:blip r:embed="rId3"/>
          <a:stretch>
            <a:fillRect/>
          </a:stretch>
        </p:blipFill>
        <p:spPr>
          <a:xfrm>
            <a:off x="656751" y="1943143"/>
            <a:ext cx="5438640" cy="2946175"/>
          </a:xfrm>
          <a:prstGeom prst="rect">
            <a:avLst/>
          </a:prstGeom>
        </p:spPr>
      </p:pic>
      <p:sp>
        <p:nvSpPr>
          <p:cNvPr id="215" name="!!T_Tech"/>
          <p:cNvSpPr/>
          <p:nvPr/>
        </p:nvSpPr>
        <p:spPr>
          <a:xfrm>
            <a:off x="6489497" y="2150000"/>
            <a:ext cx="4812488" cy="1050000"/>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c &gt; 0 in 10 / 10 Sektoren</a:t>
            </a:r>
            <a:endParaRPr lang="en-US" sz="1500" dirty="0"/>
          </a:p>
          <a:p>
            <a:pPr marL="0" indent="0" algn="l">
              <a:lnSpc>
                <a:spcPct val="106000"/>
              </a:lnSpc>
              <a:buNone/>
            </a:pPr>
            <a:r>
              <a:rPr lang="en-US" sz="1000" kern="0" dirty="0">
                <a:solidFill>
                  <a:srgbClr val="B3BC9A"/>
                </a:solidFill>
                <a:latin typeface="Arial" pitchFamily="34" charset="0"/>
                <a:ea typeface="Arial" pitchFamily="34" charset="-122"/>
                <a:cs typeface="Arial" pitchFamily="34" charset="-120"/>
              </a:rPr>
              <a:t xml:space="preserve">Die Verschuldungsexpansion ist </a:t>
            </a:r>
            <a:r>
              <a:rPr lang="en-US" sz="1000" b="1" kern="0" dirty="0">
                <a:solidFill>
                  <a:srgbClr val="F2EFDA"/>
                </a:solidFill>
                <a:latin typeface="Arial" pitchFamily="34" charset="0"/>
                <a:ea typeface="Arial" pitchFamily="34" charset="-122"/>
                <a:cs typeface="Arial" pitchFamily="34" charset="-120"/>
              </a:rPr>
              <a:t xml:space="preserve">kein Glättungsartefakt</a:t>
            </a:r>
            <a:r>
              <a:rPr lang="en-US" sz="1000" kern="0" dirty="0">
                <a:solidFill>
                  <a:srgbClr val="B3BC9A"/>
                </a:solidFill>
                <a:latin typeface="Arial" pitchFamily="34" charset="0"/>
                <a:ea typeface="Arial" pitchFamily="34" charset="-122"/>
                <a:cs typeface="Arial" pitchFamily="34" charset="-120"/>
              </a:rPr>
              <a:t xml:space="preserve"> — c misst den Trend direkt in den Quartalsveränderungen, unabhängig von der Niveau-Glättung.</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11 / 15</a:t>
            </a:r>
            <a:endParaRPr lang="en-US" sz="1200"/>
          </a:p>
        </p:txBody>
      </p:sp>
      <p:sp>
        <p:nvSpPr>
          <p:cNvPr id="20" name="Text 17"/>
          <p:cNvSpPr/>
          <p:nvPr/>
        </p:nvSpPr>
        <p:spPr>
          <a:xfrm>
            <a:off x="635000" y="5359400"/>
            <a:ext cx="10922000" cy="254000"/>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Reaktion vs. Baseline: Median |ΔY| im Peak-Quartal ÷ Nicht-Peak-Baseline — Werte über 1 = überproportional. Testbilanz: 7/12 Bonferroni · 11/12 FDR · In-Sample-Konsistenzprüfung.</a:t>
            </a:r>
            <a:endParaRPr lang="en-US" sz="900"/>
          </a:p>
        </p:txBody>
      </p:sp>
      <p:sp>
        <p:nvSpPr>
          <p:cNvPr id="81" name="!!K_GFC"/>
          <p:cNvSpPr/>
          <p:nvPr/>
        </p:nvSpPr>
        <p:spPr>
          <a:xfrm>
            <a:off x="635000" y="4089400"/>
            <a:ext cx="3467100" cy="1143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889000" y="4216400"/>
            <a:ext cx="2959100" cy="2286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2009</a:t>
            </a:r>
            <a:endParaRPr lang="en-US" sz="1050"/>
          </a:p>
        </p:txBody>
      </p:sp>
      <p:sp>
        <p:nvSpPr>
          <p:cNvPr id="83" name="!!T_GFC"/>
          <p:cNvSpPr/>
          <p:nvPr/>
        </p:nvSpPr>
        <p:spPr>
          <a:xfrm>
            <a:off x="889000" y="4483100"/>
            <a:ext cx="2959100" cy="660400"/>
          </a:xfrm>
          <a:prstGeom prst="rect">
            <a:avLst/>
          </a:prstGeom>
          <a:noFill/>
          <a:ln/>
        </p:spPr>
        <p:txBody>
          <a:bodyPr wrap="square" rtlCol="0" anchor="t"/>
          <a:lstStyle/>
          <a:p>
            <a:pPr marL="0" indent="0" algn="l">
              <a:lnSpc>
                <a:spcPct val="100000"/>
              </a:lnSpc>
              <a:buNone/>
            </a:pPr>
            <a:r>
              <a:rPr lang="en-US" sz="1500" b="1" kern="0" dirty="0" err="1">
                <a:solidFill>
                  <a:srgbClr val="F2EFDA"/>
                </a:solidFill>
                <a:latin typeface="Courier New" pitchFamily="34" charset="0"/>
                <a:ea typeface="Courier New" pitchFamily="34" charset="-122"/>
                <a:cs typeface="Courier New" pitchFamily="34" charset="-120"/>
              </a:rPr>
              <a:t>r_rb</a:t>
            </a:r>
            <a:r>
              <a:rPr lang="en-US" sz="1500" b="1" kern="0" dirty="0">
                <a:solidFill>
                  <a:srgbClr val="F2EFDA"/>
                </a:solidFill>
                <a:latin typeface="Courier New" pitchFamily="34" charset="0"/>
                <a:ea typeface="Courier New" pitchFamily="34" charset="-122"/>
                <a:cs typeface="Courier New" pitchFamily="34" charset="-120"/>
              </a:rPr>
              <a:t xml:space="preserve"> = −0,36</a:t>
            </a:r>
            <a:r>
              <a:rPr lang="en-US" sz="1100" kern="0" dirty="0">
                <a:solidFill>
                  <a:srgbClr val="798D6F"/>
                </a:solidFill>
                <a:latin typeface="Courier New" pitchFamily="34" charset="0"/>
                <a:ea typeface="Courier New" pitchFamily="34" charset="-122"/>
                <a:cs typeface="Courier New" pitchFamily="34" charset="-120"/>
              </a:rPr>
              <a:t xml:space="preserve">   </a:t>
            </a:r>
            <a:r>
              <a:rPr lang="en-US" sz="1100" kern="0" dirty="0" err="1">
                <a:solidFill>
                  <a:srgbClr val="798D6F"/>
                </a:solidFill>
                <a:latin typeface="Courier New" pitchFamily="34" charset="0"/>
                <a:ea typeface="Courier New" pitchFamily="34" charset="-122"/>
                <a:cs typeface="Courier New" pitchFamily="34" charset="-120"/>
              </a:rPr>
              <a:t>volatil</a:t>
            </a:r>
            <a:r>
              <a:rPr lang="en-US" sz="1100" kern="0" dirty="0">
                <a:solidFill>
                  <a:srgbClr val="798D6F"/>
                </a:solidFill>
                <a:latin typeface="Courier New" pitchFamily="34" charset="0"/>
                <a:ea typeface="Courier New" pitchFamily="34" charset="-122"/>
                <a:cs typeface="Courier New" pitchFamily="34" charset="-120"/>
              </a:rPr>
              <a:t xml:space="preserve"> vs. </a:t>
            </a:r>
            <a:r>
              <a:rPr lang="en-US" sz="1100" kern="0" dirty="0" err="1">
                <a:solidFill>
                  <a:srgbClr val="798D6F"/>
                </a:solidFill>
                <a:latin typeface="Courier New" pitchFamily="34" charset="0"/>
                <a:ea typeface="Courier New" pitchFamily="34" charset="-122"/>
                <a:cs typeface="Courier New" pitchFamily="34" charset="-120"/>
              </a:rPr>
              <a:t>stabil</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 −0,360 · EBIT-Marge −0,355 — </a:t>
            </a:r>
            <a:r>
              <a:rPr lang="en-US" sz="1000" b="1" kern="0" dirty="0" err="1">
                <a:solidFill>
                  <a:srgbClr val="F2EFDA"/>
                </a:solidFill>
                <a:latin typeface="Arial" pitchFamily="34" charset="0"/>
                <a:ea typeface="Arial" pitchFamily="34" charset="-122"/>
                <a:cs typeface="Arial" pitchFamily="34" charset="-120"/>
              </a:rPr>
              <a:t>volatil</a:t>
            </a:r>
            <a:r>
              <a:rPr lang="en-US" sz="1000" b="1" kern="0" dirty="0">
                <a:solidFill>
                  <a:srgbClr val="F2EFDA"/>
                </a:solidFill>
                <a:latin typeface="Arial" pitchFamily="34" charset="0"/>
                <a:ea typeface="Arial" pitchFamily="34" charset="-122"/>
                <a:cs typeface="Arial" pitchFamily="34" charset="-120"/>
              </a:rPr>
              <a:t xml:space="preserve"> </a:t>
            </a:r>
            <a:r>
              <a:rPr lang="en-US" sz="1000" b="1" kern="0" dirty="0" err="1">
                <a:solidFill>
                  <a:srgbClr val="F2EFDA"/>
                </a:solidFill>
                <a:latin typeface="Arial" pitchFamily="34" charset="0"/>
                <a:ea typeface="Arial" pitchFamily="34" charset="-122"/>
                <a:cs typeface="Arial" pitchFamily="34" charset="-120"/>
              </a:rPr>
              <a:t>reagiert</a:t>
            </a:r>
            <a:r>
              <a:rPr lang="en-US" sz="1000" b="1" kern="0" dirty="0">
                <a:solidFill>
                  <a:srgbClr val="F2EFDA"/>
                </a:solidFill>
                <a:latin typeface="Arial" pitchFamily="34" charset="0"/>
                <a:ea typeface="Arial" pitchFamily="34" charset="-122"/>
                <a:cs typeface="Arial" pitchFamily="34" charset="-120"/>
              </a:rPr>
              <a:t xml:space="preserve"> </a:t>
            </a:r>
            <a:r>
              <a:rPr lang="en-US" sz="1000" b="1" kern="0" dirty="0" err="1">
                <a:solidFill>
                  <a:srgbClr val="F2EFDA"/>
                </a:solidFill>
                <a:latin typeface="Arial" pitchFamily="34" charset="0"/>
                <a:ea typeface="Arial" pitchFamily="34" charset="-122"/>
                <a:cs typeface="Arial" pitchFamily="34" charset="-120"/>
              </a:rPr>
              <a:t>stärker</a:t>
            </a:r>
            <a:r>
              <a:rPr lang="en-US" sz="1000" kern="0" dirty="0">
                <a:solidFill>
                  <a:srgbClr val="B3BC9A"/>
                </a:solidFill>
                <a:latin typeface="Arial" pitchFamily="34" charset="0"/>
                <a:ea typeface="Arial" pitchFamily="34" charset="-122"/>
                <a:cs typeface="Arial" pitchFamily="34" charset="-120"/>
              </a:rPr>
              <a:t xml:space="preserve"> (Bonferroni).</a:t>
            </a:r>
            <a:endParaRPr lang="en-US" sz="1000" dirty="0"/>
          </a:p>
        </p:txBody>
      </p:sp>
      <p:sp>
        <p:nvSpPr>
          <p:cNvPr id="84" name="!!K_COVID"/>
          <p:cNvSpPr/>
          <p:nvPr/>
        </p:nvSpPr>
        <p:spPr>
          <a:xfrm>
            <a:off x="4356100" y="4089400"/>
            <a:ext cx="3467100" cy="1143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4610100" y="4216400"/>
            <a:ext cx="2959100" cy="2286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a:t>
            </a:r>
            <a:endParaRPr lang="en-US" sz="1050"/>
          </a:p>
        </p:txBody>
      </p:sp>
      <p:sp>
        <p:nvSpPr>
          <p:cNvPr id="86" name="!!T_COVID"/>
          <p:cNvSpPr/>
          <p:nvPr/>
        </p:nvSpPr>
        <p:spPr>
          <a:xfrm>
            <a:off x="46101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−0,27</a:t>
            </a:r>
            <a:r>
              <a:rPr lang="en-US" sz="1100" kern="0">
                <a:solidFill>
                  <a:srgbClr val="798D6F"/>
                </a:solidFill>
                <a:latin typeface="Courier New" pitchFamily="34" charset="0"/>
                <a:ea typeface="Courier New" pitchFamily="34" charset="-122"/>
                <a:cs typeface="Courier New" pitchFamily="34" charset="-120"/>
              </a:rPr>
              <a:t xml:space="preserve">   Trennung bestätigt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 xml:space="preserve">ROA Bonferroni-signifikant · </a:t>
            </a:r>
            <a:r>
              <a:rPr lang="en-US" sz="1000" b="1" kern="0">
                <a:solidFill>
                  <a:srgbClr val="F2EFDA"/>
                </a:solidFill>
                <a:latin typeface="Arial" pitchFamily="34" charset="0"/>
                <a:ea typeface="Arial" pitchFamily="34" charset="-122"/>
                <a:cs typeface="Arial" pitchFamily="34" charset="-120"/>
              </a:rPr>
              <a:t>ε² = 0,13 (CR) · 0,10 (EBIT-Marge)</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87" name="!!K_DotCom"/>
          <p:cNvSpPr/>
          <p:nvPr/>
        </p:nvSpPr>
        <p:spPr>
          <a:xfrm>
            <a:off x="8077200" y="4089400"/>
            <a:ext cx="3467100" cy="1143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8331200" y="4216400"/>
            <a:ext cx="2959100" cy="2286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2001</a:t>
            </a:r>
            <a:endParaRPr lang="en-US" sz="1050"/>
          </a:p>
        </p:txBody>
      </p:sp>
      <p:sp>
        <p:nvSpPr>
          <p:cNvPr id="89" name="!!T_DotCom"/>
          <p:cNvSpPr/>
          <p:nvPr/>
        </p:nvSpPr>
        <p:spPr>
          <a:xfrm>
            <a:off x="83312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keine Trennung</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 xml:space="preserve">sektorspezifische Tech-Krise mit geringer Querschnittsbreite — </a:t>
            </a:r>
            <a:r>
              <a:rPr lang="en-US" sz="1000" b="1" kern="0">
                <a:solidFill>
                  <a:srgbClr val="F2EFDA"/>
                </a:solidFill>
                <a:latin typeface="Arial" pitchFamily="34" charset="0"/>
                <a:ea typeface="Arial" pitchFamily="34" charset="-122"/>
                <a:cs typeface="Arial" pitchFamily="34" charset="-120"/>
              </a:rPr>
              <a:t>konsistent mit der Phasen-Struktur</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hip1"/>
          <p:cNvSpPr/>
          <p:nvPr/>
        </p:nvSpPr>
        <p:spPr>
          <a:xfrm>
            <a:off x="6350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hip1"/>
          <p:cNvSpPr/>
          <p:nvPr/>
        </p:nvSpPr>
        <p:spPr>
          <a:xfrm>
            <a:off x="8128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EBIT-MARGE</a:t>
            </a:r>
            <a:endParaRPr lang="en-US" sz="1000"/>
          </a:p>
        </p:txBody>
      </p:sp>
      <p:sp>
        <p:nvSpPr>
          <p:cNvPr id="93" name="!!T_Chip1"/>
          <p:cNvSpPr/>
          <p:nvPr/>
        </p:nvSpPr>
        <p:spPr>
          <a:xfrm>
            <a:off x="8128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×1,53 · ×1,54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GFC · COVID — operativer Hebel: Umsatz bricht, Kosten bleiben.</a:t>
            </a:r>
            <a:endParaRPr lang="en-US" sz="870"/>
          </a:p>
        </p:txBody>
      </p:sp>
      <p:sp>
        <p:nvSpPr>
          <p:cNvPr id="94" name="!!K_Chip2"/>
          <p:cNvSpPr/>
          <p:nvPr/>
        </p:nvSpPr>
        <p:spPr>
          <a:xfrm>
            <a:off x="34163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hip2"/>
          <p:cNvSpPr/>
          <p:nvPr/>
        </p:nvSpPr>
        <p:spPr>
          <a:xfrm>
            <a:off x="3594100" y="5816600"/>
            <a:ext cx="2235200" cy="215900"/>
          </a:xfrm>
          <a:prstGeom prst="rect">
            <a:avLst/>
          </a:prstGeom>
          <a:noFill/>
          <a:ln/>
        </p:spPr>
        <p:txBody>
          <a:bodyPr wrap="square" rtlCol="0" anchor="t"/>
          <a:lstStyle/>
          <a:p>
            <a:pPr marL="0" indent="0" algn="l">
              <a:lnSpc>
                <a:spcPct val="105000"/>
              </a:lnSpc>
              <a:buNone/>
            </a:pPr>
            <a:r>
              <a:rPr lang="en-US" sz="1000" b="1" kern="0">
                <a:solidFill>
                  <a:srgbClr val="F36451"/>
                </a:solidFill>
                <a:latin typeface="Courier New" pitchFamily="34" charset="0"/>
                <a:ea typeface="Courier New" pitchFamily="34" charset="-122"/>
                <a:cs typeface="Courier New" pitchFamily="34" charset="-120"/>
              </a:rPr>
              <a:t>DEBT/EQUITY</a:t>
            </a:r>
            <a:endParaRPr lang="en-US" sz="1000"/>
          </a:p>
        </p:txBody>
      </p:sp>
      <p:sp>
        <p:nvSpPr>
          <p:cNvPr id="96" name="!!T_Chip2"/>
          <p:cNvSpPr/>
          <p:nvPr/>
        </p:nvSpPr>
        <p:spPr>
          <a:xfrm>
            <a:off x="35941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×1,37 Dot-Com</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Kurs-Crash vernichtet Eigenkapital; COVID ×1,50.</a:t>
            </a:r>
            <a:endParaRPr lang="en-US" sz="870"/>
          </a:p>
        </p:txBody>
      </p:sp>
      <p:sp>
        <p:nvSpPr>
          <p:cNvPr id="97" name="!!K_Chip3"/>
          <p:cNvSpPr/>
          <p:nvPr/>
        </p:nvSpPr>
        <p:spPr>
          <a:xfrm>
            <a:off x="61849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hip3"/>
          <p:cNvSpPr/>
          <p:nvPr/>
        </p:nvSpPr>
        <p:spPr>
          <a:xfrm>
            <a:off x="63627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FCF-MARGE</a:t>
            </a:r>
            <a:endParaRPr lang="en-US" sz="1000"/>
          </a:p>
        </p:txBody>
      </p:sp>
      <p:sp>
        <p:nvSpPr>
          <p:cNvPr id="99" name="!!T_Chip3"/>
          <p:cNvSpPr/>
          <p:nvPr/>
        </p:nvSpPr>
        <p:spPr>
          <a:xfrm>
            <a:off x="63627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×1,11 GFC</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kaum über Baseline — die Accrual-Sonderstellung erneut.</a:t>
            </a:r>
            <a:endParaRPr lang="en-US" sz="870"/>
          </a:p>
        </p:txBody>
      </p:sp>
      <p:sp>
        <p:nvSpPr>
          <p:cNvPr id="100" name="!!K_Chip4"/>
          <p:cNvSpPr/>
          <p:nvPr/>
        </p:nvSpPr>
        <p:spPr>
          <a:xfrm>
            <a:off x="89662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hip4"/>
          <p:cNvSpPr/>
          <p:nvPr/>
        </p:nvSpPr>
        <p:spPr>
          <a:xfrm>
            <a:off x="9144000" y="5816600"/>
            <a:ext cx="2235200" cy="2159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CURRENT RATIO</a:t>
            </a:r>
            <a:endParaRPr lang="en-US" sz="1000"/>
          </a:p>
        </p:txBody>
      </p:sp>
      <p:sp>
        <p:nvSpPr>
          <p:cNvPr id="102" name="!!T_Chip4"/>
          <p:cNvSpPr/>
          <p:nvPr/>
        </p:nvSpPr>
        <p:spPr>
          <a:xfrm>
            <a:off x="91440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 ×1,24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überall am schwächsten — träge Bilanzposition.</a:t>
            </a:r>
            <a:endParaRPr lang="en-US" sz="870"/>
          </a:p>
        </p:txBody>
      </p:sp>
      <p:pic>
        <p:nvPicPr>
          <p:cNvPr id="12" name="Grafik 11">
            <a:extLst>
              <a:ext uri="{FF2B5EF4-FFF2-40B4-BE49-F238E27FC236}">
                <a16:creationId xmlns:a16="http://schemas.microsoft.com/office/drawing/2014/main" id="{C766B6D6-D0B1-7C63-3304-0AF47B33BBA7}"/>
              </a:ext>
            </a:extLst>
          </p:cNvPr>
          <p:cNvPicPr>
            <a:picLocks noChangeAspect="1"/>
          </p:cNvPicPr>
          <p:nvPr/>
        </p:nvPicPr>
        <p:blipFill>
          <a:blip r:embed="rId3"/>
          <a:stretch>
            <a:fillRect/>
          </a:stretch>
        </p:blipFill>
        <p:spPr>
          <a:xfrm>
            <a:off x="933518" y="634492"/>
            <a:ext cx="10382670" cy="33095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12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Drei Ebenen, ein Testprogramm</a:t>
            </a:r>
            <a:endParaRPr lang="en-US" sz="20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Alle Testfamilien Bonferroni-korrigiert. Die Ergebnisse folgen auf den nächsten drei Folien.</a:t>
            </a:r>
            <a:endParaRPr lang="en-US" sz="900" dirty="0"/>
          </a:p>
        </p:txBody>
      </p:sp>
      <p:sp>
        <p:nvSpPr>
          <p:cNvPr id="40" name="!!K_Test1"/>
          <p:cNvSpPr/>
          <p:nvPr/>
        </p:nvSpPr>
        <p:spPr>
          <a:xfrm>
            <a:off x="634594" y="175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1" name="!!A_Test1"/>
          <p:cNvSpPr/>
          <p:nvPr/>
        </p:nvSpPr>
        <p:spPr>
          <a:xfrm>
            <a:off x="634594" y="1750000"/>
            <a:ext cx="38405" cy="1150000"/>
          </a:xfrm>
          <a:prstGeom prst="rect">
            <a:avLst/>
          </a:prstGeom>
          <a:solidFill>
            <a:srgbClr val="79A2F9"/>
          </a:solidFill>
          <a:ln/>
        </p:spPr>
        <p:txBody>
          <a:bodyPr/>
          <a:lstStyle/>
          <a:p>
            <a:endParaRPr lang="de-DE"/>
          </a:p>
        </p:txBody>
      </p:sp>
      <p:sp>
        <p:nvSpPr>
          <p:cNvPr id="42" name="!!L_Test1"/>
          <p:cNvSpPr/>
          <p:nvPr/>
        </p:nvSpPr>
        <p:spPr>
          <a:xfrm>
            <a:off x="888797" y="1940000"/>
            <a:ext cx="7300000" cy="260000"/>
          </a:xfrm>
          <a:prstGeom prst="rect">
            <a:avLst/>
          </a:prstGeom>
          <a:noFill/>
          <a:ln/>
        </p:spPr>
        <p:txBody>
          <a:bodyPr wrap="square" rtlCol="0" anchor="t"/>
          <a:lstStyle/>
          <a:p>
            <a:pPr marL="0" indent="0" algn="l">
              <a:lnSpc>
                <a:spcPct val="105000"/>
              </a:lnSpc>
              <a:buNone/>
            </a:pPr>
            <a:r>
              <a:rPr lang="en-US" sz="1200" b="1" kern="0" dirty="0">
                <a:solidFill>
                  <a:srgbClr val="79A2F9"/>
                </a:solidFill>
                <a:latin typeface="Courier New" pitchFamily="34" charset="0"/>
                <a:ea typeface="Courier New" pitchFamily="34" charset="-122"/>
                <a:cs typeface="Courier New" pitchFamily="34" charset="-120"/>
              </a:rPr>
              <a:t>6.1 · UNTERNEHMENSMERKMALE</a:t>
            </a:r>
            <a:endParaRPr lang="en-US" sz="1200" dirty="0"/>
          </a:p>
        </p:txBody>
      </p:sp>
      <p:sp>
        <p:nvSpPr>
          <p:cNvPr id="43" name="!!D_Test1"/>
          <p:cNvSpPr/>
          <p:nvPr/>
        </p:nvSpPr>
        <p:spPr>
          <a:xfrm>
            <a:off x="4532913" y="222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 xml:space="preserve">5 Strukturvariablen × 7 Kennzahlen × </a:t>
            </a:r>
            <a:r>
              <a:rPr lang="en-US" sz="1400" kern="0" dirty="0" err="1">
                <a:solidFill>
                  <a:srgbClr val="B3BC9A"/>
                </a:solidFill>
                <a:latin typeface="Arial" pitchFamily="34" charset="0"/>
                <a:ea typeface="Arial" pitchFamily="34" charset="-122"/>
                <a:cs typeface="Arial" pitchFamily="34" charset="-120"/>
              </a:rPr>
              <a:t>φ</a:t>
            </a:r>
            <a:r>
              <a:rPr lang="en-US" sz="1400" kern="0" dirty="0">
                <a:solidFill>
                  <a:srgbClr val="B3BC9A"/>
                </a:solidFill>
                <a:latin typeface="Arial" pitchFamily="34" charset="0"/>
                <a:ea typeface="Arial" pitchFamily="34" charset="-122"/>
                <a:cs typeface="Arial" pitchFamily="34" charset="-120"/>
              </a:rPr>
              <a:t xml:space="preserve"> &amp; </a:t>
            </a:r>
            <a:r>
              <a:rPr lang="en-US" sz="1400" kern="0" dirty="0" err="1">
                <a:solidFill>
                  <a:srgbClr val="B3BC9A"/>
                </a:solidFill>
                <a:latin typeface="Arial" pitchFamily="34" charset="0"/>
                <a:ea typeface="Arial" pitchFamily="34" charset="-122"/>
                <a:cs typeface="Arial" pitchFamily="34" charset="-120"/>
              </a:rPr>
              <a:t>σ</a:t>
            </a:r>
            <a:r>
              <a:rPr lang="en-US" sz="1400" kern="0" dirty="0">
                <a:solidFill>
                  <a:srgbClr val="B3BC9A"/>
                </a:solidFill>
                <a:latin typeface="Arial" pitchFamily="34" charset="0"/>
                <a:ea typeface="Arial" pitchFamily="34" charset="-122"/>
                <a:cs typeface="Arial" pitchFamily="34" charset="-120"/>
              </a:rPr>
              <a:t xml:space="preserve"> </a:t>
            </a:r>
            <a:endParaRPr lang="en-US" sz="1400" dirty="0"/>
          </a:p>
        </p:txBody>
      </p:sp>
      <p:sp>
        <p:nvSpPr>
          <p:cNvPr id="60" name="!!B_Test1"/>
          <p:cNvSpPr/>
          <p:nvPr/>
        </p:nvSpPr>
        <p:spPr>
          <a:xfrm>
            <a:off x="8300000" y="175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98 Tests</a:t>
            </a:r>
            <a:endParaRPr lang="en-US" sz="2000" dirty="0"/>
          </a:p>
        </p:txBody>
      </p:sp>
      <p:sp>
        <p:nvSpPr>
          <p:cNvPr id="44" name="!!K_Test2"/>
          <p:cNvSpPr/>
          <p:nvPr/>
        </p:nvSpPr>
        <p:spPr>
          <a:xfrm>
            <a:off x="634594" y="316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A_Test2"/>
          <p:cNvSpPr/>
          <p:nvPr/>
        </p:nvSpPr>
        <p:spPr>
          <a:xfrm>
            <a:off x="634594" y="3160000"/>
            <a:ext cx="38405" cy="1150000"/>
          </a:xfrm>
          <a:prstGeom prst="rect">
            <a:avLst/>
          </a:prstGeom>
          <a:solidFill>
            <a:srgbClr val="E6D34F"/>
          </a:solidFill>
          <a:ln/>
        </p:spPr>
        <p:txBody>
          <a:bodyPr/>
          <a:lstStyle/>
          <a:p>
            <a:endParaRPr lang="de-DE"/>
          </a:p>
        </p:txBody>
      </p:sp>
      <p:sp>
        <p:nvSpPr>
          <p:cNvPr id="46" name="!!L_Test2"/>
          <p:cNvSpPr/>
          <p:nvPr/>
        </p:nvSpPr>
        <p:spPr>
          <a:xfrm>
            <a:off x="888797" y="3350000"/>
            <a:ext cx="7300000" cy="260000"/>
          </a:xfrm>
          <a:prstGeom prst="rect">
            <a:avLst/>
          </a:prstGeom>
          <a:noFill/>
          <a:ln/>
        </p:spPr>
        <p:txBody>
          <a:bodyPr wrap="square" rtlCol="0" anchor="t"/>
          <a:lstStyle/>
          <a:p>
            <a:pPr marL="0" indent="0" algn="l">
              <a:lnSpc>
                <a:spcPct val="105000"/>
              </a:lnSpc>
              <a:buNone/>
            </a:pPr>
            <a:r>
              <a:rPr lang="en-US" sz="1200" b="1" kern="0" dirty="0">
                <a:solidFill>
                  <a:srgbClr val="E6D34F"/>
                </a:solidFill>
                <a:latin typeface="Courier New" pitchFamily="34" charset="0"/>
                <a:ea typeface="Courier New" pitchFamily="34" charset="-122"/>
                <a:cs typeface="Courier New" pitchFamily="34" charset="-120"/>
              </a:rPr>
              <a:t>6.2 · SEKTORMERKMALE</a:t>
            </a:r>
            <a:endParaRPr lang="en-US" sz="1200" dirty="0"/>
          </a:p>
        </p:txBody>
      </p:sp>
      <p:sp>
        <p:nvSpPr>
          <p:cNvPr id="47" name="!!D_Test2"/>
          <p:cNvSpPr/>
          <p:nvPr/>
        </p:nvSpPr>
        <p:spPr>
          <a:xfrm>
            <a:off x="4532912" y="363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 xml:space="preserve">Kruskal-Wallis über die </a:t>
            </a:r>
            <a:r>
              <a:rPr lang="en-US" sz="1400" kern="0" dirty="0" err="1">
                <a:solidFill>
                  <a:srgbClr val="B3BC9A"/>
                </a:solidFill>
                <a:latin typeface="Arial" pitchFamily="34" charset="0"/>
                <a:ea typeface="Arial" pitchFamily="34" charset="-122"/>
                <a:cs typeface="Arial" pitchFamily="34" charset="-120"/>
              </a:rPr>
              <a:t>zehn</a:t>
            </a:r>
            <a:r>
              <a:rPr lang="en-US" sz="1400" kern="0" dirty="0">
                <a:solidFill>
                  <a:srgbClr val="B3BC9A"/>
                </a:solidFill>
                <a:latin typeface="Arial" pitchFamily="34" charset="0"/>
                <a:ea typeface="Arial" pitchFamily="34" charset="-122"/>
                <a:cs typeface="Arial" pitchFamily="34" charset="-120"/>
              </a:rPr>
              <a:t xml:space="preserve"> GICS-</a:t>
            </a:r>
            <a:r>
              <a:rPr lang="en-US" sz="1400" kern="0" dirty="0" err="1">
                <a:solidFill>
                  <a:srgbClr val="B3BC9A"/>
                </a:solidFill>
                <a:latin typeface="Arial" pitchFamily="34" charset="0"/>
                <a:ea typeface="Arial" pitchFamily="34" charset="-122"/>
                <a:cs typeface="Arial" pitchFamily="34" charset="-120"/>
              </a:rPr>
              <a:t>Sektoren</a:t>
            </a:r>
            <a:endParaRPr lang="en-US" sz="1400" dirty="0"/>
          </a:p>
        </p:txBody>
      </p:sp>
      <p:sp>
        <p:nvSpPr>
          <p:cNvPr id="64" name="!!B_Test2"/>
          <p:cNvSpPr/>
          <p:nvPr/>
        </p:nvSpPr>
        <p:spPr>
          <a:xfrm>
            <a:off x="8300000" y="316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3 Verfahren</a:t>
            </a:r>
            <a:endParaRPr lang="en-US" sz="2000" dirty="0"/>
          </a:p>
        </p:txBody>
      </p:sp>
      <p:sp>
        <p:nvSpPr>
          <p:cNvPr id="48" name="!!K_Test3"/>
          <p:cNvSpPr/>
          <p:nvPr/>
        </p:nvSpPr>
        <p:spPr>
          <a:xfrm>
            <a:off x="634594" y="457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9" name="!!A_Test3"/>
          <p:cNvSpPr/>
          <p:nvPr/>
        </p:nvSpPr>
        <p:spPr>
          <a:xfrm>
            <a:off x="634594" y="4570000"/>
            <a:ext cx="38405" cy="1150000"/>
          </a:xfrm>
          <a:prstGeom prst="rect">
            <a:avLst/>
          </a:prstGeom>
          <a:solidFill>
            <a:srgbClr val="F36451"/>
          </a:solidFill>
          <a:ln/>
        </p:spPr>
        <p:txBody>
          <a:bodyPr/>
          <a:lstStyle/>
          <a:p>
            <a:endParaRPr lang="de-DE"/>
          </a:p>
        </p:txBody>
      </p:sp>
      <p:sp>
        <p:nvSpPr>
          <p:cNvPr id="50" name="!!L_Test3"/>
          <p:cNvSpPr/>
          <p:nvPr/>
        </p:nvSpPr>
        <p:spPr>
          <a:xfrm>
            <a:off x="888797" y="4760000"/>
            <a:ext cx="7300000" cy="260000"/>
          </a:xfrm>
          <a:prstGeom prst="rect">
            <a:avLst/>
          </a:prstGeom>
          <a:noFill/>
          <a:ln/>
        </p:spPr>
        <p:txBody>
          <a:bodyPr wrap="square" rtlCol="0" anchor="t"/>
          <a:lstStyle/>
          <a:p>
            <a:pPr marL="0" indent="0" algn="l">
              <a:lnSpc>
                <a:spcPct val="105000"/>
              </a:lnSpc>
              <a:buNone/>
            </a:pPr>
            <a:r>
              <a:rPr lang="en-US" sz="1200" b="1" kern="0" dirty="0">
                <a:solidFill>
                  <a:srgbClr val="F36451"/>
                </a:solidFill>
                <a:latin typeface="Courier New" pitchFamily="34" charset="0"/>
                <a:ea typeface="Courier New" pitchFamily="34" charset="-122"/>
                <a:cs typeface="Courier New" pitchFamily="34" charset="-120"/>
              </a:rPr>
              <a:t>6.3 · SYNTHESE</a:t>
            </a:r>
            <a:endParaRPr lang="en-US" sz="1200" dirty="0"/>
          </a:p>
        </p:txBody>
      </p:sp>
      <p:sp>
        <p:nvSpPr>
          <p:cNvPr id="51" name="!!D_Test3"/>
          <p:cNvSpPr/>
          <p:nvPr/>
        </p:nvSpPr>
        <p:spPr>
          <a:xfrm>
            <a:off x="4532912" y="504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Multivariate OLS-Regression</a:t>
            </a:r>
            <a:endParaRPr lang="en-US" sz="1400" dirty="0"/>
          </a:p>
        </p:txBody>
      </p:sp>
      <p:sp>
        <p:nvSpPr>
          <p:cNvPr id="68" name="!!B_Test3"/>
          <p:cNvSpPr/>
          <p:nvPr/>
        </p:nvSpPr>
        <p:spPr>
          <a:xfrm>
            <a:off x="8300000" y="457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14 Modelle</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Unternehmensmerkmale wirken auf σ</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98 Spearman-Tests · ★ = Bonferroni-signifikant (α/14 ≈ 0,0036)</a:t>
            </a:r>
            <a:endParaRPr lang="en-US" sz="1100" dirty="0"/>
          </a:p>
        </p:txBody>
      </p:sp>
      <p:sp>
        <p:nvSpPr>
          <p:cNvPr id="20" name="Text 17"/>
          <p:cNvSpPr/>
          <p:nvPr/>
        </p:nvSpPr>
        <p:spPr>
          <a:xfrm>
            <a:off x="634594" y="585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31 von 49 σ-Tests signifikant · 10 von 49 bei φ — stärkster Effekt: Mitarbeiterzahl × FCF-Marge / Current Ratio (ρ = −0,53).</a:t>
            </a:r>
            <a:endParaRPr lang="en-US" sz="900" dirty="0"/>
          </a:p>
        </p:txBody>
      </p:sp>
      <p:pic>
        <p:nvPicPr>
          <p:cNvPr id="21" name="Picture 20" descr="image.png"/>
          <p:cNvPicPr>
            <a:picLocks noChangeAspect="1"/>
          </p:cNvPicPr>
          <p:nvPr/>
        </p:nvPicPr>
        <p:blipFill>
          <a:blip r:embed="rId3"/>
          <a:stretch>
            <a:fillRect/>
          </a:stretch>
        </p:blipFill>
        <p:spPr>
          <a:xfrm>
            <a:off x="996000" y="1650000"/>
            <a:ext cx="10200000" cy="418183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14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Sektoreffekt: σ ja — φ kaum</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Kruskal-Wallis-Effektstärke ε² je Kennzahl · ★ = Bonferroni-signifikant</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Cluster-Vorhersagen aus der Sektor-Mechanik (Kap. 4.3.3) · Details und Beispiel-Unternehmen im Backup.</a:t>
            </a:r>
            <a:endParaRPr lang="en-US" sz="900" dirty="0"/>
          </a:p>
        </p:txBody>
      </p:sp>
      <p:sp>
        <p:nvSpPr>
          <p:cNvPr id="60" name="!!K_FinSrv"/>
          <p:cNvSpPr/>
          <p:nvPr/>
        </p:nvSpPr>
        <p:spPr>
          <a:xfrm>
            <a:off x="7734594" y="1750000"/>
            <a:ext cx="3821594" cy="1400000"/>
          </a:xfrm>
          <a:prstGeom prst="roundRect">
            <a:avLst>
              <a:gd name="adj" fmla="val 3197"/>
            </a:avLst>
          </a:prstGeom>
          <a:solidFill>
            <a:srgbClr val="1E402E"/>
          </a:solidFill>
          <a:ln w="12700">
            <a:solidFill>
              <a:srgbClr val="E6D34F"/>
            </a:solidFill>
            <a:prstDash val="solid"/>
          </a:ln>
        </p:spPr>
        <p:txBody>
          <a:bodyPr/>
          <a:lstStyle/>
          <a:p>
            <a:endParaRPr lang="de-DE"/>
          </a:p>
        </p:txBody>
      </p:sp>
      <p:sp>
        <p:nvSpPr>
          <p:cNvPr id="61" name="!!L_FinSrv"/>
          <p:cNvSpPr/>
          <p:nvPr/>
        </p:nvSpPr>
        <p:spPr>
          <a:xfrm>
            <a:off x="7934594" y="1880000"/>
            <a:ext cx="3421594" cy="230000"/>
          </a:xfrm>
          <a:prstGeom prst="rect">
            <a:avLst/>
          </a:prstGeom>
          <a:noFill/>
          <a:ln/>
        </p:spPr>
        <p:txBody>
          <a:bodyPr wrap="square" rtlCol="0" anchor="t"/>
          <a:lstStyle/>
          <a:p>
            <a:pPr marL="0" indent="0" algn="l">
              <a:lnSpc>
                <a:spcPct val="105000"/>
              </a:lnSpc>
              <a:buNone/>
            </a:pPr>
            <a:r>
              <a:rPr lang="en-US" sz="1000" b="1" kern="0" dirty="0">
                <a:solidFill>
                  <a:srgbClr val="E6D34F"/>
                </a:solidFill>
                <a:latin typeface="Courier New" pitchFamily="34" charset="0"/>
                <a:ea typeface="Courier New" pitchFamily="34" charset="-122"/>
                <a:cs typeface="Courier New" pitchFamily="34" charset="-120"/>
              </a:rPr>
              <a:t>FINSRV-KONTRAST · 451 FIRMEN</a:t>
            </a:r>
            <a:endParaRPr lang="en-US" sz="1000" dirty="0"/>
          </a:p>
        </p:txBody>
      </p:sp>
      <p:sp>
        <p:nvSpPr>
          <p:cNvPr id="62" name="!!T_FinSrv"/>
          <p:cNvSpPr/>
          <p:nvPr/>
        </p:nvSpPr>
        <p:spPr>
          <a:xfrm>
            <a:off x="7934594" y="2160000"/>
            <a:ext cx="3421594" cy="900000"/>
          </a:xfrm>
          <a:prstGeom prst="rect">
            <a:avLst/>
          </a:prstGeom>
          <a:noFill/>
          <a:ln/>
        </p:spPr>
        <p:txBody>
          <a:bodyPr wrap="square" rtlCol="0" anchor="t"/>
          <a:lstStyle/>
          <a:p>
            <a:pPr marL="0" indent="0" algn="l">
              <a:lnSpc>
                <a:spcPct val="100000"/>
              </a:lnSpc>
              <a:buNone/>
            </a:pPr>
            <a:r>
              <a:rPr lang="en-US" sz="2000" b="1" kern="0" dirty="0">
                <a:solidFill>
                  <a:srgbClr val="F2EFDA"/>
                </a:solidFill>
                <a:latin typeface="Courier New" pitchFamily="34" charset="0"/>
                <a:ea typeface="Courier New" pitchFamily="34" charset="-122"/>
                <a:cs typeface="Courier New" pitchFamily="34" charset="-120"/>
              </a:rPr>
              <a:t>29×</a:t>
            </a:r>
            <a:r>
              <a:rPr lang="en-US" sz="1050" kern="0" dirty="0">
                <a:solidFill>
                  <a:srgbClr val="798D6F"/>
                </a:solidFill>
                <a:latin typeface="Courier New" pitchFamily="34" charset="0"/>
                <a:ea typeface="Courier New" pitchFamily="34" charset="-122"/>
                <a:cs typeface="Courier New" pitchFamily="34" charset="-120"/>
              </a:rPr>
              <a:t xml:space="preserve">  Current-Ratio-σ</a:t>
            </a:r>
            <a:endParaRPr lang="en-US" sz="20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 xml:space="preserve">der Ausschluss ist </a:t>
            </a:r>
            <a:r>
              <a:rPr lang="en-US" sz="950" b="1" kern="0" dirty="0">
                <a:solidFill>
                  <a:srgbClr val="F2EFDA"/>
                </a:solidFill>
                <a:latin typeface="Arial" pitchFamily="34" charset="0"/>
                <a:ea typeface="Arial" pitchFamily="34" charset="-122"/>
                <a:cs typeface="Arial" pitchFamily="34" charset="-120"/>
              </a:rPr>
              <a:t>empirisch begründet</a:t>
            </a:r>
            <a:r>
              <a:rPr lang="en-US" sz="950" kern="0" dirty="0">
                <a:solidFill>
                  <a:srgbClr val="B3BC9A"/>
                </a:solidFill>
                <a:latin typeface="Arial" pitchFamily="34" charset="0"/>
                <a:ea typeface="Arial" pitchFamily="34" charset="-122"/>
                <a:cs typeface="Arial" pitchFamily="34" charset="-120"/>
              </a:rPr>
              <a:t>.</a:t>
            </a:r>
            <a:endParaRPr lang="en-US" sz="950" dirty="0"/>
          </a:p>
        </p:txBody>
      </p:sp>
      <p:sp>
        <p:nvSpPr>
          <p:cNvPr id="63" name="!!K_Cluster"/>
          <p:cNvSpPr/>
          <p:nvPr/>
        </p:nvSpPr>
        <p:spPr>
          <a:xfrm>
            <a:off x="7734594" y="3400000"/>
            <a:ext cx="3821594" cy="14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64" name="!!L_Cluster"/>
          <p:cNvSpPr/>
          <p:nvPr/>
        </p:nvSpPr>
        <p:spPr>
          <a:xfrm>
            <a:off x="7934594" y="3530000"/>
            <a:ext cx="3421594"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CLUSTER-FALSIFIKATION</a:t>
            </a:r>
            <a:endParaRPr lang="en-US" sz="1000" dirty="0"/>
          </a:p>
        </p:txBody>
      </p:sp>
      <p:sp>
        <p:nvSpPr>
          <p:cNvPr id="65" name="!!T_Cluster"/>
          <p:cNvSpPr/>
          <p:nvPr/>
        </p:nvSpPr>
        <p:spPr>
          <a:xfrm>
            <a:off x="7934594" y="3810000"/>
            <a:ext cx="3421594" cy="900000"/>
          </a:xfrm>
          <a:prstGeom prst="rect">
            <a:avLst/>
          </a:prstGeom>
          <a:noFill/>
          <a:ln/>
        </p:spPr>
        <p:txBody>
          <a:bodyPr wrap="square" rtlCol="0" anchor="t"/>
          <a:lstStyle/>
          <a:p>
            <a:pPr marL="0" indent="0" algn="l">
              <a:lnSpc>
                <a:spcPct val="100000"/>
              </a:lnSpc>
              <a:buNone/>
            </a:pPr>
            <a:r>
              <a:rPr lang="en-US" sz="1600" b="1" kern="0" dirty="0">
                <a:solidFill>
                  <a:srgbClr val="F2EFDA"/>
                </a:solidFill>
                <a:latin typeface="Courier New" pitchFamily="34" charset="0"/>
                <a:ea typeface="Courier New" pitchFamily="34" charset="-122"/>
                <a:cs typeface="Courier New" pitchFamily="34" charset="-120"/>
              </a:rPr>
              <a:t>3 / 4 bestätigt</a:t>
            </a:r>
            <a:endParaRPr lang="en-US" sz="16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 xml:space="preserve">66 · 65 · 60 % Konformität — schwächstes </a:t>
            </a:r>
            <a:r>
              <a:rPr lang="en-US" sz="950" b="1" kern="0" dirty="0">
                <a:solidFill>
                  <a:srgbClr val="F2EFDA"/>
                </a:solidFill>
                <a:latin typeface="Arial" pitchFamily="34" charset="0"/>
                <a:ea typeface="Arial" pitchFamily="34" charset="-122"/>
                <a:cs typeface="Arial" pitchFamily="34" charset="-120"/>
              </a:rPr>
              <a:t>offen benannt: 43 %</a:t>
            </a:r>
            <a:r>
              <a:rPr lang="en-US" sz="950" kern="0" dirty="0">
                <a:solidFill>
                  <a:srgbClr val="B3BC9A"/>
                </a:solidFill>
                <a:latin typeface="Arial" pitchFamily="34" charset="0"/>
                <a:ea typeface="Arial" pitchFamily="34" charset="-122"/>
                <a:cs typeface="Arial" pitchFamily="34" charset="-120"/>
              </a:rPr>
              <a:t>.</a:t>
            </a:r>
            <a:endParaRPr lang="en-US" sz="950" dirty="0"/>
          </a:p>
        </p:txBody>
      </p:sp>
      <p:pic>
        <p:nvPicPr>
          <p:cNvPr id="66" name="Picture 65" descr="image.png"/>
          <p:cNvPicPr>
            <a:picLocks noChangeAspect="1"/>
          </p:cNvPicPr>
          <p:nvPr/>
        </p:nvPicPr>
        <p:blipFill>
          <a:blip r:embed="rId3"/>
          <a:stretch>
            <a:fillRect/>
          </a:stretch>
        </p:blipFill>
        <p:spPr>
          <a:xfrm>
            <a:off x="634594" y="1750000"/>
            <a:ext cx="6900000" cy="3049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10 / 13</a:t>
            </a:r>
            <a:endParaRPr lang="en-US" sz="120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a:solidFill>
                  <a:srgbClr val="F2EFDA"/>
                </a:solidFill>
                <a:latin typeface="Arial" pitchFamily="34" charset="0"/>
                <a:ea typeface="Arial" pitchFamily="34" charset="-122"/>
                <a:cs typeface="Arial" pitchFamily="34" charset="-120"/>
              </a:rPr>
              <a:t>Struktur erklärt σ — nicht φ</a:t>
            </a:r>
            <a:endParaRPr lang="en-US" sz="25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a:solidFill>
                  <a:srgbClr val="79A2F9"/>
                </a:solidFill>
                <a:latin typeface="Courier New" pitchFamily="34" charset="0"/>
                <a:ea typeface="Courier New" pitchFamily="34" charset="-122"/>
                <a:cs typeface="Courier New" pitchFamily="34" charset="-120"/>
              </a:rPr>
              <a:t xml:space="preserve">σ  </a:t>
            </a:r>
            <a:r>
              <a:rPr lang="en-US" sz="1200" b="1">
                <a:solidFill>
                  <a:srgbClr val="F2EFDA"/>
                </a:solidFill>
                <a:latin typeface="Arial" pitchFamily="34" charset="0"/>
                <a:ea typeface="Arial" pitchFamily="34" charset="-122"/>
                <a:cs typeface="Arial" pitchFamily="34" charset="-120"/>
              </a:rPr>
              <a:t>Volatilität — erklärt</a:t>
            </a:r>
            <a:endParaRPr lang="en-US" sz="120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a:solidFill>
                  <a:srgbClr val="79A2F9"/>
                </a:solidFill>
                <a:latin typeface="Courier New" pitchFamily="34" charset="0"/>
                <a:ea typeface="Courier New" pitchFamily="34" charset="-122"/>
                <a:cs typeface="Courier New" pitchFamily="34" charset="-120"/>
              </a:rPr>
              <a:t>≈ 30 %</a:t>
            </a:r>
            <a:endParaRPr lang="en-US" sz="240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Bei der FCF-Marge bis 49 %.</a:t>
            </a:r>
            <a:endParaRPr lang="en-US" sz="90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a:solidFill>
                  <a:srgbClr val="B3BC9A"/>
                </a:solidFill>
                <a:latin typeface="Courier New" pitchFamily="34" charset="0"/>
                <a:ea typeface="Courier New" pitchFamily="34" charset="-122"/>
                <a:cs typeface="Courier New" pitchFamily="34" charset="-120"/>
              </a:rPr>
              <a:t xml:space="preserve">φ  </a:t>
            </a:r>
            <a:r>
              <a:rPr lang="en-US" sz="1200" b="1">
                <a:solidFill>
                  <a:srgbClr val="B3BC9A"/>
                </a:solidFill>
                <a:latin typeface="Arial" pitchFamily="34" charset="0"/>
                <a:ea typeface="Arial" pitchFamily="34" charset="-122"/>
                <a:cs typeface="Arial" pitchFamily="34" charset="-120"/>
              </a:rPr>
              <a:t>Korrekturgeschwindigkeit — erklärt</a:t>
            </a:r>
            <a:endParaRPr lang="en-US" sz="120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a:solidFill>
                  <a:srgbClr val="B3BC9A"/>
                </a:solidFill>
                <a:latin typeface="Courier New" pitchFamily="34" charset="0"/>
                <a:ea typeface="Courier New" pitchFamily="34" charset="-122"/>
                <a:cs typeface="Courier New" pitchFamily="34" charset="-120"/>
              </a:rPr>
              <a:t>≈ 5 %</a:t>
            </a:r>
            <a:endParaRPr lang="en-US" sz="240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φ bleibt idiosynkratisch — ein eigenständiges Firmenmerkmal.</a:t>
            </a:r>
            <a:endParaRPr lang="en-US" sz="90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a:solidFill>
                  <a:srgbClr val="79A2F9"/>
                </a:solidFill>
                <a:latin typeface="Courier New" pitchFamily="34" charset="0"/>
                <a:ea typeface="Courier New" pitchFamily="34" charset="-122"/>
                <a:cs typeface="Courier New" pitchFamily="34" charset="-120"/>
              </a:rPr>
              <a:t>σ = Exposition</a:t>
            </a:r>
            <a:endParaRPr lang="en-US" sz="140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φ = Reaktion</a:t>
            </a:r>
            <a:endParaRPr lang="en-US" sz="140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12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 xml:space="preserve">Grenzen der Arbeit </a:t>
            </a:r>
            <a:endParaRPr lang="en-US" sz="230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 xml:space="preserve">01  </a:t>
            </a:r>
            <a:r>
              <a:rPr lang="en-US" sz="1300" b="1">
                <a:solidFill>
                  <a:srgbClr val="F2EFDA"/>
                </a:solidFill>
                <a:latin typeface="Arial" pitchFamily="34" charset="0"/>
                <a:ea typeface="Arial" pitchFamily="34" charset="-122"/>
                <a:cs typeface="Arial" pitchFamily="34" charset="-120"/>
              </a:rPr>
              <a:t>Survivorship Bias</a:t>
            </a:r>
            <a:endParaRPr lang="en-US" sz="130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 xml:space="preserve">02  </a:t>
            </a:r>
            <a:r>
              <a:rPr lang="en-US" sz="1300" b="1">
                <a:solidFill>
                  <a:srgbClr val="F2EFDA"/>
                </a:solidFill>
                <a:latin typeface="Arial" pitchFamily="34" charset="0"/>
                <a:ea typeface="Arial" pitchFamily="34" charset="-122"/>
                <a:cs typeface="Arial" pitchFamily="34" charset="-120"/>
              </a:rPr>
              <a:t>Differenzen-Konvention</a:t>
            </a:r>
            <a:endParaRPr lang="en-US" sz="130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 xml:space="preserve">03  </a:t>
            </a:r>
            <a:r>
              <a:rPr lang="en-US" sz="1300" b="1">
                <a:solidFill>
                  <a:srgbClr val="F2EFDA"/>
                </a:solidFill>
                <a:latin typeface="Arial" pitchFamily="34" charset="0"/>
                <a:ea typeface="Arial" pitchFamily="34" charset="-122"/>
                <a:cs typeface="Arial" pitchFamily="34" charset="-120"/>
              </a:rPr>
              <a:t>In-Sample-Charakter</a:t>
            </a:r>
            <a:endParaRPr lang="en-US" sz="130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 xml:space="preserve">04  </a:t>
            </a:r>
            <a:r>
              <a:rPr lang="en-US" sz="1300" b="1">
                <a:solidFill>
                  <a:srgbClr val="F2EFDA"/>
                </a:solidFill>
                <a:latin typeface="Arial" pitchFamily="34" charset="0"/>
                <a:ea typeface="Arial" pitchFamily="34" charset="-122"/>
                <a:cs typeface="Arial" pitchFamily="34" charset="-120"/>
              </a:rPr>
              <a:t>Geltungsbereich</a:t>
            </a:r>
            <a:endParaRPr lang="en-US" sz="130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a:solidFill>
                  <a:srgbClr val="798D6F"/>
                </a:solidFill>
                <a:latin typeface="Courier New" pitchFamily="34" charset="0"/>
                <a:ea typeface="Courier New" pitchFamily="34" charset="-122"/>
                <a:cs typeface="Courier New" pitchFamily="34" charset="-120"/>
              </a:rPr>
              <a:t xml:space="preserve">AUSBLCK   </a:t>
            </a:r>
            <a:r>
              <a:rPr lang="en-US" sz="90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FAZIT</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11 / 13</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Drei Fragen — drei Antworten</a:t>
            </a:r>
            <a:endParaRPr lang="en-US" sz="2000" dirty="0"/>
          </a:p>
        </p:txBody>
      </p:sp>
      <p:sp>
        <p:nvSpPr>
          <p:cNvPr id="40" name="!!K_Faz1"/>
          <p:cNvSpPr/>
          <p:nvPr/>
        </p:nvSpPr>
        <p:spPr>
          <a:xfrm>
            <a:off x="634594" y="1600000"/>
            <a:ext cx="10921594" cy="118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1" name="!!A_Faz1"/>
          <p:cNvSpPr/>
          <p:nvPr/>
        </p:nvSpPr>
        <p:spPr>
          <a:xfrm>
            <a:off x="634594" y="1600000"/>
            <a:ext cx="38405" cy="1180000"/>
          </a:xfrm>
          <a:prstGeom prst="rect">
            <a:avLst/>
          </a:prstGeom>
          <a:solidFill>
            <a:srgbClr val="79A2F9"/>
          </a:solidFill>
          <a:ln/>
        </p:spPr>
        <p:txBody>
          <a:bodyPr/>
          <a:lstStyle/>
          <a:p>
            <a:endParaRPr lang="de-DE"/>
          </a:p>
        </p:txBody>
      </p:sp>
      <p:sp>
        <p:nvSpPr>
          <p:cNvPr id="42" name="!!L_Faz1"/>
          <p:cNvSpPr/>
          <p:nvPr/>
        </p:nvSpPr>
        <p:spPr>
          <a:xfrm>
            <a:off x="888797" y="1750000"/>
            <a:ext cx="10413188" cy="240000"/>
          </a:xfrm>
          <a:prstGeom prst="rect">
            <a:avLst/>
          </a:prstGeom>
          <a:noFill/>
          <a:ln/>
        </p:spPr>
        <p:txBody>
          <a:bodyPr wrap="square" rtlCol="0" anchor="t"/>
          <a:lstStyle/>
          <a:p>
            <a:pPr marL="0" indent="0" algn="l">
              <a:lnSpc>
                <a:spcPct val="105000"/>
              </a:lnSpc>
              <a:buNone/>
            </a:pPr>
            <a:r>
              <a:rPr lang="en-US" sz="1100" b="1" kern="0" dirty="0">
                <a:solidFill>
                  <a:srgbClr val="79A2F9"/>
                </a:solidFill>
                <a:latin typeface="Courier New" pitchFamily="34" charset="0"/>
                <a:ea typeface="Courier New" pitchFamily="34" charset="-122"/>
                <a:cs typeface="Courier New" pitchFamily="34" charset="-120"/>
              </a:rPr>
              <a:t xml:space="preserve">FF1 · DYNAMIK</a:t>
            </a:r>
            <a:endParaRPr lang="en-US" sz="1100" dirty="0"/>
          </a:p>
        </p:txBody>
      </p:sp>
      <p:sp>
        <p:nvSpPr>
          <p:cNvPr id="43" name="!!F_Faz1"/>
          <p:cNvSpPr/>
          <p:nvPr/>
        </p:nvSpPr>
        <p:spPr>
          <a:xfrm>
            <a:off x="888797" y="2030000"/>
            <a:ext cx="10413188" cy="260000"/>
          </a:xfrm>
          <a:prstGeom prst="rect">
            <a:avLst/>
          </a:prstGeom>
          <a:noFill/>
          <a:ln/>
        </p:spPr>
        <p:txBody>
          <a:bodyPr wrap="square" rtlCol="0" anchor="t"/>
          <a:lstStyle/>
          <a:p>
            <a:pPr marL="0" indent="0" algn="l">
              <a:lnSpc>
                <a:spcPct val="105000"/>
              </a:lnSpc>
              <a:buNone/>
            </a:pPr>
            <a:r>
              <a:rPr lang="en-US" sz="1000" kern="0" dirty="0">
                <a:solidFill>
                  <a:srgbClr val="798D6F"/>
                </a:solidFill>
                <a:latin typeface="Arial" pitchFamily="34" charset="0"/>
                <a:ea typeface="Arial" pitchFamily="34" charset="-122"/>
                <a:cs typeface="Arial" pitchFamily="34" charset="-120"/>
              </a:rPr>
              <a:t xml:space="preserve">Weisen Finanzkennzahlen systematische Dynamik-Unterschiede auf?</a:t>
            </a:r>
            <a:endParaRPr lang="en-US" sz="1000" dirty="0"/>
          </a:p>
        </p:txBody>
      </p:sp>
      <p:sp>
        <p:nvSpPr>
          <p:cNvPr id="44" name="!!W_Faz1"/>
          <p:cNvSpPr/>
          <p:nvPr/>
        </p:nvSpPr>
        <p:spPr>
          <a:xfrm>
            <a:off x="888797" y="2320000"/>
            <a:ext cx="10413188" cy="360000"/>
          </a:xfrm>
          <a:prstGeom prst="rect">
            <a:avLst/>
          </a:prstGeom>
          <a:noFill/>
          <a:ln/>
        </p:spPr>
        <p:txBody>
          <a:bodyPr wrap="square" rtlCol="0" anchor="t"/>
          <a:lstStyle/>
          <a:p>
            <a:pPr marL="0" indent="0" algn="l">
              <a:lnSpc>
                <a:spcPct val="104000"/>
              </a:lnSpc>
              <a:buNone/>
            </a:pPr>
            <a:r>
              <a:rPr lang="en-US" sz="1050" kern="0" dirty="0">
                <a:solidFill>
                  <a:srgbClr val="B3BC9A"/>
                </a:solidFill>
                <a:latin typeface="Arial" pitchFamily="34" charset="0"/>
                <a:ea typeface="Arial" pitchFamily="34" charset="-122"/>
                <a:cs typeface="Arial" pitchFamily="34" charset="-120"/>
              </a:rPr>
              <a:t xml:space="preserve">Ja — drei Dynamiktypen entlang der Kennzahlgruppen: </a:t>
            </a:r>
            <a:r>
              <a:rPr lang="en-US" sz="1050" b="1" kern="0" dirty="0">
                <a:solidFill>
                  <a:srgbClr val="F2EFDA"/>
                </a:solidFill>
                <a:latin typeface="Arial" pitchFamily="34" charset="0"/>
                <a:ea typeface="Arial" pitchFamily="34" charset="-122"/>
                <a:cs typeface="Arial" pitchFamily="34" charset="-120"/>
              </a:rPr>
              <a:t xml:space="preserve">Profitabilität korrigiert stark, Liquidität moderat, Kapitalstruktur driftet</a:t>
            </a:r>
            <a:r>
              <a:rPr lang="en-US" sz="1050" kern="0" dirty="0">
                <a:solidFill>
                  <a:srgbClr val="B3BC9A"/>
                </a:solidFill>
                <a:latin typeface="Arial" pitchFamily="34" charset="0"/>
                <a:ea typeface="Arial" pitchFamily="34" charset="-122"/>
                <a:cs typeface="Arial" pitchFamily="34" charset="-120"/>
              </a:rPr>
              <a:t xml:space="preserve">.</a:t>
            </a:r>
            <a:endParaRPr lang="en-US" sz="1050" dirty="0"/>
          </a:p>
        </p:txBody>
      </p:sp>
      <p:sp>
        <p:nvSpPr>
          <p:cNvPr id="45" name="!!K_Faz2"/>
          <p:cNvSpPr/>
          <p:nvPr/>
        </p:nvSpPr>
        <p:spPr>
          <a:xfrm>
            <a:off x="634594" y="2970000"/>
            <a:ext cx="10921594" cy="118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6" name="!!A_Faz2"/>
          <p:cNvSpPr/>
          <p:nvPr/>
        </p:nvSpPr>
        <p:spPr>
          <a:xfrm>
            <a:off x="634594" y="2970000"/>
            <a:ext cx="38405" cy="1180000"/>
          </a:xfrm>
          <a:prstGeom prst="rect">
            <a:avLst/>
          </a:prstGeom>
          <a:solidFill>
            <a:srgbClr val="E6D34F"/>
          </a:solidFill>
          <a:ln/>
        </p:spPr>
        <p:txBody>
          <a:bodyPr/>
          <a:lstStyle/>
          <a:p>
            <a:endParaRPr lang="de-DE"/>
          </a:p>
        </p:txBody>
      </p:sp>
      <p:sp>
        <p:nvSpPr>
          <p:cNvPr id="47" name="!!L_Faz2"/>
          <p:cNvSpPr/>
          <p:nvPr/>
        </p:nvSpPr>
        <p:spPr>
          <a:xfrm>
            <a:off x="888797" y="3120000"/>
            <a:ext cx="10413188" cy="240000"/>
          </a:xfrm>
          <a:prstGeom prst="rect">
            <a:avLst/>
          </a:prstGeom>
          <a:noFill/>
          <a:ln/>
        </p:spPr>
        <p:txBody>
          <a:bodyPr wrap="square" rtlCol="0" anchor="t"/>
          <a:lstStyle/>
          <a:p>
            <a:pPr marL="0" indent="0" algn="l">
              <a:lnSpc>
                <a:spcPct val="105000"/>
              </a:lnSpc>
              <a:buNone/>
            </a:pPr>
            <a:r>
              <a:rPr lang="en-US" sz="1100" b="1" kern="0" dirty="0">
                <a:solidFill>
                  <a:srgbClr val="E6D34F"/>
                </a:solidFill>
                <a:latin typeface="Courier New" pitchFamily="34" charset="0"/>
                <a:ea typeface="Courier New" pitchFamily="34" charset="-122"/>
                <a:cs typeface="Courier New" pitchFamily="34" charset="-120"/>
              </a:rPr>
              <a:t xml:space="preserve">FF2 · INTERDEPENDENZ</a:t>
            </a:r>
            <a:endParaRPr lang="en-US" sz="1100" dirty="0"/>
          </a:p>
        </p:txBody>
      </p:sp>
      <p:sp>
        <p:nvSpPr>
          <p:cNvPr id="48" name="!!F_Faz2"/>
          <p:cNvSpPr/>
          <p:nvPr/>
        </p:nvSpPr>
        <p:spPr>
          <a:xfrm>
            <a:off x="888797" y="3400000"/>
            <a:ext cx="10413188" cy="260000"/>
          </a:xfrm>
          <a:prstGeom prst="rect">
            <a:avLst/>
          </a:prstGeom>
          <a:noFill/>
          <a:ln/>
        </p:spPr>
        <p:txBody>
          <a:bodyPr wrap="square" rtlCol="0" anchor="t"/>
          <a:lstStyle/>
          <a:p>
            <a:pPr marL="0" indent="0" algn="l">
              <a:lnSpc>
                <a:spcPct val="105000"/>
              </a:lnSpc>
              <a:buNone/>
            </a:pPr>
            <a:r>
              <a:rPr lang="en-US" sz="1000" kern="0" dirty="0">
                <a:solidFill>
                  <a:srgbClr val="798D6F"/>
                </a:solidFill>
                <a:latin typeface="Arial" pitchFamily="34" charset="0"/>
                <a:ea typeface="Arial" pitchFamily="34" charset="-122"/>
                <a:cs typeface="Arial" pitchFamily="34" charset="-120"/>
              </a:rPr>
              <a:t xml:space="preserve">Welche Interdependenzen bestehen zwischen den Kennzahlen?</a:t>
            </a:r>
            <a:endParaRPr lang="en-US" sz="1000" dirty="0"/>
          </a:p>
        </p:txBody>
      </p:sp>
      <p:sp>
        <p:nvSpPr>
          <p:cNvPr id="49" name="!!W_Faz2"/>
          <p:cNvSpPr/>
          <p:nvPr/>
        </p:nvSpPr>
        <p:spPr>
          <a:xfrm>
            <a:off x="888797" y="3690000"/>
            <a:ext cx="10413188" cy="360000"/>
          </a:xfrm>
          <a:prstGeom prst="rect">
            <a:avLst/>
          </a:prstGeom>
          <a:noFill/>
          <a:ln/>
        </p:spPr>
        <p:txBody>
          <a:bodyPr wrap="square" rtlCol="0" anchor="t"/>
          <a:lstStyle/>
          <a:p>
            <a:pPr marL="0" indent="0" algn="l">
              <a:lnSpc>
                <a:spcPct val="104000"/>
              </a:lnSpc>
              <a:buNone/>
            </a:pPr>
            <a:r>
              <a:rPr lang="en-US" sz="1050" b="1" kern="0" dirty="0">
                <a:solidFill>
                  <a:srgbClr val="F2EFDA"/>
                </a:solidFill>
                <a:latin typeface="Arial" pitchFamily="34" charset="0"/>
                <a:ea typeface="Arial" pitchFamily="34" charset="-122"/>
                <a:cs typeface="Arial" pitchFamily="34" charset="-120"/>
              </a:rPr>
              <a:t xml:space="preserve">Schocks treffen die Kennzahlen gemeinsam — korrigiert wird kennzahlspezifisch</a:t>
            </a:r>
            <a:r>
              <a:rPr lang="en-US" sz="1050" kern="0" dirty="0">
                <a:solidFill>
                  <a:srgbClr val="B3BC9A"/>
                </a:solidFill>
                <a:latin typeface="Arial" pitchFamily="34" charset="0"/>
                <a:ea typeface="Arial" pitchFamily="34" charset="-122"/>
                <a:cs typeface="Arial" pitchFamily="34" charset="-120"/>
              </a:rPr>
              <a:t xml:space="preserve">; die Taxonomie trennt das Krisenverhalten in zwei von drei Phasen.</a:t>
            </a:r>
            <a:endParaRPr lang="en-US" sz="1050" dirty="0"/>
          </a:p>
        </p:txBody>
      </p:sp>
      <p:sp>
        <p:nvSpPr>
          <p:cNvPr id="50" name="!!K_Faz3"/>
          <p:cNvSpPr/>
          <p:nvPr/>
        </p:nvSpPr>
        <p:spPr>
          <a:xfrm>
            <a:off x="634594" y="4340000"/>
            <a:ext cx="10921594" cy="118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1" name="!!A_Faz3"/>
          <p:cNvSpPr/>
          <p:nvPr/>
        </p:nvSpPr>
        <p:spPr>
          <a:xfrm>
            <a:off x="634594" y="4340000"/>
            <a:ext cx="38405" cy="1180000"/>
          </a:xfrm>
          <a:prstGeom prst="rect">
            <a:avLst/>
          </a:prstGeom>
          <a:solidFill>
            <a:srgbClr val="F36451"/>
          </a:solidFill>
          <a:ln/>
        </p:spPr>
        <p:txBody>
          <a:bodyPr/>
          <a:lstStyle/>
          <a:p>
            <a:endParaRPr lang="de-DE"/>
          </a:p>
        </p:txBody>
      </p:sp>
      <p:sp>
        <p:nvSpPr>
          <p:cNvPr id="52" name="!!L_Faz3"/>
          <p:cNvSpPr/>
          <p:nvPr/>
        </p:nvSpPr>
        <p:spPr>
          <a:xfrm>
            <a:off x="888797" y="4490000"/>
            <a:ext cx="10413188" cy="240000"/>
          </a:xfrm>
          <a:prstGeom prst="rect">
            <a:avLst/>
          </a:prstGeom>
          <a:noFill/>
          <a:ln/>
        </p:spPr>
        <p:txBody>
          <a:bodyPr wrap="square" rtlCol="0" anchor="t"/>
          <a:lstStyle/>
          <a:p>
            <a:pPr marL="0" indent="0" algn="l">
              <a:lnSpc>
                <a:spcPct val="105000"/>
              </a:lnSpc>
              <a:buNone/>
            </a:pPr>
            <a:r>
              <a:rPr lang="en-US" sz="1100" b="1" kern="0" dirty="0">
                <a:solidFill>
                  <a:srgbClr val="F36451"/>
                </a:solidFill>
                <a:latin typeface="Courier New" pitchFamily="34" charset="0"/>
                <a:ea typeface="Courier New" pitchFamily="34" charset="-122"/>
                <a:cs typeface="Courier New" pitchFamily="34" charset="-120"/>
              </a:rPr>
              <a:t xml:space="preserve">FF3 · STRUKTUR</a:t>
            </a:r>
            <a:endParaRPr lang="en-US" sz="1100" dirty="0"/>
          </a:p>
        </p:txBody>
      </p:sp>
      <p:sp>
        <p:nvSpPr>
          <p:cNvPr id="53" name="!!F_Faz3"/>
          <p:cNvSpPr/>
          <p:nvPr/>
        </p:nvSpPr>
        <p:spPr>
          <a:xfrm>
            <a:off x="888797" y="4770000"/>
            <a:ext cx="10413188" cy="260000"/>
          </a:xfrm>
          <a:prstGeom prst="rect">
            <a:avLst/>
          </a:prstGeom>
          <a:noFill/>
          <a:ln/>
        </p:spPr>
        <p:txBody>
          <a:bodyPr wrap="square" rtlCol="0" anchor="t"/>
          <a:lstStyle/>
          <a:p>
            <a:pPr marL="0" indent="0" algn="l">
              <a:lnSpc>
                <a:spcPct val="105000"/>
              </a:lnSpc>
              <a:buNone/>
            </a:pPr>
            <a:r>
              <a:rPr lang="en-US" sz="1000" kern="0" dirty="0">
                <a:solidFill>
                  <a:srgbClr val="798D6F"/>
                </a:solidFill>
                <a:latin typeface="Arial" pitchFamily="34" charset="0"/>
                <a:ea typeface="Arial" pitchFamily="34" charset="-122"/>
                <a:cs typeface="Arial" pitchFamily="34" charset="-120"/>
              </a:rPr>
              <a:t xml:space="preserve">Hängen die Dynamiken mit strukturellen Merkmalen zusammen?</a:t>
            </a:r>
            <a:endParaRPr lang="en-US" sz="1000" dirty="0"/>
          </a:p>
        </p:txBody>
      </p:sp>
      <p:sp>
        <p:nvSpPr>
          <p:cNvPr id="54" name="!!W_Faz3"/>
          <p:cNvSpPr/>
          <p:nvPr/>
        </p:nvSpPr>
        <p:spPr>
          <a:xfrm>
            <a:off x="888797" y="5060000"/>
            <a:ext cx="10413188" cy="360000"/>
          </a:xfrm>
          <a:prstGeom prst="rect">
            <a:avLst/>
          </a:prstGeom>
          <a:noFill/>
          <a:ln/>
        </p:spPr>
        <p:txBody>
          <a:bodyPr wrap="square" rtlCol="0" anchor="t"/>
          <a:lstStyle/>
          <a:p>
            <a:pPr marL="0" indent="0" algn="l">
              <a:lnSpc>
                <a:spcPct val="104000"/>
              </a:lnSpc>
              <a:buNone/>
            </a:pPr>
            <a:r>
              <a:rPr lang="en-US" sz="1050" kern="0" dirty="0">
                <a:solidFill>
                  <a:srgbClr val="B3BC9A"/>
                </a:solidFill>
                <a:latin typeface="Arial" pitchFamily="34" charset="0"/>
                <a:ea typeface="Arial" pitchFamily="34" charset="-122"/>
                <a:cs typeface="Arial" pitchFamily="34" charset="-120"/>
              </a:rPr>
              <a:t xml:space="preserve">Struktur erklärt ≈ 30 % der Volatilität, aber nur ≈ 5 % der Korrekturgeschwindigkeit — </a:t>
            </a:r>
            <a:r>
              <a:rPr lang="en-US" sz="1050" b="1" kern="0" dirty="0">
                <a:solidFill>
                  <a:srgbClr val="F2EFDA"/>
                </a:solidFill>
                <a:latin typeface="Arial" pitchFamily="34" charset="0"/>
                <a:ea typeface="Arial" pitchFamily="34" charset="-122"/>
                <a:cs typeface="Arial" pitchFamily="34" charset="-120"/>
              </a:rPr>
              <a:t xml:space="preserve">φ ist ein idiosynkratisches Firmenmerkmal</a:t>
            </a:r>
            <a:r>
              <a:rPr lang="en-US" sz="1050" kern="0" dirty="0">
                <a:solidFill>
                  <a:srgbClr val="B3BC9A"/>
                </a:solidFill>
                <a:latin typeface="Arial" pitchFamily="34" charset="0"/>
                <a:ea typeface="Arial" pitchFamily="34" charset="-122"/>
                <a:cs typeface="Arial" pitchFamily="34" charset="-120"/>
              </a:rPr>
              <a:t xml:space="preserve">.</a:t>
            </a:r>
            <a:endParaRPr lang="en-US" sz="1050" dirty="0"/>
          </a:p>
        </p:txBody>
      </p:sp>
      <p:sp>
        <p:nvSpPr>
          <p:cNvPr id="60" name="!!Ausblick"/>
          <p:cNvSpPr/>
          <p:nvPr/>
        </p:nvSpPr>
        <p:spPr>
          <a:xfrm>
            <a:off x="634594" y="5820000"/>
            <a:ext cx="10921594" cy="254203"/>
          </a:xfrm>
          <a:prstGeom prst="rect">
            <a:avLst/>
          </a:prstGeom>
          <a:noFill/>
          <a:ln/>
        </p:spPr>
        <p:txBody>
          <a:bodyPr wrap="square" rtlCol="0" anchor="t"/>
          <a:lstStyle/>
          <a:p>
            <a:pPr marL="0" indent="0" algn="ctr">
              <a:lnSpc>
                <a:spcPct val="105000"/>
              </a:lnSpc>
              <a:buNone/>
            </a:pPr>
            <a:r>
              <a:rPr lang="en-US" sz="950" kern="0" dirty="0">
                <a:solidFill>
                  <a:srgbClr val="798D6F"/>
                </a:solidFill>
                <a:latin typeface="Arial" pitchFamily="34" charset="0"/>
                <a:ea typeface="Arial" pitchFamily="34" charset="-122"/>
                <a:cs typeface="Arial" pitchFamily="34" charset="-120"/>
              </a:rPr>
              <a:t xml:space="preserve">Ausblick: Out-of-Sample-Test der Quadranten · Lead-Lag auf AR-Residuen · höhere Datenfrequenz · Märkte jenseits der USA</a:t>
            </a:r>
            <a:endParaRPr lang="en-US" sz="950" dirty="0"/>
          </a:p>
        </p:txBody>
      </p:sp>
      <p:sp>
        <p:nvSpPr>
          <p:cNvPr id="61" name="!!Dank"/>
          <p:cNvSpPr/>
          <p:nvPr/>
        </p:nvSpPr>
        <p:spPr>
          <a:xfrm>
            <a:off x="634594" y="6180000"/>
            <a:ext cx="10921594" cy="320000"/>
          </a:xfrm>
          <a:prstGeom prst="rect">
            <a:avLst/>
          </a:prstGeom>
          <a:noFill/>
          <a:ln/>
        </p:spPr>
        <p:txBody>
          <a:bodyPr wrap="square" rtlCol="0" anchor="t"/>
          <a:lstStyle/>
          <a:p>
            <a:pPr marL="0" indent="0" algn="ctr">
              <a:lnSpc>
                <a:spcPct val="105000"/>
              </a:lnSpc>
              <a:buNone/>
            </a:pPr>
            <a:r>
              <a:rPr lang="en-US" sz="1300" b="1" kern="0" dirty="0">
                <a:solidFill>
                  <a:srgbClr val="F2EFDA"/>
                </a:solidFill>
                <a:latin typeface="Arial" pitchFamily="34" charset="0"/>
                <a:ea typeface="Arial" pitchFamily="34" charset="-122"/>
                <a:cs typeface="Arial" pitchFamily="34" charset="-120"/>
              </a:rPr>
              <a:t xml:space="preserve">Vielen Dank — ich freue mich auf Ihre Fragen.</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4269</Words>
  <Application>Microsoft Macintosh PowerPoint</Application>
  <PresentationFormat>Breitbild</PresentationFormat>
  <Paragraphs>447</Paragraphs>
  <Slides>27</Slides>
  <Notes>27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27</vt:i4>
      </vt:variant>
    </vt:vector>
  </HeadingPairs>
  <TitlesOfParts>
    <vt:vector size="31" baseType="lpstr">
      <vt:lpstr>Arial</vt:lpstr>
      <vt:lpstr>Cambria Math</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8</cp:revision>
  <dcterms:created xsi:type="dcterms:W3CDTF">2026-06-21T21:41:59Z</dcterms:created>
  <dcterms:modified xsi:type="dcterms:W3CDTF">2026-07-05T12:09:52Z</dcterms:modified>
</cp:coreProperties>
</file>
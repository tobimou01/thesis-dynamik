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9" r:id="rId4"/>
    <p:sldId id="258" r:id="rId5"/>
    <p:sldId id="259" r:id="rId6"/>
    <p:sldId id="260" r:id="rId7"/>
    <p:sldId id="261" r:id="rId8"/>
    <p:sldId id="280" r:id="rId30"/>
    <p:sldId id="281" r:id="rId31"/>
    <p:sldId id="282" r:id="rId32"/>
    <p:sldId id="262" r:id="rId9"/>
    <p:sldId id="263" r:id="rId10"/>
    <p:sldId id="270" r:id="rId20"/>
    <p:sldId id="271" r:id="rId21"/>
    <p:sldId id="264" r:id="rId11"/>
    <p:sldId id="272" r:id="rId22"/>
    <p:sldId id="273" r:id="rId23"/>
    <p:sldId id="274" r:id="rId24"/>
    <p:sldId id="275" r:id="rId25"/>
    <p:sldId id="276" r:id="rId26"/>
    <p:sldId id="277" r:id="rId27"/>
    <p:sldId id="278" r:id="rId28"/>
    <p:sldId id="279" r:id="rId29"/>
    <p:sldId id="265" r:id="rId12"/>
    <p:sldId id="267" r:id="rId14"/>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A2F9"/>
    <a:srgbClr val="F3EFDA"/>
    <a:srgbClr val="E6D44F"/>
    <a:srgbClr val="082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20"/>
    <p:restoredTop sz="86591"/>
  </p:normalViewPr>
  <p:slideViewPr>
    <p:cSldViewPr snapToGrid="0" snapToObjects="1">
      <p:cViewPr>
        <p:scale>
          <a:sx n="100" d="100"/>
          <a:sy n="100" d="100"/>
        </p:scale>
        <p:origin x="824"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5.xml"/><Relationship Id="rId12" Type="http://schemas.openxmlformats.org/officeDocument/2006/relationships/slide" Target="slides/slide24.xml"/><Relationship Id="rId13" Type="http://schemas.openxmlformats.org/officeDocument/2006/relationships/slide" Target="slides/slide26.xml"/><Relationship Id="rId14" Type="http://schemas.openxmlformats.org/officeDocument/2006/relationships/slide" Target="slides/slide25.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95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xml:space="preserve">Sehr </a:t>
            </a:r>
            <a:r>
              <a:rPr lang="en-US" dirty="0" err="1"/>
              <a:t>geehrter</a:t>
            </a:r>
            <a:r>
              <a:rPr lang="en-US" dirty="0"/>
              <a:t xml:space="preserve"> Professor Steglich, </a:t>
            </a:r>
            <a:r>
              <a:rPr lang="en-US" dirty="0" err="1"/>
              <a:t>sehr</a:t>
            </a:r>
            <a:r>
              <a:rPr lang="en-US" dirty="0"/>
              <a:t xml:space="preserve"> </a:t>
            </a:r>
            <a:r>
              <a:rPr lang="en-US" dirty="0" err="1"/>
              <a:t>geehrter</a:t>
            </a:r>
            <a:r>
              <a:rPr lang="en-US" dirty="0"/>
              <a:t xml:space="preserve"> Professor </a:t>
            </a:r>
            <a:r>
              <a:rPr lang="en-US" dirty="0" err="1"/>
              <a:t>Stollhoff</a:t>
            </a:r>
            <a:r>
              <a:rPr lang="en-US" dirty="0"/>
              <a:t xml:space="preserve">, ich </a:t>
            </a:r>
            <a:r>
              <a:rPr lang="en-US" dirty="0" err="1"/>
              <a:t>freue</a:t>
            </a:r>
            <a:r>
              <a:rPr lang="en-US" dirty="0"/>
              <a:t xml:space="preserve"> </a:t>
            </a:r>
            <a:r>
              <a:rPr lang="en-US" dirty="0" err="1"/>
              <a:t>mich</a:t>
            </a:r>
            <a:r>
              <a:rPr lang="en-US" dirty="0"/>
              <a:t xml:space="preserve">, </a:t>
            </a:r>
            <a:r>
              <a:rPr lang="en-US" dirty="0" err="1"/>
              <a:t>dasss</a:t>
            </a:r>
            <a:r>
              <a:rPr lang="en-US" dirty="0"/>
              <a:t xml:space="preserve"> ich </a:t>
            </a:r>
            <a:r>
              <a:rPr lang="en-US" dirty="0" err="1"/>
              <a:t>hier</a:t>
            </a:r>
            <a:r>
              <a:rPr lang="en-US" dirty="0"/>
              <a:t xml:space="preserve"> </a:t>
            </a:r>
            <a:r>
              <a:rPr lang="en-US" dirty="0" err="1"/>
              <a:t>beim</a:t>
            </a:r>
            <a:r>
              <a:rPr lang="en-US" dirty="0"/>
              <a:t xml:space="preserve"> </a:t>
            </a:r>
            <a:r>
              <a:rPr lang="en-US" dirty="0" err="1"/>
              <a:t>Kolloquium</a:t>
            </a:r>
            <a:r>
              <a:rPr lang="en-US" dirty="0"/>
              <a:t xml:space="preserve"> die Möglichkeit </a:t>
            </a:r>
            <a:r>
              <a:rPr lang="en-US" dirty="0" err="1"/>
              <a:t>habe</a:t>
            </a:r>
            <a:r>
              <a:rPr lang="en-US" dirty="0"/>
              <a:t xml:space="preserve">, meine </a:t>
            </a:r>
            <a:r>
              <a:rPr lang="en-US" dirty="0" err="1"/>
              <a:t>Masterarbeit</a:t>
            </a:r>
            <a:r>
              <a:rPr lang="en-US" dirty="0"/>
              <a:t xml:space="preserve"> “</a:t>
            </a:r>
            <a:r>
              <a:rPr lang="en-US" dirty="0" err="1"/>
              <a:t>Zeitreihenbasierte</a:t>
            </a:r>
            <a:r>
              <a:rPr lang="en-US" dirty="0"/>
              <a:t xml:space="preserve"> </a:t>
            </a:r>
            <a:r>
              <a:rPr lang="en-US" dirty="0" err="1"/>
              <a:t>Analyse</a:t>
            </a:r>
            <a:r>
              <a:rPr lang="en-US" dirty="0"/>
              <a:t xml:space="preserve"> der Dynamik von </a:t>
            </a:r>
            <a:r>
              <a:rPr lang="en-US" dirty="0" err="1"/>
              <a:t>Finanzkennzahlen</a:t>
            </a:r>
            <a:r>
              <a:rPr lang="en-US" dirty="0"/>
              <a:t xml:space="preserve"> </a:t>
            </a:r>
            <a:r>
              <a:rPr lang="en-US" dirty="0" err="1"/>
              <a:t>börsennotierter</a:t>
            </a:r>
            <a:r>
              <a:rPr lang="en-US" dirty="0"/>
              <a:t xml:space="preserve"> </a:t>
            </a:r>
            <a:r>
              <a:rPr lang="en-US" dirty="0" err="1"/>
              <a:t>Unternehmen</a:t>
            </a:r>
            <a:r>
              <a:rPr lang="en-US" dirty="0"/>
              <a:t xml:space="preserve">” </a:t>
            </a:r>
            <a:r>
              <a:rPr lang="en-US" dirty="0" err="1"/>
              <a:t>vorzustellen</a:t>
            </a:r>
            <a:r>
              <a:rPr lang="en-US" dirty="0"/>
              <a:t>. Ich habe untersucht, wie sich Finanzkennzahlen börsennotierter US-Unternehmen über die Zeit verhalten — nicht ihre Höhe, sondern ihre Dynamik. In den nächsten 15 Minuten zeige ich Ihnen, warum sich diese Dynamik systematisch unterscheidet, wie die Kennzahlen zusammenhängen und womit sich die Unterschiede erklären lassen.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E951E-5BF9-5DE2-2E6B-05B45B3E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2183A-72F8-4A85-EA62-B246580F6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B3215-8F5F-3A84-98AC-9DF296579E67}"/>
              </a:ext>
            </a:extLst>
          </p:cNvPr>
          <p:cNvSpPr>
            <a:spLocks noGrp="1"/>
          </p:cNvSpPr>
          <p:nvPr>
            <p:ph type="body" idx="1"/>
          </p:nvPr>
        </p:nvSpPr>
        <p:spPr/>
        <p:txBody>
          <a:bodyPr/>
          <a:lstStyle/>
          <a:p>
            <a:r>
              <a:rPr lang="en-US" dirty="0"/>
              <a:t>[Zeit: 1:30] Eine Kennzahl wie der ROA ist eine Momentaufnahme. Die Information steckt in der Bewegung: Kehrt eine Veränderung im nächsten Quartal zurück — oder bleibt sie? Und wie stark schwankt eine Kennzahl? Diese beiden Dimensionen — Korrekturgeschwindigkeit und Volatilität — sind der Gegenstand der Arbeit. Daraus ergeben sich drei Forschungsfragen: systematische Unterschiede, Interdependenzen über Zeit und Krisen, und der Zusammenhang mit Unternehmensmerkmalen.</a:t>
            </a:r>
          </a:p>
        </p:txBody>
      </p:sp>
      <p:sp>
        <p:nvSpPr>
          <p:cNvPr id="4" name="Slide Number Placeholder 3">
            <a:extLst>
              <a:ext uri="{FF2B5EF4-FFF2-40B4-BE49-F238E27FC236}">
                <a16:creationId xmlns:a16="http://schemas.microsoft.com/office/drawing/2014/main" id="{19E306A4-D495-537D-37B6-03DFA72AFBC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10924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Datengrundlage sind Quartalsabschlüsse US-amerikanischer börsennotierter Unternehmen über 25 Jahre — 100 Quartale, 2000–2024, via EODHD-API. Aus knapp 5.900 Unternehmen entsteht über eine Filterkette die finale Stichprobe von 932: Finanzsektor ausgeschlossen, ADRs entfernt, Vollständigkeit, Winsorisierung. Der Vollständigkeitsfilter erzeugt einen Survivorship Bias — quantifiziert und getestet. Insgesamt 6.521 Unternehmen-Kennzahl-Kombinationen für sieben Kennzahlen.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Für jede der 6.521 Kombinationen schätze ich ein AR(1)-Modell — nicht auf Niveaus, sondern auf ersten Differenzen. Drei Gründe: direkte ökonomische Interpretation, Stationarität, Vergleichbarkeit. Phi misst die Autokorrelation der Veränderungen, nicht die Persistenz der Niveaus. Aus jeder Schätzung: Phi (negativ = Mean-Reversion) und Sigma (Volatilität). Mean-Group-Ansatz nach Pesaran/Smith.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Phi und Sigma spannen pro Kennzahl einen Raum auf, in dem jedes Unternehmen ein Punkt ist. Ein Median-Split erzeugt vier Dynamiktypen: korrektiv-stabil, korrektiv-volatil, persistent-stabil, persistent-volatil. Portfolio-Sort-Logik nach Fama/French. Die Achsen sind unabhängig: gemeinsame Variation maximal sechs Prozent.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Erste Forschungsfrage, erstes Kernergebnis: drei klar getrennte Schichten. Profitabilität revertiert stark (Phi −0,43 bis −0,46, über 90 % signifikant). Liquidität dazwischen (−0,17, höchste Volatilität). Kapitalstruktur nahe null (−0,04 bis −0,09, ein Drittel ohne Korrektur). Robust über vier Spezifikationen, vier Schwellen, vier Zeitfenster. Antwort: Ja — die Unterschiede folgen den Kennzahlgruppen.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Zwei Mechanismen. Erstens Konstruktion: Stromgrößen wie FCF- und EBIT-Marge korrigieren am stärksten; Bestandsgrößen wie die Eigenkapitalquote kaum; ROA, ROE, Current Ratio dazwischen. Zweitens Korrekturmechanismus: Der Markt korrigiert die Profitabilität (Wettbewerb, Fama/French ≈ 38 % p. a.); die Kapitalstruktur ändert sich nur durch Managemententscheidungen — Emission, Rückkauf, Dividende.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1:00] Forschungsfrage zwei. Ich korreliere die firmenspezifisch geschätzten Parameter paarweise über die 932 Unternehmen — Spearman, 21 Paare je Matrix. Die Phi-Matrix zeigt: Die starken Kopplungen liegen ausschließlich in der Profitabilität — ROA und ROE mit 0,78, mit der EBIT-Marge 0,56 und 0,54. Wer in einer Profitabilitätskennzahl schnell korrigiert, tut es auch in den anderen — die Korrekturgeschwindigkeit ist dort ein konsistentes Firmenmerkmal. Die FCF-Marge fällt heraus: nur 0,14 bis 0,19 — Periodenabgrenzungen glätten Buchgewinne, den Cashflow nicht; das ist die Accrual-Mechanik nach Sloan und Dechow. Und zwischen den Blöcken ist nach Bonferroni nur ein einziges von zwölf Paaren signifikant.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[Zeit: 0:45] Zur zeitlichen Dimension. Krisen definiere ich datengetrieben: Ein Quartal zählt, wenn mindestens drei der sieben Kennzahlen über dem 90. Perzentil ihrer rollierenden Querschnittsvolatilität liegen. Elf Quartale erfüllen das — und sie gruppieren sich ohne jede Vorgabe exakt in Dot-Com, Finanzkrise und COVID. Das stützt die Plausibilität des Verfahrens. COVID ist die stärkste Auslenkung: Peak 2020Q2 mit sechs von sieben Kennzahlen und mittlerem Perzentil 99.</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Hauptbefund, Forschungsfrage drei: Phi und Sigma auf fünf Strukturvariablen regressiert — Größe, Anlagenintensität, Investitionsintensität, Profitabilitätsniveau, Periodenabgrenzungen. Asymmetrie: rund 30 % der Volatilität erklärt (FCF-Marge fast die Hälfte), aber nur rund 5 % der Korrekturgeschwindigkeit. Sigma misst Exposition, Phi misst Reaktion — Phi bleibt idiosynkratisch.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Zwei Validierungen. Erstens falsifizierungsorientierte Prüfung der Sektor-Mechaniken: drei von vier Clustern bestätigen sich mit 60–66 %, das schwächste (Kommunikation/Energie, 43 %) wird offen benannt. Zweitens der Kontrast mit 451 Finanzdienstleistern: deren Current-Ratio-Volatilität liegt beim 29-Fachen der Hauptstichprobe — der Sektorausschluss ist empirisch begründet.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Vier Grenzen. Survivorship Bias: 77 % entfernt, aber Phi-Mediane stabil bis zur 40-Quartals-Schwelle (2.356 Firmen). Differenzen-Konvention: Phi misst Veränderungs-Autokorrelation; entscheidend ist die ökonomische Spreizung. In-Sample-Charakter der Krisentests. Geltungsbereich: etablierte US-Unternehmen, Quartalsfrequenz — Subquartals-Effekte und andere Märkte bleiben offen.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Die Sigma-Matrix daneben zeigt das Gegenbild: 19 von 21 Paaren signifikant. Mein Kernsatz: Schocks treffen die Kennzahlen gemeinsam — korrigiert werden sie kennzahlspezifisch. Die Eigenkapitalquote koppelt als einzige Kennzahl mit allen sechs anderen — die Bilanz spürt Gewinn- und Finanzierungsschocks gleichermaßen. Und wichtig für die Sauberkeit: ROE mal Debt/Equity 0,66 folgt aus der DuPont-Identität, EBIT- mal FCF-Marge 0,66 aus dem gemeinsamen Umsatznenner — mechanische Kopplungen, explizit ausgewiesen, kein ökonomischer Befund.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Ergänzungen. Innerhalb jeder Kennzahl korrelieren Phi und Sigma zwischen minus 0,09 und minus 0,24 — volatilere Unternehmen korrigieren schneller, das bestätigt Dichev und Tang. Aber alle Werte unter 0,25: Die Achsen bleiben trennbar, die Quadranten sind gerechtfertigt. Und die Lead-Lag-Analyse: 13 von 21 Paaren erreichen ihren Peak bei Lag null — Schocks laufen synchron, eine gestaffelte Transmission ist auf Quartalsfrequenz nicht nachweisbar. Ein ehrliches Nullergebnis.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1:00] Vor den Krisentests der langfristige Trend: Pro Sektor und Kennzahl glätte ich das Median-Niveau über 25 Quartale und schätze parallel die AR(1)-Drift-Konstante c pro Unternehmen — zwei unabhängige Messungen desselben Trends, Übereinstimmung r gleich 0,86. Das Beispiel Technologie: Die Current Ratio fällt von 2,48 auf 1,87, Debt/Equity steigt von 0,18 auf 0,42 — die Kurven kreuzen sich 2013: vom liquiditätsdominierten Start-up-Profil zur reifen, fremdfinanzierten Struktur. Und über alle 70 Kombinationen: Debt/Equity driftet in allen zehn Sektoren positiv, die Eigenkapitalquote in sieben von zehn negativ — die Verschuldungs- und Margenexpansion der letzten 25 Jahre.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Jetzt die Krisentests: Trennt die Quadranten-Klassifikation das Reaktionsverhalten? In der Finanzkrise deutlich: Effektstärke r gleich minus 0,36 für ROA und EBIT-Marge — volatil klassifizierte Unternehmen reagieren substanziell stärker. COVID bestätigt: minus 0,27, Kruskal-Wallis Epsilon-Quadrat bis 0,13. Dot-Com trennt nicht — als sektorspezifische Tech-Krise mit geringer Querschnittsbreite ist genau das konsistent. Testbilanz: sieben von zwölf Tests Bonferroni-signifikant. Und selbst benannt: Das ist eine In-Sample-Konsistenzprüfung, keine Prognose.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Und welche Kennzahl reagiert in welcher Krise? Die EBIT-Marge am stärksten in Finanzkrise und COVID — Faktor 1,5 über der Baseline: operativer Hebel, Umsatz bricht bei fixer Kostenstruktur. Debt/Equity dagegen in der Dot-Com-Phase — der Kurs-Crash vernichtet Eigenkapital mechanisch. Die FCF-Marge bleibt in der Finanzkrise fast unauffällig — dieselbe Sonderstellung wie in der Phi-Matrix. Und die Current Ratio reagiert überall am schwächsten — die träge Bilanzposition.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1:00] Forschungsfrage drei — zuerst bivariat: fünf Strukturvariablen, sieben Kennzahlen, Phi und Sigma — 98 Spearman-Tests. Das Muster ist eindeutig: 31 von 49 Sigma-Tests signifikant, nur 10 von 49 bei Phi — und die zehn stärksten Effekte sind alle Sigma. Die Größe wirkt am stärksten: Die Mitarbeiterzahl dämpft die Volatilität von FCF-Marge und Current Ratio mit rho minus 0,53; vom kleinsten zum größten Quintil fällt der Sigma-Median von 0,45 auf 0,11 — Cohens r 0,80, der stärkste Effekt der gesamten Analyse. Die Anlagenintensität zeigt ein Vorzeichen-Muster: Bilanzgrößen werden stabiler, reine Strom-Margen volatiler — die Strom-gegen-Bestand-Mechanik aus Forschungsfrage eins auf Unternehmensebene.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Zwei weitere Variablen. Das Profitabilitätsniveau: Profitable Unternehmen schwanken weniger — EBIT-Marge minus 0,44 — und revertieren sogar etwas langsamer: weniger Schwankung, weniger Korrekturbedarf. Und die Periodenabgrenzungen nach Sloan: Sie dämpfen die Volatilität der Buchgewinne — ROA minus 0,27 — aber nicht die der FCF-Marge. Damit ist der Mechanismus hinter der FCF-Sonderstellung aus Forschungsfrage zwei direkt nachgewiesen.</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Das kategoriale Gegenstück: der Sektor. Kruskal-Wallis über die zehn GICS-Sektoren — auf der Sigma-Seite erklärt der Sektor bis zu 22 Prozent der Variation, FCF-Marge und Current Ratio vorn, alle sieben Tests signifikant. Auf der Phi-Seite maximal sieben Prozent. Dieselbe Asymmetrie wie bei den Strukturvariablen.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Der schärfste Sektor-Kontrast: die 451 ausgeschlossenen Finanzdienstleister, parallel geschätzt. Die Current-Ratio-Volatilität liegt beim 29-fachen der Hauptstichprobe, die ROA-Volatilität bei einem Fünftel — und die Bilanz-Kennzahlen revertieren deutlich stärker, weil regulatorische Mindestquoten die Korrektur erzwingen. Der Sektorausschluss ist damit empirisch begründet, nicht nur Konvention.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Und die härteste Prüfung: Aus jeder Sektor-Cluster-Mechanik aus Forschungsfrage eins habe ich eine falsifizierbare Vorhersage zur Quadranten-Verteilung abgeleitet. Drei von vier Clustern bestätigen sich mit 60 bis 66 Prozent Konformität. Das schwächste benenne ich offen: Kommunikation und Energie mit 43 Prozent — bei der FCF-Marge nur 30 Prozent, weil Investitionszyklen den Cashflow länger als ein Quartal persistieren lassen. Und das fünfte Cluster, Gesundheit und zyklischer Konsum, bleibt diffus — genau wie vorhergesagt.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Zur Schätzqualität — sie folgt derselben Hierarchie. In der Profitabilität sind über 90 Prozent der Schätzungen signifikant, nach Bonferroni bleiben 58 bis 68 Prozent. Bei der Current Ratio 46 Prozent, in der Kapitalstruktur nur noch 19 bis 32. Die positiven φ-Werte — 11,3 Prozent aller Schätzungen — habe ich gezielt geprüft: Modellgüte nahe null, kein einziger nach Bonferroni signifikant — Modellartefakte, keine eigene Dynamikklasse. Und ein Muster, das später wichtig wird: Volatile Firmen revertieren stärker und werden vom Modell deutlich besser erkannt — bei Current-Ratio-Sigma über 2 steigt die Bonferroni-Rate von 10 auf 37 Prozent.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0:45] Zerlegt nach Sektoren zeigt sich: Die Kennzahl prägt die Dynamik stärker als der Sektor. In der Profitabilität liegen alle zehn Sektor-Mediane zwischen minus 0,37 und minus 0,50 — eine Spannweite von nur 0,12. In der Liquidität ist sie doppelt so breit: Technologie minus 0,10, Immobilien minus 0,34 — dort mit 2,6-facher Volatilität durch REIT-Refinanzierungen. Und in der Kapitalstruktur sind die Versorger die Ausnahme: als einziger Sektor konsistente Korrektur bei niedrigster Volatilität — regulatorische Vorgaben erzwingen die Anpassung.</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[Zeit: 0:30] Verdichtet in die Quadranten gruppieren sich die Sektoren in drei Profile: das stabile — Versorger, Industrie, Basiskonsum; das persistente — Technologie und Grundstoffe, wo Wachstums- und Rohstofftrends nachwirken; und das korrektiv-volatile — Immobilien, Kommunikation, Energie: große Ausschläge, schnelle Korrektur. Fünf Sektoren bündeln sich in nur zwei Quadranten — einzig der Zyklische Konsum besetzt alle vier.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2E1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654" y="648068"/>
            <a:ext cx="8889797" cy="215798"/>
          </a:xfrm>
          <a:prstGeom prst="rect">
            <a:avLst/>
          </a:prstGeom>
          <a:noFill/>
          <a:ln/>
        </p:spPr>
        <p:txBody>
          <a:bodyPr wrap="square" rtlCol="0" anchor="ctr"/>
          <a:lstStyle/>
          <a:p>
            <a:pPr marL="0" indent="0">
              <a:buNone/>
            </a:pPr>
            <a:r>
              <a:rPr lang="en-US" sz="1200" b="1" kern="0" spc="400" dirty="0">
                <a:solidFill>
                  <a:srgbClr val="E6D44F"/>
                </a:solidFill>
                <a:latin typeface="Courier New" pitchFamily="34" charset="0"/>
                <a:ea typeface="Courier New" pitchFamily="34" charset="-122"/>
                <a:cs typeface="Courier New" pitchFamily="34" charset="-120"/>
              </a:rPr>
              <a:t>MASTERKOLLOQUIUM</a:t>
            </a:r>
            <a:endParaRPr lang="en-US" sz="1000" dirty="0">
              <a:solidFill>
                <a:srgbClr val="E6D44F"/>
              </a:solidFill>
            </a:endParaRPr>
          </a:p>
        </p:txBody>
      </p:sp>
      <p:sp>
        <p:nvSpPr>
          <p:cNvPr id="5" name="Text 2"/>
          <p:cNvSpPr/>
          <p:nvPr/>
        </p:nvSpPr>
        <p:spPr>
          <a:xfrm>
            <a:off x="634594" y="1428517"/>
            <a:ext cx="10933951" cy="1209867"/>
          </a:xfrm>
          <a:prstGeom prst="rect">
            <a:avLst/>
          </a:prstGeom>
          <a:noFill/>
          <a:ln/>
        </p:spPr>
        <p:txBody>
          <a:bodyPr wrap="square" rtlCol="0" anchor="t"/>
          <a:lstStyle/>
          <a:p>
            <a:pPr marL="0" indent="0" algn="ctr">
              <a:lnSpc>
                <a:spcPct val="102000"/>
              </a:lnSpc>
              <a:buNone/>
            </a:pPr>
            <a:r>
              <a:rPr lang="en-US" sz="3600" b="1" kern="0" spc="-100" dirty="0">
                <a:solidFill>
                  <a:srgbClr val="F3EFDA"/>
                </a:solidFill>
                <a:latin typeface="Arial" pitchFamily="34" charset="0"/>
                <a:ea typeface="Arial" pitchFamily="34" charset="-122"/>
                <a:cs typeface="Arial" pitchFamily="34" charset="-120"/>
              </a:rPr>
              <a:t xml:space="preserve">Zeitreihenbasierte Analyse der Dynamik von Finanzkennzahlen </a:t>
            </a:r>
            <a:r>
              <a:rPr lang="en-US" sz="3600" b="1" kern="0" spc="-100" dirty="0" err="1">
                <a:solidFill>
                  <a:srgbClr val="F3EFDA"/>
                </a:solidFill>
                <a:latin typeface="Arial" pitchFamily="34" charset="0"/>
                <a:ea typeface="Arial" pitchFamily="34" charset="-122"/>
                <a:cs typeface="Arial" pitchFamily="34" charset="-120"/>
              </a:rPr>
              <a:t>börsennotierter</a:t>
            </a:r>
            <a:r>
              <a:rPr lang="en-US" sz="3600" b="1" kern="0" spc="-100" dirty="0">
                <a:solidFill>
                  <a:srgbClr val="F3EFDA"/>
                </a:solidFill>
                <a:latin typeface="Arial" pitchFamily="34" charset="0"/>
                <a:ea typeface="Arial" pitchFamily="34" charset="-122"/>
                <a:cs typeface="Arial" pitchFamily="34" charset="-120"/>
              </a:rPr>
              <a:t xml:space="preserve"> </a:t>
            </a:r>
            <a:r>
              <a:rPr lang="en-US" sz="3600" b="1" kern="0" spc="-100" dirty="0" err="1">
                <a:solidFill>
                  <a:srgbClr val="F3EFDA"/>
                </a:solidFill>
                <a:latin typeface="Arial" pitchFamily="34" charset="0"/>
                <a:ea typeface="Arial" pitchFamily="34" charset="-122"/>
                <a:cs typeface="Arial" pitchFamily="34" charset="-120"/>
              </a:rPr>
              <a:t>Unternehmen</a:t>
            </a:r>
            <a:endParaRPr lang="en-US" sz="3600" dirty="0">
              <a:solidFill>
                <a:srgbClr val="F3EFDA"/>
              </a:solidFill>
            </a:endParaRPr>
          </a:p>
        </p:txBody>
      </p:sp>
      <p:sp>
        <p:nvSpPr>
          <p:cNvPr id="11" name="Text 8"/>
          <p:cNvSpPr/>
          <p:nvPr/>
        </p:nvSpPr>
        <p:spPr>
          <a:xfrm>
            <a:off x="461312" y="3463845"/>
            <a:ext cx="2286000" cy="152705"/>
          </a:xfrm>
          <a:prstGeom prst="rect">
            <a:avLst/>
          </a:prstGeom>
          <a:noFill/>
          <a:ln/>
        </p:spPr>
        <p:txBody>
          <a:bodyPr wrap="square" rtlCol="0" anchor="t"/>
          <a:lstStyle/>
          <a:p>
            <a:pPr marL="0" indent="0" algn="r">
              <a:lnSpc>
                <a:spcPct val="105000"/>
              </a:lnSpc>
              <a:buNone/>
            </a:pPr>
            <a:r>
              <a:rPr lang="en-US" sz="1200" b="1" kern="0" spc="200" dirty="0">
                <a:solidFill>
                  <a:srgbClr val="E6D44F"/>
                </a:solidFill>
                <a:latin typeface="Courier New" pitchFamily="34" charset="0"/>
                <a:ea typeface="Courier New" pitchFamily="34" charset="-122"/>
                <a:cs typeface="Courier New" pitchFamily="34" charset="-120"/>
              </a:rPr>
              <a:t>VORGELEGT VON</a:t>
            </a: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r>
              <a:rPr lang="en-US" sz="1200" b="1" kern="0" spc="200" dirty="0">
                <a:solidFill>
                  <a:srgbClr val="E6D44F"/>
                </a:solidFill>
                <a:latin typeface="Courier New" pitchFamily="34" charset="0"/>
                <a:cs typeface="Courier New" pitchFamily="34" charset="-120"/>
              </a:rPr>
              <a:t>HOCHSCHULE</a:t>
            </a: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r>
              <a:rPr lang="en-US" sz="1200" b="1" kern="0" spc="200" dirty="0">
                <a:solidFill>
                  <a:srgbClr val="E6D44F"/>
                </a:solidFill>
                <a:latin typeface="Courier New" pitchFamily="34" charset="0"/>
                <a:cs typeface="Courier New" pitchFamily="34" charset="-120"/>
              </a:rPr>
              <a:t>PRÜFER</a:t>
            </a: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endParaRPr lang="en-US" sz="900" kern="0" spc="200" dirty="0">
              <a:solidFill>
                <a:srgbClr val="E6D44F"/>
              </a:solidFill>
              <a:latin typeface="Courier New" pitchFamily="34" charset="0"/>
              <a:cs typeface="Courier New" pitchFamily="34" charset="-120"/>
            </a:endParaRPr>
          </a:p>
          <a:p>
            <a:pPr marL="0" indent="0" algn="r">
              <a:lnSpc>
                <a:spcPct val="105000"/>
              </a:lnSpc>
              <a:buNone/>
            </a:pPr>
            <a:r>
              <a:rPr lang="en-US" sz="1200" b="1" kern="0" spc="200" dirty="0">
                <a:solidFill>
                  <a:srgbClr val="E6D44F"/>
                </a:solidFill>
                <a:latin typeface="Courier New" pitchFamily="34" charset="0"/>
                <a:cs typeface="Courier New" pitchFamily="34" charset="-120"/>
              </a:rPr>
              <a:t>DATUM</a:t>
            </a:r>
            <a:endParaRPr lang="en-US" sz="900" b="1" kern="0" spc="200" dirty="0">
              <a:solidFill>
                <a:srgbClr val="E6D44F"/>
              </a:solidFill>
              <a:latin typeface="Courier New" pitchFamily="34" charset="0"/>
              <a:cs typeface="Courier New" pitchFamily="34" charset="-120"/>
            </a:endParaRPr>
          </a:p>
        </p:txBody>
      </p:sp>
      <p:sp>
        <p:nvSpPr>
          <p:cNvPr id="12" name="Text 9"/>
          <p:cNvSpPr/>
          <p:nvPr/>
        </p:nvSpPr>
        <p:spPr>
          <a:xfrm>
            <a:off x="3499985" y="3454660"/>
            <a:ext cx="2286000"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Tobias Mourier</a:t>
            </a:r>
            <a:endParaRPr lang="en-US" sz="1400" dirty="0"/>
          </a:p>
        </p:txBody>
      </p:sp>
      <p:pic>
        <p:nvPicPr>
          <p:cNvPr id="3" name="Grafik 2">
            <a:extLst>
              <a:ext uri="{FF2B5EF4-FFF2-40B4-BE49-F238E27FC236}">
                <a16:creationId xmlns:a16="http://schemas.microsoft.com/office/drawing/2014/main" id="{324B70AD-BD1D-0514-C299-459E1BACE3A3}"/>
              </a:ext>
            </a:extLst>
          </p:cNvPr>
          <p:cNvPicPr>
            <a:picLocks noChangeAspect="1"/>
          </p:cNvPicPr>
          <p:nvPr/>
        </p:nvPicPr>
        <p:blipFill>
          <a:blip r:embed="rId3"/>
          <a:stretch>
            <a:fillRect/>
          </a:stretch>
        </p:blipFill>
        <p:spPr>
          <a:xfrm>
            <a:off x="10231872" y="380800"/>
            <a:ext cx="1618140" cy="693489"/>
          </a:xfrm>
          <a:prstGeom prst="rect">
            <a:avLst/>
          </a:prstGeom>
        </p:spPr>
      </p:pic>
      <p:sp>
        <p:nvSpPr>
          <p:cNvPr id="19" name="Text 9">
            <a:extLst>
              <a:ext uri="{FF2B5EF4-FFF2-40B4-BE49-F238E27FC236}">
                <a16:creationId xmlns:a16="http://schemas.microsoft.com/office/drawing/2014/main" id="{8B0D7EA3-88F9-F05C-E011-8FC22262E690}"/>
              </a:ext>
            </a:extLst>
          </p:cNvPr>
          <p:cNvSpPr/>
          <p:nvPr/>
        </p:nvSpPr>
        <p:spPr>
          <a:xfrm>
            <a:off x="3499984" y="4051555"/>
            <a:ext cx="3003847" cy="292878"/>
          </a:xfrm>
          <a:prstGeom prst="rect">
            <a:avLst/>
          </a:prstGeom>
          <a:noFill/>
          <a:ln/>
        </p:spPr>
        <p:txBody>
          <a:bodyPr wrap="square" rtlCol="0" anchor="t"/>
          <a:lstStyle/>
          <a:p>
            <a:pPr marL="0" indent="0" algn="l">
              <a:lnSpc>
                <a:spcPct val="105000"/>
              </a:lnSpc>
              <a:buNone/>
            </a:pPr>
            <a:r>
              <a:rPr lang="en-US" sz="1400" b="1" dirty="0" err="1">
                <a:solidFill>
                  <a:srgbClr val="F2EFDA"/>
                </a:solidFill>
                <a:latin typeface="Arial" pitchFamily="34" charset="0"/>
                <a:ea typeface="Arial" pitchFamily="34" charset="-122"/>
                <a:cs typeface="Arial" pitchFamily="34" charset="-120"/>
              </a:rPr>
              <a:t>Technische</a:t>
            </a:r>
            <a:r>
              <a:rPr lang="en-US" sz="1400" b="1" dirty="0">
                <a:solidFill>
                  <a:srgbClr val="F2EFDA"/>
                </a:solidFill>
                <a:latin typeface="Arial" pitchFamily="34" charset="0"/>
                <a:ea typeface="Arial" pitchFamily="34" charset="-122"/>
                <a:cs typeface="Arial" pitchFamily="34" charset="-120"/>
              </a:rPr>
              <a:t xml:space="preserve"> Hochschule Wildau</a:t>
            </a:r>
            <a:endParaRPr lang="en-US" sz="1400" dirty="0"/>
          </a:p>
        </p:txBody>
      </p:sp>
      <p:sp>
        <p:nvSpPr>
          <p:cNvPr id="20" name="Text 9">
            <a:extLst>
              <a:ext uri="{FF2B5EF4-FFF2-40B4-BE49-F238E27FC236}">
                <a16:creationId xmlns:a16="http://schemas.microsoft.com/office/drawing/2014/main" id="{3D1A27AC-F3F8-8963-7DAA-A6C880C7C8A9}"/>
              </a:ext>
            </a:extLst>
          </p:cNvPr>
          <p:cNvSpPr/>
          <p:nvPr/>
        </p:nvSpPr>
        <p:spPr>
          <a:xfrm>
            <a:off x="3499985" y="4602607"/>
            <a:ext cx="2286000"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Prof. Dr. M. Steglich</a:t>
            </a:r>
          </a:p>
          <a:p>
            <a:pPr marL="0" indent="0" algn="l">
              <a:lnSpc>
                <a:spcPct val="105000"/>
              </a:lnSpc>
              <a:buNone/>
            </a:pPr>
            <a:r>
              <a:rPr lang="en-US" sz="1400" b="1" dirty="0">
                <a:solidFill>
                  <a:srgbClr val="F2EFDA"/>
                </a:solidFill>
                <a:latin typeface="Arial" pitchFamily="34" charset="0"/>
                <a:cs typeface="Arial" pitchFamily="34" charset="-120"/>
              </a:rPr>
              <a:t xml:space="preserve">Prof. Dr. R. </a:t>
            </a:r>
            <a:r>
              <a:rPr lang="en-US" sz="1400" b="1" dirty="0" err="1">
                <a:solidFill>
                  <a:srgbClr val="F2EFDA"/>
                </a:solidFill>
                <a:latin typeface="Arial" pitchFamily="34" charset="0"/>
                <a:cs typeface="Arial" pitchFamily="34" charset="-120"/>
              </a:rPr>
              <a:t>Stollhoff</a:t>
            </a:r>
            <a:endParaRPr lang="en-US" sz="1400" dirty="0"/>
          </a:p>
        </p:txBody>
      </p:sp>
      <p:sp>
        <p:nvSpPr>
          <p:cNvPr id="21" name="Text 9">
            <a:extLst>
              <a:ext uri="{FF2B5EF4-FFF2-40B4-BE49-F238E27FC236}">
                <a16:creationId xmlns:a16="http://schemas.microsoft.com/office/drawing/2014/main" id="{C3683C61-2CF9-EE4C-BF49-6DEAFBE66068}"/>
              </a:ext>
            </a:extLst>
          </p:cNvPr>
          <p:cNvSpPr/>
          <p:nvPr/>
        </p:nvSpPr>
        <p:spPr>
          <a:xfrm>
            <a:off x="3499985" y="5337654"/>
            <a:ext cx="2286000"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07.07.2026</a:t>
            </a:r>
            <a:endParaRPr lang="en-US" sz="1400" dirty="0"/>
          </a:p>
        </p:txBody>
      </p:sp>
      <p:pic>
        <p:nvPicPr>
          <p:cNvPr id="22" name="Grafik 21">
            <a:extLst>
              <a:ext uri="{FF2B5EF4-FFF2-40B4-BE49-F238E27FC236}">
                <a16:creationId xmlns:a16="http://schemas.microsoft.com/office/drawing/2014/main" id="{CEF7AEE1-50DC-1F30-E9E7-5B152B6E8239}"/>
              </a:ext>
            </a:extLst>
          </p:cNvPr>
          <p:cNvPicPr>
            <a:picLocks noChangeAspect="1"/>
          </p:cNvPicPr>
          <p:nvPr/>
        </p:nvPicPr>
        <p:blipFill>
          <a:blip r:embed="rId4"/>
          <a:stretch>
            <a:fillRect/>
          </a:stretch>
        </p:blipFill>
        <p:spPr>
          <a:xfrm>
            <a:off x="8507100" y="3153787"/>
            <a:ext cx="2425840" cy="3431804"/>
          </a:xfrm>
          <a:prstGeom prst="rect">
            <a:avLst/>
          </a:prstGeom>
          <a:effectLst>
            <a:outerShdw blurRad="50800" dist="127000" dir="13500000" algn="br" rotWithShape="0">
              <a:schemeClr val="bg1">
                <a:alpha val="40000"/>
              </a:schemeClr>
            </a:outerShdw>
          </a:effectLst>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4" name="Text 1"/>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EINLEITUNG</a:t>
            </a:r>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02 / 15</a:t>
            </a:r>
            <a:endParaRPr lang="en-US" sz="1200" dirty="0"/>
          </a:p>
        </p:txBody>
      </p:sp>
      <p:sp>
        <p:nvSpPr>
          <p:cNvPr id="6" name="Text 3"/>
          <p:cNvSpPr/>
          <p:nvPr/>
        </p:nvSpPr>
        <p:spPr>
          <a:xfrm>
            <a:off x="634593" y="761695"/>
            <a:ext cx="10921593" cy="888797"/>
          </a:xfrm>
          <a:prstGeom prst="rect">
            <a:avLst/>
          </a:prstGeom>
          <a:noFill/>
          <a:ln/>
        </p:spPr>
        <p:txBody>
          <a:bodyPr wrap="square" rtlCol="0" anchor="t"/>
          <a:lstStyle/>
          <a:p>
            <a:pPr marL="0" indent="0" algn="ctr">
              <a:lnSpc>
                <a:spcPct val="105000"/>
              </a:lnSpc>
              <a:buNone/>
            </a:pPr>
            <a:r>
              <a:rPr lang="en-US" sz="2400" b="1" dirty="0">
                <a:solidFill>
                  <a:srgbClr val="F2EFDA"/>
                </a:solidFill>
                <a:latin typeface="Arial" pitchFamily="34" charset="0"/>
                <a:ea typeface="Arial" pitchFamily="34" charset="-122"/>
                <a:cs typeface="Arial" pitchFamily="34" charset="-120"/>
              </a:rPr>
              <a:t xml:space="preserve">Eine Kennzahl ist </a:t>
            </a:r>
            <a:r>
              <a:rPr lang="en-US" sz="2400" b="1" dirty="0" err="1">
                <a:solidFill>
                  <a:srgbClr val="F2EFDA"/>
                </a:solidFill>
                <a:latin typeface="Arial" pitchFamily="34" charset="0"/>
                <a:ea typeface="Arial" pitchFamily="34" charset="-122"/>
                <a:cs typeface="Arial" pitchFamily="34" charset="-120"/>
              </a:rPr>
              <a:t>eine</a:t>
            </a:r>
            <a:r>
              <a:rPr lang="en-US" sz="2400" b="1" dirty="0">
                <a:solidFill>
                  <a:srgbClr val="F2EFDA"/>
                </a:solidFill>
                <a:latin typeface="Arial" pitchFamily="34" charset="0"/>
                <a:ea typeface="Arial" pitchFamily="34" charset="-122"/>
                <a:cs typeface="Arial" pitchFamily="34" charset="-120"/>
              </a:rPr>
              <a:t xml:space="preserve"> </a:t>
            </a:r>
            <a:r>
              <a:rPr lang="en-US" sz="2400" b="1" dirty="0" err="1">
                <a:solidFill>
                  <a:srgbClr val="F2EFDA"/>
                </a:solidFill>
                <a:latin typeface="Arial" pitchFamily="34" charset="0"/>
                <a:ea typeface="Arial" pitchFamily="34" charset="-122"/>
                <a:cs typeface="Arial" pitchFamily="34" charset="-120"/>
              </a:rPr>
              <a:t>Momentaufnahme</a:t>
            </a:r>
            <a:r>
              <a:rPr lang="en-US" sz="2400" b="1" dirty="0">
                <a:solidFill>
                  <a:srgbClr val="F2EFDA"/>
                </a:solidFill>
                <a:latin typeface="Arial" pitchFamily="34" charset="0"/>
                <a:ea typeface="Arial" pitchFamily="34" charset="-122"/>
                <a:cs typeface="Arial" pitchFamily="34" charset="-120"/>
              </a:rPr>
              <a:t xml:space="preserve">, die Information steckt in der </a:t>
            </a:r>
            <a:r>
              <a:rPr lang="en-US" sz="2400" b="1" dirty="0" err="1">
                <a:solidFill>
                  <a:srgbClr val="78A2F9"/>
                </a:solidFill>
                <a:latin typeface="Arial" pitchFamily="34" charset="0"/>
                <a:ea typeface="Arial" pitchFamily="34" charset="-122"/>
                <a:cs typeface="Arial" pitchFamily="34" charset="-120"/>
              </a:rPr>
              <a:t>Veränderung</a:t>
            </a:r>
            <a:r>
              <a:rPr lang="en-US" sz="2400" b="1" dirty="0">
                <a:solidFill>
                  <a:srgbClr val="F2EFDA"/>
                </a:solidFill>
                <a:latin typeface="Arial" pitchFamily="34" charset="0"/>
                <a:ea typeface="Arial" pitchFamily="34" charset="-122"/>
                <a:cs typeface="Arial" pitchFamily="34" charset="-120"/>
              </a:rPr>
              <a:t>.</a:t>
            </a:r>
            <a:endParaRPr lang="en-US" sz="2400" dirty="0"/>
          </a:p>
        </p:txBody>
      </p:sp>
      <p:sp>
        <p:nvSpPr>
          <p:cNvPr id="7" name="Shape 4"/>
          <p:cNvSpPr/>
          <p:nvPr/>
        </p:nvSpPr>
        <p:spPr>
          <a:xfrm>
            <a:off x="634593" y="1904695"/>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952805" y="2095805"/>
            <a:ext cx="571500" cy="558698"/>
          </a:xfrm>
          <a:prstGeom prst="rect">
            <a:avLst/>
          </a:prstGeom>
          <a:noFill/>
          <a:ln/>
        </p:spPr>
        <p:txBody>
          <a:bodyPr wrap="square" rtlCol="0" anchor="ctr"/>
          <a:lstStyle/>
          <a:p>
            <a:pPr marL="0" indent="0" algn="l">
              <a:lnSpc>
                <a:spcPct val="105000"/>
              </a:lnSpc>
              <a:buNone/>
            </a:pPr>
            <a:r>
              <a:rPr lang="en-US" sz="3200" b="1" dirty="0">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sp>
        <p:nvSpPr>
          <p:cNvPr id="9" name="Text 6"/>
          <p:cNvSpPr/>
          <p:nvPr/>
        </p:nvSpPr>
        <p:spPr>
          <a:xfrm>
            <a:off x="1714500" y="2095805"/>
            <a:ext cx="38733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Korrekturgeschwindigkeit</a:t>
            </a:r>
            <a:endParaRPr lang="en-US" sz="1400" dirty="0"/>
          </a:p>
        </p:txBody>
      </p:sp>
      <p:sp>
        <p:nvSpPr>
          <p:cNvPr id="10" name="Text 7"/>
          <p:cNvSpPr/>
          <p:nvPr/>
        </p:nvSpPr>
        <p:spPr>
          <a:xfrm>
            <a:off x="1714500" y="2400300"/>
            <a:ext cx="4063594" cy="305614"/>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 xml:space="preserve">Kehrt eine Quartalsveränderung im Folgequartal </a:t>
            </a:r>
            <a:r>
              <a:rPr lang="en-US" sz="1200" dirty="0" err="1">
                <a:solidFill>
                  <a:srgbClr val="B3BC9A"/>
                </a:solidFill>
                <a:latin typeface="Arial" pitchFamily="34" charset="0"/>
                <a:ea typeface="Arial" pitchFamily="34" charset="-122"/>
                <a:cs typeface="Arial" pitchFamily="34" charset="-120"/>
              </a:rPr>
              <a:t>zurück</a:t>
            </a:r>
            <a:r>
              <a:rPr lang="en-US" sz="1200" dirty="0">
                <a:solidFill>
                  <a:srgbClr val="B3BC9A"/>
                </a:solidFill>
                <a:latin typeface="Arial" pitchFamily="34" charset="0"/>
                <a:ea typeface="Arial" pitchFamily="34" charset="-122"/>
                <a:cs typeface="Arial" pitchFamily="34" charset="-120"/>
              </a:rPr>
              <a:t>?</a:t>
            </a:r>
          </a:p>
        </p:txBody>
      </p:sp>
      <p:sp>
        <p:nvSpPr>
          <p:cNvPr id="11" name="Shape 8"/>
          <p:cNvSpPr/>
          <p:nvPr/>
        </p:nvSpPr>
        <p:spPr>
          <a:xfrm>
            <a:off x="6290714" y="1904695"/>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p:cNvSpPr/>
          <p:nvPr/>
        </p:nvSpPr>
        <p:spPr>
          <a:xfrm>
            <a:off x="6608011" y="2031797"/>
            <a:ext cx="571500" cy="622706"/>
          </a:xfrm>
          <a:prstGeom prst="rect">
            <a:avLst/>
          </a:prstGeom>
          <a:noFill/>
          <a:ln/>
        </p:spPr>
        <p:txBody>
          <a:bodyPr wrap="square" rtlCol="0" anchor="ctr"/>
          <a:lstStyle/>
          <a:p>
            <a:pPr marL="0" indent="0" algn="l">
              <a:lnSpc>
                <a:spcPct val="105000"/>
              </a:lnSpc>
              <a:buNone/>
            </a:pPr>
            <a:r>
              <a:rPr lang="en-US" sz="3200" b="1" dirty="0">
                <a:solidFill>
                  <a:srgbClr val="79A2F9"/>
                </a:solidFill>
                <a:latin typeface="Courier New" pitchFamily="34" charset="0"/>
                <a:ea typeface="Courier New" pitchFamily="34" charset="-122"/>
                <a:cs typeface="Courier New" pitchFamily="34" charset="-120"/>
              </a:rPr>
              <a:t>σ</a:t>
            </a:r>
            <a:endParaRPr lang="en-US" sz="3200" dirty="0"/>
          </a:p>
        </p:txBody>
      </p:sp>
      <p:sp>
        <p:nvSpPr>
          <p:cNvPr id="13" name="Text 10"/>
          <p:cNvSpPr/>
          <p:nvPr/>
        </p:nvSpPr>
        <p:spPr>
          <a:xfrm>
            <a:off x="7369706" y="2095805"/>
            <a:ext cx="3746297"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Veränderungsvolatilität σ(ΔY)</a:t>
            </a:r>
            <a:endParaRPr lang="en-US" sz="1400" dirty="0"/>
          </a:p>
        </p:txBody>
      </p:sp>
      <p:sp>
        <p:nvSpPr>
          <p:cNvPr id="14" name="Text 11"/>
          <p:cNvSpPr/>
          <p:nvPr/>
        </p:nvSpPr>
        <p:spPr>
          <a:xfrm>
            <a:off x="7369706" y="2400300"/>
            <a:ext cx="4187704" cy="305719"/>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Wie stark schwankt eine Kennzahl von Quartal zu Quartal?</a:t>
            </a:r>
            <a:endParaRPr lang="en-US" sz="1200" dirty="0"/>
          </a:p>
        </p:txBody>
      </p:sp>
      <p:sp>
        <p:nvSpPr>
          <p:cNvPr id="15" name="Shape 12"/>
          <p:cNvSpPr/>
          <p:nvPr/>
        </p:nvSpPr>
        <p:spPr>
          <a:xfrm>
            <a:off x="634594" y="3517697"/>
            <a:ext cx="3226003" cy="2730398"/>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16" name="Text 13"/>
          <p:cNvSpPr/>
          <p:nvPr/>
        </p:nvSpPr>
        <p:spPr>
          <a:xfrm>
            <a:off x="838505" y="3735602"/>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17" name="Shape 14"/>
          <p:cNvSpPr/>
          <p:nvPr/>
        </p:nvSpPr>
        <p:spPr>
          <a:xfrm>
            <a:off x="1206094" y="3873708"/>
            <a:ext cx="2450592" cy="19202"/>
          </a:xfrm>
          <a:prstGeom prst="rect">
            <a:avLst/>
          </a:prstGeom>
          <a:solidFill>
            <a:srgbClr val="DBDEE2"/>
          </a:solidFill>
          <a:ln/>
        </p:spPr>
        <p:txBody>
          <a:bodyPr/>
          <a:lstStyle/>
          <a:p>
            <a:endParaRPr lang="de-DE"/>
          </a:p>
        </p:txBody>
      </p:sp>
      <p:sp>
        <p:nvSpPr>
          <p:cNvPr id="18" name="Text 15"/>
          <p:cNvSpPr/>
          <p:nvPr/>
        </p:nvSpPr>
        <p:spPr>
          <a:xfrm>
            <a:off x="838505" y="4216298"/>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 xml:space="preserve">Weisen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über</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hinweg</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systematische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Unterschiede</a:t>
            </a:r>
            <a:r>
              <a:rPr lang="en-US" sz="1400" dirty="0">
                <a:solidFill>
                  <a:srgbClr val="F2EFDA"/>
                </a:solidFill>
                <a:latin typeface="Arial" pitchFamily="34" charset="0"/>
                <a:ea typeface="Arial" pitchFamily="34" charset="-122"/>
                <a:cs typeface="Arial" pitchFamily="34" charset="-120"/>
              </a:rPr>
              <a:t xml:space="preserve"> in </a:t>
            </a:r>
            <a:r>
              <a:rPr lang="en-US" sz="1400" dirty="0" err="1">
                <a:solidFill>
                  <a:srgbClr val="F2EFDA"/>
                </a:solidFill>
                <a:latin typeface="Arial" pitchFamily="34" charset="0"/>
                <a:ea typeface="Arial" pitchFamily="34" charset="-122"/>
                <a:cs typeface="Arial" pitchFamily="34" charset="-120"/>
              </a:rPr>
              <a:t>ihrer</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zeitlichen</a:t>
            </a:r>
            <a:r>
              <a:rPr lang="en-US" sz="1400" dirty="0">
                <a:solidFill>
                  <a:srgbClr val="F2EFDA"/>
                </a:solidFill>
                <a:latin typeface="Arial" pitchFamily="34" charset="0"/>
                <a:ea typeface="Arial" pitchFamily="34" charset="-122"/>
                <a:cs typeface="Arial" pitchFamily="34" charset="-120"/>
              </a:rPr>
              <a:t xml:space="preserve"> Dynamik auf?</a:t>
            </a:r>
          </a:p>
        </p:txBody>
      </p:sp>
      <p:sp>
        <p:nvSpPr>
          <p:cNvPr id="19" name="Shape 16"/>
          <p:cNvSpPr/>
          <p:nvPr/>
        </p:nvSpPr>
        <p:spPr>
          <a:xfrm>
            <a:off x="4482998" y="3517697"/>
            <a:ext cx="3226003" cy="2730398"/>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20" name="Text 17"/>
          <p:cNvSpPr/>
          <p:nvPr/>
        </p:nvSpPr>
        <p:spPr>
          <a:xfrm>
            <a:off x="4685995" y="3721747"/>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2</a:t>
            </a:r>
            <a:endParaRPr lang="en-US" sz="1400" dirty="0"/>
          </a:p>
        </p:txBody>
      </p:sp>
      <p:sp>
        <p:nvSpPr>
          <p:cNvPr id="21" name="Shape 18"/>
          <p:cNvSpPr/>
          <p:nvPr/>
        </p:nvSpPr>
        <p:spPr>
          <a:xfrm>
            <a:off x="5054498" y="3873708"/>
            <a:ext cx="2450592" cy="19202"/>
          </a:xfrm>
          <a:prstGeom prst="rect">
            <a:avLst/>
          </a:prstGeom>
          <a:solidFill>
            <a:srgbClr val="DBDEE2"/>
          </a:solidFill>
          <a:ln/>
        </p:spPr>
        <p:txBody>
          <a:bodyPr/>
          <a:lstStyle/>
          <a:p>
            <a:endParaRPr lang="de-DE"/>
          </a:p>
        </p:txBody>
      </p:sp>
      <p:sp>
        <p:nvSpPr>
          <p:cNvPr id="22" name="Text 19"/>
          <p:cNvSpPr/>
          <p:nvPr/>
        </p:nvSpPr>
        <p:spPr>
          <a:xfrm>
            <a:off x="4685995" y="4216298"/>
            <a:ext cx="2819095" cy="1533035"/>
          </a:xfrm>
          <a:prstGeom prst="rect">
            <a:avLst/>
          </a:prstGeom>
          <a:noFill/>
          <a:ln/>
        </p:spPr>
        <p:txBody>
          <a:bodyPr wrap="square" rtlCol="0" anchor="ctr"/>
          <a:lstStyle/>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Welche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Interdependenzen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bestehen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xml:space="preserve"> und </a:t>
            </a:r>
            <a:r>
              <a:rPr lang="en-US" sz="1400" dirty="0" err="1">
                <a:solidFill>
                  <a:srgbClr val="F2EFDA"/>
                </a:solidFill>
                <a:latin typeface="Arial" pitchFamily="34" charset="0"/>
                <a:ea typeface="Arial" pitchFamily="34" charset="-122"/>
                <a:cs typeface="Arial" pitchFamily="34" charset="-120"/>
              </a:rPr>
              <a:t>inwieweit</a:t>
            </a:r>
            <a:endParaRPr lang="en-US" sz="1400" dirty="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unterscheiden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sich</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diese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a:t>
            </a:r>
          </a:p>
        </p:txBody>
      </p:sp>
      <p:sp>
        <p:nvSpPr>
          <p:cNvPr id="23" name="Shape 20"/>
          <p:cNvSpPr/>
          <p:nvPr/>
        </p:nvSpPr>
        <p:spPr>
          <a:xfrm>
            <a:off x="8330183" y="3517697"/>
            <a:ext cx="3226003" cy="2730398"/>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p:cNvSpPr/>
          <p:nvPr/>
        </p:nvSpPr>
        <p:spPr>
          <a:xfrm>
            <a:off x="8534094" y="3721747"/>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3</a:t>
            </a:r>
            <a:endParaRPr lang="en-US" sz="1400" dirty="0"/>
          </a:p>
        </p:txBody>
      </p:sp>
      <p:sp>
        <p:nvSpPr>
          <p:cNvPr id="25" name="Shape 22"/>
          <p:cNvSpPr/>
          <p:nvPr/>
        </p:nvSpPr>
        <p:spPr>
          <a:xfrm>
            <a:off x="8901683" y="3873708"/>
            <a:ext cx="2450592" cy="19202"/>
          </a:xfrm>
          <a:prstGeom prst="rect">
            <a:avLst/>
          </a:prstGeom>
          <a:solidFill>
            <a:srgbClr val="DBDEE2"/>
          </a:solidFill>
          <a:ln/>
        </p:spPr>
        <p:txBody>
          <a:bodyPr/>
          <a:lstStyle/>
          <a:p>
            <a:endParaRPr lang="de-DE"/>
          </a:p>
        </p:txBody>
      </p:sp>
      <p:sp>
        <p:nvSpPr>
          <p:cNvPr id="26" name="Text 23"/>
          <p:cNvSpPr/>
          <p:nvPr/>
        </p:nvSpPr>
        <p:spPr>
          <a:xfrm>
            <a:off x="8534094" y="4216298"/>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 xml:space="preserve">Stehen </a:t>
            </a:r>
            <a:r>
              <a:rPr lang="en-US" sz="1400" dirty="0" err="1">
                <a:solidFill>
                  <a:srgbClr val="F2EFDA"/>
                </a:solidFill>
                <a:latin typeface="Arial" pitchFamily="34" charset="0"/>
                <a:ea typeface="Arial" pitchFamily="34" charset="-122"/>
                <a:cs typeface="Arial" pitchFamily="34" charset="-120"/>
              </a:rPr>
              <a:t>zeitliche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Dynamiken</a:t>
            </a:r>
            <a:r>
              <a:rPr lang="en-US" sz="1400" dirty="0">
                <a:solidFill>
                  <a:srgbClr val="F2EFDA"/>
                </a:solidFill>
                <a:latin typeface="Arial" pitchFamily="34" charset="0"/>
                <a:ea typeface="Arial" pitchFamily="34" charset="-122"/>
                <a:cs typeface="Arial" pitchFamily="34" charset="-120"/>
              </a:rPr>
              <a:t xml:space="preserve"> von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xml:space="preserve"> in </a:t>
            </a:r>
            <a:r>
              <a:rPr lang="en-US" sz="1400" dirty="0" err="1">
                <a:solidFill>
                  <a:srgbClr val="F2EFDA"/>
                </a:solidFill>
                <a:latin typeface="Arial" pitchFamily="34" charset="0"/>
                <a:ea typeface="Arial" pitchFamily="34" charset="-122"/>
                <a:cs typeface="Arial" pitchFamily="34" charset="-120"/>
              </a:rPr>
              <a:t>Zusammenhang</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strukturellen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Unternehmensmerkmalen</a:t>
            </a:r>
            <a:r>
              <a:rPr lang="en-US" sz="1400" dirty="0">
                <a:solidFill>
                  <a:srgbClr val="F2EFDA"/>
                </a:solidFill>
                <a:latin typeface="Arial" pitchFamily="34" charset="0"/>
                <a:ea typeface="Arial" pitchFamily="34" charset="-122"/>
                <a:cs typeface="Arial" pitchFamily="34" charset="-120"/>
              </a:rPr>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451E4-4982-23E3-8EF8-95F83DB9218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368BBE8-1D8F-9ADD-4C92-4E376BD456B2}"/>
              </a:ext>
            </a:extLst>
          </p:cNvPr>
          <p:cNvSpPr/>
          <p:nvPr/>
        </p:nvSpPr>
        <p:spPr>
          <a:xfrm>
            <a:off x="0" y="0"/>
            <a:ext cx="12191695" cy="38405"/>
          </a:xfrm>
          <a:prstGeom prst="rect">
            <a:avLst/>
          </a:prstGeom>
          <a:solidFill>
            <a:srgbClr val="DBDEE2"/>
          </a:solidFill>
          <a:ln/>
        </p:spPr>
        <p:txBody>
          <a:bodyPr/>
          <a:lstStyle/>
          <a:p>
            <a:endParaRPr lang="de-DE"/>
          </a:p>
        </p:txBody>
      </p:sp>
      <p:sp>
        <p:nvSpPr>
          <p:cNvPr id="4" name="Text 1">
            <a:extLst>
              <a:ext uri="{FF2B5EF4-FFF2-40B4-BE49-F238E27FC236}">
                <a16:creationId xmlns:a16="http://schemas.microsoft.com/office/drawing/2014/main" id="{C4CF78A2-8F04-6C60-9309-32338B1F32A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EINLEITUNG</a:t>
            </a:r>
          </a:p>
        </p:txBody>
      </p:sp>
      <p:sp>
        <p:nvSpPr>
          <p:cNvPr id="5" name="Text 2">
            <a:extLst>
              <a:ext uri="{FF2B5EF4-FFF2-40B4-BE49-F238E27FC236}">
                <a16:creationId xmlns:a16="http://schemas.microsoft.com/office/drawing/2014/main" id="{61CA8CA7-F8FF-ACE9-9B1D-988ABF328FE2}"/>
              </a:ext>
            </a:extLst>
          </p:cNvPr>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02 / 15</a:t>
            </a:r>
            <a:endParaRPr lang="en-US" sz="1200" dirty="0"/>
          </a:p>
        </p:txBody>
      </p:sp>
      <p:sp>
        <p:nvSpPr>
          <p:cNvPr id="7" name="Shape 4">
            <a:extLst>
              <a:ext uri="{FF2B5EF4-FFF2-40B4-BE49-F238E27FC236}">
                <a16:creationId xmlns:a16="http://schemas.microsoft.com/office/drawing/2014/main" id="{E7B7F6E3-9C98-23D1-B103-976B3DD8707A}"/>
              </a:ext>
            </a:extLst>
          </p:cNvPr>
          <p:cNvSpPr/>
          <p:nvPr/>
        </p:nvSpPr>
        <p:spPr>
          <a:xfrm>
            <a:off x="634593" y="779281"/>
            <a:ext cx="5266695"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8" name="Text 5">
            <a:extLst>
              <a:ext uri="{FF2B5EF4-FFF2-40B4-BE49-F238E27FC236}">
                <a16:creationId xmlns:a16="http://schemas.microsoft.com/office/drawing/2014/main" id="{59255580-A4A8-2D72-7536-EEEA89620334}"/>
              </a:ext>
            </a:extLst>
          </p:cNvPr>
          <p:cNvSpPr/>
          <p:nvPr/>
        </p:nvSpPr>
        <p:spPr>
          <a:xfrm>
            <a:off x="952805" y="970391"/>
            <a:ext cx="571500" cy="558698"/>
          </a:xfrm>
          <a:prstGeom prst="rect">
            <a:avLst/>
          </a:prstGeom>
          <a:noFill/>
          <a:ln/>
        </p:spPr>
        <p:txBody>
          <a:bodyPr wrap="square" rtlCol="0" anchor="ctr"/>
          <a:lstStyle/>
          <a:p>
            <a:pPr marL="0" indent="0" algn="l">
              <a:lnSpc>
                <a:spcPct val="105000"/>
              </a:lnSpc>
              <a:buNone/>
            </a:pPr>
            <a:r>
              <a:rPr lang="en-US" sz="3200" b="1" dirty="0">
                <a:solidFill>
                  <a:srgbClr val="78A2F9"/>
                </a:solidFill>
                <a:latin typeface="Courier New" pitchFamily="34" charset="0"/>
                <a:ea typeface="Courier New" pitchFamily="34" charset="-122"/>
                <a:cs typeface="Courier New" pitchFamily="34" charset="-120"/>
              </a:rPr>
              <a:t>φ</a:t>
            </a:r>
            <a:endParaRPr lang="en-US" sz="3200" dirty="0">
              <a:solidFill>
                <a:srgbClr val="78A2F9"/>
              </a:solidFill>
            </a:endParaRPr>
          </a:p>
        </p:txBody>
      </p:sp>
      <p:sp>
        <p:nvSpPr>
          <p:cNvPr id="9" name="Text 6">
            <a:extLst>
              <a:ext uri="{FF2B5EF4-FFF2-40B4-BE49-F238E27FC236}">
                <a16:creationId xmlns:a16="http://schemas.microsoft.com/office/drawing/2014/main" id="{794C40AF-190F-DBB5-603D-EDC91DCA0026}"/>
              </a:ext>
            </a:extLst>
          </p:cNvPr>
          <p:cNvSpPr/>
          <p:nvPr/>
        </p:nvSpPr>
        <p:spPr>
          <a:xfrm>
            <a:off x="1714500" y="970391"/>
            <a:ext cx="38733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Korrekturgeschwindigkeit</a:t>
            </a:r>
            <a:endParaRPr lang="en-US" sz="1400" dirty="0"/>
          </a:p>
        </p:txBody>
      </p:sp>
      <p:sp>
        <p:nvSpPr>
          <p:cNvPr id="10" name="Text 7">
            <a:extLst>
              <a:ext uri="{FF2B5EF4-FFF2-40B4-BE49-F238E27FC236}">
                <a16:creationId xmlns:a16="http://schemas.microsoft.com/office/drawing/2014/main" id="{D97EE1CB-52F1-C07A-189D-EC5CA012047B}"/>
              </a:ext>
            </a:extLst>
          </p:cNvPr>
          <p:cNvSpPr/>
          <p:nvPr/>
        </p:nvSpPr>
        <p:spPr>
          <a:xfrm>
            <a:off x="1714500" y="1274886"/>
            <a:ext cx="4063594" cy="254203"/>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Kehrt eine Quartalsveränderung im Folgequartal zurück?</a:t>
            </a:r>
            <a:endParaRPr lang="en-US" sz="1200" dirty="0"/>
          </a:p>
        </p:txBody>
      </p:sp>
      <p:sp>
        <p:nvSpPr>
          <p:cNvPr id="11" name="Shape 8">
            <a:extLst>
              <a:ext uri="{FF2B5EF4-FFF2-40B4-BE49-F238E27FC236}">
                <a16:creationId xmlns:a16="http://schemas.microsoft.com/office/drawing/2014/main" id="{763482C4-BB56-948D-E6F0-48F37FD1B6EB}"/>
              </a:ext>
            </a:extLst>
          </p:cNvPr>
          <p:cNvSpPr/>
          <p:nvPr/>
        </p:nvSpPr>
        <p:spPr>
          <a:xfrm>
            <a:off x="6290714" y="779281"/>
            <a:ext cx="5266696" cy="952805"/>
          </a:xfrm>
          <a:prstGeom prst="roundRect">
            <a:avLst>
              <a:gd name="adj" fmla="val 10653"/>
            </a:avLst>
          </a:prstGeom>
          <a:solidFill>
            <a:srgbClr val="1E402E"/>
          </a:solidFill>
          <a:ln w="12700">
            <a:solidFill>
              <a:srgbClr val="4A6D56"/>
            </a:solidFill>
            <a:prstDash val="solid"/>
          </a:ln>
        </p:spPr>
        <p:txBody>
          <a:bodyPr/>
          <a:lstStyle/>
          <a:p>
            <a:endParaRPr lang="de-DE"/>
          </a:p>
        </p:txBody>
      </p:sp>
      <p:sp>
        <p:nvSpPr>
          <p:cNvPr id="12" name="Text 9">
            <a:extLst>
              <a:ext uri="{FF2B5EF4-FFF2-40B4-BE49-F238E27FC236}">
                <a16:creationId xmlns:a16="http://schemas.microsoft.com/office/drawing/2014/main" id="{1FD22A11-19E7-5E32-9854-CA50E1DCEA39}"/>
              </a:ext>
            </a:extLst>
          </p:cNvPr>
          <p:cNvSpPr/>
          <p:nvPr/>
        </p:nvSpPr>
        <p:spPr>
          <a:xfrm>
            <a:off x="6608011" y="906383"/>
            <a:ext cx="571500" cy="622706"/>
          </a:xfrm>
          <a:prstGeom prst="rect">
            <a:avLst/>
          </a:prstGeom>
          <a:noFill/>
          <a:ln/>
        </p:spPr>
        <p:txBody>
          <a:bodyPr wrap="square" rtlCol="0" anchor="ctr"/>
          <a:lstStyle/>
          <a:p>
            <a:pPr marL="0" indent="0" algn="l">
              <a:lnSpc>
                <a:spcPct val="105000"/>
              </a:lnSpc>
              <a:buNone/>
            </a:pPr>
            <a:r>
              <a:rPr lang="en-US" sz="3200" b="1" dirty="0">
                <a:solidFill>
                  <a:srgbClr val="79A2F9"/>
                </a:solidFill>
                <a:latin typeface="Courier New" pitchFamily="34" charset="0"/>
                <a:ea typeface="Courier New" pitchFamily="34" charset="-122"/>
                <a:cs typeface="Courier New" pitchFamily="34" charset="-120"/>
              </a:rPr>
              <a:t>σ</a:t>
            </a:r>
            <a:endParaRPr lang="en-US" sz="3200" dirty="0"/>
          </a:p>
        </p:txBody>
      </p:sp>
      <p:sp>
        <p:nvSpPr>
          <p:cNvPr id="13" name="Text 10">
            <a:extLst>
              <a:ext uri="{FF2B5EF4-FFF2-40B4-BE49-F238E27FC236}">
                <a16:creationId xmlns:a16="http://schemas.microsoft.com/office/drawing/2014/main" id="{975E8C70-7532-D29F-224B-AE09B69388F9}"/>
              </a:ext>
            </a:extLst>
          </p:cNvPr>
          <p:cNvSpPr/>
          <p:nvPr/>
        </p:nvSpPr>
        <p:spPr>
          <a:xfrm>
            <a:off x="7369706" y="970391"/>
            <a:ext cx="3746297"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Veränderungsvolatilität σ(ΔY)</a:t>
            </a:r>
            <a:endParaRPr lang="en-US" sz="1400" dirty="0"/>
          </a:p>
        </p:txBody>
      </p:sp>
      <p:sp>
        <p:nvSpPr>
          <p:cNvPr id="14" name="Text 11">
            <a:extLst>
              <a:ext uri="{FF2B5EF4-FFF2-40B4-BE49-F238E27FC236}">
                <a16:creationId xmlns:a16="http://schemas.microsoft.com/office/drawing/2014/main" id="{13E2D9A1-BC9A-0F0D-220D-65228197AB42}"/>
              </a:ext>
            </a:extLst>
          </p:cNvPr>
          <p:cNvSpPr/>
          <p:nvPr/>
        </p:nvSpPr>
        <p:spPr>
          <a:xfrm>
            <a:off x="7369706" y="1274886"/>
            <a:ext cx="4187704" cy="305719"/>
          </a:xfrm>
          <a:prstGeom prst="rect">
            <a:avLst/>
          </a:prstGeom>
          <a:noFill/>
          <a:ln/>
        </p:spPr>
        <p:txBody>
          <a:bodyPr wrap="square" rtlCol="0" anchor="t"/>
          <a:lstStyle/>
          <a:p>
            <a:pPr marL="0" indent="0" algn="l">
              <a:lnSpc>
                <a:spcPct val="105000"/>
              </a:lnSpc>
              <a:buNone/>
            </a:pPr>
            <a:r>
              <a:rPr lang="en-US" sz="1200" dirty="0">
                <a:solidFill>
                  <a:srgbClr val="B3BC9A"/>
                </a:solidFill>
                <a:latin typeface="Arial" pitchFamily="34" charset="0"/>
                <a:ea typeface="Arial" pitchFamily="34" charset="-122"/>
                <a:cs typeface="Arial" pitchFamily="34" charset="-120"/>
              </a:rPr>
              <a:t>Wie stark schwankt eine Kennzahl von Quartal zu Quartal?</a:t>
            </a:r>
            <a:endParaRPr lang="en-US" sz="1200" dirty="0"/>
          </a:p>
        </p:txBody>
      </p:sp>
      <p:sp>
        <p:nvSpPr>
          <p:cNvPr id="15" name="Shape 12">
            <a:extLst>
              <a:ext uri="{FF2B5EF4-FFF2-40B4-BE49-F238E27FC236}">
                <a16:creationId xmlns:a16="http://schemas.microsoft.com/office/drawing/2014/main" id="{C0C842C1-28E1-8117-453A-FE4D9A2E37E3}"/>
              </a:ext>
            </a:extLst>
          </p:cNvPr>
          <p:cNvSpPr/>
          <p:nvPr/>
        </p:nvSpPr>
        <p:spPr>
          <a:xfrm>
            <a:off x="634594" y="2049383"/>
            <a:ext cx="3226003" cy="2002547"/>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16" name="Text 13">
            <a:extLst>
              <a:ext uri="{FF2B5EF4-FFF2-40B4-BE49-F238E27FC236}">
                <a16:creationId xmlns:a16="http://schemas.microsoft.com/office/drawing/2014/main" id="{3D3EDEFC-7B1F-80B8-83D8-C4919306094D}"/>
              </a:ext>
            </a:extLst>
          </p:cNvPr>
          <p:cNvSpPr/>
          <p:nvPr/>
        </p:nvSpPr>
        <p:spPr>
          <a:xfrm>
            <a:off x="838505" y="2267288"/>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17" name="Shape 14">
            <a:extLst>
              <a:ext uri="{FF2B5EF4-FFF2-40B4-BE49-F238E27FC236}">
                <a16:creationId xmlns:a16="http://schemas.microsoft.com/office/drawing/2014/main" id="{D1573499-103B-973A-EBF5-C2C877705862}"/>
              </a:ext>
            </a:extLst>
          </p:cNvPr>
          <p:cNvSpPr/>
          <p:nvPr/>
        </p:nvSpPr>
        <p:spPr>
          <a:xfrm>
            <a:off x="1206094" y="2405394"/>
            <a:ext cx="2450592" cy="19202"/>
          </a:xfrm>
          <a:prstGeom prst="rect">
            <a:avLst/>
          </a:prstGeom>
          <a:solidFill>
            <a:srgbClr val="DBDEE2"/>
          </a:solidFill>
          <a:ln/>
        </p:spPr>
        <p:txBody>
          <a:bodyPr/>
          <a:lstStyle/>
          <a:p>
            <a:endParaRPr lang="de-DE"/>
          </a:p>
        </p:txBody>
      </p:sp>
      <p:sp>
        <p:nvSpPr>
          <p:cNvPr id="18" name="Text 15">
            <a:extLst>
              <a:ext uri="{FF2B5EF4-FFF2-40B4-BE49-F238E27FC236}">
                <a16:creationId xmlns:a16="http://schemas.microsoft.com/office/drawing/2014/main" id="{37B58CCC-869E-70F8-DBBB-D3008AFE245D}"/>
              </a:ext>
            </a:extLst>
          </p:cNvPr>
          <p:cNvSpPr/>
          <p:nvPr/>
        </p:nvSpPr>
        <p:spPr>
          <a:xfrm>
            <a:off x="838505" y="2300944"/>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 xml:space="preserve">Weisen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über</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hinweg</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systematische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Unterschiede</a:t>
            </a:r>
            <a:r>
              <a:rPr lang="en-US" sz="1400" dirty="0">
                <a:solidFill>
                  <a:srgbClr val="F2EFDA"/>
                </a:solidFill>
                <a:latin typeface="Arial" pitchFamily="34" charset="0"/>
                <a:ea typeface="Arial" pitchFamily="34" charset="-122"/>
                <a:cs typeface="Arial" pitchFamily="34" charset="-120"/>
              </a:rPr>
              <a:t xml:space="preserve"> in </a:t>
            </a:r>
            <a:r>
              <a:rPr lang="en-US" sz="1400" dirty="0" err="1">
                <a:solidFill>
                  <a:srgbClr val="F2EFDA"/>
                </a:solidFill>
                <a:latin typeface="Arial" pitchFamily="34" charset="0"/>
                <a:ea typeface="Arial" pitchFamily="34" charset="-122"/>
                <a:cs typeface="Arial" pitchFamily="34" charset="-120"/>
              </a:rPr>
              <a:t>ihrer</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zeitlichen</a:t>
            </a:r>
            <a:r>
              <a:rPr lang="en-US" sz="1400" dirty="0">
                <a:solidFill>
                  <a:srgbClr val="F2EFDA"/>
                </a:solidFill>
                <a:latin typeface="Arial" pitchFamily="34" charset="0"/>
                <a:ea typeface="Arial" pitchFamily="34" charset="-122"/>
                <a:cs typeface="Arial" pitchFamily="34" charset="-120"/>
              </a:rPr>
              <a:t xml:space="preserve"> Dynamik auf?</a:t>
            </a:r>
          </a:p>
        </p:txBody>
      </p:sp>
      <p:sp>
        <p:nvSpPr>
          <p:cNvPr id="19" name="Shape 16">
            <a:extLst>
              <a:ext uri="{FF2B5EF4-FFF2-40B4-BE49-F238E27FC236}">
                <a16:creationId xmlns:a16="http://schemas.microsoft.com/office/drawing/2014/main" id="{B39138A5-A463-0E83-8DF1-975D13CC65B9}"/>
              </a:ext>
            </a:extLst>
          </p:cNvPr>
          <p:cNvSpPr/>
          <p:nvPr/>
        </p:nvSpPr>
        <p:spPr>
          <a:xfrm>
            <a:off x="4482998" y="2049383"/>
            <a:ext cx="3226003" cy="2002547"/>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20" name="Text 17">
            <a:extLst>
              <a:ext uri="{FF2B5EF4-FFF2-40B4-BE49-F238E27FC236}">
                <a16:creationId xmlns:a16="http://schemas.microsoft.com/office/drawing/2014/main" id="{4A74AC5B-8081-0105-FEF8-21F2AB8C3CB4}"/>
              </a:ext>
            </a:extLst>
          </p:cNvPr>
          <p:cNvSpPr/>
          <p:nvPr/>
        </p:nvSpPr>
        <p:spPr>
          <a:xfrm>
            <a:off x="4685995" y="2253433"/>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2</a:t>
            </a:r>
            <a:endParaRPr lang="en-US" sz="1400" dirty="0"/>
          </a:p>
        </p:txBody>
      </p:sp>
      <p:sp>
        <p:nvSpPr>
          <p:cNvPr id="21" name="Shape 18">
            <a:extLst>
              <a:ext uri="{FF2B5EF4-FFF2-40B4-BE49-F238E27FC236}">
                <a16:creationId xmlns:a16="http://schemas.microsoft.com/office/drawing/2014/main" id="{48C2227C-B444-6F31-BE01-07746C211DE5}"/>
              </a:ext>
            </a:extLst>
          </p:cNvPr>
          <p:cNvSpPr/>
          <p:nvPr/>
        </p:nvSpPr>
        <p:spPr>
          <a:xfrm>
            <a:off x="5054498" y="2405394"/>
            <a:ext cx="2450592" cy="19202"/>
          </a:xfrm>
          <a:prstGeom prst="rect">
            <a:avLst/>
          </a:prstGeom>
          <a:solidFill>
            <a:srgbClr val="DBDEE2"/>
          </a:solidFill>
          <a:ln/>
        </p:spPr>
        <p:txBody>
          <a:bodyPr/>
          <a:lstStyle/>
          <a:p>
            <a:endParaRPr lang="de-DE"/>
          </a:p>
        </p:txBody>
      </p:sp>
      <p:sp>
        <p:nvSpPr>
          <p:cNvPr id="22" name="Text 19">
            <a:extLst>
              <a:ext uri="{FF2B5EF4-FFF2-40B4-BE49-F238E27FC236}">
                <a16:creationId xmlns:a16="http://schemas.microsoft.com/office/drawing/2014/main" id="{8FB349CB-7CE5-0805-5005-721DCEC87515}"/>
              </a:ext>
            </a:extLst>
          </p:cNvPr>
          <p:cNvSpPr/>
          <p:nvPr/>
        </p:nvSpPr>
        <p:spPr>
          <a:xfrm>
            <a:off x="4685995" y="2403496"/>
            <a:ext cx="2819095" cy="1533035"/>
          </a:xfrm>
          <a:prstGeom prst="rect">
            <a:avLst/>
          </a:prstGeom>
          <a:noFill/>
          <a:ln/>
        </p:spPr>
        <p:txBody>
          <a:bodyPr wrap="square" rtlCol="0" anchor="ctr"/>
          <a:lstStyle/>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Welche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Interdependenzen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bestehen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xml:space="preserve"> und </a:t>
            </a:r>
            <a:r>
              <a:rPr lang="en-US" sz="1400" dirty="0" err="1">
                <a:solidFill>
                  <a:srgbClr val="F2EFDA"/>
                </a:solidFill>
                <a:latin typeface="Arial" pitchFamily="34" charset="0"/>
                <a:ea typeface="Arial" pitchFamily="34" charset="-122"/>
                <a:cs typeface="Arial" pitchFamily="34" charset="-120"/>
              </a:rPr>
              <a:t>inwieweit</a:t>
            </a:r>
            <a:endParaRPr lang="en-US" sz="1400" dirty="0">
              <a:solidFill>
                <a:srgbClr val="F2EFDA"/>
              </a:solidFill>
              <a:latin typeface="Arial" pitchFamily="34" charset="0"/>
              <a:ea typeface="Arial" pitchFamily="34" charset="-122"/>
              <a:cs typeface="Arial" pitchFamily="34" charset="-120"/>
            </a:endParaRPr>
          </a:p>
          <a:p>
            <a:pPr marL="0" indent="0" algn="l">
              <a:lnSpc>
                <a:spcPct val="125000"/>
              </a:lnSpc>
              <a:buNone/>
            </a:pPr>
            <a:r>
              <a:rPr lang="en-US" sz="1400" dirty="0" err="1">
                <a:solidFill>
                  <a:srgbClr val="F2EFDA"/>
                </a:solidFill>
                <a:latin typeface="Arial" pitchFamily="34" charset="0"/>
                <a:ea typeface="Arial" pitchFamily="34" charset="-122"/>
                <a:cs typeface="Arial" pitchFamily="34" charset="-120"/>
              </a:rPr>
              <a:t>unterscheiden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sich</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diese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zwischen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a:t>
            </a:r>
          </a:p>
        </p:txBody>
      </p:sp>
      <p:sp>
        <p:nvSpPr>
          <p:cNvPr id="23" name="Shape 20">
            <a:extLst>
              <a:ext uri="{FF2B5EF4-FFF2-40B4-BE49-F238E27FC236}">
                <a16:creationId xmlns:a16="http://schemas.microsoft.com/office/drawing/2014/main" id="{31AF9529-DE44-07EE-4D04-2D8440BEBC88}"/>
              </a:ext>
            </a:extLst>
          </p:cNvPr>
          <p:cNvSpPr/>
          <p:nvPr/>
        </p:nvSpPr>
        <p:spPr>
          <a:xfrm>
            <a:off x="8330183" y="2049383"/>
            <a:ext cx="3226003" cy="2002547"/>
          </a:xfrm>
          <a:prstGeom prst="roundRect">
            <a:avLst>
              <a:gd name="adj" fmla="val 3717"/>
            </a:avLst>
          </a:prstGeom>
          <a:solidFill>
            <a:srgbClr val="153B29"/>
          </a:solidFill>
          <a:ln w="12700">
            <a:solidFill>
              <a:srgbClr val="2B513D"/>
            </a:solidFill>
            <a:prstDash val="solid"/>
          </a:ln>
        </p:spPr>
        <p:txBody>
          <a:bodyPr/>
          <a:lstStyle/>
          <a:p>
            <a:endParaRPr lang="de-DE"/>
          </a:p>
        </p:txBody>
      </p:sp>
      <p:sp>
        <p:nvSpPr>
          <p:cNvPr id="24" name="Text 21">
            <a:extLst>
              <a:ext uri="{FF2B5EF4-FFF2-40B4-BE49-F238E27FC236}">
                <a16:creationId xmlns:a16="http://schemas.microsoft.com/office/drawing/2014/main" id="{5138326C-55F9-C391-0AA6-8363869A3312}"/>
              </a:ext>
            </a:extLst>
          </p:cNvPr>
          <p:cNvSpPr/>
          <p:nvPr/>
        </p:nvSpPr>
        <p:spPr>
          <a:xfrm>
            <a:off x="8534094" y="2253433"/>
            <a:ext cx="508406" cy="381305"/>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3</a:t>
            </a:r>
            <a:endParaRPr lang="en-US" sz="1400" dirty="0"/>
          </a:p>
        </p:txBody>
      </p:sp>
      <p:sp>
        <p:nvSpPr>
          <p:cNvPr id="25" name="Shape 22">
            <a:extLst>
              <a:ext uri="{FF2B5EF4-FFF2-40B4-BE49-F238E27FC236}">
                <a16:creationId xmlns:a16="http://schemas.microsoft.com/office/drawing/2014/main" id="{DF06B852-C3B8-A933-7DDC-D4C5066B1367}"/>
              </a:ext>
            </a:extLst>
          </p:cNvPr>
          <p:cNvSpPr/>
          <p:nvPr/>
        </p:nvSpPr>
        <p:spPr>
          <a:xfrm>
            <a:off x="8901683" y="2405394"/>
            <a:ext cx="2450592" cy="19202"/>
          </a:xfrm>
          <a:prstGeom prst="rect">
            <a:avLst/>
          </a:prstGeom>
          <a:solidFill>
            <a:srgbClr val="DBDEE2"/>
          </a:solidFill>
          <a:ln/>
        </p:spPr>
        <p:txBody>
          <a:bodyPr/>
          <a:lstStyle/>
          <a:p>
            <a:endParaRPr lang="de-DE"/>
          </a:p>
        </p:txBody>
      </p:sp>
      <p:sp>
        <p:nvSpPr>
          <p:cNvPr id="26" name="Text 23">
            <a:extLst>
              <a:ext uri="{FF2B5EF4-FFF2-40B4-BE49-F238E27FC236}">
                <a16:creationId xmlns:a16="http://schemas.microsoft.com/office/drawing/2014/main" id="{9611075A-C01C-B3FA-29DD-CFC18AFA4CE4}"/>
              </a:ext>
            </a:extLst>
          </p:cNvPr>
          <p:cNvSpPr/>
          <p:nvPr/>
        </p:nvSpPr>
        <p:spPr>
          <a:xfrm>
            <a:off x="8533180" y="2300944"/>
            <a:ext cx="2819095" cy="1533035"/>
          </a:xfrm>
          <a:prstGeom prst="rect">
            <a:avLst/>
          </a:prstGeom>
          <a:noFill/>
          <a:ln/>
        </p:spPr>
        <p:txBody>
          <a:bodyPr wrap="square" rtlCol="0" anchor="ctr"/>
          <a:lstStyle/>
          <a:p>
            <a:pPr marL="0" indent="0" algn="l">
              <a:lnSpc>
                <a:spcPct val="125000"/>
              </a:lnSpc>
              <a:buNone/>
            </a:pPr>
            <a:r>
              <a:rPr lang="en-US" sz="1400" dirty="0">
                <a:solidFill>
                  <a:srgbClr val="F2EFDA"/>
                </a:solidFill>
                <a:latin typeface="Arial" pitchFamily="34" charset="0"/>
                <a:ea typeface="Arial" pitchFamily="34" charset="-122"/>
                <a:cs typeface="Arial" pitchFamily="34" charset="-120"/>
              </a:rPr>
              <a:t xml:space="preserve">Stehen </a:t>
            </a:r>
            <a:r>
              <a:rPr lang="en-US" sz="1400" dirty="0" err="1">
                <a:solidFill>
                  <a:srgbClr val="F2EFDA"/>
                </a:solidFill>
                <a:latin typeface="Arial" pitchFamily="34" charset="0"/>
                <a:ea typeface="Arial" pitchFamily="34" charset="-122"/>
                <a:cs typeface="Arial" pitchFamily="34" charset="-120"/>
              </a:rPr>
              <a:t>zeitliche</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Dynamiken</a:t>
            </a:r>
            <a:r>
              <a:rPr lang="en-US" sz="1400" dirty="0">
                <a:solidFill>
                  <a:srgbClr val="F2EFDA"/>
                </a:solidFill>
                <a:latin typeface="Arial" pitchFamily="34" charset="0"/>
                <a:ea typeface="Arial" pitchFamily="34" charset="-122"/>
                <a:cs typeface="Arial" pitchFamily="34" charset="-120"/>
              </a:rPr>
              <a:t xml:space="preserve"> von </a:t>
            </a:r>
            <a:r>
              <a:rPr lang="en-US" sz="1400" dirty="0" err="1">
                <a:solidFill>
                  <a:srgbClr val="F2EFDA"/>
                </a:solidFill>
                <a:latin typeface="Arial" pitchFamily="34" charset="0"/>
                <a:ea typeface="Arial" pitchFamily="34" charset="-122"/>
                <a:cs typeface="Arial" pitchFamily="34" charset="-120"/>
              </a:rPr>
              <a:t>Finanzkennzahlen</a:t>
            </a:r>
            <a:r>
              <a:rPr lang="en-US" sz="1400" dirty="0">
                <a:solidFill>
                  <a:srgbClr val="F2EFDA"/>
                </a:solidFill>
                <a:latin typeface="Arial" pitchFamily="34" charset="0"/>
                <a:ea typeface="Arial" pitchFamily="34" charset="-122"/>
                <a:cs typeface="Arial" pitchFamily="34" charset="-120"/>
              </a:rPr>
              <a:t xml:space="preserve"> in </a:t>
            </a:r>
            <a:r>
              <a:rPr lang="en-US" sz="1400" dirty="0" err="1">
                <a:solidFill>
                  <a:srgbClr val="F2EFDA"/>
                </a:solidFill>
                <a:latin typeface="Arial" pitchFamily="34" charset="0"/>
                <a:ea typeface="Arial" pitchFamily="34" charset="-122"/>
                <a:cs typeface="Arial" pitchFamily="34" charset="-120"/>
              </a:rPr>
              <a:t>Zusammenhang</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mit</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strukturellen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Unternehmensmerkmalen</a:t>
            </a:r>
            <a:r>
              <a:rPr lang="en-US" sz="1400" dirty="0">
                <a:solidFill>
                  <a:srgbClr val="F2EFDA"/>
                </a:solidFill>
                <a:latin typeface="Arial" pitchFamily="34" charset="0"/>
                <a:ea typeface="Arial" pitchFamily="34" charset="-122"/>
                <a:cs typeface="Arial" pitchFamily="34" charset="-120"/>
              </a:rPr>
              <a:t>?</a:t>
            </a:r>
          </a:p>
        </p:txBody>
      </p:sp>
      <p:sp>
        <p:nvSpPr>
          <p:cNvPr id="3" name="Shape 4">
            <a:extLst>
              <a:ext uri="{FF2B5EF4-FFF2-40B4-BE49-F238E27FC236}">
                <a16:creationId xmlns:a16="http://schemas.microsoft.com/office/drawing/2014/main" id="{E4C417A9-9A24-B483-B9F4-AD8BB6356F7C}"/>
              </a:ext>
            </a:extLst>
          </p:cNvPr>
          <p:cNvSpPr/>
          <p:nvPr/>
        </p:nvSpPr>
        <p:spPr>
          <a:xfrm>
            <a:off x="634594" y="45003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27" name="Text 5">
            <a:extLst>
              <a:ext uri="{FF2B5EF4-FFF2-40B4-BE49-F238E27FC236}">
                <a16:creationId xmlns:a16="http://schemas.microsoft.com/office/drawing/2014/main" id="{F300F6F1-63EF-EB25-19BB-4D465FDE9C89}"/>
              </a:ext>
            </a:extLst>
          </p:cNvPr>
          <p:cNvSpPr/>
          <p:nvPr/>
        </p:nvSpPr>
        <p:spPr>
          <a:xfrm>
            <a:off x="888797" y="4500397"/>
            <a:ext cx="381305" cy="609905"/>
          </a:xfrm>
          <a:prstGeom prst="rect">
            <a:avLst/>
          </a:prstGeom>
          <a:noFill/>
          <a:ln/>
        </p:spPr>
        <p:txBody>
          <a:bodyPr wrap="square" rtlCol="0" anchor="ctr"/>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28" name="Text 6">
            <a:extLst>
              <a:ext uri="{FF2B5EF4-FFF2-40B4-BE49-F238E27FC236}">
                <a16:creationId xmlns:a16="http://schemas.microsoft.com/office/drawing/2014/main" id="{FAF0814E-B433-E665-D870-C05D2C32C16F}"/>
              </a:ext>
            </a:extLst>
          </p:cNvPr>
          <p:cNvSpPr/>
          <p:nvPr/>
        </p:nvSpPr>
        <p:spPr>
          <a:xfrm>
            <a:off x="1333195" y="4500397"/>
            <a:ext cx="10032797" cy="609905"/>
          </a:xfrm>
          <a:prstGeom prst="rect">
            <a:avLst/>
          </a:prstGeom>
          <a:noFill/>
          <a:ln/>
        </p:spPr>
        <p:txBody>
          <a:bodyPr wrap="square" rtlCol="0" anchor="ctr"/>
          <a:lstStyle/>
          <a:p>
            <a:pPr marL="0" indent="0" algn="l">
              <a:lnSpc>
                <a:spcPct val="115000"/>
              </a:lnSpc>
              <a:buNone/>
            </a:pPr>
            <a:r>
              <a:rPr lang="en-US" sz="1200" dirty="0" err="1">
                <a:solidFill>
                  <a:srgbClr val="F2EFDA"/>
                </a:solidFill>
                <a:latin typeface="Arial" pitchFamily="34" charset="0"/>
                <a:ea typeface="Arial" pitchFamily="34" charset="-122"/>
                <a:cs typeface="Arial" pitchFamily="34" charset="-120"/>
              </a:rPr>
              <a:t>Übertragung</a:t>
            </a:r>
            <a:r>
              <a:rPr lang="en-US" sz="1200" dirty="0">
                <a:solidFill>
                  <a:srgbClr val="F2EFDA"/>
                </a:solidFill>
                <a:latin typeface="Arial" pitchFamily="34" charset="0"/>
                <a:ea typeface="Arial" pitchFamily="34" charset="-122"/>
                <a:cs typeface="Arial" pitchFamily="34" charset="-120"/>
              </a:rPr>
              <a:t xml:space="preserve"> der Mean-Reversion-Forschung (Fama/French) auf Quartalsfrequenz und individuelle Schätzungen pro Unternehmen.</a:t>
            </a:r>
            <a:endParaRPr lang="en-US" sz="1200" dirty="0"/>
          </a:p>
        </p:txBody>
      </p:sp>
      <p:sp>
        <p:nvSpPr>
          <p:cNvPr id="29" name="Shape 7">
            <a:extLst>
              <a:ext uri="{FF2B5EF4-FFF2-40B4-BE49-F238E27FC236}">
                <a16:creationId xmlns:a16="http://schemas.microsoft.com/office/drawing/2014/main" id="{424CF010-B52F-8BF9-05FF-8EE06118F21B}"/>
              </a:ext>
            </a:extLst>
          </p:cNvPr>
          <p:cNvSpPr/>
          <p:nvPr/>
        </p:nvSpPr>
        <p:spPr>
          <a:xfrm>
            <a:off x="634594" y="51861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0" name="Text 8">
            <a:extLst>
              <a:ext uri="{FF2B5EF4-FFF2-40B4-BE49-F238E27FC236}">
                <a16:creationId xmlns:a16="http://schemas.microsoft.com/office/drawing/2014/main" id="{9F91FB34-0B13-6C67-5438-DAABD968E623}"/>
              </a:ext>
            </a:extLst>
          </p:cNvPr>
          <p:cNvSpPr/>
          <p:nvPr/>
        </p:nvSpPr>
        <p:spPr>
          <a:xfrm>
            <a:off x="888797" y="5186197"/>
            <a:ext cx="381305" cy="609905"/>
          </a:xfrm>
          <a:prstGeom prst="rect">
            <a:avLst/>
          </a:prstGeom>
          <a:noFill/>
          <a:ln/>
        </p:spPr>
        <p:txBody>
          <a:bodyPr wrap="square" rtlCol="0" anchor="ctr"/>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2</a:t>
            </a:r>
            <a:endParaRPr lang="en-US" sz="1400" dirty="0"/>
          </a:p>
        </p:txBody>
      </p:sp>
      <p:sp>
        <p:nvSpPr>
          <p:cNvPr id="31" name="Text 9">
            <a:extLst>
              <a:ext uri="{FF2B5EF4-FFF2-40B4-BE49-F238E27FC236}">
                <a16:creationId xmlns:a16="http://schemas.microsoft.com/office/drawing/2014/main" id="{5A0C6D14-CAD4-6354-0BE8-B84036F252AE}"/>
              </a:ext>
            </a:extLst>
          </p:cNvPr>
          <p:cNvSpPr/>
          <p:nvPr/>
        </p:nvSpPr>
        <p:spPr>
          <a:xfrm>
            <a:off x="1333195" y="5186197"/>
            <a:ext cx="10032797" cy="609905"/>
          </a:xfrm>
          <a:prstGeom prst="rect">
            <a:avLst/>
          </a:prstGeom>
          <a:noFill/>
          <a:ln/>
        </p:spPr>
        <p:txBody>
          <a:bodyPr wrap="square" rtlCol="0" anchor="ctr"/>
          <a:lstStyle/>
          <a:p>
            <a:pPr marL="0" indent="0" algn="l">
              <a:lnSpc>
                <a:spcPct val="115000"/>
              </a:lnSpc>
              <a:buNone/>
            </a:pPr>
            <a:r>
              <a:rPr lang="en-US" sz="1200" dirty="0">
                <a:solidFill>
                  <a:srgbClr val="F2EFDA"/>
                </a:solidFill>
                <a:latin typeface="Arial" pitchFamily="34" charset="0"/>
                <a:ea typeface="Arial" pitchFamily="34" charset="-122"/>
                <a:cs typeface="Arial" pitchFamily="34" charset="-120"/>
              </a:rPr>
              <a:t xml:space="preserve">Dynamik </a:t>
            </a:r>
            <a:r>
              <a:rPr lang="en-US" sz="1200" dirty="0" err="1">
                <a:solidFill>
                  <a:srgbClr val="F2EFDA"/>
                </a:solidFill>
                <a:latin typeface="Arial" pitchFamily="34" charset="0"/>
                <a:ea typeface="Arial" pitchFamily="34" charset="-122"/>
                <a:cs typeface="Arial" pitchFamily="34" charset="-120"/>
              </a:rPr>
              <a:t>über</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sieben</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Kennzahlen</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mit</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unterschiedlichen</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Betrachtungswinkel</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eines</a:t>
            </a:r>
            <a:r>
              <a:rPr lang="en-US" sz="1200" dirty="0">
                <a:solidFill>
                  <a:srgbClr val="F2EFDA"/>
                </a:solidFill>
                <a:latin typeface="Arial" pitchFamily="34" charset="0"/>
                <a:ea typeface="Arial" pitchFamily="34" charset="-122"/>
                <a:cs typeface="Arial" pitchFamily="34" charset="-120"/>
              </a:rPr>
              <a:t xml:space="preserve"> </a:t>
            </a:r>
            <a:r>
              <a:rPr lang="en-US" sz="1200" dirty="0" err="1">
                <a:solidFill>
                  <a:srgbClr val="F2EFDA"/>
                </a:solidFill>
                <a:latin typeface="Arial" pitchFamily="34" charset="0"/>
                <a:ea typeface="Arial" pitchFamily="34" charset="-122"/>
                <a:cs typeface="Arial" pitchFamily="34" charset="-120"/>
              </a:rPr>
              <a:t>Unternehmen</a:t>
            </a:r>
            <a:endParaRPr lang="en-US" sz="1200" dirty="0"/>
          </a:p>
        </p:txBody>
      </p:sp>
      <p:sp>
        <p:nvSpPr>
          <p:cNvPr id="32" name="Shape 10">
            <a:extLst>
              <a:ext uri="{FF2B5EF4-FFF2-40B4-BE49-F238E27FC236}">
                <a16:creationId xmlns:a16="http://schemas.microsoft.com/office/drawing/2014/main" id="{13004DB0-2FC5-E6AF-8B5F-B52F746C3DC5}"/>
              </a:ext>
            </a:extLst>
          </p:cNvPr>
          <p:cNvSpPr/>
          <p:nvPr/>
        </p:nvSpPr>
        <p:spPr>
          <a:xfrm>
            <a:off x="634594" y="5871997"/>
            <a:ext cx="10921594" cy="609905"/>
          </a:xfrm>
          <a:prstGeom prst="roundRect">
            <a:avLst>
              <a:gd name="adj" fmla="val 16642"/>
            </a:avLst>
          </a:prstGeom>
          <a:solidFill>
            <a:srgbClr val="1E402E"/>
          </a:solidFill>
          <a:ln w="12700">
            <a:solidFill>
              <a:srgbClr val="4A6D56"/>
            </a:solidFill>
            <a:prstDash val="solid"/>
          </a:ln>
        </p:spPr>
        <p:txBody>
          <a:bodyPr/>
          <a:lstStyle/>
          <a:p>
            <a:endParaRPr lang="de-DE"/>
          </a:p>
        </p:txBody>
      </p:sp>
      <p:sp>
        <p:nvSpPr>
          <p:cNvPr id="33" name="Text 11">
            <a:extLst>
              <a:ext uri="{FF2B5EF4-FFF2-40B4-BE49-F238E27FC236}">
                <a16:creationId xmlns:a16="http://schemas.microsoft.com/office/drawing/2014/main" id="{958A0150-3C4D-2096-4254-FACC3323DBB9}"/>
              </a:ext>
            </a:extLst>
          </p:cNvPr>
          <p:cNvSpPr/>
          <p:nvPr/>
        </p:nvSpPr>
        <p:spPr>
          <a:xfrm>
            <a:off x="888797" y="5871997"/>
            <a:ext cx="381305" cy="609905"/>
          </a:xfrm>
          <a:prstGeom prst="rect">
            <a:avLst/>
          </a:prstGeom>
          <a:noFill/>
          <a:ln/>
        </p:spPr>
        <p:txBody>
          <a:bodyPr wrap="square" rtlCol="0" anchor="ctr"/>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3</a:t>
            </a:r>
            <a:endParaRPr lang="en-US" sz="1400" dirty="0"/>
          </a:p>
        </p:txBody>
      </p:sp>
      <p:sp>
        <p:nvSpPr>
          <p:cNvPr id="34" name="Text 12">
            <a:extLst>
              <a:ext uri="{FF2B5EF4-FFF2-40B4-BE49-F238E27FC236}">
                <a16:creationId xmlns:a16="http://schemas.microsoft.com/office/drawing/2014/main" id="{5ED083AF-DF6A-EE06-DBDA-C83D2E33B4DA}"/>
              </a:ext>
            </a:extLst>
          </p:cNvPr>
          <p:cNvSpPr/>
          <p:nvPr/>
        </p:nvSpPr>
        <p:spPr>
          <a:xfrm>
            <a:off x="1333195" y="5871997"/>
            <a:ext cx="10032797" cy="609905"/>
          </a:xfrm>
          <a:prstGeom prst="rect">
            <a:avLst/>
          </a:prstGeom>
          <a:noFill/>
          <a:ln/>
        </p:spPr>
        <p:txBody>
          <a:bodyPr wrap="square" rtlCol="0" anchor="ctr"/>
          <a:lstStyle/>
          <a:p>
            <a:pPr marL="0" indent="0" algn="l">
              <a:lnSpc>
                <a:spcPct val="115000"/>
              </a:lnSpc>
              <a:buNone/>
            </a:pPr>
            <a:r>
              <a:rPr lang="en-US" sz="1200" dirty="0" err="1">
                <a:solidFill>
                  <a:srgbClr val="F2EFDA"/>
                </a:solidFill>
                <a:latin typeface="Arial" pitchFamily="34" charset="0"/>
                <a:ea typeface="Arial" pitchFamily="34" charset="-122"/>
                <a:cs typeface="Arial" pitchFamily="34" charset="-120"/>
              </a:rPr>
              <a:t>Struktur</a:t>
            </a:r>
            <a:r>
              <a:rPr lang="en-US" sz="1200" dirty="0">
                <a:solidFill>
                  <a:srgbClr val="F2EFDA"/>
                </a:solidFill>
                <a:latin typeface="Arial" pitchFamily="34" charset="0"/>
                <a:ea typeface="Arial" pitchFamily="34" charset="-122"/>
                <a:cs typeface="Arial" pitchFamily="34" charset="-120"/>
              </a:rPr>
              <a:t xml:space="preserve"> erklärt die Volatilität, nicht die Korrekturgeschwindigkeit — φ ist ein idiosynkratisches Firmenmerkmal.</a:t>
            </a:r>
            <a:endParaRPr lang="en-US" sz="1200" dirty="0"/>
          </a:p>
        </p:txBody>
      </p:sp>
    </p:spTree>
    <p:extLst>
      <p:ext uri="{BB962C8B-B14F-4D97-AF65-F5344CB8AC3E}">
        <p14:creationId xmlns:p14="http://schemas.microsoft.com/office/powerpoint/2010/main" val="300071233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03 / 15</a:t>
            </a:r>
            <a:endParaRPr lang="en-US" sz="1200" dirty="0"/>
          </a:p>
        </p:txBody>
      </p:sp>
      <p:sp>
        <p:nvSpPr>
          <p:cNvPr id="6" name="Text 3"/>
          <p:cNvSpPr/>
          <p:nvPr/>
        </p:nvSpPr>
        <p:spPr>
          <a:xfrm>
            <a:off x="634594" y="761695"/>
            <a:ext cx="10921594" cy="495605"/>
          </a:xfrm>
          <a:prstGeom prst="rect">
            <a:avLst/>
          </a:prstGeom>
          <a:noFill/>
          <a:ln/>
        </p:spPr>
        <p:txBody>
          <a:bodyPr wrap="square" rtlCol="0" anchor="t"/>
          <a:lstStyle/>
          <a:p>
            <a:pPr marL="0" indent="0">
              <a:lnSpc>
                <a:spcPct val="100000"/>
              </a:lnSpc>
              <a:buNone/>
            </a:pPr>
            <a:r>
              <a:rPr lang="en-US" sz="2600" b="1" kern="0" spc="-50" dirty="0" err="1">
                <a:solidFill>
                  <a:srgbClr val="F2EFDA"/>
                </a:solidFill>
                <a:latin typeface="Arial" pitchFamily="34" charset="0"/>
                <a:ea typeface="Arial" pitchFamily="34" charset="-122"/>
                <a:cs typeface="Arial" pitchFamily="34" charset="-120"/>
              </a:rPr>
              <a:t>Filterkette</a:t>
            </a:r>
            <a:r>
              <a:rPr lang="en-US" sz="2600" b="1" kern="0" spc="-50" dirty="0">
                <a:solidFill>
                  <a:srgbClr val="F2EFDA"/>
                </a:solidFill>
                <a:latin typeface="Arial" pitchFamily="34" charset="0"/>
                <a:ea typeface="Arial" pitchFamily="34" charset="-122"/>
                <a:cs typeface="Arial" pitchFamily="34" charset="-120"/>
              </a:rPr>
              <a:t xml:space="preserve"> für </a:t>
            </a:r>
            <a:r>
              <a:rPr lang="en-US" sz="2600" b="1" kern="0" spc="-50" dirty="0" err="1">
                <a:solidFill>
                  <a:srgbClr val="F2EFDA"/>
                </a:solidFill>
                <a:latin typeface="Arial" pitchFamily="34" charset="0"/>
                <a:ea typeface="Arial" pitchFamily="34" charset="-122"/>
                <a:cs typeface="Arial" pitchFamily="34" charset="-120"/>
              </a:rPr>
              <a:t>Daten</a:t>
            </a:r>
            <a:r>
              <a:rPr lang="en-US" sz="2600" b="1" kern="0" spc="-50" dirty="0">
                <a:solidFill>
                  <a:srgbClr val="F2EFDA"/>
                </a:solidFill>
                <a:latin typeface="Arial" pitchFamily="34" charset="0"/>
                <a:ea typeface="Arial" pitchFamily="34" charset="-122"/>
                <a:cs typeface="Arial" pitchFamily="34" charset="-120"/>
              </a:rPr>
              <a:t xml:space="preserve">- und </a:t>
            </a:r>
            <a:r>
              <a:rPr lang="en-US" sz="2600" b="1" kern="0" spc="-50" dirty="0" err="1">
                <a:solidFill>
                  <a:srgbClr val="F2EFDA"/>
                </a:solidFill>
                <a:latin typeface="Arial" pitchFamily="34" charset="0"/>
                <a:ea typeface="Arial" pitchFamily="34" charset="-122"/>
                <a:cs typeface="Arial" pitchFamily="34" charset="-120"/>
              </a:rPr>
              <a:t>Kennzahlqualität</a:t>
            </a:r>
            <a:endParaRPr lang="en-US" sz="2600" dirty="0"/>
          </a:p>
        </p:txBody>
      </p:sp>
      <p:sp>
        <p:nvSpPr>
          <p:cNvPr id="7" name="Shape 4"/>
          <p:cNvSpPr/>
          <p:nvPr/>
        </p:nvSpPr>
        <p:spPr>
          <a:xfrm>
            <a:off x="634594" y="1904695"/>
            <a:ext cx="5206594" cy="457200"/>
          </a:xfrm>
          <a:prstGeom prst="rect">
            <a:avLst/>
          </a:prstGeom>
          <a:solidFill>
            <a:srgbClr val="2B513D"/>
          </a:solidFill>
          <a:ln/>
        </p:spPr>
        <p:txBody>
          <a:bodyPr/>
          <a:lstStyle/>
          <a:p>
            <a:endParaRPr lang="de-DE"/>
          </a:p>
        </p:txBody>
      </p:sp>
      <p:sp>
        <p:nvSpPr>
          <p:cNvPr id="8" name="Text 5"/>
          <p:cNvSpPr/>
          <p:nvPr/>
        </p:nvSpPr>
        <p:spPr>
          <a:xfrm>
            <a:off x="812902" y="1904695"/>
            <a:ext cx="4444898" cy="457200"/>
          </a:xfrm>
          <a:prstGeom prst="rect">
            <a:avLst/>
          </a:prstGeom>
          <a:noFill/>
          <a:ln/>
        </p:spPr>
        <p:txBody>
          <a:bodyPr wrap="square" rtlCol="0" anchor="ctr"/>
          <a:lstStyle/>
          <a:p>
            <a:pPr marL="0" indent="0" algn="l">
              <a:lnSpc>
                <a:spcPct val="105000"/>
              </a:lnSpc>
              <a:buNone/>
            </a:pPr>
            <a:r>
              <a:rPr lang="en-US" sz="1200" b="1" dirty="0">
                <a:solidFill>
                  <a:srgbClr val="F2EFDA"/>
                </a:solidFill>
                <a:latin typeface="Arial" pitchFamily="34" charset="0"/>
                <a:ea typeface="Arial" pitchFamily="34" charset="-122"/>
                <a:cs typeface="Arial" pitchFamily="34" charset="-120"/>
              </a:rPr>
              <a:t>Unternehmen mit Bilanz, GuV &amp; Cashflow</a:t>
            </a:r>
            <a:endParaRPr lang="en-US" sz="1200" dirty="0"/>
          </a:p>
        </p:txBody>
      </p:sp>
      <p:sp>
        <p:nvSpPr>
          <p:cNvPr id="9" name="Text 6"/>
          <p:cNvSpPr/>
          <p:nvPr/>
        </p:nvSpPr>
        <p:spPr>
          <a:xfrm>
            <a:off x="4556034" y="1904695"/>
            <a:ext cx="1270102" cy="457200"/>
          </a:xfrm>
          <a:prstGeom prst="rect">
            <a:avLst/>
          </a:prstGeom>
          <a:noFill/>
          <a:ln/>
        </p:spPr>
        <p:txBody>
          <a:bodyPr wrap="square" rtlCol="0" anchor="ctr"/>
          <a:lstStyle/>
          <a:p>
            <a:pPr algn="r">
              <a:lnSpc>
                <a:spcPct val="105000"/>
              </a:lnSpc>
            </a:pPr>
            <a:r>
              <a:rPr lang="en-US" sz="1700" b="1" dirty="0">
                <a:solidFill>
                  <a:srgbClr val="E6D34F"/>
                </a:solidFill>
                <a:latin typeface="Courier New" pitchFamily="34" charset="0"/>
                <a:cs typeface="Courier New" pitchFamily="34" charset="-120"/>
              </a:rPr>
              <a:t>5.871</a:t>
            </a:r>
          </a:p>
        </p:txBody>
      </p:sp>
      <p:sp>
        <p:nvSpPr>
          <p:cNvPr id="15" name="Text 12"/>
          <p:cNvSpPr/>
          <p:nvPr/>
        </p:nvSpPr>
        <p:spPr>
          <a:xfrm>
            <a:off x="800101" y="5422798"/>
            <a:ext cx="2031797" cy="457200"/>
          </a:xfrm>
          <a:prstGeom prst="rect">
            <a:avLst/>
          </a:prstGeom>
          <a:noFill/>
          <a:ln/>
        </p:spPr>
        <p:txBody>
          <a:bodyPr wrap="square" rtlCol="0" anchor="ctr"/>
          <a:lstStyle/>
          <a:p>
            <a:pPr marL="0" indent="0" algn="l">
              <a:lnSpc>
                <a:spcPct val="105000"/>
              </a:lnSpc>
              <a:buNone/>
            </a:pPr>
            <a:r>
              <a:rPr lang="en-US" sz="1200" b="1" dirty="0">
                <a:solidFill>
                  <a:srgbClr val="092E1D"/>
                </a:solidFill>
                <a:latin typeface="Arial" pitchFamily="34" charset="0"/>
                <a:ea typeface="Arial" pitchFamily="34" charset="-122"/>
                <a:cs typeface="Arial" pitchFamily="34" charset="-120"/>
              </a:rPr>
              <a:t>Finale Stichprobe</a:t>
            </a:r>
            <a:endParaRPr lang="en-US" sz="1200" dirty="0"/>
          </a:p>
        </p:txBody>
      </p:sp>
      <p:sp>
        <p:nvSpPr>
          <p:cNvPr id="18" name="Shape 15"/>
          <p:cNvSpPr/>
          <p:nvPr/>
        </p:nvSpPr>
        <p:spPr>
          <a:xfrm>
            <a:off x="6460352" y="2410953"/>
            <a:ext cx="2308586"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19" name="Text 16"/>
          <p:cNvSpPr/>
          <p:nvPr/>
        </p:nvSpPr>
        <p:spPr>
          <a:xfrm>
            <a:off x="6725778" y="2563657"/>
            <a:ext cx="1865766" cy="777845"/>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100</a:t>
            </a:r>
            <a:endParaRPr lang="en-US" sz="2600" dirty="0"/>
          </a:p>
        </p:txBody>
      </p:sp>
      <p:sp>
        <p:nvSpPr>
          <p:cNvPr id="20" name="Text 17"/>
          <p:cNvSpPr/>
          <p:nvPr/>
        </p:nvSpPr>
        <p:spPr>
          <a:xfrm>
            <a:off x="6479091" y="3046461"/>
            <a:ext cx="2289846" cy="467344"/>
          </a:xfrm>
          <a:prstGeom prst="rect">
            <a:avLst/>
          </a:prstGeom>
          <a:noFill/>
          <a:ln/>
        </p:spPr>
        <p:txBody>
          <a:bodyPr wrap="square" rtlCol="0" anchor="t"/>
          <a:lstStyle/>
          <a:p>
            <a:pPr marL="0" indent="0" algn="ctr">
              <a:lnSpc>
                <a:spcPct val="105000"/>
              </a:lnSpc>
              <a:buNone/>
            </a:pPr>
            <a:r>
              <a:rPr lang="en-US" sz="1200" dirty="0">
                <a:solidFill>
                  <a:srgbClr val="B3BC9A"/>
                </a:solidFill>
                <a:latin typeface="Arial" pitchFamily="34" charset="0"/>
                <a:ea typeface="Arial" pitchFamily="34" charset="-122"/>
                <a:cs typeface="Arial" pitchFamily="34" charset="-120"/>
              </a:rPr>
              <a:t>Quartale (2000–2024)</a:t>
            </a:r>
            <a:endParaRPr lang="en-US" sz="1200" dirty="0"/>
          </a:p>
        </p:txBody>
      </p:sp>
      <p:sp>
        <p:nvSpPr>
          <p:cNvPr id="21" name="Shape 18"/>
          <p:cNvSpPr/>
          <p:nvPr/>
        </p:nvSpPr>
        <p:spPr>
          <a:xfrm>
            <a:off x="9034363" y="2410647"/>
            <a:ext cx="2308586" cy="1166353"/>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2" name="Text 19"/>
          <p:cNvSpPr/>
          <p:nvPr/>
        </p:nvSpPr>
        <p:spPr>
          <a:xfrm>
            <a:off x="9298875" y="2563352"/>
            <a:ext cx="1865766" cy="777845"/>
          </a:xfrm>
          <a:prstGeom prst="rect">
            <a:avLst/>
          </a:prstGeom>
          <a:noFill/>
          <a:ln/>
        </p:spPr>
        <p:txBody>
          <a:bodyPr wrap="square" rtlCol="0" anchor="t"/>
          <a:lstStyle/>
          <a:p>
            <a:pPr marL="0" indent="0" algn="ctr">
              <a:lnSpc>
                <a:spcPct val="105000"/>
              </a:lnSpc>
              <a:buNone/>
            </a:pPr>
            <a:r>
              <a:rPr lang="en-US" sz="2600" b="1" dirty="0">
                <a:solidFill>
                  <a:srgbClr val="F2EFDA"/>
                </a:solidFill>
                <a:latin typeface="Courier New" pitchFamily="34" charset="0"/>
                <a:ea typeface="Courier New" pitchFamily="34" charset="-122"/>
                <a:cs typeface="Courier New" pitchFamily="34" charset="-120"/>
              </a:rPr>
              <a:t>7</a:t>
            </a:r>
            <a:endParaRPr lang="en-US" sz="2600" dirty="0"/>
          </a:p>
        </p:txBody>
      </p:sp>
      <p:sp>
        <p:nvSpPr>
          <p:cNvPr id="23" name="Text 20"/>
          <p:cNvSpPr/>
          <p:nvPr/>
        </p:nvSpPr>
        <p:spPr>
          <a:xfrm>
            <a:off x="9298875" y="3046156"/>
            <a:ext cx="1865766" cy="332905"/>
          </a:xfrm>
          <a:prstGeom prst="rect">
            <a:avLst/>
          </a:prstGeom>
          <a:noFill/>
          <a:ln/>
        </p:spPr>
        <p:txBody>
          <a:bodyPr wrap="square" rtlCol="0" anchor="t"/>
          <a:lstStyle/>
          <a:p>
            <a:pPr marL="0" indent="0" algn="ctr">
              <a:lnSpc>
                <a:spcPct val="105000"/>
              </a:lnSpc>
              <a:buNone/>
            </a:pPr>
            <a:r>
              <a:rPr lang="en-US" sz="1200" dirty="0" err="1">
                <a:solidFill>
                  <a:srgbClr val="B3BC9A"/>
                </a:solidFill>
                <a:latin typeface="Arial" pitchFamily="34" charset="0"/>
                <a:ea typeface="Arial" pitchFamily="34" charset="-122"/>
                <a:cs typeface="Arial" pitchFamily="34" charset="-120"/>
              </a:rPr>
              <a:t>Kennzahlen</a:t>
            </a:r>
            <a:endParaRPr lang="en-US" sz="1200" dirty="0"/>
          </a:p>
        </p:txBody>
      </p:sp>
      <p:sp>
        <p:nvSpPr>
          <p:cNvPr id="24" name="Shape 21"/>
          <p:cNvSpPr/>
          <p:nvPr/>
        </p:nvSpPr>
        <p:spPr>
          <a:xfrm>
            <a:off x="6460352" y="4447047"/>
            <a:ext cx="4775403"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5" name="Text 22"/>
          <p:cNvSpPr/>
          <p:nvPr/>
        </p:nvSpPr>
        <p:spPr>
          <a:xfrm>
            <a:off x="6726002" y="4599751"/>
            <a:ext cx="4331445"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6" name="Text 23"/>
          <p:cNvSpPr/>
          <p:nvPr/>
        </p:nvSpPr>
        <p:spPr>
          <a:xfrm>
            <a:off x="6726003" y="5082555"/>
            <a:ext cx="4331444" cy="488154"/>
          </a:xfrm>
          <a:prstGeom prst="rect">
            <a:avLst/>
          </a:prstGeom>
          <a:noFill/>
          <a:ln/>
        </p:spPr>
        <p:txBody>
          <a:bodyPr wrap="square" rtlCol="0" anchor="t"/>
          <a:lstStyle/>
          <a:p>
            <a:pPr marL="0" indent="0" algn="ctr">
              <a:lnSpc>
                <a:spcPct val="105000"/>
              </a:lnSpc>
              <a:buNone/>
            </a:pPr>
            <a:r>
              <a:rPr lang="en-US" sz="900" dirty="0">
                <a:solidFill>
                  <a:srgbClr val="B3BC9A"/>
                </a:solidFill>
                <a:latin typeface="Arial" pitchFamily="34" charset="0"/>
                <a:ea typeface="Arial" pitchFamily="34" charset="-122"/>
                <a:cs typeface="Arial" pitchFamily="34" charset="-120"/>
              </a:rPr>
              <a:t>Unt.-Kennzahl-Kombinationen</a:t>
            </a:r>
            <a:endParaRPr lang="en-US" sz="900" dirty="0"/>
          </a:p>
        </p:txBody>
      </p:sp>
      <p:sp>
        <p:nvSpPr>
          <p:cNvPr id="3" name="Text 1">
            <a:extLst>
              <a:ext uri="{FF2B5EF4-FFF2-40B4-BE49-F238E27FC236}">
                <a16:creationId xmlns:a16="http://schemas.microsoft.com/office/drawing/2014/main" id="{9FBC1F3B-A698-30ED-1A52-2B4B39B9A3DC}"/>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METHODIK</a:t>
            </a:r>
          </a:p>
        </p:txBody>
      </p:sp>
      <p:sp>
        <p:nvSpPr>
          <p:cNvPr id="30" name="Shape 4">
            <a:extLst>
              <a:ext uri="{FF2B5EF4-FFF2-40B4-BE49-F238E27FC236}">
                <a16:creationId xmlns:a16="http://schemas.microsoft.com/office/drawing/2014/main" id="{269889F2-24E1-C3BB-ADC4-6D219639DC73}"/>
              </a:ext>
            </a:extLst>
          </p:cNvPr>
          <p:cNvSpPr/>
          <p:nvPr/>
        </p:nvSpPr>
        <p:spPr>
          <a:xfrm>
            <a:off x="634594" y="5457129"/>
            <a:ext cx="5206594" cy="457200"/>
          </a:xfrm>
          <a:prstGeom prst="rect">
            <a:avLst/>
          </a:prstGeom>
          <a:solidFill>
            <a:srgbClr val="2B513D"/>
          </a:solidFill>
          <a:ln/>
        </p:spPr>
        <p:txBody>
          <a:bodyPr/>
          <a:lstStyle/>
          <a:p>
            <a:endParaRPr lang="de-DE"/>
          </a:p>
        </p:txBody>
      </p:sp>
      <p:sp>
        <p:nvSpPr>
          <p:cNvPr id="32" name="Text 5">
            <a:extLst>
              <a:ext uri="{FF2B5EF4-FFF2-40B4-BE49-F238E27FC236}">
                <a16:creationId xmlns:a16="http://schemas.microsoft.com/office/drawing/2014/main" id="{F61D5EB5-456D-E278-FEE2-7FE120AD779E}"/>
              </a:ext>
            </a:extLst>
          </p:cNvPr>
          <p:cNvSpPr/>
          <p:nvPr/>
        </p:nvSpPr>
        <p:spPr>
          <a:xfrm>
            <a:off x="800101" y="5457129"/>
            <a:ext cx="4444898" cy="457200"/>
          </a:xfrm>
          <a:prstGeom prst="rect">
            <a:avLst/>
          </a:prstGeom>
          <a:noFill/>
          <a:ln/>
        </p:spPr>
        <p:txBody>
          <a:bodyPr wrap="square" rtlCol="0" anchor="ctr"/>
          <a:lstStyle/>
          <a:p>
            <a:pPr marL="0" indent="0" algn="l">
              <a:lnSpc>
                <a:spcPct val="105000"/>
              </a:lnSpc>
              <a:buNone/>
            </a:pPr>
            <a:r>
              <a:rPr lang="en-US" sz="1200" b="1" dirty="0">
                <a:solidFill>
                  <a:srgbClr val="F2EFDA"/>
                </a:solidFill>
                <a:latin typeface="Arial" pitchFamily="34" charset="0"/>
                <a:ea typeface="Arial" pitchFamily="34" charset="-122"/>
                <a:cs typeface="Arial" pitchFamily="34" charset="-120"/>
              </a:rPr>
              <a:t xml:space="preserve">Finale </a:t>
            </a:r>
            <a:r>
              <a:rPr lang="en-US" sz="1200" b="1" dirty="0" err="1">
                <a:solidFill>
                  <a:srgbClr val="F2EFDA"/>
                </a:solidFill>
                <a:latin typeface="Arial" pitchFamily="34" charset="0"/>
                <a:ea typeface="Arial" pitchFamily="34" charset="-122"/>
                <a:cs typeface="Arial" pitchFamily="34" charset="-120"/>
              </a:rPr>
              <a:t>Stichprobe</a:t>
            </a:r>
            <a:endParaRPr lang="en-US" sz="1200" dirty="0"/>
          </a:p>
        </p:txBody>
      </p:sp>
      <p:sp>
        <p:nvSpPr>
          <p:cNvPr id="16" name="Text 13"/>
          <p:cNvSpPr/>
          <p:nvPr/>
        </p:nvSpPr>
        <p:spPr>
          <a:xfrm>
            <a:off x="4543233" y="5448403"/>
            <a:ext cx="1270102" cy="457200"/>
          </a:xfrm>
          <a:prstGeom prst="rect">
            <a:avLst/>
          </a:prstGeom>
          <a:noFill/>
          <a:ln/>
        </p:spPr>
        <p:txBody>
          <a:bodyPr wrap="square" rtlCol="0" anchor="ctr"/>
          <a:lstStyle/>
          <a:p>
            <a:pPr marL="0" indent="0" algn="r">
              <a:lnSpc>
                <a:spcPct val="105000"/>
              </a:lnSpc>
              <a:buNone/>
            </a:pPr>
            <a:r>
              <a:rPr lang="en-US" sz="1700" b="1" dirty="0">
                <a:solidFill>
                  <a:srgbClr val="E6D34F"/>
                </a:solidFill>
                <a:latin typeface="Courier New" pitchFamily="34" charset="0"/>
                <a:ea typeface="Courier New" pitchFamily="34" charset="-122"/>
                <a:cs typeface="Courier New" pitchFamily="34" charset="-120"/>
              </a:rPr>
              <a:t>932</a:t>
            </a:r>
            <a:endParaRPr lang="en-US" sz="1700" dirty="0"/>
          </a:p>
        </p:txBody>
      </p:sp>
      <p:graphicFrame>
        <p:nvGraphicFramePr>
          <p:cNvPr id="34" name="Tabelle 33">
            <a:extLst>
              <a:ext uri="{FF2B5EF4-FFF2-40B4-BE49-F238E27FC236}">
                <a16:creationId xmlns:a16="http://schemas.microsoft.com/office/drawing/2014/main" id="{E7176041-190C-FA1B-1488-71AC7A54F4D2}"/>
              </a:ext>
            </a:extLst>
          </p:cNvPr>
          <p:cNvGraphicFramePr>
            <a:graphicFrameLocks noGrp="1"/>
          </p:cNvGraphicFramePr>
          <p:nvPr>
            <p:extLst>
              <p:ext uri="{D42A27DB-BD31-4B8C-83A1-F6EECF244321}">
                <p14:modId xmlns:p14="http://schemas.microsoft.com/office/powerpoint/2010/main" val="2601304072"/>
              </p:ext>
            </p:extLst>
          </p:nvPr>
        </p:nvGraphicFramePr>
        <p:xfrm>
          <a:off x="654695" y="2501799"/>
          <a:ext cx="5158640" cy="2781401"/>
        </p:xfrm>
        <a:graphic>
          <a:graphicData uri="http://schemas.openxmlformats.org/drawingml/2006/table">
            <a:tbl>
              <a:tblPr>
                <a:tableStyleId>{5C22544A-7EE6-4342-B048-85BDC9FD1C3A}</a:tableStyleId>
              </a:tblPr>
              <a:tblGrid>
                <a:gridCol w="2494905">
                  <a:extLst>
                    <a:ext uri="{9D8B030D-6E8A-4147-A177-3AD203B41FA5}">
                      <a16:colId xmlns:a16="http://schemas.microsoft.com/office/drawing/2014/main" val="614156983"/>
                    </a:ext>
                  </a:extLst>
                </a:gridCol>
                <a:gridCol w="939800">
                  <a:extLst>
                    <a:ext uri="{9D8B030D-6E8A-4147-A177-3AD203B41FA5}">
                      <a16:colId xmlns:a16="http://schemas.microsoft.com/office/drawing/2014/main" val="200872870"/>
                    </a:ext>
                  </a:extLst>
                </a:gridCol>
                <a:gridCol w="838200">
                  <a:extLst>
                    <a:ext uri="{9D8B030D-6E8A-4147-A177-3AD203B41FA5}">
                      <a16:colId xmlns:a16="http://schemas.microsoft.com/office/drawing/2014/main" val="2618023021"/>
                    </a:ext>
                  </a:extLst>
                </a:gridCol>
                <a:gridCol w="885735">
                  <a:extLst>
                    <a:ext uri="{9D8B030D-6E8A-4147-A177-3AD203B41FA5}">
                      <a16:colId xmlns:a16="http://schemas.microsoft.com/office/drawing/2014/main" val="681434799"/>
                    </a:ext>
                  </a:extLst>
                </a:gridCol>
              </a:tblGrid>
              <a:tr h="397343">
                <a:tc>
                  <a:txBody>
                    <a:bodyPr/>
                    <a:lstStyle/>
                    <a:p>
                      <a:pPr marL="19050" algn="l">
                        <a:lnSpc>
                          <a:spcPct val="130000"/>
                        </a:lnSpc>
                        <a:spcBef>
                          <a:spcPts val="600"/>
                        </a:spcBef>
                        <a:buNone/>
                      </a:pPr>
                      <a:r>
                        <a:rPr lang="nb-NO" sz="1200" kern="1200" dirty="0">
                          <a:solidFill>
                            <a:srgbClr val="B3BC9A"/>
                          </a:solidFill>
                          <a:latin typeface="Arial" pitchFamily="34" charset="0"/>
                          <a:cs typeface="Arial" pitchFamily="34" charset="-120"/>
                        </a:rPr>
                        <a:t>Sektor-Filter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5.871</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883</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475832156"/>
                  </a:ext>
                </a:extLst>
              </a:tr>
              <a:tr h="397343">
                <a:tc>
                  <a:txBody>
                    <a:bodyPr/>
                    <a:lstStyle/>
                    <a:p>
                      <a:pPr marL="19050" algn="l">
                        <a:lnSpc>
                          <a:spcPct val="130000"/>
                        </a:lnSpc>
                        <a:spcBef>
                          <a:spcPts val="600"/>
                        </a:spcBef>
                        <a:buNone/>
                      </a:pPr>
                      <a:r>
                        <a:rPr lang="de-DE" sz="1200" kern="1200" dirty="0">
                          <a:solidFill>
                            <a:srgbClr val="B3BC9A"/>
                          </a:solidFill>
                          <a:latin typeface="Arial" pitchFamily="34" charset="0"/>
                          <a:cs typeface="Arial" pitchFamily="34" charset="-120"/>
                        </a:rPr>
                        <a:t>ADR-Filter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4.988</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646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4.342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35776230"/>
                  </a:ext>
                </a:extLst>
              </a:tr>
              <a:tr h="397343">
                <a:tc>
                  <a:txBody>
                    <a:bodyPr/>
                    <a:lstStyle/>
                    <a:p>
                      <a:pPr marL="19050" algn="l">
                        <a:lnSpc>
                          <a:spcPct val="130000"/>
                        </a:lnSpc>
                        <a:spcBef>
                          <a:spcPts val="600"/>
                        </a:spcBef>
                        <a:buNone/>
                      </a:pPr>
                      <a:r>
                        <a:rPr lang="de-DE" sz="1200" kern="1200" dirty="0">
                          <a:solidFill>
                            <a:srgbClr val="B3BC9A"/>
                          </a:solidFill>
                          <a:latin typeface="Arial" pitchFamily="34" charset="0"/>
                          <a:cs typeface="Arial" pitchFamily="34" charset="-120"/>
                        </a:rPr>
                        <a:t>Vollständigkeitsfilter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4.342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3.366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362203985"/>
                  </a:ext>
                </a:extLst>
              </a:tr>
              <a:tr h="397343">
                <a:tc>
                  <a:txBody>
                    <a:bodyPr/>
                    <a:lstStyle/>
                    <a:p>
                      <a:pPr marL="19050" algn="l">
                        <a:lnSpc>
                          <a:spcPct val="130000"/>
                        </a:lnSpc>
                        <a:spcBef>
                          <a:spcPts val="600"/>
                        </a:spcBef>
                        <a:buNone/>
                      </a:pPr>
                      <a:r>
                        <a:rPr lang="de-DE" sz="1200" kern="1200" dirty="0" err="1">
                          <a:solidFill>
                            <a:srgbClr val="B3BC9A"/>
                          </a:solidFill>
                          <a:latin typeface="Arial" pitchFamily="34" charset="0"/>
                          <a:cs typeface="Arial" pitchFamily="34" charset="-120"/>
                        </a:rPr>
                        <a:t>Outlier-Detection</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976</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976</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2056506140"/>
                  </a:ext>
                </a:extLst>
              </a:tr>
              <a:tr h="397343">
                <a:tc>
                  <a:txBody>
                    <a:bodyPr/>
                    <a:lstStyle/>
                    <a:p>
                      <a:pPr marL="19050" algn="l">
                        <a:lnSpc>
                          <a:spcPct val="130000"/>
                        </a:lnSpc>
                        <a:spcBef>
                          <a:spcPts val="600"/>
                        </a:spcBef>
                        <a:buNone/>
                      </a:pPr>
                      <a:r>
                        <a:rPr lang="de-DE" sz="1200" kern="1200" dirty="0" err="1">
                          <a:solidFill>
                            <a:srgbClr val="B3BC9A"/>
                          </a:solidFill>
                          <a:latin typeface="Arial" pitchFamily="34" charset="0"/>
                          <a:cs typeface="Arial" pitchFamily="34" charset="-120"/>
                        </a:rPr>
                        <a:t>NaN</a:t>
                      </a:r>
                      <a:r>
                        <a:rPr lang="de-DE" sz="1200" kern="1200" dirty="0">
                          <a:solidFill>
                            <a:srgbClr val="B3BC9A"/>
                          </a:solidFill>
                          <a:latin typeface="Arial" pitchFamily="34" charset="0"/>
                          <a:cs typeface="Arial" pitchFamily="34" charset="-120"/>
                        </a:rPr>
                        <a:t>-/Qualitätsfilter</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976</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44</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1269198846"/>
                  </a:ext>
                </a:extLst>
              </a:tr>
              <a:tr h="397343">
                <a:tc>
                  <a:txBody>
                    <a:bodyPr/>
                    <a:lstStyle/>
                    <a:p>
                      <a:pPr marL="19050" algn="l">
                        <a:lnSpc>
                          <a:spcPct val="130000"/>
                        </a:lnSpc>
                        <a:spcBef>
                          <a:spcPts val="600"/>
                        </a:spcBef>
                        <a:buNone/>
                      </a:pPr>
                      <a:r>
                        <a:rPr lang="de-DE" sz="1200" kern="1200">
                          <a:solidFill>
                            <a:srgbClr val="B3BC9A"/>
                          </a:solidFill>
                          <a:latin typeface="Arial" pitchFamily="34" charset="0"/>
                          <a:cs typeface="Arial" pitchFamily="34" charset="-120"/>
                        </a:rPr>
                        <a:t>Kennzahlenberechnung</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932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1765662456"/>
                  </a:ext>
                </a:extLst>
              </a:tr>
              <a:tr h="397343">
                <a:tc>
                  <a:txBody>
                    <a:bodyPr/>
                    <a:lstStyle/>
                    <a:p>
                      <a:pPr marL="19050" algn="l">
                        <a:lnSpc>
                          <a:spcPct val="130000"/>
                        </a:lnSpc>
                        <a:spcBef>
                          <a:spcPts val="600"/>
                        </a:spcBef>
                        <a:buNone/>
                      </a:pPr>
                      <a:r>
                        <a:rPr lang="de-DE" sz="1200" kern="1200" dirty="0" err="1">
                          <a:solidFill>
                            <a:srgbClr val="B3BC9A"/>
                          </a:solidFill>
                          <a:latin typeface="Arial" pitchFamily="34" charset="0"/>
                          <a:cs typeface="Arial" pitchFamily="34" charset="-120"/>
                        </a:rPr>
                        <a:t>Winsorisierung</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a:solidFill>
                            <a:srgbClr val="B3BC9A"/>
                          </a:solidFill>
                          <a:latin typeface="Arial" pitchFamily="34" charset="0"/>
                          <a:cs typeface="Arial" pitchFamily="34" charset="-120"/>
                        </a:rPr>
                        <a:t>932</a:t>
                      </a:r>
                      <a:endParaRPr lang="de-DE" sz="1200" kern="120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tc>
                  <a:txBody>
                    <a:bodyPr/>
                    <a:lstStyle/>
                    <a:p>
                      <a:pPr marL="19050" algn="just">
                        <a:lnSpc>
                          <a:spcPct val="130000"/>
                        </a:lnSpc>
                        <a:spcBef>
                          <a:spcPts val="600"/>
                        </a:spcBef>
                        <a:buNone/>
                      </a:pPr>
                      <a:r>
                        <a:rPr lang="de-DE" sz="1200" kern="1200" dirty="0">
                          <a:solidFill>
                            <a:srgbClr val="B3BC9A"/>
                          </a:solidFill>
                          <a:latin typeface="Arial" pitchFamily="34" charset="0"/>
                          <a:cs typeface="Arial" pitchFamily="34" charset="-120"/>
                        </a:rPr>
                        <a:t>932</a:t>
                      </a:r>
                      <a:endParaRPr lang="de-DE" sz="1200" kern="1200" dirty="0">
                        <a:solidFill>
                          <a:srgbClr val="B3BC9A"/>
                        </a:solidFill>
                        <a:latin typeface="Arial" pitchFamily="34" charset="0"/>
                        <a:ea typeface="Times New Roman" panose="02020603050405020304" pitchFamily="18" charset="0"/>
                        <a:cs typeface="Arial" pitchFamily="34" charset="-120"/>
                      </a:endParaRPr>
                    </a:p>
                  </a:txBody>
                  <a:tcPr marL="17066" marR="17066" marT="0" marB="0">
                    <a:noFill/>
                  </a:tcPr>
                </a:tc>
                <a:extLst>
                  <a:ext uri="{0D108BD9-81ED-4DB2-BD59-A6C34878D82A}">
                    <a16:rowId xmlns:a16="http://schemas.microsoft.com/office/drawing/2014/main" val="3719891346"/>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82E1C"/>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04 / 15</a:t>
            </a:r>
            <a:endParaRPr lang="en-US" sz="1200" dirty="0"/>
          </a:p>
        </p:txBody>
      </p:sp>
      <p:sp>
        <p:nvSpPr>
          <p:cNvPr id="6" name="Text 3"/>
          <p:cNvSpPr/>
          <p:nvPr/>
        </p:nvSpPr>
        <p:spPr>
          <a:xfrm>
            <a:off x="634594" y="761695"/>
            <a:ext cx="10921594" cy="399593"/>
          </a:xfrm>
          <a:prstGeom prst="rect">
            <a:avLst/>
          </a:prstGeom>
          <a:noFill/>
          <a:ln/>
        </p:spPr>
        <p:txBody>
          <a:bodyPr wrap="square" rtlCol="0" anchor="t"/>
          <a:lstStyle/>
          <a:p>
            <a:pPr marL="0" indent="0">
              <a:lnSpc>
                <a:spcPct val="100000"/>
              </a:lnSpc>
              <a:buNone/>
            </a:pPr>
            <a:r>
              <a:rPr lang="en-US" sz="2100" b="1" kern="0" spc="-50" dirty="0">
                <a:solidFill>
                  <a:srgbClr val="F2EFDA"/>
                </a:solidFill>
                <a:latin typeface="Arial" pitchFamily="34" charset="0"/>
                <a:ea typeface="Arial" pitchFamily="34" charset="-122"/>
                <a:cs typeface="Arial" pitchFamily="34" charset="-120"/>
              </a:rPr>
              <a:t>AR(1) auf ersten Differenzen — pro Unternehmen &amp; Kennzahl</a:t>
            </a:r>
            <a:endParaRPr lang="en-US" sz="2100" dirty="0"/>
          </a:p>
        </p:txBody>
      </p:sp>
      <p:sp>
        <p:nvSpPr>
          <p:cNvPr id="7" name="Shape 4"/>
          <p:cNvSpPr/>
          <p:nvPr/>
        </p:nvSpPr>
        <p:spPr>
          <a:xfrm>
            <a:off x="634593" y="2562469"/>
            <a:ext cx="10921594" cy="761695"/>
          </a:xfrm>
          <a:prstGeom prst="roundRect">
            <a:avLst>
              <a:gd name="adj" fmla="val 13325"/>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952804" y="2562469"/>
            <a:ext cx="6349594" cy="761695"/>
          </a:xfrm>
          <a:prstGeom prst="rect">
            <a:avLst/>
          </a:prstGeom>
          <a:noFill/>
          <a:ln/>
        </p:spPr>
        <p:txBody>
          <a:bodyPr wrap="square" rtlCol="0" anchor="ctr"/>
          <a:lstStyle/>
          <a:p>
            <a:pPr marL="0" indent="0" algn="l">
              <a:lnSpc>
                <a:spcPct val="105000"/>
              </a:lnSpc>
              <a:buNone/>
            </a:pPr>
            <a:r>
              <a:rPr lang="en-US" sz="2000" dirty="0">
                <a:solidFill>
                  <a:srgbClr val="F2EFDA"/>
                </a:solidFill>
                <a:latin typeface="Courier New" pitchFamily="34" charset="0"/>
                <a:ea typeface="Courier New" pitchFamily="34" charset="-122"/>
                <a:cs typeface="Courier New" pitchFamily="34" charset="-120"/>
              </a:rPr>
              <a:t xml:space="preserve">ΔYt = c + </a:t>
            </a:r>
            <a:r>
              <a:rPr lang="en-US" sz="2000" b="1" dirty="0">
                <a:solidFill>
                  <a:srgbClr val="E6D34F"/>
                </a:solidFill>
                <a:latin typeface="Courier New" pitchFamily="34" charset="0"/>
                <a:ea typeface="Courier New" pitchFamily="34" charset="-122"/>
                <a:cs typeface="Courier New" pitchFamily="34" charset="-120"/>
              </a:rPr>
              <a:t>φ</a:t>
            </a:r>
            <a:r>
              <a:rPr lang="en-US" sz="2000" dirty="0">
                <a:solidFill>
                  <a:srgbClr val="F2EFDA"/>
                </a:solidFill>
                <a:latin typeface="Courier New" pitchFamily="34" charset="0"/>
                <a:ea typeface="Courier New" pitchFamily="34" charset="-122"/>
                <a:cs typeface="Courier New" pitchFamily="34" charset="-120"/>
              </a:rPr>
              <a:t xml:space="preserve"> · ΔYt−1 + </a:t>
            </a:r>
            <a:r>
              <a:rPr lang="en-US" sz="2000" b="1" dirty="0">
                <a:solidFill>
                  <a:srgbClr val="79A2F9"/>
                </a:solidFill>
                <a:latin typeface="Courier New" pitchFamily="34" charset="0"/>
                <a:ea typeface="Courier New" pitchFamily="34" charset="-122"/>
                <a:cs typeface="Courier New" pitchFamily="34" charset="-120"/>
              </a:rPr>
              <a:t>εt</a:t>
            </a:r>
            <a:endParaRPr lang="en-US" sz="2000" dirty="0"/>
          </a:p>
        </p:txBody>
      </p:sp>
      <p:sp>
        <p:nvSpPr>
          <p:cNvPr id="9" name="Text 6"/>
          <p:cNvSpPr/>
          <p:nvPr/>
        </p:nvSpPr>
        <p:spPr>
          <a:xfrm>
            <a:off x="7302397" y="2562469"/>
            <a:ext cx="4063594" cy="761695"/>
          </a:xfrm>
          <a:prstGeom prst="rect">
            <a:avLst/>
          </a:prstGeom>
          <a:noFill/>
          <a:ln/>
        </p:spPr>
        <p:txBody>
          <a:bodyPr wrap="square" rtlCol="0" anchor="ctr"/>
          <a:lstStyle/>
          <a:p>
            <a:pPr marL="0" indent="0" algn="r">
              <a:lnSpc>
                <a:spcPct val="105000"/>
              </a:lnSpc>
              <a:buNone/>
            </a:pPr>
            <a:r>
              <a:rPr lang="en-US" sz="900" dirty="0">
                <a:solidFill>
                  <a:srgbClr val="798D6F"/>
                </a:solidFill>
                <a:latin typeface="Courier New" pitchFamily="34" charset="0"/>
                <a:ea typeface="Courier New" pitchFamily="34" charset="-122"/>
                <a:cs typeface="Courier New" pitchFamily="34" charset="-120"/>
              </a:rPr>
              <a:t>individuelle OLS (Mean-Group, Pesaran/Smith 1995)</a:t>
            </a:r>
            <a:endParaRPr lang="en-US" sz="900" dirty="0"/>
          </a:p>
        </p:txBody>
      </p:sp>
      <p:sp>
        <p:nvSpPr>
          <p:cNvPr id="3" name="Text 1">
            <a:extLst>
              <a:ext uri="{FF2B5EF4-FFF2-40B4-BE49-F238E27FC236}">
                <a16:creationId xmlns:a16="http://schemas.microsoft.com/office/drawing/2014/main" id="{DEFC72AC-EA13-A164-ED3B-4ABCE5A94802}"/>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METHODIK</a:t>
            </a:r>
          </a:p>
        </p:txBody>
      </p:sp>
      <p:sp>
        <p:nvSpPr>
          <p:cNvPr id="22" name="Shape 21">
            <a:extLst>
              <a:ext uri="{FF2B5EF4-FFF2-40B4-BE49-F238E27FC236}">
                <a16:creationId xmlns:a16="http://schemas.microsoft.com/office/drawing/2014/main" id="{2813FA41-3035-6183-4147-4CA548EB5FB5}"/>
              </a:ext>
            </a:extLst>
          </p:cNvPr>
          <p:cNvSpPr/>
          <p:nvPr/>
        </p:nvSpPr>
        <p:spPr>
          <a:xfrm>
            <a:off x="6460352" y="4447047"/>
            <a:ext cx="4775403" cy="1166354"/>
          </a:xfrm>
          <a:prstGeom prst="roundRect">
            <a:avLst>
              <a:gd name="adj" fmla="val 11100"/>
            </a:avLst>
          </a:prstGeom>
          <a:solidFill>
            <a:srgbClr val="1E402E"/>
          </a:solidFill>
          <a:ln w="12700">
            <a:solidFill>
              <a:srgbClr val="4A6D56"/>
            </a:solidFill>
            <a:prstDash val="solid"/>
          </a:ln>
        </p:spPr>
        <p:txBody>
          <a:bodyPr/>
          <a:lstStyle/>
          <a:p>
            <a:endParaRPr lang="de-DE"/>
          </a:p>
        </p:txBody>
      </p:sp>
      <p:sp>
        <p:nvSpPr>
          <p:cNvPr id="23" name="Text 22">
            <a:extLst>
              <a:ext uri="{FF2B5EF4-FFF2-40B4-BE49-F238E27FC236}">
                <a16:creationId xmlns:a16="http://schemas.microsoft.com/office/drawing/2014/main" id="{978F406D-F6E9-03E3-7F68-6F4104C9258F}"/>
              </a:ext>
            </a:extLst>
          </p:cNvPr>
          <p:cNvSpPr/>
          <p:nvPr/>
        </p:nvSpPr>
        <p:spPr>
          <a:xfrm>
            <a:off x="6726002" y="4599751"/>
            <a:ext cx="4331445" cy="845066"/>
          </a:xfrm>
          <a:prstGeom prst="rect">
            <a:avLst/>
          </a:prstGeom>
          <a:noFill/>
          <a:ln/>
        </p:spPr>
        <p:txBody>
          <a:bodyPr wrap="square" rtlCol="0" anchor="t"/>
          <a:lstStyle/>
          <a:p>
            <a:pPr marL="0" indent="0" algn="ctr">
              <a:lnSpc>
                <a:spcPct val="105000"/>
              </a:lnSpc>
              <a:buNone/>
            </a:pPr>
            <a:r>
              <a:rPr lang="en-US" sz="2600" b="1" dirty="0">
                <a:solidFill>
                  <a:srgbClr val="79A2F9"/>
                </a:solidFill>
                <a:latin typeface="Courier New" pitchFamily="34" charset="0"/>
                <a:ea typeface="Courier New" pitchFamily="34" charset="-122"/>
                <a:cs typeface="Courier New" pitchFamily="34" charset="-120"/>
              </a:rPr>
              <a:t>6.521</a:t>
            </a:r>
            <a:endParaRPr lang="en-US" sz="2600" dirty="0"/>
          </a:p>
        </p:txBody>
      </p:sp>
      <p:sp>
        <p:nvSpPr>
          <p:cNvPr id="24" name="Text 23">
            <a:extLst>
              <a:ext uri="{FF2B5EF4-FFF2-40B4-BE49-F238E27FC236}">
                <a16:creationId xmlns:a16="http://schemas.microsoft.com/office/drawing/2014/main" id="{0F415808-5D7E-4480-66D0-76A01FA18438}"/>
              </a:ext>
            </a:extLst>
          </p:cNvPr>
          <p:cNvSpPr/>
          <p:nvPr/>
        </p:nvSpPr>
        <p:spPr>
          <a:xfrm>
            <a:off x="6726003" y="5082555"/>
            <a:ext cx="4331444" cy="488154"/>
          </a:xfrm>
          <a:prstGeom prst="rect">
            <a:avLst/>
          </a:prstGeom>
          <a:noFill/>
          <a:ln/>
        </p:spPr>
        <p:txBody>
          <a:bodyPr wrap="square" rtlCol="0" anchor="t"/>
          <a:lstStyle/>
          <a:p>
            <a:pPr marL="0" indent="0" algn="ctr">
              <a:lnSpc>
                <a:spcPct val="105000"/>
              </a:lnSpc>
              <a:buNone/>
            </a:pPr>
            <a:r>
              <a:rPr lang="en-US" sz="900" dirty="0">
                <a:solidFill>
                  <a:srgbClr val="B3BC9A"/>
                </a:solidFill>
                <a:latin typeface="Arial" pitchFamily="34" charset="0"/>
                <a:ea typeface="Arial" pitchFamily="34" charset="-122"/>
                <a:cs typeface="Arial" pitchFamily="34" charset="-120"/>
              </a:rPr>
              <a:t>Unt.-Kennzahl-Kombinationen</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3" name="Shape 16">
            <a:extLst>
              <a:ext uri="{FF2B5EF4-FFF2-40B4-BE49-F238E27FC236}">
                <a16:creationId xmlns:a16="http://schemas.microsoft.com/office/drawing/2014/main" id="{0EDC59D2-A420-643C-D8EA-9C0E9711EF60}"/>
              </a:ext>
            </a:extLst>
          </p:cNvPr>
          <p:cNvSpPr/>
          <p:nvPr/>
        </p:nvSpPr>
        <p:spPr>
          <a:xfrm>
            <a:off x="241198" y="1426453"/>
            <a:ext cx="4114902" cy="3780242"/>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05 / 15</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 xml:space="preserve">Die vier </a:t>
            </a:r>
            <a:r>
              <a:rPr lang="en-US" sz="2300" b="1" kern="0" spc="-50" dirty="0" err="1">
                <a:solidFill>
                  <a:srgbClr val="F2EFDA"/>
                </a:solidFill>
                <a:latin typeface="Arial" pitchFamily="34" charset="0"/>
                <a:ea typeface="Arial" pitchFamily="34" charset="-122"/>
                <a:cs typeface="Arial" pitchFamily="34" charset="-120"/>
              </a:rPr>
              <a:t>Quadranten</a:t>
            </a:r>
            <a:endParaRPr lang="en-US" sz="2300" dirty="0"/>
          </a:p>
        </p:txBody>
      </p:sp>
      <p:sp>
        <p:nvSpPr>
          <p:cNvPr id="3" name="Text 1">
            <a:extLst>
              <a:ext uri="{FF2B5EF4-FFF2-40B4-BE49-F238E27FC236}">
                <a16:creationId xmlns:a16="http://schemas.microsoft.com/office/drawing/2014/main" id="{7FA366E6-5637-CF1A-3985-22992DB97CCA}"/>
              </a:ext>
            </a:extLst>
          </p:cNvPr>
          <p:cNvSpPr/>
          <p:nvPr/>
        </p:nvSpPr>
        <p:spPr>
          <a:xfrm>
            <a:off x="415959" y="291694"/>
            <a:ext cx="8255203" cy="215798"/>
          </a:xfrm>
          <a:prstGeom prst="rect">
            <a:avLst/>
          </a:prstGeom>
          <a:noFill/>
          <a:ln/>
        </p:spPr>
        <p:txBody>
          <a:bodyPr wrap="square" rtlCol="0" anchor="ctr"/>
          <a:lstStyle/>
          <a:p>
            <a:r>
              <a:rPr lang="en-US" sz="1200" b="1" kern="0" spc="400" dirty="0">
                <a:solidFill>
                  <a:srgbClr val="E6D34F"/>
                </a:solidFill>
                <a:latin typeface="Courier New" pitchFamily="34" charset="0"/>
                <a:cs typeface="Courier New" pitchFamily="34" charset="-120"/>
              </a:rPr>
              <a:t>METHODIK</a:t>
            </a:r>
          </a:p>
        </p:txBody>
      </p:sp>
      <p:pic>
        <p:nvPicPr>
          <p:cNvPr id="32" name="Grafik 31">
            <a:extLst>
              <a:ext uri="{FF2B5EF4-FFF2-40B4-BE49-F238E27FC236}">
                <a16:creationId xmlns:a16="http://schemas.microsoft.com/office/drawing/2014/main" id="{B0113F9D-B5F2-C2FB-A838-7AD4BCFE0911}"/>
              </a:ext>
            </a:extLst>
          </p:cNvPr>
          <p:cNvPicPr>
            <a:picLocks noChangeAspect="1"/>
          </p:cNvPicPr>
          <p:nvPr/>
        </p:nvPicPr>
        <p:blipFill>
          <a:blip r:embed="rId3"/>
          <a:stretch>
            <a:fillRect/>
          </a:stretch>
        </p:blipFill>
        <p:spPr>
          <a:xfrm>
            <a:off x="415959" y="1904695"/>
            <a:ext cx="3759735" cy="2857805"/>
          </a:xfrm>
          <a:prstGeom prst="rect">
            <a:avLst/>
          </a:prstGeom>
        </p:spPr>
      </p:pic>
      <p:sp>
        <p:nvSpPr>
          <p:cNvPr id="34" name="Shape 12">
            <a:extLst>
              <a:ext uri="{FF2B5EF4-FFF2-40B4-BE49-F238E27FC236}">
                <a16:creationId xmlns:a16="http://schemas.microsoft.com/office/drawing/2014/main" id="{24307684-3263-A01D-89DE-A5FB50BAB70B}"/>
              </a:ext>
            </a:extLst>
          </p:cNvPr>
          <p:cNvSpPr/>
          <p:nvPr/>
        </p:nvSpPr>
        <p:spPr>
          <a:xfrm>
            <a:off x="4951172" y="1426453"/>
            <a:ext cx="6235395" cy="1563047"/>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35" name="Text 13">
            <a:extLst>
              <a:ext uri="{FF2B5EF4-FFF2-40B4-BE49-F238E27FC236}">
                <a16:creationId xmlns:a16="http://schemas.microsoft.com/office/drawing/2014/main" id="{7758B25B-3AB3-7352-18FD-624509E04F2F}"/>
              </a:ext>
            </a:extLst>
          </p:cNvPr>
          <p:cNvSpPr/>
          <p:nvPr/>
        </p:nvSpPr>
        <p:spPr>
          <a:xfrm>
            <a:off x="5155082" y="1644359"/>
            <a:ext cx="982675" cy="297620"/>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1</a:t>
            </a:r>
            <a:endParaRPr lang="en-US" sz="1400" dirty="0"/>
          </a:p>
        </p:txBody>
      </p:sp>
      <p:sp>
        <p:nvSpPr>
          <p:cNvPr id="36" name="Shape 14">
            <a:extLst>
              <a:ext uri="{FF2B5EF4-FFF2-40B4-BE49-F238E27FC236}">
                <a16:creationId xmlns:a16="http://schemas.microsoft.com/office/drawing/2014/main" id="{B6C0395C-764B-1ED8-A3AB-1B8CBF115A9E}"/>
              </a:ext>
            </a:extLst>
          </p:cNvPr>
          <p:cNvSpPr/>
          <p:nvPr/>
        </p:nvSpPr>
        <p:spPr>
          <a:xfrm>
            <a:off x="5522672" y="1782463"/>
            <a:ext cx="4736638" cy="45719"/>
          </a:xfrm>
          <a:prstGeom prst="rect">
            <a:avLst/>
          </a:prstGeom>
          <a:solidFill>
            <a:srgbClr val="DBDEE2"/>
          </a:solidFill>
          <a:ln/>
        </p:spPr>
        <p:txBody>
          <a:bodyPr/>
          <a:lstStyle/>
          <a:p>
            <a:endParaRPr lang="de-DE"/>
          </a:p>
        </p:txBody>
      </p:sp>
      <p:sp>
        <p:nvSpPr>
          <p:cNvPr id="37" name="Text 15">
            <a:extLst>
              <a:ext uri="{FF2B5EF4-FFF2-40B4-BE49-F238E27FC236}">
                <a16:creationId xmlns:a16="http://schemas.microsoft.com/office/drawing/2014/main" id="{0F6E75AC-BC04-351D-2E4F-F498A1E3A861}"/>
              </a:ext>
            </a:extLst>
          </p:cNvPr>
          <p:cNvSpPr/>
          <p:nvPr/>
        </p:nvSpPr>
        <p:spPr>
          <a:xfrm>
            <a:off x="5155083" y="1678014"/>
            <a:ext cx="5448901" cy="1196579"/>
          </a:xfrm>
          <a:prstGeom prst="rect">
            <a:avLst/>
          </a:prstGeom>
          <a:noFill/>
          <a:ln/>
        </p:spPr>
        <p:txBody>
          <a:bodyPr wrap="square" rtlCol="0" anchor="ctr"/>
          <a:lstStyle/>
          <a:p>
            <a:pPr>
              <a:lnSpc>
                <a:spcPct val="130000"/>
              </a:lnSpc>
            </a:pPr>
            <a:r>
              <a:rPr lang="en-US" sz="1400" dirty="0">
                <a:solidFill>
                  <a:srgbClr val="F2EFDA"/>
                </a:solidFill>
                <a:latin typeface="Arial" pitchFamily="34" charset="0"/>
                <a:ea typeface="Arial" pitchFamily="34" charset="-122"/>
                <a:cs typeface="Arial" pitchFamily="34" charset="-120"/>
              </a:rPr>
              <a:t xml:space="preserve">Median-Split in </a:t>
            </a:r>
            <a:r>
              <a:rPr lang="en-US" sz="1400" dirty="0" err="1">
                <a:solidFill>
                  <a:srgbClr val="F2EFDA"/>
                </a:solidFill>
                <a:latin typeface="Arial" pitchFamily="34" charset="0"/>
                <a:ea typeface="Arial" pitchFamily="34" charset="-122"/>
                <a:cs typeface="Arial" pitchFamily="34" charset="-120"/>
              </a:rPr>
              <a:t>beiden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Dimensionen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jedes</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Unternehmen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wird</a:t>
            </a:r>
            <a:r>
              <a:rPr lang="en-US" sz="1400" dirty="0">
                <a:solidFill>
                  <a:srgbClr val="F2EFDA"/>
                </a:solidFill>
                <a:latin typeface="Arial" pitchFamily="34" charset="0"/>
                <a:ea typeface="Arial" pitchFamily="34" charset="-122"/>
                <a:cs typeface="Arial" pitchFamily="34" charset="-120"/>
              </a:rPr>
              <a:t xml:space="preserve"> pro </a:t>
            </a:r>
            <a:r>
              <a:rPr lang="en-US" sz="1400" dirty="0" err="1">
                <a:solidFill>
                  <a:srgbClr val="F2EFDA"/>
                </a:solidFill>
                <a:latin typeface="Arial" pitchFamily="34" charset="0"/>
                <a:ea typeface="Arial" pitchFamily="34" charset="-122"/>
                <a:cs typeface="Arial" pitchFamily="34" charset="-120"/>
              </a:rPr>
              <a:t>Kennzahl</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zu</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einem</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Punkt</a:t>
            </a:r>
            <a:r>
              <a:rPr lang="en-US" sz="1400" dirty="0">
                <a:solidFill>
                  <a:srgbClr val="F2EFDA"/>
                </a:solidFill>
                <a:latin typeface="Arial" pitchFamily="34" charset="0"/>
                <a:ea typeface="Arial" pitchFamily="34" charset="-122"/>
                <a:cs typeface="Arial" pitchFamily="34" charset="-120"/>
              </a:rPr>
              <a:t>.</a:t>
            </a:r>
            <a:endParaRPr lang="en-US" sz="1400" dirty="0"/>
          </a:p>
        </p:txBody>
      </p:sp>
      <p:sp>
        <p:nvSpPr>
          <p:cNvPr id="38" name="Shape 12">
            <a:extLst>
              <a:ext uri="{FF2B5EF4-FFF2-40B4-BE49-F238E27FC236}">
                <a16:creationId xmlns:a16="http://schemas.microsoft.com/office/drawing/2014/main" id="{31129902-BCD6-B619-20CD-FF71DC28C58D}"/>
              </a:ext>
            </a:extLst>
          </p:cNvPr>
          <p:cNvSpPr/>
          <p:nvPr/>
        </p:nvSpPr>
        <p:spPr>
          <a:xfrm>
            <a:off x="4950511" y="3204149"/>
            <a:ext cx="6235395" cy="1558352"/>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39" name="Text 13">
            <a:extLst>
              <a:ext uri="{FF2B5EF4-FFF2-40B4-BE49-F238E27FC236}">
                <a16:creationId xmlns:a16="http://schemas.microsoft.com/office/drawing/2014/main" id="{D333D71B-7735-4E3B-E0A9-25B8FC061182}"/>
              </a:ext>
            </a:extLst>
          </p:cNvPr>
          <p:cNvSpPr/>
          <p:nvPr/>
        </p:nvSpPr>
        <p:spPr>
          <a:xfrm>
            <a:off x="5154421" y="3422054"/>
            <a:ext cx="982675"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2</a:t>
            </a:r>
            <a:endParaRPr lang="en-US" sz="1400" dirty="0"/>
          </a:p>
        </p:txBody>
      </p:sp>
      <p:sp>
        <p:nvSpPr>
          <p:cNvPr id="40" name="Shape 14">
            <a:extLst>
              <a:ext uri="{FF2B5EF4-FFF2-40B4-BE49-F238E27FC236}">
                <a16:creationId xmlns:a16="http://schemas.microsoft.com/office/drawing/2014/main" id="{7DCB8AE1-83C3-86FD-2DDC-531AB43D0E1D}"/>
              </a:ext>
            </a:extLst>
          </p:cNvPr>
          <p:cNvSpPr/>
          <p:nvPr/>
        </p:nvSpPr>
        <p:spPr>
          <a:xfrm>
            <a:off x="5522011" y="3560158"/>
            <a:ext cx="4736638" cy="45719"/>
          </a:xfrm>
          <a:prstGeom prst="rect">
            <a:avLst/>
          </a:prstGeom>
          <a:solidFill>
            <a:srgbClr val="DBDEE2"/>
          </a:solidFill>
          <a:ln/>
        </p:spPr>
        <p:txBody>
          <a:bodyPr/>
          <a:lstStyle/>
          <a:p>
            <a:endParaRPr lang="de-DE"/>
          </a:p>
        </p:txBody>
      </p:sp>
      <p:sp>
        <p:nvSpPr>
          <p:cNvPr id="41" name="Text 15">
            <a:extLst>
              <a:ext uri="{FF2B5EF4-FFF2-40B4-BE49-F238E27FC236}">
                <a16:creationId xmlns:a16="http://schemas.microsoft.com/office/drawing/2014/main" id="{F9C655DB-7830-A7FF-D5A2-0E4F3ABB8791}"/>
              </a:ext>
            </a:extLst>
          </p:cNvPr>
          <p:cNvSpPr/>
          <p:nvPr/>
        </p:nvSpPr>
        <p:spPr>
          <a:xfrm>
            <a:off x="5154422" y="3455709"/>
            <a:ext cx="5448901" cy="1192985"/>
          </a:xfrm>
          <a:prstGeom prst="rect">
            <a:avLst/>
          </a:prstGeom>
          <a:noFill/>
          <a:ln/>
        </p:spPr>
        <p:txBody>
          <a:bodyPr wrap="square" rtlCol="0" anchor="ctr"/>
          <a:lstStyle/>
          <a:p>
            <a:pPr>
              <a:lnSpc>
                <a:spcPct val="130000"/>
              </a:lnSpc>
            </a:pPr>
            <a:r>
              <a:rPr lang="en-US" sz="1400" dirty="0">
                <a:solidFill>
                  <a:srgbClr val="F2EFDA"/>
                </a:solidFill>
                <a:latin typeface="Arial" pitchFamily="34" charset="0"/>
                <a:ea typeface="Arial" pitchFamily="34" charset="-122"/>
                <a:cs typeface="Arial" pitchFamily="34" charset="-120"/>
              </a:rPr>
              <a:t xml:space="preserve">Labels </a:t>
            </a:r>
            <a:r>
              <a:rPr lang="en-US" sz="1400" dirty="0" err="1">
                <a:solidFill>
                  <a:srgbClr val="F2EFDA"/>
                </a:solidFill>
                <a:latin typeface="Arial" pitchFamily="34" charset="0"/>
                <a:ea typeface="Arial" pitchFamily="34" charset="-122"/>
                <a:cs typeface="Arial" pitchFamily="34" charset="-120"/>
              </a:rPr>
              <a:t>direkt</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aus</a:t>
            </a:r>
            <a:r>
              <a:rPr lang="en-US" sz="1400" dirty="0">
                <a:solidFill>
                  <a:srgbClr val="F2EFDA"/>
                </a:solidFill>
                <a:latin typeface="Arial" pitchFamily="34" charset="0"/>
                <a:ea typeface="Arial" pitchFamily="34" charset="-122"/>
                <a:cs typeface="Arial" pitchFamily="34" charset="-120"/>
              </a:rPr>
              <a:t xml:space="preserve"> den </a:t>
            </a:r>
            <a:r>
              <a:rPr lang="en-US" sz="1400" dirty="0" err="1">
                <a:solidFill>
                  <a:srgbClr val="F2EFDA"/>
                </a:solidFill>
                <a:latin typeface="Arial" pitchFamily="34" charset="0"/>
                <a:ea typeface="Arial" pitchFamily="34" charset="-122"/>
                <a:cs typeface="Arial" pitchFamily="34" charset="-120"/>
              </a:rPr>
              <a:t>Dimensionen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ableitbar</a:t>
            </a:r>
            <a:r>
              <a:rPr lang="en-US" sz="1400" dirty="0">
                <a:solidFill>
                  <a:srgbClr val="F2EFDA"/>
                </a:solidFill>
                <a:latin typeface="Arial" pitchFamily="34" charset="0"/>
                <a:ea typeface="Arial" pitchFamily="34" charset="-122"/>
                <a:cs typeface="Arial" pitchFamily="34" charset="-120"/>
              </a:rPr>
              <a:t xml:space="preserve"> — Portfolio-Sort-</a:t>
            </a:r>
            <a:r>
              <a:rPr lang="en-US" sz="1400" dirty="0" err="1">
                <a:solidFill>
                  <a:srgbClr val="F2EFDA"/>
                </a:solidFill>
                <a:latin typeface="Arial" pitchFamily="34" charset="0"/>
                <a:ea typeface="Arial" pitchFamily="34" charset="-122"/>
                <a:cs typeface="Arial" pitchFamily="34" charset="-120"/>
              </a:rPr>
              <a:t>Logik</a:t>
            </a:r>
            <a:r>
              <a:rPr lang="en-US" sz="1400" dirty="0">
                <a:solidFill>
                  <a:srgbClr val="F2EFDA"/>
                </a:solidFill>
                <a:latin typeface="Arial" pitchFamily="34" charset="0"/>
                <a:ea typeface="Arial" pitchFamily="34" charset="-122"/>
                <a:cs typeface="Arial" pitchFamily="34" charset="-120"/>
              </a:rPr>
              <a:t xml:space="preserve"> (Fama/French 1993).</a:t>
            </a:r>
            <a:endParaRPr lang="en-US" sz="1400" dirty="0"/>
          </a:p>
        </p:txBody>
      </p:sp>
      <p:sp>
        <p:nvSpPr>
          <p:cNvPr id="43" name="Shape 12">
            <a:extLst>
              <a:ext uri="{FF2B5EF4-FFF2-40B4-BE49-F238E27FC236}">
                <a16:creationId xmlns:a16="http://schemas.microsoft.com/office/drawing/2014/main" id="{ADD21BA8-B013-6439-1669-2B1DAF584939}"/>
              </a:ext>
            </a:extLst>
          </p:cNvPr>
          <p:cNvSpPr/>
          <p:nvPr/>
        </p:nvSpPr>
        <p:spPr>
          <a:xfrm>
            <a:off x="4950511" y="5014061"/>
            <a:ext cx="6235395" cy="1558352"/>
          </a:xfrm>
          <a:prstGeom prst="roundRect">
            <a:avLst>
              <a:gd name="adj" fmla="val 3717"/>
            </a:avLst>
          </a:prstGeom>
          <a:solidFill>
            <a:srgbClr val="153B29"/>
          </a:solidFill>
          <a:ln w="12700">
            <a:solidFill>
              <a:srgbClr val="2B513D"/>
            </a:solidFill>
            <a:prstDash val="solid"/>
          </a:ln>
        </p:spPr>
        <p:txBody>
          <a:bodyPr/>
          <a:lstStyle/>
          <a:p>
            <a:endParaRPr lang="de-DE" dirty="0"/>
          </a:p>
        </p:txBody>
      </p:sp>
      <p:sp>
        <p:nvSpPr>
          <p:cNvPr id="44" name="Text 13">
            <a:extLst>
              <a:ext uri="{FF2B5EF4-FFF2-40B4-BE49-F238E27FC236}">
                <a16:creationId xmlns:a16="http://schemas.microsoft.com/office/drawing/2014/main" id="{BC43F0F2-B75D-F18B-705B-F8E91A32425B}"/>
              </a:ext>
            </a:extLst>
          </p:cNvPr>
          <p:cNvSpPr/>
          <p:nvPr/>
        </p:nvSpPr>
        <p:spPr>
          <a:xfrm>
            <a:off x="5154421" y="5231966"/>
            <a:ext cx="982675" cy="296726"/>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cs typeface="Courier New" pitchFamily="34" charset="-120"/>
              </a:rPr>
              <a:t>2</a:t>
            </a:r>
            <a:endParaRPr lang="en-US" sz="1400" dirty="0"/>
          </a:p>
        </p:txBody>
      </p:sp>
      <p:sp>
        <p:nvSpPr>
          <p:cNvPr id="45" name="Shape 14">
            <a:extLst>
              <a:ext uri="{FF2B5EF4-FFF2-40B4-BE49-F238E27FC236}">
                <a16:creationId xmlns:a16="http://schemas.microsoft.com/office/drawing/2014/main" id="{9C786DE1-D166-8348-3A77-90DB04F41137}"/>
              </a:ext>
            </a:extLst>
          </p:cNvPr>
          <p:cNvSpPr/>
          <p:nvPr/>
        </p:nvSpPr>
        <p:spPr>
          <a:xfrm>
            <a:off x="5522011" y="5370070"/>
            <a:ext cx="4736638" cy="45719"/>
          </a:xfrm>
          <a:prstGeom prst="rect">
            <a:avLst/>
          </a:prstGeom>
          <a:solidFill>
            <a:srgbClr val="DBDEE2"/>
          </a:solidFill>
          <a:ln/>
        </p:spPr>
        <p:txBody>
          <a:bodyPr/>
          <a:lstStyle/>
          <a:p>
            <a:endParaRPr lang="de-DE"/>
          </a:p>
        </p:txBody>
      </p:sp>
      <p:sp>
        <p:nvSpPr>
          <p:cNvPr id="46" name="Text 15">
            <a:extLst>
              <a:ext uri="{FF2B5EF4-FFF2-40B4-BE49-F238E27FC236}">
                <a16:creationId xmlns:a16="http://schemas.microsoft.com/office/drawing/2014/main" id="{2F9779FA-E5BC-D265-7BD6-B12B84E76E69}"/>
              </a:ext>
            </a:extLst>
          </p:cNvPr>
          <p:cNvSpPr/>
          <p:nvPr/>
        </p:nvSpPr>
        <p:spPr>
          <a:xfrm>
            <a:off x="5154422" y="5265621"/>
            <a:ext cx="5448901" cy="1192985"/>
          </a:xfrm>
          <a:prstGeom prst="rect">
            <a:avLst/>
          </a:prstGeom>
          <a:noFill/>
          <a:ln/>
        </p:spPr>
        <p:txBody>
          <a:bodyPr wrap="square" rtlCol="0" anchor="ctr"/>
          <a:lstStyle/>
          <a:p>
            <a:pPr>
              <a:lnSpc>
                <a:spcPct val="130000"/>
              </a:lnSpc>
            </a:pPr>
            <a:r>
              <a:rPr lang="en-US" sz="1400" dirty="0" err="1">
                <a:solidFill>
                  <a:srgbClr val="F2EFDA"/>
                </a:solidFill>
                <a:latin typeface="Arial" pitchFamily="34" charset="0"/>
                <a:ea typeface="Arial" pitchFamily="34" charset="-122"/>
                <a:cs typeface="Arial" pitchFamily="34" charset="-120"/>
              </a:rPr>
              <a:t>Achsen</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unabhängig</a:t>
            </a:r>
            <a:r>
              <a:rPr lang="en-US" sz="1400" dirty="0">
                <a:solidFill>
                  <a:srgbClr val="F2EFDA"/>
                </a:solidFill>
                <a:latin typeface="Arial" pitchFamily="34" charset="0"/>
                <a:ea typeface="Arial" pitchFamily="34" charset="-122"/>
                <a:cs typeface="Arial" pitchFamily="34" charset="-120"/>
              </a:rPr>
              <a:t xml:space="preserve">: </a:t>
            </a:r>
            <a:r>
              <a:rPr lang="en-US" sz="1400" dirty="0" err="1">
                <a:solidFill>
                  <a:srgbClr val="F2EFDA"/>
                </a:solidFill>
                <a:latin typeface="Arial" pitchFamily="34" charset="0"/>
                <a:ea typeface="Arial" pitchFamily="34" charset="-122"/>
                <a:cs typeface="Arial" pitchFamily="34" charset="-120"/>
              </a:rPr>
              <a:t>gemeinsame</a:t>
            </a:r>
            <a:r>
              <a:rPr lang="en-US" sz="1400" dirty="0">
                <a:solidFill>
                  <a:srgbClr val="F2EFDA"/>
                </a:solidFill>
                <a:latin typeface="Arial" pitchFamily="34" charset="0"/>
                <a:ea typeface="Arial" pitchFamily="34" charset="-122"/>
                <a:cs typeface="Arial" pitchFamily="34" charset="-120"/>
              </a:rPr>
              <a:t xml:space="preserve"> Variation ρ² ≤ 6 %.</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06 / 15</a:t>
            </a:r>
            <a:endParaRPr lang="en-US" sz="1200" dirty="0"/>
          </a:p>
        </p:txBody>
      </p:sp>
      <p:sp>
        <p:nvSpPr>
          <p:cNvPr id="6" name="Text 3"/>
          <p:cNvSpPr/>
          <p:nvPr/>
        </p:nvSpPr>
        <p:spPr>
          <a:xfrm>
            <a:off x="634594" y="761695"/>
            <a:ext cx="10921594" cy="418795"/>
          </a:xfrm>
          <a:prstGeom prst="rect">
            <a:avLst/>
          </a:prstGeom>
          <a:noFill/>
          <a:ln/>
        </p:spPr>
        <p:txBody>
          <a:bodyPr wrap="square" rtlCol="0" anchor="t"/>
          <a:lstStyle/>
          <a:p>
            <a:pPr marL="0" indent="0">
              <a:lnSpc>
                <a:spcPct val="100000"/>
              </a:lnSpc>
              <a:buNone/>
            </a:pPr>
            <a:r>
              <a:rPr lang="en-US" sz="2200" b="1" kern="0" spc="-50" dirty="0">
                <a:solidFill>
                  <a:srgbClr val="F2EFDA"/>
                </a:solidFill>
                <a:latin typeface="Arial" pitchFamily="34" charset="0"/>
                <a:ea typeface="Arial" pitchFamily="34" charset="-122"/>
                <a:cs typeface="Arial" pitchFamily="34" charset="-120"/>
              </a:rPr>
              <a:t>Drei Dynamiktypen — getrennt nach Kennzahlgruppe</a:t>
            </a:r>
            <a:endParaRPr lang="en-US" sz="2200" dirty="0"/>
          </a:p>
        </p:txBody>
      </p:sp>
      <p:sp>
        <p:nvSpPr>
          <p:cNvPr id="7" name="Shape 4"/>
          <p:cNvSpPr/>
          <p:nvPr/>
        </p:nvSpPr>
        <p:spPr>
          <a:xfrm>
            <a:off x="634594" y="1651406"/>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8" name="Shape 5"/>
          <p:cNvSpPr/>
          <p:nvPr/>
        </p:nvSpPr>
        <p:spPr>
          <a:xfrm>
            <a:off x="634594" y="1651406"/>
            <a:ext cx="38405" cy="698602"/>
          </a:xfrm>
          <a:prstGeom prst="rect">
            <a:avLst/>
          </a:prstGeom>
          <a:solidFill>
            <a:srgbClr val="79A2F9"/>
          </a:solidFill>
          <a:ln/>
        </p:spPr>
        <p:txBody>
          <a:bodyPr/>
          <a:lstStyle/>
          <a:p>
            <a:endParaRPr lang="de-DE"/>
          </a:p>
        </p:txBody>
      </p:sp>
      <p:sp>
        <p:nvSpPr>
          <p:cNvPr id="9" name="Text 6"/>
          <p:cNvSpPr/>
          <p:nvPr/>
        </p:nvSpPr>
        <p:spPr>
          <a:xfrm>
            <a:off x="888797" y="1765706"/>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Profitabilität</a:t>
            </a:r>
            <a:endParaRPr lang="en-US" sz="1400" dirty="0"/>
          </a:p>
        </p:txBody>
      </p:sp>
      <p:sp>
        <p:nvSpPr>
          <p:cNvPr id="10" name="Text 7"/>
          <p:cNvSpPr/>
          <p:nvPr/>
        </p:nvSpPr>
        <p:spPr>
          <a:xfrm>
            <a:off x="888797" y="2044598"/>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&gt; 90 % signifikant — starke Mean-Reversion</a:t>
            </a:r>
            <a:endParaRPr lang="en-US" sz="900" dirty="0"/>
          </a:p>
        </p:txBody>
      </p:sp>
      <p:sp>
        <p:nvSpPr>
          <p:cNvPr id="11" name="Text 8"/>
          <p:cNvSpPr/>
          <p:nvPr/>
        </p:nvSpPr>
        <p:spPr>
          <a:xfrm>
            <a:off x="4444898" y="1651406"/>
            <a:ext cx="2184502" cy="698602"/>
          </a:xfrm>
          <a:prstGeom prst="rect">
            <a:avLst/>
          </a:prstGeom>
          <a:noFill/>
          <a:ln/>
        </p:spPr>
        <p:txBody>
          <a:bodyPr wrap="square" rtlCol="0" anchor="ctr"/>
          <a:lstStyle/>
          <a:p>
            <a:pPr marL="0" indent="0" algn="r">
              <a:lnSpc>
                <a:spcPct val="105000"/>
              </a:lnSpc>
              <a:buNone/>
            </a:pPr>
            <a:r>
              <a:rPr lang="en-US" sz="1400" b="1" dirty="0">
                <a:solidFill>
                  <a:srgbClr val="79A2F9"/>
                </a:solidFill>
                <a:latin typeface="Courier New" pitchFamily="34" charset="0"/>
                <a:ea typeface="Courier New" pitchFamily="34" charset="-122"/>
                <a:cs typeface="Courier New" pitchFamily="34" charset="-120"/>
              </a:rPr>
              <a:t>−0,43…−0,46</a:t>
            </a:r>
            <a:endParaRPr lang="en-US" sz="1400" dirty="0"/>
          </a:p>
        </p:txBody>
      </p:sp>
      <p:sp>
        <p:nvSpPr>
          <p:cNvPr id="12" name="Shape 9"/>
          <p:cNvSpPr/>
          <p:nvPr/>
        </p:nvSpPr>
        <p:spPr>
          <a:xfrm>
            <a:off x="634594" y="2463394"/>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3" name="Shape 10"/>
          <p:cNvSpPr/>
          <p:nvPr/>
        </p:nvSpPr>
        <p:spPr>
          <a:xfrm>
            <a:off x="634594" y="2463394"/>
            <a:ext cx="38405" cy="698602"/>
          </a:xfrm>
          <a:prstGeom prst="rect">
            <a:avLst/>
          </a:prstGeom>
          <a:solidFill>
            <a:srgbClr val="3EB977"/>
          </a:solidFill>
          <a:ln/>
        </p:spPr>
        <p:txBody>
          <a:bodyPr/>
          <a:lstStyle/>
          <a:p>
            <a:endParaRPr lang="de-DE"/>
          </a:p>
        </p:txBody>
      </p:sp>
      <p:sp>
        <p:nvSpPr>
          <p:cNvPr id="14" name="Text 11"/>
          <p:cNvSpPr/>
          <p:nvPr/>
        </p:nvSpPr>
        <p:spPr>
          <a:xfrm>
            <a:off x="888797" y="2577694"/>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Liquidität</a:t>
            </a:r>
            <a:endParaRPr lang="en-US" sz="1400" dirty="0"/>
          </a:p>
        </p:txBody>
      </p:sp>
      <p:sp>
        <p:nvSpPr>
          <p:cNvPr id="15" name="Text 12"/>
          <p:cNvSpPr/>
          <p:nvPr/>
        </p:nvSpPr>
        <p:spPr>
          <a:xfrm>
            <a:off x="888797" y="2857500"/>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moderate Korrektur, höchste Volatilität</a:t>
            </a:r>
            <a:endParaRPr lang="en-US" sz="900" dirty="0"/>
          </a:p>
        </p:txBody>
      </p:sp>
      <p:sp>
        <p:nvSpPr>
          <p:cNvPr id="16" name="Text 13"/>
          <p:cNvSpPr/>
          <p:nvPr/>
        </p:nvSpPr>
        <p:spPr>
          <a:xfrm>
            <a:off x="4444898" y="2463394"/>
            <a:ext cx="2184502" cy="698602"/>
          </a:xfrm>
          <a:prstGeom prst="rect">
            <a:avLst/>
          </a:prstGeom>
          <a:noFill/>
          <a:ln/>
        </p:spPr>
        <p:txBody>
          <a:bodyPr wrap="square" rtlCol="0" anchor="ctr"/>
          <a:lstStyle/>
          <a:p>
            <a:pPr marL="0" indent="0" algn="r">
              <a:lnSpc>
                <a:spcPct val="105000"/>
              </a:lnSpc>
              <a:buNone/>
            </a:pPr>
            <a:r>
              <a:rPr lang="en-US" sz="1400" b="1" dirty="0">
                <a:solidFill>
                  <a:srgbClr val="3EB977"/>
                </a:solidFill>
                <a:latin typeface="Courier New" pitchFamily="34" charset="0"/>
                <a:ea typeface="Courier New" pitchFamily="34" charset="-122"/>
                <a:cs typeface="Courier New" pitchFamily="34" charset="-120"/>
              </a:rPr>
              <a:t>−0,17</a:t>
            </a:r>
            <a:endParaRPr lang="en-US" sz="1400" dirty="0"/>
          </a:p>
        </p:txBody>
      </p:sp>
      <p:sp>
        <p:nvSpPr>
          <p:cNvPr id="17" name="Shape 14"/>
          <p:cNvSpPr/>
          <p:nvPr/>
        </p:nvSpPr>
        <p:spPr>
          <a:xfrm>
            <a:off x="634594" y="3276295"/>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8" name="Shape 15"/>
          <p:cNvSpPr/>
          <p:nvPr/>
        </p:nvSpPr>
        <p:spPr>
          <a:xfrm>
            <a:off x="634594" y="3276295"/>
            <a:ext cx="38405" cy="698602"/>
          </a:xfrm>
          <a:prstGeom prst="rect">
            <a:avLst/>
          </a:prstGeom>
          <a:solidFill>
            <a:srgbClr val="F36451"/>
          </a:solidFill>
          <a:ln/>
        </p:spPr>
        <p:txBody>
          <a:bodyPr/>
          <a:lstStyle/>
          <a:p>
            <a:endParaRPr lang="de-DE"/>
          </a:p>
        </p:txBody>
      </p:sp>
      <p:sp>
        <p:nvSpPr>
          <p:cNvPr id="19" name="Text 16"/>
          <p:cNvSpPr/>
          <p:nvPr/>
        </p:nvSpPr>
        <p:spPr>
          <a:xfrm>
            <a:off x="888797" y="3390595"/>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Kapitalstruktur</a:t>
            </a:r>
            <a:endParaRPr lang="en-US" sz="1400" dirty="0"/>
          </a:p>
        </p:txBody>
      </p:sp>
      <p:sp>
        <p:nvSpPr>
          <p:cNvPr id="20" name="Text 17"/>
          <p:cNvSpPr/>
          <p:nvPr/>
        </p:nvSpPr>
        <p:spPr>
          <a:xfrm>
            <a:off x="888797" y="3670402"/>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kaum Korrektur — ⅓ ohne Mean-Reversion</a:t>
            </a:r>
            <a:endParaRPr lang="en-US" sz="900" dirty="0"/>
          </a:p>
        </p:txBody>
      </p:sp>
      <p:sp>
        <p:nvSpPr>
          <p:cNvPr id="21" name="Text 18"/>
          <p:cNvSpPr/>
          <p:nvPr/>
        </p:nvSpPr>
        <p:spPr>
          <a:xfrm>
            <a:off x="4444898" y="3276295"/>
            <a:ext cx="2184502" cy="698602"/>
          </a:xfrm>
          <a:prstGeom prst="rect">
            <a:avLst/>
          </a:prstGeom>
          <a:noFill/>
          <a:ln/>
        </p:spPr>
        <p:txBody>
          <a:bodyPr wrap="square" rtlCol="0" anchor="ctr"/>
          <a:lstStyle/>
          <a:p>
            <a:pPr marL="0" indent="0" algn="r">
              <a:lnSpc>
                <a:spcPct val="105000"/>
              </a:lnSpc>
              <a:buNone/>
            </a:pPr>
            <a:r>
              <a:rPr lang="en-US" sz="1400" b="1" dirty="0">
                <a:solidFill>
                  <a:srgbClr val="F36451"/>
                </a:solidFill>
                <a:latin typeface="Courier New" pitchFamily="34" charset="0"/>
                <a:ea typeface="Courier New" pitchFamily="34" charset="-122"/>
                <a:cs typeface="Courier New" pitchFamily="34" charset="-120"/>
              </a:rPr>
              <a:t>−0,04…−0,09</a:t>
            </a:r>
            <a:endParaRPr lang="en-US" sz="1400" dirty="0"/>
          </a:p>
        </p:txBody>
      </p:sp>
      <p:sp>
        <p:nvSpPr>
          <p:cNvPr id="22" name="Text 19"/>
          <p:cNvSpPr/>
          <p:nvPr/>
        </p:nvSpPr>
        <p:spPr>
          <a:xfrm>
            <a:off x="634594" y="4267505"/>
            <a:ext cx="6096305" cy="381305"/>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 xml:space="preserve">Robust über </a:t>
            </a:r>
            <a:r>
              <a:rPr lang="en-US" sz="1000" b="1" dirty="0">
                <a:solidFill>
                  <a:srgbClr val="F2EFDA"/>
                </a:solidFill>
                <a:latin typeface="Arial" pitchFamily="34" charset="0"/>
                <a:ea typeface="Arial" pitchFamily="34" charset="-122"/>
                <a:cs typeface="Arial" pitchFamily="34" charset="-120"/>
              </a:rPr>
              <a:t>4 Modellspezifikationen, 4 Stichprobenschwellen und 4 Zeitfenster</a:t>
            </a:r>
            <a:r>
              <a:rPr lang="en-US" sz="1000" dirty="0">
                <a:solidFill>
                  <a:srgbClr val="B3BC9A"/>
                </a:solidFill>
                <a:latin typeface="Arial" pitchFamily="34" charset="0"/>
                <a:ea typeface="Arial" pitchFamily="34" charset="-122"/>
                <a:cs typeface="Arial" pitchFamily="34" charset="-120"/>
              </a:rPr>
              <a:t>.</a:t>
            </a:r>
            <a:endParaRPr lang="en-US" sz="1000" dirty="0"/>
          </a:p>
        </p:txBody>
      </p:sp>
      <p:sp>
        <p:nvSpPr>
          <p:cNvPr id="23" name="Shape 20"/>
          <p:cNvSpPr/>
          <p:nvPr/>
        </p:nvSpPr>
        <p:spPr>
          <a:xfrm>
            <a:off x="7492594" y="1904695"/>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24" name="Text 21"/>
          <p:cNvSpPr/>
          <p:nvPr/>
        </p:nvSpPr>
        <p:spPr>
          <a:xfrm>
            <a:off x="7606894" y="20061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6AA7F4"/>
                </a:solidFill>
                <a:latin typeface="Courier New" pitchFamily="34" charset="0"/>
                <a:ea typeface="Courier New" pitchFamily="34" charset="-122"/>
                <a:cs typeface="Courier New" pitchFamily="34" charset="-120"/>
              </a:rPr>
              <a:t>KORREKTIV-VOLATIL</a:t>
            </a:r>
            <a:endParaRPr lang="en-US" sz="800" dirty="0"/>
          </a:p>
        </p:txBody>
      </p:sp>
      <p:sp>
        <p:nvSpPr>
          <p:cNvPr id="25" name="Text 22"/>
          <p:cNvSpPr/>
          <p:nvPr/>
        </p:nvSpPr>
        <p:spPr>
          <a:xfrm>
            <a:off x="7606894" y="2320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große Ausschläge, korrigiert</a:t>
            </a:r>
            <a:endParaRPr lang="en-US" sz="800" dirty="0"/>
          </a:p>
        </p:txBody>
      </p:sp>
      <p:sp>
        <p:nvSpPr>
          <p:cNvPr id="26" name="Shape 23"/>
          <p:cNvSpPr/>
          <p:nvPr/>
        </p:nvSpPr>
        <p:spPr>
          <a:xfrm>
            <a:off x="8978494" y="1904695"/>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27" name="Text 24"/>
          <p:cNvSpPr/>
          <p:nvPr/>
        </p:nvSpPr>
        <p:spPr>
          <a:xfrm>
            <a:off x="9092794" y="20061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F36451"/>
                </a:solidFill>
                <a:latin typeface="Courier New" pitchFamily="34" charset="0"/>
                <a:ea typeface="Courier New" pitchFamily="34" charset="-122"/>
                <a:cs typeface="Courier New" pitchFamily="34" charset="-120"/>
              </a:rPr>
              <a:t>PERSISTENT-VOLATIL</a:t>
            </a:r>
            <a:endParaRPr lang="en-US" sz="800" dirty="0"/>
          </a:p>
        </p:txBody>
      </p:sp>
      <p:sp>
        <p:nvSpPr>
          <p:cNvPr id="28" name="Text 25"/>
          <p:cNvSpPr/>
          <p:nvPr/>
        </p:nvSpPr>
        <p:spPr>
          <a:xfrm>
            <a:off x="9092794" y="2320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höchstes Risiko</a:t>
            </a:r>
            <a:endParaRPr lang="en-US" sz="800" dirty="0"/>
          </a:p>
        </p:txBody>
      </p:sp>
      <p:sp>
        <p:nvSpPr>
          <p:cNvPr id="29" name="Shape 26"/>
          <p:cNvSpPr/>
          <p:nvPr/>
        </p:nvSpPr>
        <p:spPr>
          <a:xfrm>
            <a:off x="7492594" y="3390595"/>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30" name="Text 27"/>
          <p:cNvSpPr/>
          <p:nvPr/>
        </p:nvSpPr>
        <p:spPr>
          <a:xfrm>
            <a:off x="7606894" y="34920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3EB977"/>
                </a:solidFill>
                <a:latin typeface="Courier New" pitchFamily="34" charset="0"/>
                <a:ea typeface="Courier New" pitchFamily="34" charset="-122"/>
                <a:cs typeface="Courier New" pitchFamily="34" charset="-120"/>
              </a:rPr>
              <a:t>KORREKTIV-STABIL</a:t>
            </a:r>
            <a:endParaRPr lang="en-US" sz="800" dirty="0"/>
          </a:p>
        </p:txBody>
      </p:sp>
      <p:sp>
        <p:nvSpPr>
          <p:cNvPr id="31" name="Text 28"/>
          <p:cNvSpPr/>
          <p:nvPr/>
        </p:nvSpPr>
        <p:spPr>
          <a:xfrm>
            <a:off x="7606894" y="3805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höchste Vorhersagbarkeit</a:t>
            </a:r>
            <a:endParaRPr lang="en-US" sz="800" dirty="0"/>
          </a:p>
        </p:txBody>
      </p:sp>
      <p:sp>
        <p:nvSpPr>
          <p:cNvPr id="32" name="Shape 29"/>
          <p:cNvSpPr/>
          <p:nvPr/>
        </p:nvSpPr>
        <p:spPr>
          <a:xfrm>
            <a:off x="8978494" y="3390595"/>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33" name="Text 30"/>
          <p:cNvSpPr/>
          <p:nvPr/>
        </p:nvSpPr>
        <p:spPr>
          <a:xfrm>
            <a:off x="9092794" y="34920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E4CA5F"/>
                </a:solidFill>
                <a:latin typeface="Courier New" pitchFamily="34" charset="0"/>
                <a:ea typeface="Courier New" pitchFamily="34" charset="-122"/>
                <a:cs typeface="Courier New" pitchFamily="34" charset="-120"/>
              </a:rPr>
              <a:t>PERSISTENT-STABIL</a:t>
            </a:r>
            <a:endParaRPr lang="en-US" sz="800" dirty="0"/>
          </a:p>
        </p:txBody>
      </p:sp>
      <p:sp>
        <p:nvSpPr>
          <p:cNvPr id="34" name="Text 31"/>
          <p:cNvSpPr/>
          <p:nvPr/>
        </p:nvSpPr>
        <p:spPr>
          <a:xfrm>
            <a:off x="9092794" y="3805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träger Drift</a:t>
            </a:r>
            <a:endParaRPr lang="en-US" sz="800" dirty="0"/>
          </a:p>
        </p:txBody>
      </p:sp>
      <p:sp>
        <p:nvSpPr>
          <p:cNvPr id="35" name="Shape 32"/>
          <p:cNvSpPr/>
          <p:nvPr/>
        </p:nvSpPr>
        <p:spPr>
          <a:xfrm>
            <a:off x="8941003" y="1904695"/>
            <a:ext cx="25603" cy="2920594"/>
          </a:xfrm>
          <a:prstGeom prst="rect">
            <a:avLst/>
          </a:prstGeom>
          <a:solidFill>
            <a:srgbClr val="DBDEE2"/>
          </a:solidFill>
          <a:ln/>
        </p:spPr>
        <p:txBody>
          <a:bodyPr/>
          <a:lstStyle/>
          <a:p>
            <a:endParaRPr lang="de-DE"/>
          </a:p>
        </p:txBody>
      </p:sp>
      <p:sp>
        <p:nvSpPr>
          <p:cNvPr id="36" name="Shape 33"/>
          <p:cNvSpPr/>
          <p:nvPr/>
        </p:nvSpPr>
        <p:spPr>
          <a:xfrm>
            <a:off x="7492594" y="3353105"/>
            <a:ext cx="2920594" cy="25603"/>
          </a:xfrm>
          <a:prstGeom prst="rect">
            <a:avLst/>
          </a:prstGeom>
          <a:solidFill>
            <a:srgbClr val="DBDEE2"/>
          </a:solidFill>
          <a:ln/>
        </p:spPr>
        <p:txBody>
          <a:bodyPr/>
          <a:lstStyle/>
          <a:p>
            <a:endParaRPr lang="de-DE"/>
          </a:p>
        </p:txBody>
      </p:sp>
      <p:sp>
        <p:nvSpPr>
          <p:cNvPr id="37" name="Shape 34"/>
          <p:cNvSpPr/>
          <p:nvPr/>
        </p:nvSpPr>
        <p:spPr>
          <a:xfrm>
            <a:off x="8169250" y="4330000"/>
            <a:ext cx="107899" cy="107899"/>
          </a:xfrm>
          <a:prstGeom prst="ellipse">
            <a:avLst/>
          </a:prstGeom>
          <a:solidFill>
            <a:srgbClr val="3EB977"/>
          </a:solidFill>
          <a:ln/>
        </p:spPr>
        <p:txBody>
          <a:bodyPr/>
          <a:lstStyle/>
          <a:p>
            <a:endParaRPr lang="de-DE"/>
          </a:p>
        </p:txBody>
      </p:sp>
      <p:sp>
        <p:nvSpPr>
          <p:cNvPr id="38" name="Shape 35"/>
          <p:cNvSpPr/>
          <p:nvPr/>
        </p:nvSpPr>
        <p:spPr>
          <a:xfrm>
            <a:off x="8343900" y="2727655"/>
            <a:ext cx="107899" cy="107899"/>
          </a:xfrm>
          <a:prstGeom prst="ellipse">
            <a:avLst/>
          </a:prstGeom>
          <a:solidFill>
            <a:srgbClr val="6AA7F4"/>
          </a:solidFill>
          <a:ln/>
        </p:spPr>
        <p:txBody>
          <a:bodyPr/>
          <a:lstStyle/>
          <a:p>
            <a:endParaRPr lang="de-DE"/>
          </a:p>
        </p:txBody>
      </p:sp>
      <p:sp>
        <p:nvSpPr>
          <p:cNvPr id="39" name="Shape 36"/>
          <p:cNvSpPr/>
          <p:nvPr/>
        </p:nvSpPr>
        <p:spPr>
          <a:xfrm>
            <a:off x="9556394" y="4280000"/>
            <a:ext cx="107899" cy="107899"/>
          </a:xfrm>
          <a:prstGeom prst="ellipse">
            <a:avLst/>
          </a:prstGeom>
          <a:solidFill>
            <a:srgbClr val="E4CA5F"/>
          </a:solidFill>
          <a:ln/>
        </p:spPr>
        <p:txBody>
          <a:bodyPr/>
          <a:lstStyle/>
          <a:p>
            <a:endParaRPr lang="de-DE"/>
          </a:p>
        </p:txBody>
      </p:sp>
      <p:sp>
        <p:nvSpPr>
          <p:cNvPr id="40" name="Shape 37"/>
          <p:cNvSpPr/>
          <p:nvPr/>
        </p:nvSpPr>
        <p:spPr>
          <a:xfrm>
            <a:off x="9424721" y="2610612"/>
            <a:ext cx="107899" cy="107899"/>
          </a:xfrm>
          <a:prstGeom prst="ellipse">
            <a:avLst/>
          </a:prstGeom>
          <a:solidFill>
            <a:srgbClr val="F36451"/>
          </a:solidFill>
          <a:ln/>
        </p:spPr>
        <p:txBody>
          <a:bodyPr/>
          <a:lstStyle/>
          <a:p>
            <a:endParaRPr lang="de-DE"/>
          </a:p>
        </p:txBody>
      </p:sp>
      <p:sp>
        <p:nvSpPr>
          <p:cNvPr id="3" name="Text 1">
            <a:extLst>
              <a:ext uri="{FF2B5EF4-FFF2-40B4-BE49-F238E27FC236}">
                <a16:creationId xmlns:a16="http://schemas.microsoft.com/office/drawing/2014/main" id="{5D00CEDE-8039-894D-D8AF-D620ADB0137F}"/>
              </a:ext>
            </a:extLst>
          </p:cNvPr>
          <p:cNvSpPr/>
          <p:nvPr/>
        </p:nvSpPr>
        <p:spPr>
          <a:xfrm>
            <a:off x="415959" y="291694"/>
            <a:ext cx="8255203" cy="215798"/>
          </a:xfrm>
          <a:prstGeom prst="rect">
            <a:avLst/>
          </a:prstGeom>
          <a:noFill/>
          <a:ln/>
        </p:spPr>
        <p:txBody>
          <a:bodyPr wrap="square" rtlCol="0" anchor="ctr"/>
          <a:lstStyle/>
          <a:p>
            <a:r>
              <a:rPr lang="en-US" sz="1200" b="1" kern="0" spc="400" dirty="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06 / 15</a:t>
            </a:r>
            <a:endParaRPr lang="en-US" sz="1200" dirty="0"/>
          </a:p>
        </p:txBody>
      </p:sp>
      <p:sp>
        <p:nvSpPr>
          <p:cNvPr id="6" name="Text 3"/>
          <p:cNvSpPr/>
          <p:nvPr/>
        </p:nvSpPr>
        <p:spPr>
          <a:xfrm>
            <a:off x="634594" y="761695"/>
            <a:ext cx="10921594" cy="418795"/>
          </a:xfrm>
          <a:prstGeom prst="rect">
            <a:avLst/>
          </a:prstGeom>
          <a:noFill/>
          <a:ln/>
        </p:spPr>
        <p:txBody>
          <a:bodyPr wrap="square" rtlCol="0" anchor="t"/>
          <a:lstStyle/>
          <a:p>
            <a:pPr marL="0" indent="0">
              <a:lnSpc>
                <a:spcPct val="100000"/>
              </a:lnSpc>
              <a:buNone/>
            </a:pPr>
            <a:r>
              <a:rPr lang="en-US" sz="2200" b="1" kern="0" spc="-50" dirty="0">
                <a:solidFill>
                  <a:srgbClr val="F2EFDA"/>
                </a:solidFill>
                <a:latin typeface="Arial" pitchFamily="34" charset="0"/>
                <a:ea typeface="Arial" pitchFamily="34" charset="-122"/>
                <a:cs typeface="Arial" pitchFamily="34" charset="-120"/>
              </a:rPr>
              <a:t>Drei Dynamiktypen — getrennt nach Kennzahlgruppe</a:t>
            </a:r>
            <a:endParaRPr lang="en-US" sz="2200" dirty="0"/>
          </a:p>
        </p:txBody>
      </p:sp>
      <p:sp>
        <p:nvSpPr>
          <p:cNvPr id="7" name="Shape 4"/>
          <p:cNvSpPr/>
          <p:nvPr/>
        </p:nvSpPr>
        <p:spPr>
          <a:xfrm>
            <a:off x="634594" y="1651406"/>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8" name="Shape 5"/>
          <p:cNvSpPr/>
          <p:nvPr/>
        </p:nvSpPr>
        <p:spPr>
          <a:xfrm>
            <a:off x="634594" y="1651406"/>
            <a:ext cx="38405" cy="698602"/>
          </a:xfrm>
          <a:prstGeom prst="rect">
            <a:avLst/>
          </a:prstGeom>
          <a:solidFill>
            <a:srgbClr val="79A2F9"/>
          </a:solidFill>
          <a:ln/>
        </p:spPr>
        <p:txBody>
          <a:bodyPr/>
          <a:lstStyle/>
          <a:p>
            <a:endParaRPr lang="de-DE"/>
          </a:p>
        </p:txBody>
      </p:sp>
      <p:sp>
        <p:nvSpPr>
          <p:cNvPr id="9" name="Text 6"/>
          <p:cNvSpPr/>
          <p:nvPr/>
        </p:nvSpPr>
        <p:spPr>
          <a:xfrm>
            <a:off x="888797" y="1765706"/>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Profitabilität</a:t>
            </a:r>
            <a:endParaRPr lang="en-US" sz="1400" dirty="0"/>
          </a:p>
        </p:txBody>
      </p:sp>
      <p:sp>
        <p:nvSpPr>
          <p:cNvPr id="10" name="Text 7"/>
          <p:cNvSpPr/>
          <p:nvPr/>
        </p:nvSpPr>
        <p:spPr>
          <a:xfrm>
            <a:off x="888797" y="2044598"/>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&gt; 90 % signifikant — starke Mean-Reversion</a:t>
            </a:r>
            <a:endParaRPr lang="en-US" sz="900" dirty="0"/>
          </a:p>
        </p:txBody>
      </p:sp>
      <p:sp>
        <p:nvSpPr>
          <p:cNvPr id="11" name="Text 8"/>
          <p:cNvSpPr/>
          <p:nvPr/>
        </p:nvSpPr>
        <p:spPr>
          <a:xfrm>
            <a:off x="4444898" y="1651406"/>
            <a:ext cx="2184502" cy="698602"/>
          </a:xfrm>
          <a:prstGeom prst="rect">
            <a:avLst/>
          </a:prstGeom>
          <a:noFill/>
          <a:ln/>
        </p:spPr>
        <p:txBody>
          <a:bodyPr wrap="square" rtlCol="0" anchor="ctr"/>
          <a:lstStyle/>
          <a:p>
            <a:pPr marL="0" indent="0" algn="r">
              <a:lnSpc>
                <a:spcPct val="105000"/>
              </a:lnSpc>
              <a:buNone/>
            </a:pPr>
            <a:r>
              <a:rPr lang="en-US" sz="1400" b="1" dirty="0">
                <a:solidFill>
                  <a:srgbClr val="79A2F9"/>
                </a:solidFill>
                <a:latin typeface="Courier New" pitchFamily="34" charset="0"/>
                <a:ea typeface="Courier New" pitchFamily="34" charset="-122"/>
                <a:cs typeface="Courier New" pitchFamily="34" charset="-120"/>
              </a:rPr>
              <a:t>−0,43…−0,46</a:t>
            </a:r>
            <a:endParaRPr lang="en-US" sz="1400" dirty="0"/>
          </a:p>
        </p:txBody>
      </p:sp>
      <p:sp>
        <p:nvSpPr>
          <p:cNvPr id="12" name="Shape 9"/>
          <p:cNvSpPr/>
          <p:nvPr/>
        </p:nvSpPr>
        <p:spPr>
          <a:xfrm>
            <a:off x="634594" y="2463394"/>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3" name="Shape 10"/>
          <p:cNvSpPr/>
          <p:nvPr/>
        </p:nvSpPr>
        <p:spPr>
          <a:xfrm>
            <a:off x="634594" y="2463394"/>
            <a:ext cx="38405" cy="698602"/>
          </a:xfrm>
          <a:prstGeom prst="rect">
            <a:avLst/>
          </a:prstGeom>
          <a:solidFill>
            <a:srgbClr val="3EB977"/>
          </a:solidFill>
          <a:ln/>
        </p:spPr>
        <p:txBody>
          <a:bodyPr/>
          <a:lstStyle/>
          <a:p>
            <a:endParaRPr lang="de-DE"/>
          </a:p>
        </p:txBody>
      </p:sp>
      <p:sp>
        <p:nvSpPr>
          <p:cNvPr id="14" name="Text 11"/>
          <p:cNvSpPr/>
          <p:nvPr/>
        </p:nvSpPr>
        <p:spPr>
          <a:xfrm>
            <a:off x="888797" y="2577694"/>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Liquidität</a:t>
            </a:r>
            <a:endParaRPr lang="en-US" sz="1400" dirty="0"/>
          </a:p>
        </p:txBody>
      </p:sp>
      <p:sp>
        <p:nvSpPr>
          <p:cNvPr id="15" name="Text 12"/>
          <p:cNvSpPr/>
          <p:nvPr/>
        </p:nvSpPr>
        <p:spPr>
          <a:xfrm>
            <a:off x="888797" y="2857500"/>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moderate Korrektur, höchste Volatilität</a:t>
            </a:r>
            <a:endParaRPr lang="en-US" sz="900" dirty="0"/>
          </a:p>
        </p:txBody>
      </p:sp>
      <p:sp>
        <p:nvSpPr>
          <p:cNvPr id="16" name="Text 13"/>
          <p:cNvSpPr/>
          <p:nvPr/>
        </p:nvSpPr>
        <p:spPr>
          <a:xfrm>
            <a:off x="4444898" y="2463394"/>
            <a:ext cx="2184502" cy="698602"/>
          </a:xfrm>
          <a:prstGeom prst="rect">
            <a:avLst/>
          </a:prstGeom>
          <a:noFill/>
          <a:ln/>
        </p:spPr>
        <p:txBody>
          <a:bodyPr wrap="square" rtlCol="0" anchor="ctr"/>
          <a:lstStyle/>
          <a:p>
            <a:pPr marL="0" indent="0" algn="r">
              <a:lnSpc>
                <a:spcPct val="105000"/>
              </a:lnSpc>
              <a:buNone/>
            </a:pPr>
            <a:r>
              <a:rPr lang="en-US" sz="1400" b="1" dirty="0">
                <a:solidFill>
                  <a:srgbClr val="3EB977"/>
                </a:solidFill>
                <a:latin typeface="Courier New" pitchFamily="34" charset="0"/>
                <a:ea typeface="Courier New" pitchFamily="34" charset="-122"/>
                <a:cs typeface="Courier New" pitchFamily="34" charset="-120"/>
              </a:rPr>
              <a:t>−0,17</a:t>
            </a:r>
            <a:endParaRPr lang="en-US" sz="1400" dirty="0"/>
          </a:p>
        </p:txBody>
      </p:sp>
      <p:sp>
        <p:nvSpPr>
          <p:cNvPr id="17" name="Shape 14"/>
          <p:cNvSpPr/>
          <p:nvPr/>
        </p:nvSpPr>
        <p:spPr>
          <a:xfrm>
            <a:off x="634594" y="3276295"/>
            <a:ext cx="6096305" cy="698602"/>
          </a:xfrm>
          <a:prstGeom prst="roundRect">
            <a:avLst>
              <a:gd name="adj" fmla="val 10864"/>
            </a:avLst>
          </a:prstGeom>
          <a:solidFill>
            <a:srgbClr val="153B29"/>
          </a:solidFill>
          <a:ln w="12700">
            <a:solidFill>
              <a:srgbClr val="2B513D"/>
            </a:solidFill>
            <a:prstDash val="solid"/>
          </a:ln>
        </p:spPr>
        <p:txBody>
          <a:bodyPr/>
          <a:lstStyle/>
          <a:p>
            <a:endParaRPr lang="de-DE"/>
          </a:p>
        </p:txBody>
      </p:sp>
      <p:sp>
        <p:nvSpPr>
          <p:cNvPr id="18" name="Shape 15"/>
          <p:cNvSpPr/>
          <p:nvPr/>
        </p:nvSpPr>
        <p:spPr>
          <a:xfrm>
            <a:off x="634594" y="3276295"/>
            <a:ext cx="38405" cy="698602"/>
          </a:xfrm>
          <a:prstGeom prst="rect">
            <a:avLst/>
          </a:prstGeom>
          <a:solidFill>
            <a:srgbClr val="F36451"/>
          </a:solidFill>
          <a:ln/>
        </p:spPr>
        <p:txBody>
          <a:bodyPr/>
          <a:lstStyle/>
          <a:p>
            <a:endParaRPr lang="de-DE"/>
          </a:p>
        </p:txBody>
      </p:sp>
      <p:sp>
        <p:nvSpPr>
          <p:cNvPr id="19" name="Text 16"/>
          <p:cNvSpPr/>
          <p:nvPr/>
        </p:nvSpPr>
        <p:spPr>
          <a:xfrm>
            <a:off x="888797" y="3390595"/>
            <a:ext cx="3301898" cy="254203"/>
          </a:xfrm>
          <a:prstGeom prst="rect">
            <a:avLst/>
          </a:prstGeom>
          <a:noFill/>
          <a:ln/>
        </p:spPr>
        <p:txBody>
          <a:bodyPr wrap="square" rtlCol="0" anchor="t"/>
          <a:lstStyle/>
          <a:p>
            <a:pPr marL="0" indent="0" algn="l">
              <a:lnSpc>
                <a:spcPct val="105000"/>
              </a:lnSpc>
              <a:buNone/>
            </a:pPr>
            <a:r>
              <a:rPr lang="en-US" sz="1400" b="1" dirty="0">
                <a:solidFill>
                  <a:srgbClr val="F2EFDA"/>
                </a:solidFill>
                <a:latin typeface="Arial" pitchFamily="34" charset="0"/>
                <a:ea typeface="Arial" pitchFamily="34" charset="-122"/>
                <a:cs typeface="Arial" pitchFamily="34" charset="-120"/>
              </a:rPr>
              <a:t>Kapitalstruktur</a:t>
            </a:r>
            <a:endParaRPr lang="en-US" sz="1400" dirty="0"/>
          </a:p>
        </p:txBody>
      </p:sp>
      <p:sp>
        <p:nvSpPr>
          <p:cNvPr id="20" name="Text 17"/>
          <p:cNvSpPr/>
          <p:nvPr/>
        </p:nvSpPr>
        <p:spPr>
          <a:xfrm>
            <a:off x="888797" y="3670402"/>
            <a:ext cx="3556102" cy="190195"/>
          </a:xfrm>
          <a:prstGeom prst="rect">
            <a:avLst/>
          </a:prstGeom>
          <a:noFill/>
          <a:ln/>
        </p:spPr>
        <p:txBody>
          <a:bodyPr wrap="square" rtlCol="0" anchor="t"/>
          <a:lstStyle/>
          <a:p>
            <a:pPr marL="0" indent="0" algn="l">
              <a:lnSpc>
                <a:spcPct val="105000"/>
              </a:lnSpc>
              <a:buNone/>
            </a:pPr>
            <a:r>
              <a:rPr lang="en-US" sz="900" dirty="0">
                <a:solidFill>
                  <a:srgbClr val="B3BC9A"/>
                </a:solidFill>
                <a:latin typeface="Arial" pitchFamily="34" charset="0"/>
                <a:ea typeface="Arial" pitchFamily="34" charset="-122"/>
                <a:cs typeface="Arial" pitchFamily="34" charset="-120"/>
              </a:rPr>
              <a:t>kaum Korrektur — ⅓ ohne Mean-Reversion</a:t>
            </a:r>
            <a:endParaRPr lang="en-US" sz="900" dirty="0"/>
          </a:p>
        </p:txBody>
      </p:sp>
      <p:sp>
        <p:nvSpPr>
          <p:cNvPr id="21" name="Text 18"/>
          <p:cNvSpPr/>
          <p:nvPr/>
        </p:nvSpPr>
        <p:spPr>
          <a:xfrm>
            <a:off x="4444898" y="3276295"/>
            <a:ext cx="2184502" cy="698602"/>
          </a:xfrm>
          <a:prstGeom prst="rect">
            <a:avLst/>
          </a:prstGeom>
          <a:noFill/>
          <a:ln/>
        </p:spPr>
        <p:txBody>
          <a:bodyPr wrap="square" rtlCol="0" anchor="ctr"/>
          <a:lstStyle/>
          <a:p>
            <a:pPr marL="0" indent="0" algn="r">
              <a:lnSpc>
                <a:spcPct val="105000"/>
              </a:lnSpc>
              <a:buNone/>
            </a:pPr>
            <a:r>
              <a:rPr lang="en-US" sz="1400" b="1" dirty="0">
                <a:solidFill>
                  <a:srgbClr val="F36451"/>
                </a:solidFill>
                <a:latin typeface="Courier New" pitchFamily="34" charset="0"/>
                <a:ea typeface="Courier New" pitchFamily="34" charset="-122"/>
                <a:cs typeface="Courier New" pitchFamily="34" charset="-120"/>
              </a:rPr>
              <a:t>−0,04…−0,09</a:t>
            </a:r>
            <a:endParaRPr lang="en-US" sz="1400" dirty="0"/>
          </a:p>
        </p:txBody>
      </p:sp>
      <p:sp>
        <p:nvSpPr>
          <p:cNvPr id="22" name="Text 19"/>
          <p:cNvSpPr/>
          <p:nvPr/>
        </p:nvSpPr>
        <p:spPr>
          <a:xfrm>
            <a:off x="634594" y="4267505"/>
            <a:ext cx="6096305" cy="381305"/>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 xml:space="preserve">Robust über </a:t>
            </a:r>
            <a:r>
              <a:rPr lang="en-US" sz="1000" b="1" dirty="0">
                <a:solidFill>
                  <a:srgbClr val="F2EFDA"/>
                </a:solidFill>
                <a:latin typeface="Arial" pitchFamily="34" charset="0"/>
                <a:ea typeface="Arial" pitchFamily="34" charset="-122"/>
                <a:cs typeface="Arial" pitchFamily="34" charset="-120"/>
              </a:rPr>
              <a:t>4 Modellspezifikationen, 4 Stichprobenschwellen und 4 Zeitfenster</a:t>
            </a:r>
            <a:r>
              <a:rPr lang="en-US" sz="1000" dirty="0">
                <a:solidFill>
                  <a:srgbClr val="B3BC9A"/>
                </a:solidFill>
                <a:latin typeface="Arial" pitchFamily="34" charset="0"/>
                <a:ea typeface="Arial" pitchFamily="34" charset="-122"/>
                <a:cs typeface="Arial" pitchFamily="34" charset="-120"/>
              </a:rPr>
              <a:t>.</a:t>
            </a:r>
            <a:endParaRPr lang="en-US" sz="1000" dirty="0"/>
          </a:p>
        </p:txBody>
      </p:sp>
      <p:sp>
        <p:nvSpPr>
          <p:cNvPr id="23" name="Shape 20"/>
          <p:cNvSpPr/>
          <p:nvPr/>
        </p:nvSpPr>
        <p:spPr>
          <a:xfrm>
            <a:off x="7492594" y="1904695"/>
            <a:ext cx="1384402" cy="1384402"/>
          </a:xfrm>
          <a:prstGeom prst="roundRect">
            <a:avLst>
              <a:gd name="adj" fmla="val 3699"/>
            </a:avLst>
          </a:prstGeom>
          <a:solidFill>
            <a:srgbClr val="6AA7F4">
              <a:alpha val="12000"/>
            </a:srgbClr>
          </a:solidFill>
          <a:ln w="12700">
            <a:solidFill>
              <a:srgbClr val="6AA7F4"/>
            </a:solidFill>
            <a:prstDash val="solid"/>
          </a:ln>
        </p:spPr>
        <p:txBody>
          <a:bodyPr/>
          <a:lstStyle/>
          <a:p>
            <a:endParaRPr lang="de-DE"/>
          </a:p>
        </p:txBody>
      </p:sp>
      <p:sp>
        <p:nvSpPr>
          <p:cNvPr id="24" name="Text 21"/>
          <p:cNvSpPr/>
          <p:nvPr/>
        </p:nvSpPr>
        <p:spPr>
          <a:xfrm>
            <a:off x="7606894" y="20061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6AA7F4"/>
                </a:solidFill>
                <a:latin typeface="Courier New" pitchFamily="34" charset="0"/>
                <a:ea typeface="Courier New" pitchFamily="34" charset="-122"/>
                <a:cs typeface="Courier New" pitchFamily="34" charset="-120"/>
              </a:rPr>
              <a:t>KORREKTIV-VOLATIL</a:t>
            </a:r>
            <a:endParaRPr lang="en-US" sz="800" dirty="0"/>
          </a:p>
        </p:txBody>
      </p:sp>
      <p:sp>
        <p:nvSpPr>
          <p:cNvPr id="25" name="Text 22"/>
          <p:cNvSpPr/>
          <p:nvPr/>
        </p:nvSpPr>
        <p:spPr>
          <a:xfrm>
            <a:off x="7606894" y="2320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große Ausschläge, korrigiert</a:t>
            </a:r>
            <a:endParaRPr lang="en-US" sz="800" dirty="0"/>
          </a:p>
        </p:txBody>
      </p:sp>
      <p:sp>
        <p:nvSpPr>
          <p:cNvPr id="26" name="Shape 23"/>
          <p:cNvSpPr/>
          <p:nvPr/>
        </p:nvSpPr>
        <p:spPr>
          <a:xfrm>
            <a:off x="8978494" y="1904695"/>
            <a:ext cx="1384402" cy="1384402"/>
          </a:xfrm>
          <a:prstGeom prst="roundRect">
            <a:avLst>
              <a:gd name="adj" fmla="val 3699"/>
            </a:avLst>
          </a:prstGeom>
          <a:solidFill>
            <a:srgbClr val="F36451">
              <a:alpha val="12000"/>
            </a:srgbClr>
          </a:solidFill>
          <a:ln w="12700">
            <a:solidFill>
              <a:srgbClr val="F36451"/>
            </a:solidFill>
            <a:prstDash val="solid"/>
          </a:ln>
        </p:spPr>
        <p:txBody>
          <a:bodyPr/>
          <a:lstStyle/>
          <a:p>
            <a:endParaRPr lang="de-DE"/>
          </a:p>
        </p:txBody>
      </p:sp>
      <p:sp>
        <p:nvSpPr>
          <p:cNvPr id="27" name="Text 24"/>
          <p:cNvSpPr/>
          <p:nvPr/>
        </p:nvSpPr>
        <p:spPr>
          <a:xfrm>
            <a:off x="9092794" y="20061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F36451"/>
                </a:solidFill>
                <a:latin typeface="Courier New" pitchFamily="34" charset="0"/>
                <a:ea typeface="Courier New" pitchFamily="34" charset="-122"/>
                <a:cs typeface="Courier New" pitchFamily="34" charset="-120"/>
              </a:rPr>
              <a:t>PERSISTENT-VOLATIL</a:t>
            </a:r>
            <a:endParaRPr lang="en-US" sz="800" dirty="0"/>
          </a:p>
        </p:txBody>
      </p:sp>
      <p:sp>
        <p:nvSpPr>
          <p:cNvPr id="28" name="Text 25"/>
          <p:cNvSpPr/>
          <p:nvPr/>
        </p:nvSpPr>
        <p:spPr>
          <a:xfrm>
            <a:off x="9092794" y="2320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höchstes Risiko</a:t>
            </a:r>
            <a:endParaRPr lang="en-US" sz="800" dirty="0"/>
          </a:p>
        </p:txBody>
      </p:sp>
      <p:sp>
        <p:nvSpPr>
          <p:cNvPr id="29" name="Shape 26"/>
          <p:cNvSpPr/>
          <p:nvPr/>
        </p:nvSpPr>
        <p:spPr>
          <a:xfrm>
            <a:off x="7492594" y="3390595"/>
            <a:ext cx="1384402" cy="1384402"/>
          </a:xfrm>
          <a:prstGeom prst="roundRect">
            <a:avLst>
              <a:gd name="adj" fmla="val 3699"/>
            </a:avLst>
          </a:prstGeom>
          <a:solidFill>
            <a:srgbClr val="3EB977">
              <a:alpha val="12000"/>
            </a:srgbClr>
          </a:solidFill>
          <a:ln w="12700">
            <a:solidFill>
              <a:srgbClr val="3EB977"/>
            </a:solidFill>
            <a:prstDash val="solid"/>
          </a:ln>
        </p:spPr>
        <p:txBody>
          <a:bodyPr/>
          <a:lstStyle/>
          <a:p>
            <a:endParaRPr lang="de-DE"/>
          </a:p>
        </p:txBody>
      </p:sp>
      <p:sp>
        <p:nvSpPr>
          <p:cNvPr id="30" name="Text 27"/>
          <p:cNvSpPr/>
          <p:nvPr/>
        </p:nvSpPr>
        <p:spPr>
          <a:xfrm>
            <a:off x="7606894" y="34920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3EB977"/>
                </a:solidFill>
                <a:latin typeface="Courier New" pitchFamily="34" charset="0"/>
                <a:ea typeface="Courier New" pitchFamily="34" charset="-122"/>
                <a:cs typeface="Courier New" pitchFamily="34" charset="-120"/>
              </a:rPr>
              <a:t>KORREKTIV-STABIL</a:t>
            </a:r>
            <a:endParaRPr lang="en-US" sz="800" dirty="0"/>
          </a:p>
        </p:txBody>
      </p:sp>
      <p:sp>
        <p:nvSpPr>
          <p:cNvPr id="31" name="Text 28"/>
          <p:cNvSpPr/>
          <p:nvPr/>
        </p:nvSpPr>
        <p:spPr>
          <a:xfrm>
            <a:off x="7606894" y="3805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höchste Vorhersagbarkeit</a:t>
            </a:r>
            <a:endParaRPr lang="en-US" sz="800" dirty="0"/>
          </a:p>
        </p:txBody>
      </p:sp>
      <p:sp>
        <p:nvSpPr>
          <p:cNvPr id="32" name="Shape 29"/>
          <p:cNvSpPr/>
          <p:nvPr/>
        </p:nvSpPr>
        <p:spPr>
          <a:xfrm>
            <a:off x="8978494" y="3390595"/>
            <a:ext cx="1384402" cy="1384402"/>
          </a:xfrm>
          <a:prstGeom prst="roundRect">
            <a:avLst>
              <a:gd name="adj" fmla="val 3699"/>
            </a:avLst>
          </a:prstGeom>
          <a:solidFill>
            <a:srgbClr val="E4CA5F">
              <a:alpha val="12000"/>
            </a:srgbClr>
          </a:solidFill>
          <a:ln w="12700">
            <a:solidFill>
              <a:srgbClr val="E4CA5F"/>
            </a:solidFill>
            <a:prstDash val="solid"/>
          </a:ln>
        </p:spPr>
        <p:txBody>
          <a:bodyPr/>
          <a:lstStyle/>
          <a:p>
            <a:endParaRPr lang="de-DE"/>
          </a:p>
        </p:txBody>
      </p:sp>
      <p:sp>
        <p:nvSpPr>
          <p:cNvPr id="33" name="Text 30"/>
          <p:cNvSpPr/>
          <p:nvPr/>
        </p:nvSpPr>
        <p:spPr>
          <a:xfrm>
            <a:off x="9092794" y="3492094"/>
            <a:ext cx="1155802" cy="190195"/>
          </a:xfrm>
          <a:prstGeom prst="rect">
            <a:avLst/>
          </a:prstGeom>
          <a:noFill/>
          <a:ln/>
        </p:spPr>
        <p:txBody>
          <a:bodyPr wrap="square" rtlCol="0" anchor="t"/>
          <a:lstStyle/>
          <a:p>
            <a:pPr marL="0" indent="0" algn="l">
              <a:lnSpc>
                <a:spcPct val="105000"/>
              </a:lnSpc>
              <a:buNone/>
            </a:pPr>
            <a:r>
              <a:rPr lang="en-US" sz="800" b="1" kern="0" spc="100" dirty="0">
                <a:solidFill>
                  <a:srgbClr val="E4CA5F"/>
                </a:solidFill>
                <a:latin typeface="Courier New" pitchFamily="34" charset="0"/>
                <a:ea typeface="Courier New" pitchFamily="34" charset="-122"/>
                <a:cs typeface="Courier New" pitchFamily="34" charset="-120"/>
              </a:rPr>
              <a:t>PERSISTENT-STABIL</a:t>
            </a:r>
            <a:endParaRPr lang="en-US" sz="800" dirty="0"/>
          </a:p>
        </p:txBody>
      </p:sp>
      <p:sp>
        <p:nvSpPr>
          <p:cNvPr id="34" name="Text 31"/>
          <p:cNvSpPr/>
          <p:nvPr/>
        </p:nvSpPr>
        <p:spPr>
          <a:xfrm>
            <a:off x="9092794" y="3805000"/>
            <a:ext cx="1155802" cy="165506"/>
          </a:xfrm>
          <a:prstGeom prst="rect">
            <a:avLst/>
          </a:prstGeom>
          <a:noFill/>
          <a:ln/>
        </p:spPr>
        <p:txBody>
          <a:bodyPr wrap="square" rtlCol="0" anchor="t"/>
          <a:lstStyle/>
          <a:p>
            <a:pPr marL="0" indent="0" algn="l">
              <a:lnSpc>
                <a:spcPct val="105000"/>
              </a:lnSpc>
              <a:buNone/>
            </a:pPr>
            <a:r>
              <a:rPr lang="en-US" sz="800" dirty="0">
                <a:solidFill>
                  <a:srgbClr val="B3BC9A"/>
                </a:solidFill>
                <a:latin typeface="Arial" pitchFamily="34" charset="0"/>
                <a:ea typeface="Arial" pitchFamily="34" charset="-122"/>
                <a:cs typeface="Arial" pitchFamily="34" charset="-120"/>
              </a:rPr>
              <a:t>träger Drift</a:t>
            </a:r>
            <a:endParaRPr lang="en-US" sz="800" dirty="0"/>
          </a:p>
        </p:txBody>
      </p:sp>
      <p:sp>
        <p:nvSpPr>
          <p:cNvPr id="35" name="Shape 32"/>
          <p:cNvSpPr/>
          <p:nvPr/>
        </p:nvSpPr>
        <p:spPr>
          <a:xfrm>
            <a:off x="8941003" y="1904695"/>
            <a:ext cx="25603" cy="2920594"/>
          </a:xfrm>
          <a:prstGeom prst="rect">
            <a:avLst/>
          </a:prstGeom>
          <a:solidFill>
            <a:srgbClr val="DBDEE2"/>
          </a:solidFill>
          <a:ln/>
        </p:spPr>
        <p:txBody>
          <a:bodyPr/>
          <a:lstStyle/>
          <a:p>
            <a:endParaRPr lang="de-DE"/>
          </a:p>
        </p:txBody>
      </p:sp>
      <p:sp>
        <p:nvSpPr>
          <p:cNvPr id="36" name="Shape 33"/>
          <p:cNvSpPr/>
          <p:nvPr/>
        </p:nvSpPr>
        <p:spPr>
          <a:xfrm>
            <a:off x="7492594" y="3353105"/>
            <a:ext cx="2920594" cy="25603"/>
          </a:xfrm>
          <a:prstGeom prst="rect">
            <a:avLst/>
          </a:prstGeom>
          <a:solidFill>
            <a:srgbClr val="DBDEE2"/>
          </a:solidFill>
          <a:ln/>
        </p:spPr>
        <p:txBody>
          <a:bodyPr/>
          <a:lstStyle/>
          <a:p>
            <a:endParaRPr lang="de-DE"/>
          </a:p>
        </p:txBody>
      </p:sp>
      <p:sp>
        <p:nvSpPr>
          <p:cNvPr id="37" name="Shape 34"/>
          <p:cNvSpPr/>
          <p:nvPr/>
        </p:nvSpPr>
        <p:spPr>
          <a:xfrm>
            <a:off x="8169250" y="4330000"/>
            <a:ext cx="107899" cy="107899"/>
          </a:xfrm>
          <a:prstGeom prst="ellipse">
            <a:avLst/>
          </a:prstGeom>
          <a:solidFill>
            <a:srgbClr val="3EB977"/>
          </a:solidFill>
          <a:ln/>
        </p:spPr>
        <p:txBody>
          <a:bodyPr/>
          <a:lstStyle/>
          <a:p>
            <a:endParaRPr lang="de-DE"/>
          </a:p>
        </p:txBody>
      </p:sp>
      <p:sp>
        <p:nvSpPr>
          <p:cNvPr id="38" name="Shape 35"/>
          <p:cNvSpPr/>
          <p:nvPr/>
        </p:nvSpPr>
        <p:spPr>
          <a:xfrm>
            <a:off x="8343900" y="2727655"/>
            <a:ext cx="107899" cy="107899"/>
          </a:xfrm>
          <a:prstGeom prst="ellipse">
            <a:avLst/>
          </a:prstGeom>
          <a:solidFill>
            <a:srgbClr val="6AA7F4"/>
          </a:solidFill>
          <a:ln/>
        </p:spPr>
        <p:txBody>
          <a:bodyPr/>
          <a:lstStyle/>
          <a:p>
            <a:endParaRPr lang="de-DE"/>
          </a:p>
        </p:txBody>
      </p:sp>
      <p:sp>
        <p:nvSpPr>
          <p:cNvPr id="39" name="Shape 36"/>
          <p:cNvSpPr/>
          <p:nvPr/>
        </p:nvSpPr>
        <p:spPr>
          <a:xfrm>
            <a:off x="9556394" y="4280000"/>
            <a:ext cx="107899" cy="107899"/>
          </a:xfrm>
          <a:prstGeom prst="ellipse">
            <a:avLst/>
          </a:prstGeom>
          <a:solidFill>
            <a:srgbClr val="E4CA5F"/>
          </a:solidFill>
          <a:ln/>
        </p:spPr>
        <p:txBody>
          <a:bodyPr/>
          <a:lstStyle/>
          <a:p>
            <a:endParaRPr lang="de-DE"/>
          </a:p>
        </p:txBody>
      </p:sp>
      <p:sp>
        <p:nvSpPr>
          <p:cNvPr id="40" name="Shape 37"/>
          <p:cNvSpPr/>
          <p:nvPr/>
        </p:nvSpPr>
        <p:spPr>
          <a:xfrm>
            <a:off x="9424721" y="2610612"/>
            <a:ext cx="107899" cy="107899"/>
          </a:xfrm>
          <a:prstGeom prst="ellipse">
            <a:avLst/>
          </a:prstGeom>
          <a:solidFill>
            <a:srgbClr val="F36451"/>
          </a:solidFill>
          <a:ln/>
        </p:spPr>
        <p:txBody>
          <a:bodyPr/>
          <a:lstStyle/>
          <a:p>
            <a:endParaRPr lang="de-DE"/>
          </a:p>
        </p:txBody>
      </p:sp>
      <p:sp>
        <p:nvSpPr>
          <p:cNvPr id="3" name="Text 1">
            <a:extLst>
              <a:ext uri="{FF2B5EF4-FFF2-40B4-BE49-F238E27FC236}">
                <a16:creationId xmlns:a16="http://schemas.microsoft.com/office/drawing/2014/main" id="{5D00CEDE-8039-894D-D8AF-D620ADB0137F}"/>
              </a:ext>
            </a:extLst>
          </p:cNvPr>
          <p:cNvSpPr/>
          <p:nvPr/>
        </p:nvSpPr>
        <p:spPr>
          <a:xfrm>
            <a:off x="415959" y="291694"/>
            <a:ext cx="8255203" cy="215798"/>
          </a:xfrm>
          <a:prstGeom prst="rect">
            <a:avLst/>
          </a:prstGeom>
          <a:noFill/>
          <a:ln/>
        </p:spPr>
        <p:txBody>
          <a:bodyPr wrap="square" rtlCol="0" anchor="ctr"/>
          <a:lstStyle/>
          <a:p>
            <a:r>
              <a:rPr lang="en-US" sz="1200" b="1" kern="0" spc="400" dirty="0">
                <a:solidFill>
                  <a:srgbClr val="E6D34F"/>
                </a:solidFill>
                <a:latin typeface="Courier New" pitchFamily="34" charset="0"/>
                <a:cs typeface="Courier New" pitchFamily="34" charset="-120"/>
              </a:rPr>
              <a:t>FORSCHUNGSFRAGE 1</a:t>
            </a:r>
          </a:p>
        </p:txBody>
      </p:sp>
      <p:sp>
        <p:nvSpPr>
          <p:cNvPr id="70" name="!!F_Schaetz"/>
          <p:cNvSpPr/>
          <p:nvPr/>
        </p:nvSpPr>
        <p:spPr>
          <a:xfrm>
            <a:off x="634594" y="474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R²-Mediane: 0,19 (Profitabilität) · 0,03 (Current Ratio) · 0,01–0,02 (Kapitalstruktur) — bei Differenzen-Zeitreihen strukturell niedrig; die Aussage liegt in den Signifikanzraten.</a:t>
            </a:r>
            <a:endParaRPr lang="en-US" sz="900" dirty="0"/>
          </a:p>
        </p:txBody>
      </p:sp>
      <p:sp>
        <p:nvSpPr>
          <p:cNvPr id="71" name="!!K_Q1"/>
          <p:cNvSpPr/>
          <p:nvPr/>
        </p:nvSpPr>
        <p:spPr>
          <a:xfrm>
            <a:off x="634594" y="5100000"/>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Q1"/>
          <p:cNvSpPr/>
          <p:nvPr/>
        </p:nvSpPr>
        <p:spPr>
          <a:xfrm>
            <a:off x="888797" y="5210000"/>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SIGNIFIKANZ FOLGT DER HIERARCHIE</a:t>
            </a:r>
            <a:endParaRPr lang="en-US" sz="1000" dirty="0"/>
          </a:p>
        </p:txBody>
      </p:sp>
      <p:sp>
        <p:nvSpPr>
          <p:cNvPr id="73" name="!!T_Q1"/>
          <p:cNvSpPr/>
          <p:nvPr/>
        </p:nvSpPr>
        <p:spPr>
          <a:xfrm>
            <a:off x="888797" y="5470000"/>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&gt; 90 % · 46 % · 19–32 %</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 xml:space="preserve">Anteil p &lt; 0,05 je Gruppe — nach Bonferroni </a:t>
            </a:r>
            <a:r>
              <a:rPr lang="en-US" sz="950" b="1" kern="0" dirty="0">
                <a:solidFill>
                  <a:srgbClr val="F2EFDA"/>
                </a:solidFill>
                <a:latin typeface="Arial" pitchFamily="34" charset="0"/>
                <a:ea typeface="Arial" pitchFamily="34" charset="-122"/>
                <a:cs typeface="Arial" pitchFamily="34" charset="-120"/>
              </a:rPr>
              <a:t xml:space="preserve">58–68 % · 10 % · 4–7 %</a:t>
            </a:r>
            <a:r>
              <a:rPr lang="en-US" sz="950" kern="0" dirty="0">
                <a:solidFill>
                  <a:srgbClr val="B3BC9A"/>
                </a:solidFill>
                <a:latin typeface="Arial" pitchFamily="34" charset="0"/>
                <a:ea typeface="Arial" pitchFamily="34" charset="-122"/>
                <a:cs typeface="Arial" pitchFamily="34" charset="-120"/>
              </a:rPr>
              <a:t xml:space="preserve">.</a:t>
            </a:r>
            <a:endParaRPr lang="en-US" sz="950" dirty="0"/>
          </a:p>
        </p:txBody>
      </p:sp>
      <p:sp>
        <p:nvSpPr>
          <p:cNvPr id="74" name="!!K_Q2"/>
          <p:cNvSpPr/>
          <p:nvPr/>
        </p:nvSpPr>
        <p:spPr>
          <a:xfrm>
            <a:off x="4341792" y="5100000"/>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Q2"/>
          <p:cNvSpPr/>
          <p:nvPr/>
        </p:nvSpPr>
        <p:spPr>
          <a:xfrm>
            <a:off x="4595995" y="5210000"/>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POSITIVE φ = MODELLARTEFAKTE</a:t>
            </a:r>
            <a:endParaRPr lang="en-US" sz="1000" dirty="0"/>
          </a:p>
        </p:txBody>
      </p:sp>
      <p:sp>
        <p:nvSpPr>
          <p:cNvPr id="76" name="!!T_Q2"/>
          <p:cNvSpPr/>
          <p:nvPr/>
        </p:nvSpPr>
        <p:spPr>
          <a:xfrm>
            <a:off x="4595995" y="5470000"/>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11,3 % — R² ≈ 0</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 xml:space="preserve">kein einziger nach Bonferroni signifikant — </a:t>
            </a:r>
            <a:r>
              <a:rPr lang="en-US" sz="950" b="1" kern="0" dirty="0">
                <a:solidFill>
                  <a:srgbClr val="F2EFDA"/>
                </a:solidFill>
                <a:latin typeface="Arial" pitchFamily="34" charset="0"/>
                <a:ea typeface="Arial" pitchFamily="34" charset="-122"/>
                <a:cs typeface="Arial" pitchFamily="34" charset="-120"/>
              </a:rPr>
              <a:t xml:space="preserve">keine eigene Dynamikklasse</a:t>
            </a:r>
            <a:r>
              <a:rPr lang="en-US" sz="950" kern="0" dirty="0">
                <a:solidFill>
                  <a:srgbClr val="B3BC9A"/>
                </a:solidFill>
                <a:latin typeface="Arial" pitchFamily="34" charset="0"/>
                <a:ea typeface="Arial" pitchFamily="34" charset="-122"/>
                <a:cs typeface="Arial" pitchFamily="34" charset="-120"/>
              </a:rPr>
              <a:t xml:space="preserve">.</a:t>
            </a:r>
            <a:endParaRPr lang="en-US" sz="950" dirty="0"/>
          </a:p>
        </p:txBody>
      </p:sp>
      <p:sp>
        <p:nvSpPr>
          <p:cNvPr id="77" name="!!K_Q3"/>
          <p:cNvSpPr/>
          <p:nvPr/>
        </p:nvSpPr>
        <p:spPr>
          <a:xfrm>
            <a:off x="8048990" y="5100000"/>
            <a:ext cx="3507198" cy="9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8" name="!!L_Q3"/>
          <p:cNvSpPr/>
          <p:nvPr/>
        </p:nvSpPr>
        <p:spPr>
          <a:xfrm>
            <a:off x="8303193" y="5210000"/>
            <a:ext cx="2998792" cy="23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VOLATILE FIRMEN BESSER ERKANNT</a:t>
            </a:r>
            <a:endParaRPr lang="en-US" sz="1000" dirty="0"/>
          </a:p>
        </p:txBody>
      </p:sp>
      <p:sp>
        <p:nvSpPr>
          <p:cNvPr id="79" name="!!T_Q3"/>
          <p:cNvSpPr/>
          <p:nvPr/>
        </p:nvSpPr>
        <p:spPr>
          <a:xfrm>
            <a:off x="8303193" y="5470000"/>
            <a:ext cx="2998792" cy="52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σ &gt; 2:  φ −0,34</a:t>
            </a:r>
            <a:endParaRPr lang="en-US" sz="1250" dirty="0"/>
          </a:p>
          <a:p>
            <a:pPr marL="0" indent="0" algn="l">
              <a:lnSpc>
                <a:spcPct val="102000"/>
              </a:lnSpc>
              <a:buNone/>
            </a:pPr>
            <a:r>
              <a:rPr lang="en-US" sz="950" kern="0" dirty="0">
                <a:solidFill>
                  <a:srgbClr val="B3BC9A"/>
                </a:solidFill>
                <a:latin typeface="Arial" pitchFamily="34" charset="0"/>
                <a:ea typeface="Arial" pitchFamily="34" charset="-122"/>
                <a:cs typeface="Arial" pitchFamily="34" charset="-120"/>
              </a:rPr>
              <a:t xml:space="preserve">Bonferroni 37 % statt 10 % (Current Ratio) — </a:t>
            </a:r>
            <a:r>
              <a:rPr lang="en-US" sz="950" b="1" kern="0" dirty="0">
                <a:solidFill>
                  <a:srgbClr val="F2EFDA"/>
                </a:solidFill>
                <a:latin typeface="Arial" pitchFamily="34" charset="0"/>
                <a:ea typeface="Arial" pitchFamily="34" charset="-122"/>
                <a:cs typeface="Arial" pitchFamily="34" charset="-120"/>
              </a:rPr>
              <a:t xml:space="preserve">mehr Bewegung, mehr Signal</a:t>
            </a:r>
            <a:r>
              <a:rPr lang="en-US" sz="950" kern="0" dirty="0">
                <a:solidFill>
                  <a:srgbClr val="B3BC9A"/>
                </a:solidFill>
                <a:latin typeface="Arial" pitchFamily="34" charset="0"/>
                <a:ea typeface="Arial" pitchFamily="34" charset="-122"/>
                <a:cs typeface="Arial" pitchFamily="34" charset="-120"/>
              </a:rPr>
              <a:t xml:space="preserve">.</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1</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07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Die Kennzahl prägt die Dynamik stärker als der Sektor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Sektor-Mediane als IQR-Rechtecke im φ-σ-Raum — je Dynamiktyp eine Stellvertreter-Kennzahl: ROA, Current Ratio, EK-Quote (σ logarithmisch).</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Mediane mitteln die Firmen-Heterogenität heraus — Positionsunterschiede bleiben. Sektorgrößen: 37 (Kommunikation) bis 193 (Industrie).</a:t>
            </a:r>
            <a:endParaRPr lang="en-US" sz="900" dirty="0"/>
          </a:p>
        </p:txBody>
      </p:sp>
      <p:sp>
        <p:nvSpPr>
          <p:cNvPr id="30" name="!!PH_SektorIQR"/>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Übersicht der Sektoren im φ-σ-Raum (Abb. 10,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output/plots/ff1_iqr_aufhaenger_v2.png (Vorlage)</a:t>
            </a:r>
            <a:endParaRPr lang="en-US" sz="950" dirty="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PROFITABILITÄT</a:t>
            </a:r>
            <a:endParaRPr lang="en-US" sz="1050" dirty="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φ-Spannweite 0,12</a:t>
            </a:r>
            <a:endParaRPr lang="en-US" sz="15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Sektor-Mediane −0,37 … −0,50, alle revertieren stark. Vorn: Kommunikation −0,49 · Immobilien −0,47; hinten: </a:t>
            </a:r>
            <a:r>
              <a:rPr lang="en-US" sz="950" b="1" kern="0" dirty="0">
                <a:solidFill>
                  <a:srgbClr val="F2EFDA"/>
                </a:solidFill>
                <a:latin typeface="Arial" pitchFamily="34" charset="0"/>
                <a:ea typeface="Arial" pitchFamily="34" charset="-122"/>
                <a:cs typeface="Arial" pitchFamily="34" charset="-120"/>
              </a:rPr>
              <a:t xml:space="preserve">Technologie und Grundstoffe</a:t>
            </a:r>
            <a:r>
              <a:rPr lang="en-US" sz="95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LIQUIDITÄT</a:t>
            </a:r>
            <a:endParaRPr lang="en-US" sz="1050" dirty="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dirty="0">
                <a:solidFill>
                  <a:srgbClr val="F2EFDA"/>
                </a:solidFill>
                <a:latin typeface="Courier New" pitchFamily="34" charset="0"/>
                <a:ea typeface="Courier New" pitchFamily="34" charset="-122"/>
                <a:cs typeface="Courier New" pitchFamily="34" charset="-120"/>
              </a:rPr>
              <a:t xml:space="preserve">Spannweite 0,24 — doppelt so breit</a:t>
            </a:r>
            <a:endParaRPr lang="en-US" sz="15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Technologie −0,10 bis Immobilien −0,34 — dort </a:t>
            </a:r>
            <a:r>
              <a:rPr lang="en-US" sz="950" b="1" kern="0" dirty="0">
                <a:solidFill>
                  <a:srgbClr val="F2EFDA"/>
                </a:solidFill>
                <a:latin typeface="Arial" pitchFamily="34" charset="0"/>
                <a:ea typeface="Arial" pitchFamily="34" charset="-122"/>
                <a:cs typeface="Arial" pitchFamily="34" charset="-120"/>
              </a:rPr>
              <a:t xml:space="preserve">σ 2,6-fach (REIT-Refinanzierungen)</a:t>
            </a:r>
            <a:r>
              <a:rPr lang="en-US" sz="950" kern="0" dirty="0">
                <a:solidFill>
                  <a:srgbClr val="B3BC9A"/>
                </a:solidFill>
                <a:latin typeface="Arial" pitchFamily="34" charset="0"/>
                <a:ea typeface="Arial" pitchFamily="34" charset="-122"/>
                <a:cs typeface="Arial" pitchFamily="34" charset="-120"/>
              </a:rPr>
              <a:t xml:space="preserve">, Signifikanz 82 %.</a:t>
            </a:r>
            <a:endParaRPr lang="en-US" sz="1000" dirty="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F36451"/>
                </a:solidFill>
                <a:latin typeface="Courier New" pitchFamily="34" charset="0"/>
                <a:ea typeface="Courier New" pitchFamily="34" charset="-122"/>
                <a:cs typeface="Courier New" pitchFamily="34" charset="-120"/>
              </a:rPr>
              <a:t xml:space="preserve">KAPITALSTRUKTUR</a:t>
            </a:r>
            <a:endParaRPr lang="en-US" sz="1050" dirty="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dirty="0">
                <a:solidFill>
                  <a:srgbClr val="F2EFDA"/>
                </a:solidFill>
                <a:latin typeface="Courier New" pitchFamily="34" charset="0"/>
                <a:ea typeface="Courier New" pitchFamily="34" charset="-122"/>
                <a:cs typeface="Courier New" pitchFamily="34" charset="-120"/>
              </a:rPr>
              <a:t xml:space="preserve">Versorger: die Ausnahme</a:t>
            </a:r>
            <a:endParaRPr lang="en-US" sz="15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stärkste Korrektur (−0,17 · −0,14) bei niedrigster Volatilität — </a:t>
            </a:r>
            <a:r>
              <a:rPr lang="en-US" sz="950" b="1" kern="0" dirty="0">
                <a:solidFill>
                  <a:srgbClr val="F2EFDA"/>
                </a:solidFill>
                <a:latin typeface="Arial" pitchFamily="34" charset="0"/>
                <a:ea typeface="Arial" pitchFamily="34" charset="-122"/>
                <a:cs typeface="Arial" pitchFamily="34" charset="-120"/>
              </a:rPr>
              <a:t xml:space="preserve">Regulierung erzwingt Anpassung</a:t>
            </a:r>
            <a:r>
              <a:rPr lang="en-US" sz="950" kern="0" dirty="0">
                <a:solidFill>
                  <a:srgbClr val="B3BC9A"/>
                </a:solidFill>
                <a:latin typeface="Arial" pitchFamily="34" charset="0"/>
                <a:ea typeface="Arial" pitchFamily="34" charset="-122"/>
                <a:cs typeface="Arial" pitchFamily="34" charset="-120"/>
              </a:rPr>
              <a:t xml:space="preserv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1</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07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Die Kennzahl prägt die Dynamik stärker als der Sektor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Sektor-Mediane als IQR-Rechtecke im φ-σ-Raum — je Dynamiktyp eine Stellvertreter-Kennzahl: ROA, Current Ratio, EK-Quote (σ logarithmisch).</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Heatmap der Sektor-Mediane: In 53 von 70 Zellen fallen Schwerpunkt- und Median-Quadrant zusammen. Fünf Sektoren bündeln sich in zwei Quadranten — nur Zyklischer Konsum besetzt alle vier.</a:t>
            </a:r>
            <a:endParaRPr lang="en-US" sz="900" dirty="0"/>
          </a:p>
        </p:txBody>
      </p:sp>
      <p:sp>
        <p:nvSpPr>
          <p:cNvPr id="30" name="!!PH_SektorIQR"/>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Übersicht der Sektoren im φ-σ-Raum (Abb. 10,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output/plots/ff1_iqr_aufhaenger_v2.png (Vorlage)</a:t>
            </a:r>
            <a:endParaRPr lang="en-US" sz="950" dirty="0"/>
          </a:p>
        </p:txBody>
      </p:sp>
      <p:sp>
        <p:nvSpPr>
          <p:cNvPr id="41" name="!!K_ProfSekt"/>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Sekt"/>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PROFITABILITÄT</a:t>
            </a:r>
            <a:endParaRPr lang="en-US" sz="1050" dirty="0"/>
          </a:p>
        </p:txBody>
      </p:sp>
      <p:sp>
        <p:nvSpPr>
          <p:cNvPr id="43" name="!!T_ProfSekt"/>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φ-Spannweite 0,12</a:t>
            </a:r>
            <a:endParaRPr lang="en-US" sz="15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Sektor-Mediane −0,37 … −0,50, alle revertieren stark. Vorn: Kommunikation −0,49 · Immobilien −0,47; hinten: </a:t>
            </a:r>
            <a:r>
              <a:rPr lang="en-US" sz="950" b="1" kern="0" dirty="0">
                <a:solidFill>
                  <a:srgbClr val="F2EFDA"/>
                </a:solidFill>
                <a:latin typeface="Arial" pitchFamily="34" charset="0"/>
                <a:ea typeface="Arial" pitchFamily="34" charset="-122"/>
                <a:cs typeface="Arial" pitchFamily="34" charset="-120"/>
              </a:rPr>
              <a:t xml:space="preserve">Technologie und Grundstoffe</a:t>
            </a:r>
            <a:r>
              <a:rPr lang="en-US" sz="95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4" name="!!K_LiqSekt"/>
          <p:cNvSpPr/>
          <p:nvPr/>
        </p:nvSpPr>
        <p:spPr>
          <a:xfrm>
            <a:off x="6235294" y="2996294"/>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5" name="!!L_LiqSekt"/>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LIQUIDITÄT</a:t>
            </a:r>
            <a:endParaRPr lang="en-US" sz="1050" dirty="0"/>
          </a:p>
        </p:txBody>
      </p:sp>
      <p:sp>
        <p:nvSpPr>
          <p:cNvPr id="46" name="!!T_LiqSekt"/>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400" b="1" kern="0" dirty="0">
                <a:solidFill>
                  <a:srgbClr val="F2EFDA"/>
                </a:solidFill>
                <a:latin typeface="Courier New" pitchFamily="34" charset="0"/>
                <a:ea typeface="Courier New" pitchFamily="34" charset="-122"/>
                <a:cs typeface="Courier New" pitchFamily="34" charset="-120"/>
              </a:rPr>
              <a:t xml:space="preserve">Spannweite 0,24 — doppelt so breit</a:t>
            </a:r>
            <a:endParaRPr lang="en-US" sz="15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Technologie −0,10 bis Immobilien −0,34 — dort </a:t>
            </a:r>
            <a:r>
              <a:rPr lang="en-US" sz="950" b="1" kern="0" dirty="0">
                <a:solidFill>
                  <a:srgbClr val="F2EFDA"/>
                </a:solidFill>
                <a:latin typeface="Arial" pitchFamily="34" charset="0"/>
                <a:ea typeface="Arial" pitchFamily="34" charset="-122"/>
                <a:cs typeface="Arial" pitchFamily="34" charset="-120"/>
              </a:rPr>
              <a:t xml:space="preserve">σ 2,6-fach (REIT-Refinanzierungen)</a:t>
            </a:r>
            <a:r>
              <a:rPr lang="en-US" sz="950" kern="0" dirty="0">
                <a:solidFill>
                  <a:srgbClr val="B3BC9A"/>
                </a:solidFill>
                <a:latin typeface="Arial" pitchFamily="34" charset="0"/>
                <a:ea typeface="Arial" pitchFamily="34" charset="-122"/>
                <a:cs typeface="Arial" pitchFamily="34" charset="-120"/>
              </a:rPr>
              <a:t xml:space="preserve">, Signifikanz 82 %.</a:t>
            </a:r>
            <a:endParaRPr lang="en-US" sz="1000" dirty="0"/>
          </a:p>
        </p:txBody>
      </p:sp>
      <p:sp>
        <p:nvSpPr>
          <p:cNvPr id="47" name="!!K_KapSekt"/>
          <p:cNvSpPr/>
          <p:nvPr/>
        </p:nvSpPr>
        <p:spPr>
          <a:xfrm>
            <a:off x="6235294" y="4087893"/>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48" name="!!L_KapSekt"/>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F36451"/>
                </a:solidFill>
                <a:latin typeface="Courier New" pitchFamily="34" charset="0"/>
                <a:ea typeface="Courier New" pitchFamily="34" charset="-122"/>
                <a:cs typeface="Courier New" pitchFamily="34" charset="-120"/>
              </a:rPr>
              <a:t xml:space="preserve">KAPITALSTRUKTUR</a:t>
            </a:r>
            <a:endParaRPr lang="en-US" sz="1050" dirty="0"/>
          </a:p>
        </p:txBody>
      </p:sp>
      <p:sp>
        <p:nvSpPr>
          <p:cNvPr id="49" name="!!T_KapSekt"/>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400" b="1" kern="0" dirty="0">
                <a:solidFill>
                  <a:srgbClr val="F2EFDA"/>
                </a:solidFill>
                <a:latin typeface="Courier New" pitchFamily="34" charset="0"/>
                <a:ea typeface="Courier New" pitchFamily="34" charset="-122"/>
                <a:cs typeface="Courier New" pitchFamily="34" charset="-120"/>
              </a:rPr>
              <a:t xml:space="preserve">Versorger: die Ausnahme</a:t>
            </a:r>
            <a:endParaRPr lang="en-US" sz="15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stärkste Korrektur (−0,17 · −0,14) bei niedrigster Volatilität — </a:t>
            </a:r>
            <a:r>
              <a:rPr lang="en-US" sz="950" b="1" kern="0" dirty="0">
                <a:solidFill>
                  <a:srgbClr val="F2EFDA"/>
                </a:solidFill>
                <a:latin typeface="Arial" pitchFamily="34" charset="0"/>
                <a:ea typeface="Arial" pitchFamily="34" charset="-122"/>
                <a:cs typeface="Arial" pitchFamily="34" charset="-120"/>
              </a:rPr>
              <a:t xml:space="preserve">Regulierung erzwingt Anpassung</a:t>
            </a:r>
            <a:r>
              <a:rPr lang="en-US" sz="95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91" name="!!K_P1"/>
          <p:cNvSpPr/>
          <p:nvPr/>
        </p:nvSpPr>
        <p:spPr>
          <a:xfrm>
            <a:off x="634594"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P1"/>
          <p:cNvSpPr/>
          <p:nvPr/>
        </p:nvSpPr>
        <p:spPr>
          <a:xfrm>
            <a:off x="888797" y="5670000"/>
            <a:ext cx="2998792" cy="22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STABILES PROFIL</a:t>
            </a:r>
            <a:endParaRPr lang="en-US" sz="1000" dirty="0"/>
          </a:p>
        </p:txBody>
      </p:sp>
      <p:sp>
        <p:nvSpPr>
          <p:cNvPr id="93" name="!!T_P1"/>
          <p:cNvSpPr/>
          <p:nvPr/>
        </p:nvSpPr>
        <p:spPr>
          <a:xfrm>
            <a:off x="888797" y="5890000"/>
            <a:ext cx="2998792" cy="460000"/>
          </a:xfrm>
          <a:prstGeom prst="rect">
            <a:avLst/>
          </a:prstGeom>
          <a:noFill/>
          <a:ln/>
        </p:spPr>
        <p:txBody>
          <a:bodyPr wrap="square" rtlCol="0" anchor="t"/>
          <a:lstStyle/>
          <a:p>
            <a:pPr marL="0" indent="0" algn="l">
              <a:lnSpc>
                <a:spcPct val="100000"/>
              </a:lnSpc>
              <a:buNone/>
            </a:pPr>
            <a:r>
              <a:rPr lang="en-US" sz="1150" b="1" kern="0" dirty="0">
                <a:solidFill>
                  <a:srgbClr val="F2EFDA"/>
                </a:solidFill>
                <a:latin typeface="Courier New" pitchFamily="34" charset="0"/>
                <a:ea typeface="Courier New" pitchFamily="34" charset="-122"/>
                <a:cs typeface="Courier New" pitchFamily="34" charset="-120"/>
              </a:rPr>
              <a:t xml:space="preserve">Versorger · Industrie · BasisK.</a:t>
            </a:r>
            <a:endParaRPr lang="en-US" sz="11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Schwerpunkte in K-S und P-S — geringe Quartalsbewegung.</a:t>
            </a:r>
            <a:endParaRPr lang="en-US" sz="870" dirty="0"/>
          </a:p>
        </p:txBody>
      </p:sp>
      <p:sp>
        <p:nvSpPr>
          <p:cNvPr id="94" name="!!K_P2"/>
          <p:cNvSpPr/>
          <p:nvPr/>
        </p:nvSpPr>
        <p:spPr>
          <a:xfrm>
            <a:off x="4341792"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P2"/>
          <p:cNvSpPr/>
          <p:nvPr/>
        </p:nvSpPr>
        <p:spPr>
          <a:xfrm>
            <a:off x="4595995" y="5670000"/>
            <a:ext cx="2998792" cy="220000"/>
          </a:xfrm>
          <a:prstGeom prst="rect">
            <a:avLst/>
          </a:prstGeom>
          <a:noFill/>
          <a:ln/>
        </p:spPr>
        <p:txBody>
          <a:bodyPr wrap="square" rtlCol="0" anchor="t"/>
          <a:lstStyle/>
          <a:p>
            <a:pPr marL="0" indent="0" algn="l">
              <a:lnSpc>
                <a:spcPct val="105000"/>
              </a:lnSpc>
              <a:buNone/>
            </a:pPr>
            <a:r>
              <a:rPr lang="en-US" sz="1000" b="1" kern="0" dirty="0">
                <a:solidFill>
                  <a:srgbClr val="E6D34F"/>
                </a:solidFill>
                <a:latin typeface="Courier New" pitchFamily="34" charset="0"/>
                <a:ea typeface="Courier New" pitchFamily="34" charset="-122"/>
                <a:cs typeface="Courier New" pitchFamily="34" charset="-120"/>
              </a:rPr>
              <a:t xml:space="preserve">PERSISTENTES PROFIL</a:t>
            </a:r>
            <a:endParaRPr lang="en-US" sz="1000" dirty="0"/>
          </a:p>
        </p:txBody>
      </p:sp>
      <p:sp>
        <p:nvSpPr>
          <p:cNvPr id="96" name="!!T_P2"/>
          <p:cNvSpPr/>
          <p:nvPr/>
        </p:nvSpPr>
        <p:spPr>
          <a:xfrm>
            <a:off x="4595995" y="5890000"/>
            <a:ext cx="2998792" cy="460000"/>
          </a:xfrm>
          <a:prstGeom prst="rect">
            <a:avLst/>
          </a:prstGeom>
          <a:noFill/>
          <a:ln/>
        </p:spPr>
        <p:txBody>
          <a:bodyPr wrap="square" rtlCol="0" anchor="t"/>
          <a:lstStyle/>
          <a:p>
            <a:pPr marL="0" indent="0" algn="l">
              <a:lnSpc>
                <a:spcPct val="100000"/>
              </a:lnSpc>
              <a:buNone/>
            </a:pPr>
            <a:r>
              <a:rPr lang="en-US" sz="1150" b="1" kern="0" dirty="0">
                <a:solidFill>
                  <a:srgbClr val="F2EFDA"/>
                </a:solidFill>
                <a:latin typeface="Courier New" pitchFamily="34" charset="0"/>
                <a:ea typeface="Courier New" pitchFamily="34" charset="-122"/>
                <a:cs typeface="Courier New" pitchFamily="34" charset="-120"/>
              </a:rPr>
              <a:t xml:space="preserve">Technologie · Grundstoffe</a:t>
            </a:r>
            <a:endParaRPr lang="en-US" sz="11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P-V und P-S — Wachstums- und Rohstofftrends wirken nach.</a:t>
            </a:r>
            <a:endParaRPr lang="en-US" sz="870" dirty="0"/>
          </a:p>
        </p:txBody>
      </p:sp>
      <p:sp>
        <p:nvSpPr>
          <p:cNvPr id="97" name="!!K_P3"/>
          <p:cNvSpPr/>
          <p:nvPr/>
        </p:nvSpPr>
        <p:spPr>
          <a:xfrm>
            <a:off x="8048990" y="5590000"/>
            <a:ext cx="35071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P3"/>
          <p:cNvSpPr/>
          <p:nvPr/>
        </p:nvSpPr>
        <p:spPr>
          <a:xfrm>
            <a:off x="8303193" y="5670000"/>
            <a:ext cx="2998792" cy="220000"/>
          </a:xfrm>
          <a:prstGeom prst="rect">
            <a:avLst/>
          </a:prstGeom>
          <a:noFill/>
          <a:ln/>
        </p:spPr>
        <p:txBody>
          <a:bodyPr wrap="square" rtlCol="0" anchor="t"/>
          <a:lstStyle/>
          <a:p>
            <a:pPr marL="0" indent="0" algn="l">
              <a:lnSpc>
                <a:spcPct val="105000"/>
              </a:lnSpc>
              <a:buNone/>
            </a:pPr>
            <a:r>
              <a:rPr lang="en-US" sz="1000" b="1" kern="0" dirty="0">
                <a:solidFill>
                  <a:srgbClr val="79A2F9"/>
                </a:solidFill>
                <a:latin typeface="Courier New" pitchFamily="34" charset="0"/>
                <a:ea typeface="Courier New" pitchFamily="34" charset="-122"/>
                <a:cs typeface="Courier New" pitchFamily="34" charset="-120"/>
              </a:rPr>
              <a:t xml:space="preserve">KORREKTIV-VOLATILES PROFIL</a:t>
            </a:r>
            <a:endParaRPr lang="en-US" sz="1000" dirty="0"/>
          </a:p>
        </p:txBody>
      </p:sp>
      <p:sp>
        <p:nvSpPr>
          <p:cNvPr id="99" name="!!T_P3"/>
          <p:cNvSpPr/>
          <p:nvPr/>
        </p:nvSpPr>
        <p:spPr>
          <a:xfrm>
            <a:off x="8303193" y="5890000"/>
            <a:ext cx="2998792" cy="460000"/>
          </a:xfrm>
          <a:prstGeom prst="rect">
            <a:avLst/>
          </a:prstGeom>
          <a:noFill/>
          <a:ln/>
        </p:spPr>
        <p:txBody>
          <a:bodyPr wrap="square" rtlCol="0" anchor="t"/>
          <a:lstStyle/>
          <a:p>
            <a:pPr marL="0" indent="0" algn="l">
              <a:lnSpc>
                <a:spcPct val="100000"/>
              </a:lnSpc>
              <a:buNone/>
            </a:pPr>
            <a:r>
              <a:rPr lang="en-US" sz="1150" b="1" kern="0" dirty="0">
                <a:solidFill>
                  <a:srgbClr val="F2EFDA"/>
                </a:solidFill>
                <a:latin typeface="Courier New" pitchFamily="34" charset="0"/>
                <a:ea typeface="Courier New" pitchFamily="34" charset="-122"/>
                <a:cs typeface="Courier New" pitchFamily="34" charset="-120"/>
              </a:rPr>
              <a:t xml:space="preserve">Immobilien · Komm. · Energie</a:t>
            </a:r>
            <a:endParaRPr lang="en-US" sz="11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große Ausschläge, schnelle Korrektur — Preis- und Investitionszyklen.</a:t>
            </a:r>
            <a:endParaRPr lang="en-US" sz="87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08 / 15</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Warum? Konstruktion und Korrekturmechanismus</a:t>
            </a:r>
            <a:endParaRPr lang="en-US" sz="2300" dirty="0"/>
          </a:p>
        </p:txBody>
      </p:sp>
      <p:sp>
        <p:nvSpPr>
          <p:cNvPr id="17" name="Shape 14"/>
          <p:cNvSpPr/>
          <p:nvPr/>
        </p:nvSpPr>
        <p:spPr>
          <a:xfrm>
            <a:off x="634594" y="2603297"/>
            <a:ext cx="5320894" cy="2984602"/>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18" name="Shape 15"/>
          <p:cNvSpPr/>
          <p:nvPr/>
        </p:nvSpPr>
        <p:spPr>
          <a:xfrm>
            <a:off x="907999" y="2876702"/>
            <a:ext cx="88697" cy="88697"/>
          </a:xfrm>
          <a:prstGeom prst="ellipse">
            <a:avLst/>
          </a:prstGeom>
          <a:solidFill>
            <a:srgbClr val="79A2F9"/>
          </a:solidFill>
          <a:ln/>
        </p:spPr>
        <p:txBody>
          <a:bodyPr/>
          <a:lstStyle/>
          <a:p>
            <a:endParaRPr lang="de-DE"/>
          </a:p>
        </p:txBody>
      </p:sp>
      <p:sp>
        <p:nvSpPr>
          <p:cNvPr id="19" name="Text 16"/>
          <p:cNvSpPr/>
          <p:nvPr/>
        </p:nvSpPr>
        <p:spPr>
          <a:xfrm>
            <a:off x="1143000" y="2781605"/>
            <a:ext cx="4572000" cy="571500"/>
          </a:xfrm>
          <a:prstGeom prst="rect">
            <a:avLst/>
          </a:prstGeom>
          <a:noFill/>
          <a:ln/>
        </p:spPr>
        <p:txBody>
          <a:bodyPr wrap="square" rtlCol="0" anchor="t"/>
          <a:lstStyle/>
          <a:p>
            <a:pPr marL="0" indent="0" algn="l">
              <a:lnSpc>
                <a:spcPct val="110000"/>
              </a:lnSpc>
              <a:buNone/>
            </a:pPr>
            <a:r>
              <a:rPr lang="en-US" sz="1500" b="1" dirty="0">
                <a:solidFill>
                  <a:srgbClr val="F2EFDA"/>
                </a:solidFill>
                <a:latin typeface="Arial" pitchFamily="34" charset="0"/>
                <a:ea typeface="Arial" pitchFamily="34" charset="-122"/>
                <a:cs typeface="Arial" pitchFamily="34" charset="-120"/>
              </a:rPr>
              <a:t>Der Markt korrigiert die Profitabilität</a:t>
            </a:r>
            <a:endParaRPr lang="en-US" sz="1500" dirty="0"/>
          </a:p>
        </p:txBody>
      </p:sp>
      <p:sp>
        <p:nvSpPr>
          <p:cNvPr id="20" name="Text 17"/>
          <p:cNvSpPr/>
          <p:nvPr/>
        </p:nvSpPr>
        <p:spPr>
          <a:xfrm>
            <a:off x="952805" y="3556102"/>
            <a:ext cx="4699102" cy="1777594"/>
          </a:xfrm>
          <a:prstGeom prst="rect">
            <a:avLst/>
          </a:prstGeom>
          <a:noFill/>
          <a:ln/>
        </p:spPr>
        <p:txBody>
          <a:bodyPr wrap="square" rtlCol="0" anchor="t"/>
          <a:lstStyle/>
          <a:p>
            <a:pPr marL="0" indent="0" algn="l">
              <a:lnSpc>
                <a:spcPct val="135000"/>
              </a:lnSpc>
              <a:buNone/>
            </a:pPr>
            <a:r>
              <a:rPr lang="en-US" sz="1200" dirty="0">
                <a:solidFill>
                  <a:srgbClr val="B3BC9A"/>
                </a:solidFill>
                <a:latin typeface="Arial" pitchFamily="34" charset="0"/>
                <a:ea typeface="Arial" pitchFamily="34" charset="-122"/>
                <a:cs typeface="Arial" pitchFamily="34" charset="-120"/>
              </a:rPr>
              <a:t xml:space="preserve">Überrenditen ziehen Wettbewerber an, Unterrenditen erzwingen Anpassung — </a:t>
            </a:r>
            <a:r>
              <a:rPr lang="en-US" sz="1200" b="1" dirty="0">
                <a:solidFill>
                  <a:srgbClr val="F2EFDA"/>
                </a:solidFill>
                <a:latin typeface="Arial" pitchFamily="34" charset="0"/>
                <a:ea typeface="Arial" pitchFamily="34" charset="-122"/>
                <a:cs typeface="Arial" pitchFamily="34" charset="-120"/>
              </a:rPr>
              <a:t>Korrektur ohne Zutun des Unternehmens</a:t>
            </a:r>
            <a:r>
              <a:rPr lang="en-US" sz="1200" dirty="0">
                <a:solidFill>
                  <a:srgbClr val="B3BC9A"/>
                </a:solidFill>
                <a:latin typeface="Arial" pitchFamily="34" charset="0"/>
                <a:ea typeface="Arial" pitchFamily="34" charset="-122"/>
                <a:cs typeface="Arial" pitchFamily="34" charset="-120"/>
              </a:rPr>
              <a:t xml:space="preserve"> (Fama/French 2000: ≈ 38 % p. a.).</a:t>
            </a:r>
            <a:endParaRPr lang="en-US" sz="1200" dirty="0"/>
          </a:p>
        </p:txBody>
      </p:sp>
      <p:sp>
        <p:nvSpPr>
          <p:cNvPr id="21" name="Shape 18"/>
          <p:cNvSpPr/>
          <p:nvPr/>
        </p:nvSpPr>
        <p:spPr>
          <a:xfrm>
            <a:off x="6235294" y="2603297"/>
            <a:ext cx="5320894" cy="2984602"/>
          </a:xfrm>
          <a:prstGeom prst="roundRect">
            <a:avLst>
              <a:gd name="adj" fmla="val 3401"/>
            </a:avLst>
          </a:prstGeom>
          <a:solidFill>
            <a:srgbClr val="1E402E"/>
          </a:solidFill>
          <a:ln w="12700">
            <a:solidFill>
              <a:srgbClr val="4A6D56"/>
            </a:solidFill>
            <a:prstDash val="solid"/>
          </a:ln>
        </p:spPr>
        <p:txBody>
          <a:bodyPr/>
          <a:lstStyle/>
          <a:p>
            <a:endParaRPr lang="de-DE"/>
          </a:p>
        </p:txBody>
      </p:sp>
      <p:sp>
        <p:nvSpPr>
          <p:cNvPr id="22" name="Shape 19"/>
          <p:cNvSpPr/>
          <p:nvPr/>
        </p:nvSpPr>
        <p:spPr>
          <a:xfrm>
            <a:off x="6508699" y="2876702"/>
            <a:ext cx="88697" cy="88697"/>
          </a:xfrm>
          <a:prstGeom prst="ellipse">
            <a:avLst/>
          </a:prstGeom>
          <a:solidFill>
            <a:srgbClr val="F36451"/>
          </a:solidFill>
          <a:ln/>
        </p:spPr>
        <p:txBody>
          <a:bodyPr/>
          <a:lstStyle/>
          <a:p>
            <a:endParaRPr lang="de-DE"/>
          </a:p>
        </p:txBody>
      </p:sp>
      <p:sp>
        <p:nvSpPr>
          <p:cNvPr id="23" name="Text 20"/>
          <p:cNvSpPr/>
          <p:nvPr/>
        </p:nvSpPr>
        <p:spPr>
          <a:xfrm>
            <a:off x="6743700" y="2781605"/>
            <a:ext cx="4572000" cy="571500"/>
          </a:xfrm>
          <a:prstGeom prst="rect">
            <a:avLst/>
          </a:prstGeom>
          <a:noFill/>
          <a:ln/>
        </p:spPr>
        <p:txBody>
          <a:bodyPr wrap="square" rtlCol="0" anchor="t"/>
          <a:lstStyle/>
          <a:p>
            <a:pPr marL="0" indent="0" algn="l">
              <a:lnSpc>
                <a:spcPct val="110000"/>
              </a:lnSpc>
              <a:buNone/>
            </a:pPr>
            <a:r>
              <a:rPr lang="en-US" sz="1500" b="1" dirty="0">
                <a:solidFill>
                  <a:srgbClr val="F2EFDA"/>
                </a:solidFill>
                <a:latin typeface="Arial" pitchFamily="34" charset="0"/>
                <a:ea typeface="Arial" pitchFamily="34" charset="-122"/>
                <a:cs typeface="Arial" pitchFamily="34" charset="-120"/>
              </a:rPr>
              <a:t>Das Management entscheidet die Kapitalstruktur</a:t>
            </a:r>
            <a:endParaRPr lang="en-US" sz="1500" dirty="0"/>
          </a:p>
        </p:txBody>
      </p:sp>
      <p:sp>
        <p:nvSpPr>
          <p:cNvPr id="24" name="Text 21"/>
          <p:cNvSpPr/>
          <p:nvPr/>
        </p:nvSpPr>
        <p:spPr>
          <a:xfrm>
            <a:off x="6552590" y="3556102"/>
            <a:ext cx="4699102" cy="1777594"/>
          </a:xfrm>
          <a:prstGeom prst="rect">
            <a:avLst/>
          </a:prstGeom>
          <a:noFill/>
          <a:ln/>
        </p:spPr>
        <p:txBody>
          <a:bodyPr wrap="square" rtlCol="0" anchor="t"/>
          <a:lstStyle/>
          <a:p>
            <a:pPr marL="0" indent="0" algn="l">
              <a:lnSpc>
                <a:spcPct val="135000"/>
              </a:lnSpc>
              <a:buNone/>
            </a:pPr>
            <a:r>
              <a:rPr lang="en-US" sz="1200" dirty="0">
                <a:solidFill>
                  <a:srgbClr val="B3BC9A"/>
                </a:solidFill>
                <a:latin typeface="Arial" pitchFamily="34" charset="0"/>
                <a:ea typeface="Arial" pitchFamily="34" charset="-122"/>
                <a:cs typeface="Arial" pitchFamily="34" charset="-120"/>
              </a:rPr>
              <a:t xml:space="preserve">Kein Marktmechanismus zieht die Bilanz zur Norm — </a:t>
            </a:r>
            <a:r>
              <a:rPr lang="en-US" sz="1200" b="1" dirty="0">
                <a:solidFill>
                  <a:srgbClr val="F2EFDA"/>
                </a:solidFill>
                <a:latin typeface="Arial" pitchFamily="34" charset="0"/>
                <a:ea typeface="Arial" pitchFamily="34" charset="-122"/>
                <a:cs typeface="Arial" pitchFamily="34" charset="-120"/>
              </a:rPr>
              <a:t>nur Emission, Rückkauf, Dividende</a:t>
            </a:r>
            <a:r>
              <a:rPr lang="en-US" sz="1200" dirty="0">
                <a:solidFill>
                  <a:srgbClr val="B3BC9A"/>
                </a:solidFill>
                <a:latin typeface="Arial" pitchFamily="34" charset="0"/>
                <a:ea typeface="Arial" pitchFamily="34" charset="-122"/>
                <a:cs typeface="Arial" pitchFamily="34" charset="-120"/>
              </a:rPr>
              <a:t xml:space="preserve"> (Pecking Order, Market Timing, Trade-off).</a:t>
            </a:r>
            <a:endParaRPr lang="en-US" sz="1200" dirty="0"/>
          </a:p>
        </p:txBody>
      </p:sp>
      <p:pic>
        <p:nvPicPr>
          <p:cNvPr id="25" name="Grafik 24">
            <a:extLst>
              <a:ext uri="{FF2B5EF4-FFF2-40B4-BE49-F238E27FC236}">
                <a16:creationId xmlns:a16="http://schemas.microsoft.com/office/drawing/2014/main" id="{4E95ED5A-A4FB-4963-5252-CFE8AB37837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68" r="1602"/>
          <a:stretch>
            <a:fillRect/>
          </a:stretch>
        </p:blipFill>
        <p:spPr bwMode="auto">
          <a:xfrm>
            <a:off x="3609614" y="1212572"/>
            <a:ext cx="3757102" cy="1177105"/>
          </a:xfrm>
          <a:prstGeom prst="rect">
            <a:avLst/>
          </a:prstGeom>
          <a:ln>
            <a:noFill/>
          </a:ln>
          <a:extLst>
            <a:ext uri="{53640926-AAD7-44D8-BBD7-CCE9431645EC}">
              <a14:shadowObscured xmlns:a14="http://schemas.microsoft.com/office/drawing/2010/main"/>
            </a:ext>
          </a:extLst>
        </p:spPr>
      </p:pic>
      <p:sp>
        <p:nvSpPr>
          <p:cNvPr id="3" name="Text 1">
            <a:extLst>
              <a:ext uri="{FF2B5EF4-FFF2-40B4-BE49-F238E27FC236}">
                <a16:creationId xmlns:a16="http://schemas.microsoft.com/office/drawing/2014/main" id="{1E646081-CF00-82F5-AF41-D41CFC47DF1D}"/>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FORSCHUNGSFRAGE 1</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09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Korrekturgeschwindigkeit koppelt nur innerhalb der Profitabilität</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Paarweise Spearman-Korrelation der firmenspezifisch geschätzten Parameter über 932 Unternehmen — 21 Kennzahlpaare je Matrix.</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 Bonferroni-korrigiert: α/21 ≈ 0,0024 je Test-Familie. Schwacher zweiter Block in der Bilanz: Debt/Equity × EK-Quote 0,33 · Current Ratio × EK-Quote 0,16.</a:t>
            </a:r>
            <a:endParaRPr lang="en-US" sz="9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dirty="0">
                <a:solidFill>
                  <a:srgbClr val="B3BC9A"/>
                </a:solidFill>
                <a:latin typeface="Courier New" pitchFamily="34" charset="0"/>
                <a:ea typeface="Courier New" pitchFamily="34" charset="-122"/>
                <a:cs typeface="Courier New" pitchFamily="34" charset="-120"/>
              </a:rPr>
              <a:t xml:space="preserve">φ  Mean-Reversion-Matrix</a:t>
            </a:r>
            <a:endParaRPr lang="en-US" sz="1200" dirty="0"/>
          </a:p>
        </p:txBody>
      </p:sp>
      <p:sp>
        <p:nvSpPr>
          <p:cNvPr id="30" name="!!PH_PhiMatrix"/>
          <p:cNvSpPr/>
          <p:nvPr/>
        </p:nvSpPr>
        <p:spPr>
          <a:xfrm>
            <a:off x="888797" y="2463394"/>
            <a:ext cx="4813402" cy="228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G6a — φ-Heatmap 7×7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output/interdependence/corr_phi1.csv</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Sterne: sig_bonferroni_phi1.csv</a:t>
            </a:r>
            <a:endParaRPr lang="en-US" sz="950" dirty="0"/>
          </a:p>
        </p:txBody>
      </p:sp>
      <p:sp>
        <p:nvSpPr>
          <p:cNvPr id="31" name="!!B_PhiMatrix"/>
          <p:cNvSpPr/>
          <p:nvPr/>
        </p:nvSpPr>
        <p:spPr>
          <a:xfrm>
            <a:off x="888797" y="4805000"/>
            <a:ext cx="4813402" cy="240000"/>
          </a:xfrm>
          <a:prstGeom prst="rect">
            <a:avLst/>
          </a:prstGeom>
          <a:noFill/>
          <a:ln/>
        </p:spPr>
        <p:txBody>
          <a:bodyPr wrap="square" rtlCol="0" anchor="t"/>
          <a:lstStyle/>
          <a:p>
            <a:pPr marL="0" indent="0" algn="l">
              <a:lnSpc>
                <a:spcPct val="105000"/>
              </a:lnSpc>
              <a:buNone/>
            </a:pPr>
            <a:r>
              <a:rPr lang="en-US" sz="1000" kern="0" dirty="0">
                <a:solidFill>
                  <a:srgbClr val="B3BC9A"/>
                </a:solidFill>
                <a:latin typeface="Arial" pitchFamily="34" charset="0"/>
                <a:ea typeface="Arial" pitchFamily="34" charset="-122"/>
                <a:cs typeface="Arial" pitchFamily="34" charset="-120"/>
              </a:rPr>
              <a:t xml:space="preserve">Kopplung </a:t>
            </a:r>
            <a:r>
              <a:rPr lang="en-US" sz="1000" b="1" kern="0" dirty="0">
                <a:solidFill>
                  <a:srgbClr val="F2EFDA"/>
                </a:solidFill>
                <a:latin typeface="Arial" pitchFamily="34" charset="0"/>
                <a:ea typeface="Arial" pitchFamily="34" charset="-122"/>
                <a:cs typeface="Arial" pitchFamily="34" charset="-120"/>
              </a:rPr>
              <a:t xml:space="preserve">nur innerhalb der Profitabilität</a:t>
            </a:r>
            <a:r>
              <a:rPr lang="en-US" sz="1000" kern="0" dirty="0">
                <a:solidFill>
                  <a:srgbClr val="B3BC9A"/>
                </a:solidFill>
                <a:latin typeface="Arial" pitchFamily="34" charset="0"/>
                <a:ea typeface="Arial" pitchFamily="34" charset="-122"/>
                <a:cs typeface="Arial" pitchFamily="34" charset="-120"/>
              </a:rPr>
              <a:t xml:space="preserve"> — ROA × ROE 0,78.</a:t>
            </a:r>
            <a:endParaRPr lang="en-US" sz="1000" dirty="0"/>
          </a:p>
        </p:txBody>
      </p:sp>
      <p:sp>
        <p:nvSpPr>
          <p:cNvPr id="41" name="!!K_Prof"/>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Prof"/>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PROFITABILITÄTSBLOCK</a:t>
            </a:r>
            <a:endParaRPr lang="en-US" sz="1050" dirty="0"/>
          </a:p>
        </p:txBody>
      </p:sp>
      <p:sp>
        <p:nvSpPr>
          <p:cNvPr id="43" name="!!T_Prof"/>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ρ = 0,78</a:t>
            </a:r>
            <a:r>
              <a:rPr lang="en-US" sz="1100" kern="0" dirty="0">
                <a:solidFill>
                  <a:srgbClr val="798D6F"/>
                </a:solidFill>
                <a:latin typeface="Courier New" pitchFamily="34" charset="0"/>
                <a:ea typeface="Courier New" pitchFamily="34" charset="-122"/>
                <a:cs typeface="Courier New" pitchFamily="34" charset="-120"/>
              </a:rPr>
              <a:t xml:space="preserve">   ROA × ROE</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 × EBIT-Marge 0,56 · ROE × EBIT-Marge 0,54 — die Rangfolge der Korrektur ist ein </a:t>
            </a:r>
            <a:r>
              <a:rPr lang="en-US" sz="1000" b="1" kern="0" dirty="0">
                <a:solidFill>
                  <a:srgbClr val="F2EFDA"/>
                </a:solidFill>
                <a:latin typeface="Arial" pitchFamily="34" charset="0"/>
                <a:ea typeface="Arial" pitchFamily="34" charset="-122"/>
                <a:cs typeface="Arial" pitchFamily="34" charset="-120"/>
              </a:rPr>
              <a:t xml:space="preserve">konsistentes Firmenmerkmal</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4" name="!!K_FCF"/>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FCF"/>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F2EFDA"/>
                </a:solidFill>
                <a:latin typeface="Courier New" pitchFamily="34" charset="0"/>
                <a:ea typeface="Courier New" pitchFamily="34" charset="-122"/>
                <a:cs typeface="Courier New" pitchFamily="34" charset="-120"/>
              </a:rPr>
              <a:t xml:space="preserve">FCF-MARGE: DIE AUSNAHME</a:t>
            </a:r>
            <a:endParaRPr lang="en-US" sz="1050" dirty="0"/>
          </a:p>
        </p:txBody>
      </p:sp>
      <p:sp>
        <p:nvSpPr>
          <p:cNvPr id="46" name="!!T_FCF"/>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ρ = 0,14 … 0,19</a:t>
            </a:r>
            <a:r>
              <a:rPr lang="en-US" sz="1100" kern="0" dirty="0">
                <a:solidFill>
                  <a:srgbClr val="798D6F"/>
                </a:solidFill>
                <a:latin typeface="Courier New" pitchFamily="34" charset="0"/>
                <a:ea typeface="Courier New" pitchFamily="34" charset="-122"/>
                <a:cs typeface="Courier New" pitchFamily="34" charset="-120"/>
              </a:rPr>
              <a:t xml:space="preserve">   zu ROA · ROE · EBIT</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Accruals glätten Buchgewinne, den Cashflow nicht (Sloan 1996; Dechow 1994) — </a:t>
            </a:r>
            <a:r>
              <a:rPr lang="en-US" sz="1000" b="1" kern="0" dirty="0">
                <a:solidFill>
                  <a:srgbClr val="F2EFDA"/>
                </a:solidFill>
                <a:latin typeface="Arial" pitchFamily="34" charset="0"/>
                <a:ea typeface="Arial" pitchFamily="34" charset="-122"/>
                <a:cs typeface="Arial" pitchFamily="34" charset="-120"/>
              </a:rPr>
              <a:t xml:space="preserve">eigene Korrekturlogik</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7" name="!!K_Cross"/>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8" name="!!L_Cross"/>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ZWISCHEN DEN BLÖCKEN</a:t>
            </a:r>
            <a:endParaRPr lang="en-US" sz="1050" dirty="0"/>
          </a:p>
        </p:txBody>
      </p:sp>
      <p:sp>
        <p:nvSpPr>
          <p:cNvPr id="49" name="!!T_Cross"/>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1 / 12</a:t>
            </a:r>
            <a:r>
              <a:rPr lang="en-US" sz="1100" kern="0" dirty="0">
                <a:solidFill>
                  <a:srgbClr val="798D6F"/>
                </a:solidFill>
                <a:latin typeface="Courier New" pitchFamily="34" charset="0"/>
                <a:ea typeface="Courier New" pitchFamily="34" charset="-122"/>
                <a:cs typeface="Courier New" pitchFamily="34" charset="-120"/>
              </a:rPr>
              <a:t xml:space="preserve">   Paare signifikant</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nur ROE × EK-Quote (0,13) — direkte Folge der </a:t>
            </a:r>
            <a:r>
              <a:rPr lang="en-US" sz="1000" b="1" kern="0" dirty="0">
                <a:solidFill>
                  <a:srgbClr val="F2EFDA"/>
                </a:solidFill>
                <a:latin typeface="Arial" pitchFamily="34" charset="0"/>
                <a:ea typeface="Arial" pitchFamily="34" charset="-122"/>
                <a:cs typeface="Arial" pitchFamily="34" charset="-120"/>
              </a:rPr>
              <a:t xml:space="preserve">schwachen Mean-Reversion in der Kapitalstruktur</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09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Schocks treffen gemeinsam — korrigiert wird kennzahlspezifisch</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Paarweise Spearman-Korrelation der firmenspezifisch geschätzten Parameter über 932 Unternehmen — 21 Kennzahlpaare je Matrix.</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Mechanik ≠ Ökonomie: ROE × Debt/Equity 0,66 folgt aus der DuPont-Identität, EBIT-Marge × FCF-Marge 0,66 aus dem gemeinsamen Umsatznenner — explizit ausgewiesen, kein ökonomischer Befund.</a:t>
            </a:r>
            <a:endParaRPr lang="en-US" sz="9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dirty="0">
                <a:solidFill>
                  <a:srgbClr val="B3BC9A"/>
                </a:solidFill>
                <a:latin typeface="Courier New" pitchFamily="34" charset="0"/>
                <a:ea typeface="Courier New" pitchFamily="34" charset="-122"/>
                <a:cs typeface="Courier New" pitchFamily="34" charset="-120"/>
              </a:rPr>
              <a:t xml:space="preserve">φ  Mean-Reversion-Matrix</a:t>
            </a:r>
            <a:r>
              <a:rPr lang="en-US" sz="1200" b="1" kern="0" dirty="0">
                <a:solidFill>
                  <a:srgbClr val="F2EFDA"/>
                </a:solidFill>
                <a:latin typeface="Courier New" pitchFamily="34" charset="0"/>
                <a:ea typeface="Courier New" pitchFamily="34" charset="-122"/>
                <a:cs typeface="Courier New" pitchFamily="34" charset="-120"/>
              </a:rPr>
              <a:t xml:space="preserve">   9 / 21 Paare*</a:t>
            </a:r>
            <a:endParaRPr lang="en-US" sz="1200" dirty="0"/>
          </a:p>
        </p:txBody>
      </p:sp>
      <p:sp>
        <p:nvSpPr>
          <p:cNvPr id="30" name="!!PH_PhiMatrix"/>
          <p:cNvSpPr/>
          <p:nvPr/>
        </p:nvSpPr>
        <p:spPr>
          <a:xfrm>
            <a:off x="888797" y="2463394"/>
            <a:ext cx="4813402" cy="228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G6a — φ-Heatmap 7×7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output/interdependence/corr_phi1.csv</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Sterne: sig_bonferroni_phi1.csv</a:t>
            </a:r>
            <a:endParaRPr lang="en-US" sz="950" dirty="0"/>
          </a:p>
        </p:txBody>
      </p:sp>
      <p:sp>
        <p:nvSpPr>
          <p:cNvPr id="31" name="!!B_PhiMatrix"/>
          <p:cNvSpPr/>
          <p:nvPr/>
        </p:nvSpPr>
        <p:spPr>
          <a:xfrm>
            <a:off x="888797" y="4805000"/>
            <a:ext cx="4813402" cy="240000"/>
          </a:xfrm>
          <a:prstGeom prst="rect">
            <a:avLst/>
          </a:prstGeom>
          <a:noFill/>
          <a:ln/>
        </p:spPr>
        <p:txBody>
          <a:bodyPr wrap="square" rtlCol="0" anchor="t"/>
          <a:lstStyle/>
          <a:p>
            <a:pPr marL="0" indent="0" algn="l">
              <a:lnSpc>
                <a:spcPct val="105000"/>
              </a:lnSpc>
              <a:buNone/>
            </a:pPr>
            <a:r>
              <a:rPr lang="en-US" sz="1000" kern="0" dirty="0">
                <a:solidFill>
                  <a:srgbClr val="B3BC9A"/>
                </a:solidFill>
                <a:latin typeface="Arial" pitchFamily="34" charset="0"/>
                <a:ea typeface="Arial" pitchFamily="34" charset="-122"/>
                <a:cs typeface="Arial" pitchFamily="34" charset="-120"/>
              </a:rPr>
              <a:t xml:space="preserve">Kopplung </a:t>
            </a:r>
            <a:r>
              <a:rPr lang="en-US" sz="1000" b="1" kern="0" dirty="0">
                <a:solidFill>
                  <a:srgbClr val="F2EFDA"/>
                </a:solidFill>
                <a:latin typeface="Arial" pitchFamily="34" charset="0"/>
                <a:ea typeface="Arial" pitchFamily="34" charset="-122"/>
                <a:cs typeface="Arial" pitchFamily="34" charset="-120"/>
              </a:rPr>
              <a:t xml:space="preserve">nur innerhalb der Profitabilität</a:t>
            </a:r>
            <a:r>
              <a:rPr lang="en-US" sz="1000" kern="0" dirty="0">
                <a:solidFill>
                  <a:srgbClr val="B3BC9A"/>
                </a:solidFill>
                <a:latin typeface="Arial" pitchFamily="34" charset="0"/>
                <a:ea typeface="Arial" pitchFamily="34" charset="-122"/>
                <a:cs typeface="Arial" pitchFamily="34" charset="-120"/>
              </a:rPr>
              <a:t xml:space="preserve"> — ROA × ROE 0,78.</a:t>
            </a:r>
            <a:endParaRPr lang="en-US" sz="1000" dirty="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dirty="0">
                <a:solidFill>
                  <a:srgbClr val="79A2F9"/>
                </a:solidFill>
                <a:latin typeface="Courier New" pitchFamily="34" charset="0"/>
                <a:ea typeface="Courier New" pitchFamily="34" charset="-122"/>
                <a:cs typeface="Courier New" pitchFamily="34" charset="-120"/>
              </a:rPr>
              <a:t xml:space="preserve">σ  </a:t>
            </a:r>
            <a:r>
              <a:rPr lang="en-US" sz="1200" b="1" kern="0" dirty="0">
                <a:solidFill>
                  <a:srgbClr val="F2EFDA"/>
                </a:solidFill>
                <a:latin typeface="Courier New" pitchFamily="34" charset="0"/>
                <a:ea typeface="Courier New" pitchFamily="34" charset="-122"/>
                <a:cs typeface="Courier New" pitchFamily="34" charset="-120"/>
              </a:rPr>
              <a:t xml:space="preserve">Volatilitäts-Matrix</a:t>
            </a:r>
            <a:r>
              <a:rPr lang="en-US" sz="1200" b="1" kern="0" dirty="0">
                <a:solidFill>
                  <a:srgbClr val="79A2F9"/>
                </a:solidFill>
                <a:latin typeface="Courier New" pitchFamily="34" charset="0"/>
                <a:ea typeface="Courier New" pitchFamily="34" charset="-122"/>
                <a:cs typeface="Courier New" pitchFamily="34" charset="-120"/>
              </a:rPr>
              <a:t xml:space="preserve">   19 / 21 Paare*</a:t>
            </a:r>
            <a:endParaRPr lang="en-US" sz="1200" dirty="0"/>
          </a:p>
        </p:txBody>
      </p:sp>
      <p:sp>
        <p:nvSpPr>
          <p:cNvPr id="34" name="!!PH_SigMatrix"/>
          <p:cNvSpPr/>
          <p:nvPr/>
        </p:nvSpPr>
        <p:spPr>
          <a:xfrm>
            <a:off x="6489497" y="2463394"/>
            <a:ext cx="4813402" cy="228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G6b — σ-Heatmap 7×7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output/interdependence/corr_sigma.csv</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Sterne: sig_bonferroni_sigma.csv</a:t>
            </a:r>
            <a:endParaRPr lang="en-US" sz="950" dirty="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dirty="0">
                <a:solidFill>
                  <a:srgbClr val="B3BC9A"/>
                </a:solidFill>
                <a:latin typeface="Arial" pitchFamily="34" charset="0"/>
                <a:ea typeface="Arial" pitchFamily="34" charset="-122"/>
                <a:cs typeface="Arial" pitchFamily="34" charset="-120"/>
              </a:rPr>
              <a:t xml:space="preserve">EK-Quote: </a:t>
            </a:r>
            <a:r>
              <a:rPr lang="en-US" sz="1000" b="1" kern="0" dirty="0">
                <a:solidFill>
                  <a:srgbClr val="F2EFDA"/>
                </a:solidFill>
                <a:latin typeface="Arial" pitchFamily="34" charset="0"/>
                <a:ea typeface="Arial" pitchFamily="34" charset="-122"/>
                <a:cs typeface="Arial" pitchFamily="34" charset="-120"/>
              </a:rPr>
              <a:t xml:space="preserve">als einzige mit allen sechs anderen gekoppelt</a:t>
            </a:r>
            <a:r>
              <a:rPr lang="en-US" sz="1000" kern="0" dirty="0">
                <a:solidFill>
                  <a:srgbClr val="B3BC9A"/>
                </a:solidFill>
                <a:latin typeface="Arial" pitchFamily="34" charset="0"/>
                <a:ea typeface="Arial" pitchFamily="34" charset="-122"/>
                <a:cs typeface="Arial" pitchFamily="34" charset="-120"/>
              </a:rPr>
              <a:t xml:space="preserve"> (0,19 – 0,52).</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09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Schocks treffen gemeinsam — korrigiert wird kennzahlspezifisch</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Paarweise Spearman-Korrelation der firmenspezifisch geschätzten Parameter über 932 Unternehmen — 21 Kennzahlpaare je Matrix.</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Mechanik ≠ Ökonomie: ROE × Debt/Equity 0,66 folgt aus der DuPont-Identität, EBIT-Marge × FCF-Marge 0,66 aus dem gemeinsamen Umsatznenner — explizit ausgewiesen, kein ökonomischer Befund.</a:t>
            </a:r>
            <a:endParaRPr lang="en-US" sz="900" dirty="0"/>
          </a:p>
        </p:txBody>
      </p:sp>
      <p:sp>
        <p:nvSpPr>
          <p:cNvPr id="8" name="!!K_PhiMatrix"/>
          <p:cNvSpPr/>
          <p:nvPr/>
        </p:nvSpPr>
        <p:spPr>
          <a:xfrm>
            <a:off x="634594" y="1904695"/>
            <a:ext cx="5320894" cy="3174797"/>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 name="!!L_PhiMatrix"/>
          <p:cNvSpPr/>
          <p:nvPr/>
        </p:nvSpPr>
        <p:spPr>
          <a:xfrm>
            <a:off x="888797" y="2095805"/>
            <a:ext cx="4813402" cy="254203"/>
          </a:xfrm>
          <a:prstGeom prst="rect">
            <a:avLst/>
          </a:prstGeom>
          <a:noFill/>
          <a:ln/>
        </p:spPr>
        <p:txBody>
          <a:bodyPr wrap="square" rtlCol="0" anchor="t"/>
          <a:lstStyle/>
          <a:p>
            <a:pPr marL="0" indent="0" algn="l">
              <a:lnSpc>
                <a:spcPct val="105000"/>
              </a:lnSpc>
              <a:buNone/>
            </a:pPr>
            <a:r>
              <a:rPr lang="en-US" sz="1200" b="1" kern="0" dirty="0">
                <a:solidFill>
                  <a:srgbClr val="B3BC9A"/>
                </a:solidFill>
                <a:latin typeface="Courier New" pitchFamily="34" charset="0"/>
                <a:ea typeface="Courier New" pitchFamily="34" charset="-122"/>
                <a:cs typeface="Courier New" pitchFamily="34" charset="-120"/>
              </a:rPr>
              <a:t xml:space="preserve">φ  Mean-Reversion-Matrix</a:t>
            </a:r>
            <a:r>
              <a:rPr lang="en-US" sz="1200" b="1" kern="0" dirty="0">
                <a:solidFill>
                  <a:srgbClr val="F2EFDA"/>
                </a:solidFill>
                <a:latin typeface="Courier New" pitchFamily="34" charset="0"/>
                <a:ea typeface="Courier New" pitchFamily="34" charset="-122"/>
                <a:cs typeface="Courier New" pitchFamily="34" charset="-120"/>
              </a:rPr>
              <a:t xml:space="preserve">   9 / 21 Paare*</a:t>
            </a:r>
            <a:endParaRPr lang="en-US" sz="1200" dirty="0"/>
          </a:p>
        </p:txBody>
      </p:sp>
      <p:sp>
        <p:nvSpPr>
          <p:cNvPr id="30" name="!!PH_PhiMatrix"/>
          <p:cNvSpPr/>
          <p:nvPr/>
        </p:nvSpPr>
        <p:spPr>
          <a:xfrm>
            <a:off x="888797" y="2463394"/>
            <a:ext cx="4813402" cy="228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G6a — φ-Heatmap 7×7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output/interdependence/corr_phi1.csv</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Sterne: sig_bonferroni_phi1.csv</a:t>
            </a:r>
            <a:endParaRPr lang="en-US" sz="950" dirty="0"/>
          </a:p>
        </p:txBody>
      </p:sp>
      <p:sp>
        <p:nvSpPr>
          <p:cNvPr id="31" name="!!B_PhiMatrix"/>
          <p:cNvSpPr/>
          <p:nvPr/>
        </p:nvSpPr>
        <p:spPr>
          <a:xfrm>
            <a:off x="888797" y="4805000"/>
            <a:ext cx="4813402" cy="240000"/>
          </a:xfrm>
          <a:prstGeom prst="rect">
            <a:avLst/>
          </a:prstGeom>
          <a:noFill/>
          <a:ln/>
        </p:spPr>
        <p:txBody>
          <a:bodyPr wrap="square" rtlCol="0" anchor="t"/>
          <a:lstStyle/>
          <a:p>
            <a:pPr marL="0" indent="0" algn="l">
              <a:lnSpc>
                <a:spcPct val="105000"/>
              </a:lnSpc>
              <a:buNone/>
            </a:pPr>
            <a:r>
              <a:rPr lang="en-US" sz="1000" kern="0" dirty="0">
                <a:solidFill>
                  <a:srgbClr val="B3BC9A"/>
                </a:solidFill>
                <a:latin typeface="Arial" pitchFamily="34" charset="0"/>
                <a:ea typeface="Arial" pitchFamily="34" charset="-122"/>
                <a:cs typeface="Arial" pitchFamily="34" charset="-120"/>
              </a:rPr>
              <a:t xml:space="preserve">Kopplung </a:t>
            </a:r>
            <a:r>
              <a:rPr lang="en-US" sz="1000" b="1" kern="0" dirty="0">
                <a:solidFill>
                  <a:srgbClr val="F2EFDA"/>
                </a:solidFill>
                <a:latin typeface="Arial" pitchFamily="34" charset="0"/>
                <a:ea typeface="Arial" pitchFamily="34" charset="-122"/>
                <a:cs typeface="Arial" pitchFamily="34" charset="-120"/>
              </a:rPr>
              <a:t xml:space="preserve">nur innerhalb der Profitabilität</a:t>
            </a:r>
            <a:r>
              <a:rPr lang="en-US" sz="1000" kern="0" dirty="0">
                <a:solidFill>
                  <a:srgbClr val="B3BC9A"/>
                </a:solidFill>
                <a:latin typeface="Arial" pitchFamily="34" charset="0"/>
                <a:ea typeface="Arial" pitchFamily="34" charset="-122"/>
                <a:cs typeface="Arial" pitchFamily="34" charset="-120"/>
              </a:rPr>
              <a:t xml:space="preserve"> — ROA × ROE 0,78.</a:t>
            </a:r>
            <a:endParaRPr lang="en-US" sz="1000" dirty="0"/>
          </a:p>
        </p:txBody>
      </p:sp>
      <p:sp>
        <p:nvSpPr>
          <p:cNvPr id="14" name="!!K_SigMatrix"/>
          <p:cNvSpPr/>
          <p:nvPr/>
        </p:nvSpPr>
        <p:spPr>
          <a:xfrm>
            <a:off x="6235294" y="1904695"/>
            <a:ext cx="5320894" cy="3174797"/>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15" name="!!L_SigMatrix"/>
          <p:cNvSpPr/>
          <p:nvPr/>
        </p:nvSpPr>
        <p:spPr>
          <a:xfrm>
            <a:off x="6489497" y="2095805"/>
            <a:ext cx="4813402" cy="254203"/>
          </a:xfrm>
          <a:prstGeom prst="rect">
            <a:avLst/>
          </a:prstGeom>
          <a:noFill/>
          <a:ln/>
        </p:spPr>
        <p:txBody>
          <a:bodyPr wrap="square" rtlCol="0" anchor="t"/>
          <a:lstStyle/>
          <a:p>
            <a:pPr marL="0" indent="0" algn="l">
              <a:lnSpc>
                <a:spcPct val="105000"/>
              </a:lnSpc>
              <a:buNone/>
            </a:pPr>
            <a:r>
              <a:rPr lang="en-US" sz="1200" b="1" kern="0" dirty="0">
                <a:solidFill>
                  <a:srgbClr val="79A2F9"/>
                </a:solidFill>
                <a:latin typeface="Courier New" pitchFamily="34" charset="0"/>
                <a:ea typeface="Courier New" pitchFamily="34" charset="-122"/>
                <a:cs typeface="Courier New" pitchFamily="34" charset="-120"/>
              </a:rPr>
              <a:t xml:space="preserve">σ  </a:t>
            </a:r>
            <a:r>
              <a:rPr lang="en-US" sz="1200" b="1" kern="0" dirty="0">
                <a:solidFill>
                  <a:srgbClr val="F2EFDA"/>
                </a:solidFill>
                <a:latin typeface="Courier New" pitchFamily="34" charset="0"/>
                <a:ea typeface="Courier New" pitchFamily="34" charset="-122"/>
                <a:cs typeface="Courier New" pitchFamily="34" charset="-120"/>
              </a:rPr>
              <a:t xml:space="preserve">Volatilitäts-Matrix</a:t>
            </a:r>
            <a:r>
              <a:rPr lang="en-US" sz="1200" b="1" kern="0" dirty="0">
                <a:solidFill>
                  <a:srgbClr val="79A2F9"/>
                </a:solidFill>
                <a:latin typeface="Courier New" pitchFamily="34" charset="0"/>
                <a:ea typeface="Courier New" pitchFamily="34" charset="-122"/>
                <a:cs typeface="Courier New" pitchFamily="34" charset="-120"/>
              </a:rPr>
              <a:t xml:space="preserve">   19 / 21 Paare*</a:t>
            </a:r>
            <a:endParaRPr lang="en-US" sz="1200" dirty="0"/>
          </a:p>
        </p:txBody>
      </p:sp>
      <p:sp>
        <p:nvSpPr>
          <p:cNvPr id="34" name="!!PH_SigMatrix"/>
          <p:cNvSpPr/>
          <p:nvPr/>
        </p:nvSpPr>
        <p:spPr>
          <a:xfrm>
            <a:off x="6489497" y="2463394"/>
            <a:ext cx="4813402" cy="228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G6b — σ-Heatmap 7×7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output/interdependence/corr_sigma.csv</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Sterne: sig_bonferroni_sigma.csv</a:t>
            </a:r>
            <a:endParaRPr lang="en-US" sz="950" dirty="0"/>
          </a:p>
        </p:txBody>
      </p:sp>
      <p:sp>
        <p:nvSpPr>
          <p:cNvPr id="35" name="!!B_SigMatrix"/>
          <p:cNvSpPr/>
          <p:nvPr/>
        </p:nvSpPr>
        <p:spPr>
          <a:xfrm>
            <a:off x="6489497" y="4805000"/>
            <a:ext cx="4813402" cy="240000"/>
          </a:xfrm>
          <a:prstGeom prst="rect">
            <a:avLst/>
          </a:prstGeom>
          <a:noFill/>
          <a:ln/>
        </p:spPr>
        <p:txBody>
          <a:bodyPr wrap="square" rtlCol="0" anchor="t"/>
          <a:lstStyle/>
          <a:p>
            <a:pPr marL="0" indent="0" algn="l">
              <a:lnSpc>
                <a:spcPct val="105000"/>
              </a:lnSpc>
              <a:buNone/>
            </a:pPr>
            <a:r>
              <a:rPr lang="en-US" sz="1000" kern="0" dirty="0">
                <a:solidFill>
                  <a:srgbClr val="B3BC9A"/>
                </a:solidFill>
                <a:latin typeface="Arial" pitchFamily="34" charset="0"/>
                <a:ea typeface="Arial" pitchFamily="34" charset="-122"/>
                <a:cs typeface="Arial" pitchFamily="34" charset="-120"/>
              </a:rPr>
              <a:t xml:space="preserve">EK-Quote: </a:t>
            </a:r>
            <a:r>
              <a:rPr lang="en-US" sz="1000" b="1" kern="0" dirty="0">
                <a:solidFill>
                  <a:srgbClr val="F2EFDA"/>
                </a:solidFill>
                <a:latin typeface="Arial" pitchFamily="34" charset="0"/>
                <a:ea typeface="Arial" pitchFamily="34" charset="-122"/>
                <a:cs typeface="Arial" pitchFamily="34" charset="-120"/>
              </a:rPr>
              <a:t xml:space="preserve">als einzige mit allen sechs anderen gekoppelt</a:t>
            </a:r>
            <a:r>
              <a:rPr lang="en-US" sz="1000" kern="0" dirty="0">
                <a:solidFill>
                  <a:srgbClr val="B3BC9A"/>
                </a:solidFill>
                <a:latin typeface="Arial" pitchFamily="34" charset="0"/>
                <a:ea typeface="Arial" pitchFamily="34" charset="-122"/>
                <a:cs typeface="Arial" pitchFamily="34" charset="-120"/>
              </a:rPr>
              <a:t xml:space="preserve"> (0,19 – 0,52).</a:t>
            </a:r>
            <a:endParaRPr lang="en-US" sz="1000" dirty="0"/>
          </a:p>
        </p:txBody>
      </p:sp>
      <p:sp>
        <p:nvSpPr>
          <p:cNvPr id="51" name="!!K_PhiSig"/>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hiSig"/>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φ × σ — INNERHALB JEDER KENNZAHL</a:t>
            </a:r>
            <a:endParaRPr lang="en-US" sz="1050" dirty="0"/>
          </a:p>
        </p:txBody>
      </p:sp>
      <p:sp>
        <p:nvSpPr>
          <p:cNvPr id="55" name="!!T_PhiSig"/>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dirty="0">
                <a:solidFill>
                  <a:srgbClr val="F2EFDA"/>
                </a:solidFill>
                <a:latin typeface="Courier New" pitchFamily="34" charset="0"/>
                <a:ea typeface="Courier New" pitchFamily="34" charset="-122"/>
                <a:cs typeface="Courier New" pitchFamily="34" charset="-120"/>
              </a:rPr>
              <a:t xml:space="preserve">ρ = −0,09 … −0,24  </a:t>
            </a:r>
            <a:r>
              <a:rPr lang="en-US" sz="950" kern="0" dirty="0">
                <a:solidFill>
                  <a:srgbClr val="B3BC9A"/>
                </a:solidFill>
                <a:latin typeface="Arial" pitchFamily="34" charset="0"/>
                <a:ea typeface="Arial" pitchFamily="34" charset="-122"/>
                <a:cs typeface="Arial" pitchFamily="34" charset="-120"/>
              </a:rPr>
              <a:t xml:space="preserve">Volatilere Firmen korrigieren schneller (Dichev/Tang 2009) — aber |ρ| &lt; 0,25: </a:t>
            </a:r>
            <a:r>
              <a:rPr lang="en-US" sz="950" b="1" kern="0" dirty="0">
                <a:solidFill>
                  <a:srgbClr val="F2EFDA"/>
                </a:solidFill>
                <a:latin typeface="Arial" pitchFamily="34" charset="0"/>
                <a:ea typeface="Arial" pitchFamily="34" charset="-122"/>
                <a:cs typeface="Arial" pitchFamily="34" charset="-120"/>
              </a:rPr>
              <a:t xml:space="preserve">die Achsen bleiben trennbar</a:t>
            </a:r>
            <a:r>
              <a:rPr lang="en-US" sz="950" kern="0" dirty="0">
                <a:solidFill>
                  <a:srgbClr val="B3BC9A"/>
                </a:solidFill>
                <a:latin typeface="Arial" pitchFamily="34" charset="0"/>
                <a:ea typeface="Arial" pitchFamily="34" charset="-122"/>
                <a:cs typeface="Arial" pitchFamily="34" charset="-120"/>
              </a:rPr>
              <a:t xml:space="preserve">.</a:t>
            </a:r>
            <a:endParaRPr lang="en-US" sz="950" dirty="0"/>
          </a:p>
        </p:txBody>
      </p:sp>
      <p:sp>
        <p:nvSpPr>
          <p:cNvPr id="52" name="!!K_LeadLag"/>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LeadLag"/>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LEAD-LAG DER ΔY-INNOVATIONEN</a:t>
            </a:r>
            <a:endParaRPr lang="en-US" sz="1050" dirty="0"/>
          </a:p>
        </p:txBody>
      </p:sp>
      <p:sp>
        <p:nvSpPr>
          <p:cNvPr id="56" name="!!T_LeadLag"/>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dirty="0">
                <a:solidFill>
                  <a:srgbClr val="F2EFDA"/>
                </a:solidFill>
                <a:latin typeface="Courier New" pitchFamily="34" charset="0"/>
                <a:ea typeface="Courier New" pitchFamily="34" charset="-122"/>
                <a:cs typeface="Courier New" pitchFamily="34" charset="-120"/>
              </a:rPr>
              <a:t xml:space="preserve">13 / 21 Paare: Lag 0  </a:t>
            </a:r>
            <a:r>
              <a:rPr lang="en-US" sz="950" kern="0" dirty="0">
                <a:solidFill>
                  <a:srgbClr val="B3BC9A"/>
                </a:solidFill>
                <a:latin typeface="Arial" pitchFamily="34" charset="0"/>
                <a:ea typeface="Arial" pitchFamily="34" charset="-122"/>
                <a:cs typeface="Arial" pitchFamily="34" charset="-120"/>
              </a:rPr>
              <a:t xml:space="preserve">Schocks laufen synchron im Quartal — </a:t>
            </a:r>
            <a:r>
              <a:rPr lang="en-US" sz="950" b="1" kern="0" dirty="0">
                <a:solidFill>
                  <a:srgbClr val="F2EFDA"/>
                </a:solidFill>
                <a:latin typeface="Arial" pitchFamily="34" charset="0"/>
                <a:ea typeface="Arial" pitchFamily="34" charset="-122"/>
                <a:cs typeface="Arial" pitchFamily="34" charset="-120"/>
              </a:rPr>
              <a:t xml:space="preserve">keine gestaffelte Transmission</a:t>
            </a:r>
            <a:r>
              <a:rPr lang="en-US" sz="950" kern="0" dirty="0">
                <a:solidFill>
                  <a:srgbClr val="B3BC9A"/>
                </a:solidFill>
                <a:latin typeface="Arial" pitchFamily="34" charset="0"/>
                <a:ea typeface="Arial" pitchFamily="34" charset="-122"/>
                <a:cs typeface="Arial" pitchFamily="34" charset="-120"/>
              </a:rPr>
              <a:t xml:space="preserve">; ehrliches Nullergebnis.</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10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Die Daten datieren die Krisen selbst — drei Phasen, elf Quartale</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Rollierende 4-Quartals-Querschnittsvolatilität: Krise, wenn mindestens 3 der 7 Kennzahlen über dem 90. Perzentil ihrer eigenen Volatilität liegen.</a:t>
            </a:r>
            <a:endParaRPr lang="en-US" sz="1100" dirty="0"/>
          </a:p>
        </p:txBody>
      </p:sp>
      <p:sp>
        <p:nvSpPr>
          <p:cNvPr id="20" name="Text 17"/>
          <p:cNvSpPr/>
          <p:nvPr/>
        </p:nvSpPr>
        <p:spPr>
          <a:xfrm>
            <a:off x="634594" y="575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11 von 100 Quartalen erfüllen das Kriterium — ohne jede Vorgabe fallen sie exakt in die drei bekannten Krisen der letzten 25 Jahre.</a:t>
            </a:r>
            <a:endParaRPr lang="en-US" sz="900" dirty="0"/>
          </a:p>
        </p:txBody>
      </p:sp>
      <p:sp>
        <p:nvSpPr>
          <p:cNvPr id="60" name="!!PH_Timeline"/>
          <p:cNvSpPr/>
          <p:nvPr/>
        </p:nvSpPr>
        <p:spPr>
          <a:xfrm>
            <a:off x="634594" y="1750000"/>
            <a:ext cx="10921594" cy="250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G7 — Rollierende Querschnittsvolatilität pro Kennzahlgruppe, 3 Phasen markiert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output/explore/volatility_scores.csv · Vorlage: output/plots/ff2_volatility_timeline.png</a:t>
            </a:r>
            <a:endParaRPr lang="en-US" sz="950" dirty="0"/>
          </a:p>
        </p:txBody>
      </p:sp>
      <p:sp>
        <p:nvSpPr>
          <p:cNvPr id="61" name="!!K_Phase1"/>
          <p:cNvSpPr/>
          <p:nvPr/>
        </p:nvSpPr>
        <p:spPr>
          <a:xfrm>
            <a:off x="634594" y="4450000"/>
            <a:ext cx="3507198" cy="1150000"/>
          </a:xfrm>
          <a:prstGeom prst="roundRect">
            <a:avLst>
              <a:gd name="adj" fmla="val 3197"/>
            </a:avLst>
          </a:prstGeom>
          <a:solidFill>
            <a:srgbClr val="153B29"/>
          </a:solidFill>
          <a:ln w="12700">
            <a:solidFill>
              <a:srgbClr val="4A6D56"/>
            </a:solidFill>
            <a:prstDash val="solid"/>
          </a:ln>
        </p:spPr>
        <p:txBody>
          <a:bodyPr/>
          <a:lstStyle/>
          <a:p>
            <a:endParaRPr lang="de-DE"/>
          </a:p>
        </p:txBody>
      </p:sp>
      <p:sp>
        <p:nvSpPr>
          <p:cNvPr id="62" name="!!L_Phase1"/>
          <p:cNvSpPr/>
          <p:nvPr/>
        </p:nvSpPr>
        <p:spPr>
          <a:xfrm>
            <a:off x="888797" y="4580000"/>
            <a:ext cx="2998792"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DOT-COM · 2000Q4–2002Q1</a:t>
            </a:r>
            <a:endParaRPr lang="en-US" sz="1050" dirty="0"/>
          </a:p>
        </p:txBody>
      </p:sp>
      <p:sp>
        <p:nvSpPr>
          <p:cNvPr id="63" name="!!T_Phase1"/>
          <p:cNvSpPr/>
          <p:nvPr/>
        </p:nvSpPr>
        <p:spPr>
          <a:xfrm>
            <a:off x="888797" y="4850000"/>
            <a:ext cx="2998792" cy="650000"/>
          </a:xfrm>
          <a:prstGeom prst="rect">
            <a:avLst/>
          </a:prstGeom>
          <a:noFill/>
          <a:ln/>
        </p:spPr>
        <p:txBody>
          <a:bodyPr wrap="square" rtlCol="0" anchor="t"/>
          <a:lstStyle/>
          <a:p>
            <a:pPr marL="0" indent="0" algn="l">
              <a:lnSpc>
                <a:spcPct val="100000"/>
              </a:lnSpc>
              <a:buNone/>
            </a:pPr>
            <a:r>
              <a:rPr lang="en-US" sz="1300" b="1" kern="0" dirty="0">
                <a:solidFill>
                  <a:srgbClr val="F2EFDA"/>
                </a:solidFill>
                <a:latin typeface="Courier New" pitchFamily="34" charset="0"/>
                <a:ea typeface="Courier New" pitchFamily="34" charset="-122"/>
                <a:cs typeface="Courier New" pitchFamily="34" charset="-120"/>
              </a:rPr>
              <a:t xml:space="preserve">Peak 2001Q1 · Ø-P 94</a:t>
            </a:r>
            <a:endParaRPr lang="en-US" sz="13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5 der 7 Kennzahlen über dem 90. Perzentil — </a:t>
            </a:r>
            <a:r>
              <a:rPr lang="en-US" sz="950" b="1" kern="0" dirty="0">
                <a:solidFill>
                  <a:srgbClr val="F2EFDA"/>
                </a:solidFill>
                <a:latin typeface="Arial" pitchFamily="34" charset="0"/>
                <a:ea typeface="Arial" pitchFamily="34" charset="-122"/>
                <a:cs typeface="Arial" pitchFamily="34" charset="-120"/>
              </a:rPr>
              <a:t xml:space="preserve">sektorspezifisch, geringe Breite</a:t>
            </a:r>
            <a:r>
              <a:rPr lang="en-US" sz="950" kern="0" dirty="0">
                <a:solidFill>
                  <a:srgbClr val="B3BC9A"/>
                </a:solidFill>
                <a:latin typeface="Arial" pitchFamily="34" charset="0"/>
                <a:ea typeface="Arial" pitchFamily="34" charset="-122"/>
                <a:cs typeface="Arial" pitchFamily="34" charset="-120"/>
              </a:rPr>
              <a:t xml:space="preserve">.</a:t>
            </a:r>
            <a:endParaRPr lang="en-US" sz="950" dirty="0"/>
          </a:p>
        </p:txBody>
      </p:sp>
      <p:sp>
        <p:nvSpPr>
          <p:cNvPr id="64" name="!!K_Phase2"/>
          <p:cNvSpPr/>
          <p:nvPr/>
        </p:nvSpPr>
        <p:spPr>
          <a:xfrm>
            <a:off x="4341792" y="4450000"/>
            <a:ext cx="3507198" cy="1150000"/>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65" name="!!L_Phase2"/>
          <p:cNvSpPr/>
          <p:nvPr/>
        </p:nvSpPr>
        <p:spPr>
          <a:xfrm>
            <a:off x="4595995" y="4580000"/>
            <a:ext cx="2998792"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FINANZKRISE · 2008Q4–2009Q3</a:t>
            </a:r>
            <a:endParaRPr lang="en-US" sz="1050" dirty="0"/>
          </a:p>
        </p:txBody>
      </p:sp>
      <p:sp>
        <p:nvSpPr>
          <p:cNvPr id="66" name="!!T_Phase2"/>
          <p:cNvSpPr/>
          <p:nvPr/>
        </p:nvSpPr>
        <p:spPr>
          <a:xfrm>
            <a:off x="4595995" y="4850000"/>
            <a:ext cx="2998792" cy="650000"/>
          </a:xfrm>
          <a:prstGeom prst="rect">
            <a:avLst/>
          </a:prstGeom>
          <a:noFill/>
          <a:ln/>
        </p:spPr>
        <p:txBody>
          <a:bodyPr wrap="square" rtlCol="0" anchor="t"/>
          <a:lstStyle/>
          <a:p>
            <a:pPr marL="0" indent="0" algn="l">
              <a:lnSpc>
                <a:spcPct val="100000"/>
              </a:lnSpc>
              <a:buNone/>
            </a:pPr>
            <a:r>
              <a:rPr lang="en-US" sz="1300" b="1" kern="0" dirty="0">
                <a:solidFill>
                  <a:srgbClr val="F2EFDA"/>
                </a:solidFill>
                <a:latin typeface="Courier New" pitchFamily="34" charset="0"/>
                <a:ea typeface="Courier New" pitchFamily="34" charset="-122"/>
                <a:cs typeface="Courier New" pitchFamily="34" charset="-120"/>
              </a:rPr>
              <a:t xml:space="preserve">Peak 2009Q1 · Ø-P 98</a:t>
            </a:r>
            <a:endParaRPr lang="en-US" sz="13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6 von 7 — die </a:t>
            </a:r>
            <a:r>
              <a:rPr lang="en-US" sz="950" b="1" kern="0" dirty="0">
                <a:solidFill>
                  <a:srgbClr val="F2EFDA"/>
                </a:solidFill>
                <a:latin typeface="Arial" pitchFamily="34" charset="0"/>
                <a:ea typeface="Arial" pitchFamily="34" charset="-122"/>
                <a:cs typeface="Arial" pitchFamily="34" charset="-120"/>
              </a:rPr>
              <a:t xml:space="preserve">Kapitalstruktur</a:t>
            </a:r>
            <a:r>
              <a:rPr lang="en-US" sz="950" kern="0" dirty="0">
                <a:solidFill>
                  <a:srgbClr val="B3BC9A"/>
                </a:solidFill>
                <a:latin typeface="Arial" pitchFamily="34" charset="0"/>
                <a:ea typeface="Arial" pitchFamily="34" charset="-122"/>
                <a:cs typeface="Arial" pitchFamily="34" charset="-120"/>
              </a:rPr>
              <a:t xml:space="preserve"> reagiert besonders ausgeprägt.</a:t>
            </a:r>
            <a:endParaRPr lang="en-US" sz="950" dirty="0"/>
          </a:p>
        </p:txBody>
      </p:sp>
      <p:sp>
        <p:nvSpPr>
          <p:cNvPr id="67" name="!!K_Phase3"/>
          <p:cNvSpPr/>
          <p:nvPr/>
        </p:nvSpPr>
        <p:spPr>
          <a:xfrm>
            <a:off x="8048990" y="4450000"/>
            <a:ext cx="3507198" cy="1150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68" name="!!L_Phase3"/>
          <p:cNvSpPr/>
          <p:nvPr/>
        </p:nvSpPr>
        <p:spPr>
          <a:xfrm>
            <a:off x="8303193" y="4580000"/>
            <a:ext cx="2998792" cy="230000"/>
          </a:xfrm>
          <a:prstGeom prst="rect">
            <a:avLst/>
          </a:prstGeom>
          <a:noFill/>
          <a:ln/>
        </p:spPr>
        <p:txBody>
          <a:bodyPr wrap="square" rtlCol="0" anchor="t"/>
          <a:lstStyle/>
          <a:p>
            <a:pPr marL="0" indent="0" algn="l">
              <a:lnSpc>
                <a:spcPct val="105000"/>
              </a:lnSpc>
              <a:buNone/>
            </a:pPr>
            <a:r>
              <a:rPr lang="en-US" sz="1050" b="1" kern="0" dirty="0">
                <a:solidFill>
                  <a:srgbClr val="F36451"/>
                </a:solidFill>
                <a:latin typeface="Courier New" pitchFamily="34" charset="0"/>
                <a:ea typeface="Courier New" pitchFamily="34" charset="-122"/>
                <a:cs typeface="Courier New" pitchFamily="34" charset="-120"/>
              </a:rPr>
              <a:t xml:space="preserve">COVID · 2020Q1–2020Q4</a:t>
            </a:r>
            <a:endParaRPr lang="en-US" sz="1050" dirty="0"/>
          </a:p>
        </p:txBody>
      </p:sp>
      <p:sp>
        <p:nvSpPr>
          <p:cNvPr id="69" name="!!T_Phase3"/>
          <p:cNvSpPr/>
          <p:nvPr/>
        </p:nvSpPr>
        <p:spPr>
          <a:xfrm>
            <a:off x="8303193" y="4850000"/>
            <a:ext cx="2998792" cy="650000"/>
          </a:xfrm>
          <a:prstGeom prst="rect">
            <a:avLst/>
          </a:prstGeom>
          <a:noFill/>
          <a:ln/>
        </p:spPr>
        <p:txBody>
          <a:bodyPr wrap="square" rtlCol="0" anchor="t"/>
          <a:lstStyle/>
          <a:p>
            <a:pPr marL="0" indent="0" algn="l">
              <a:lnSpc>
                <a:spcPct val="100000"/>
              </a:lnSpc>
              <a:buNone/>
            </a:pPr>
            <a:r>
              <a:rPr lang="en-US" sz="1300" b="1" kern="0" dirty="0">
                <a:solidFill>
                  <a:srgbClr val="F2EFDA"/>
                </a:solidFill>
                <a:latin typeface="Courier New" pitchFamily="34" charset="0"/>
                <a:ea typeface="Courier New" pitchFamily="34" charset="-122"/>
                <a:cs typeface="Courier New" pitchFamily="34" charset="-120"/>
              </a:rPr>
              <a:t xml:space="preserve">Peak 2020Q2 · Ø-P 99</a:t>
            </a:r>
            <a:endParaRPr lang="en-US" sz="1300" dirty="0"/>
          </a:p>
          <a:p>
            <a:pPr marL="0" indent="0" algn="l">
              <a:lnSpc>
                <a:spcPct val="104000"/>
              </a:lnSpc>
              <a:buNone/>
            </a:pPr>
            <a:r>
              <a:rPr lang="en-US" sz="950" kern="0" dirty="0">
                <a:solidFill>
                  <a:srgbClr val="B3BC9A"/>
                </a:solidFill>
                <a:latin typeface="Arial" pitchFamily="34" charset="0"/>
                <a:ea typeface="Arial" pitchFamily="34" charset="-122"/>
                <a:cs typeface="Arial" pitchFamily="34" charset="-120"/>
              </a:rPr>
              <a:t xml:space="preserve">6 von 7 — die </a:t>
            </a:r>
            <a:r>
              <a:rPr lang="en-US" sz="950" b="1" kern="0" dirty="0">
                <a:solidFill>
                  <a:srgbClr val="F2EFDA"/>
                </a:solidFill>
                <a:latin typeface="Arial" pitchFamily="34" charset="0"/>
                <a:ea typeface="Arial" pitchFamily="34" charset="-122"/>
                <a:cs typeface="Arial" pitchFamily="34" charset="-120"/>
              </a:rPr>
              <a:t xml:space="preserve">stärkste Auslenkung der 25 Jahre</a:t>
            </a:r>
            <a:r>
              <a:rPr lang="en-US" sz="950" kern="0" dirty="0">
                <a:solidFill>
                  <a:srgbClr val="B3BC9A"/>
                </a:solidFill>
                <a:latin typeface="Arial" pitchFamily="34" charset="0"/>
                <a:ea typeface="Arial" pitchFamily="34" charset="-122"/>
                <a:cs typeface="Arial" pitchFamily="34" charset="-120"/>
              </a:rPr>
              <a:t xml:space="preserve">; Liquidität besonders betroffen.</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10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Die Kennzahl-Niveaus driften sektorspezifisch — die Verschuldung überall</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Pro Sektor × Kennzahl: Quartals-Median über die Unternehmen, geglättet über 25 Quartale — parallel die AR(1)-Drift c pro Unternehmen als zweite Trend-Messung.</a:t>
            </a:r>
            <a:endParaRPr lang="en-US" sz="1100" dirty="0"/>
          </a:p>
        </p:txBody>
      </p:sp>
      <p:sp>
        <p:nvSpPr>
          <p:cNvPr id="20" name="Text 17"/>
          <p:cNvSpPr/>
          <p:nvPr/>
        </p:nvSpPr>
        <p:spPr>
          <a:xfrm>
            <a:off x="634594" y="5350000"/>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Validierung: Niveau-Trend und AR(1)-Drift c messen denselben Pfad — r = 0,86 über 70 Kombinationen, Vorzeichen-Übereinstimmung 54/70. Krisenphasen aus 5.2.1 als Schraffuren in jedem Plot.</a:t>
            </a:r>
            <a:endParaRPr lang="en-US" sz="900" dirty="0"/>
          </a:p>
        </p:txBody>
      </p:sp>
      <p:sp>
        <p:nvSpPr>
          <p:cNvPr id="70" name="!!PH_Storyline"/>
          <p:cNvSpPr/>
          <p:nvPr/>
        </p:nvSpPr>
        <p:spPr>
          <a:xfrm>
            <a:off x="634594" y="1750000"/>
            <a:ext cx="5320894" cy="3300000"/>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Storyline Technologie: Current Ratio vs. Debt/Equity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output/plots/sector_drift/storyline_Technology.png</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Krisen als graue Schraffuren</a:t>
            </a:r>
            <a:endParaRPr lang="en-US" sz="950" dirty="0"/>
          </a:p>
        </p:txBody>
      </p:sp>
      <p:sp>
        <p:nvSpPr>
          <p:cNvPr id="71" name="!!K_Tech"/>
          <p:cNvSpPr/>
          <p:nvPr/>
        </p:nvSpPr>
        <p:spPr>
          <a:xfrm>
            <a:off x="6235294" y="1750000"/>
            <a:ext cx="5320894" cy="155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2" name="!!L_Tech"/>
          <p:cNvSpPr/>
          <p:nvPr/>
        </p:nvSpPr>
        <p:spPr>
          <a:xfrm>
            <a:off x="6489497" y="1880000"/>
            <a:ext cx="4812488" cy="230000"/>
          </a:xfrm>
          <a:prstGeom prst="rect">
            <a:avLst/>
          </a:prstGeom>
          <a:noFill/>
          <a:ln/>
        </p:spPr>
        <p:txBody>
          <a:bodyPr wrap="square" rtlCol="0" anchor="t"/>
          <a:lstStyle/>
          <a:p>
            <a:pPr marL="0" indent="0" algn="l">
              <a:lnSpc>
                <a:spcPct val="105000"/>
              </a:lnSpc>
              <a:buNone/>
            </a:pPr>
            <a:r>
              <a:rPr lang="en-US" sz="1050" b="1" kern="0" dirty="0">
                <a:solidFill>
                  <a:srgbClr val="F2EFDA"/>
                </a:solidFill>
                <a:latin typeface="Courier New" pitchFamily="34" charset="0"/>
                <a:ea typeface="Courier New" pitchFamily="34" charset="-122"/>
                <a:cs typeface="Courier New" pitchFamily="34" charset="-120"/>
              </a:rPr>
              <a:t xml:space="preserve">BEISPIEL TECHNOLOGIE</a:t>
            </a:r>
            <a:endParaRPr lang="en-US" sz="1050" dirty="0"/>
          </a:p>
        </p:txBody>
      </p:sp>
      <p:sp>
        <p:nvSpPr>
          <p:cNvPr id="73" name="!!T_Tech"/>
          <p:cNvSpPr/>
          <p:nvPr/>
        </p:nvSpPr>
        <p:spPr>
          <a:xfrm>
            <a:off x="6489497" y="2150000"/>
            <a:ext cx="4812488" cy="1070000"/>
          </a:xfrm>
          <a:prstGeom prst="rect">
            <a:avLst/>
          </a:prstGeom>
          <a:noFill/>
          <a:ln/>
        </p:spPr>
        <p:txBody>
          <a:bodyPr wrap="square" rtlCol="0" anchor="t"/>
          <a:lstStyle/>
          <a:p>
            <a:pPr marL="0" indent="0" algn="l">
              <a:lnSpc>
                <a:spcPct val="100000"/>
              </a:lnSpc>
              <a:buNone/>
            </a:pPr>
            <a:r>
              <a:rPr lang="en-US" sz="1400" b="1" kern="0" dirty="0">
                <a:solidFill>
                  <a:srgbClr val="F2EFDA"/>
                </a:solidFill>
                <a:latin typeface="Courier New" pitchFamily="34" charset="0"/>
                <a:ea typeface="Courier New" pitchFamily="34" charset="-122"/>
                <a:cs typeface="Courier New" pitchFamily="34" charset="-120"/>
              </a:rPr>
              <a:t xml:space="preserve">CR 2,48 → 1,87 · D/E 0,18 → 0,42</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Die Kurven kreuzen sich um 2013 — vom liquiditätsdominierten Start-up-Profil zur </a:t>
            </a:r>
            <a:r>
              <a:rPr lang="en-US" sz="1000" b="1" kern="0" dirty="0">
                <a:solidFill>
                  <a:srgbClr val="F2EFDA"/>
                </a:solidFill>
                <a:latin typeface="Arial" pitchFamily="34" charset="0"/>
                <a:ea typeface="Arial" pitchFamily="34" charset="-122"/>
                <a:cs typeface="Arial" pitchFamily="34" charset="-120"/>
              </a:rPr>
              <a:t xml:space="preserve">reifen, fremdfinanzierten Struktur</a:t>
            </a:r>
            <a:r>
              <a:rPr lang="en-US" sz="1000" kern="0" dirty="0">
                <a:solidFill>
                  <a:srgbClr val="B3BC9A"/>
                </a:solidFill>
                <a:latin typeface="Arial" pitchFamily="34" charset="0"/>
                <a:ea typeface="Arial" pitchFamily="34" charset="-122"/>
                <a:cs typeface="Arial" pitchFamily="34" charset="-120"/>
              </a:rPr>
              <a:t xml:space="preserve">. R² = 0,82 (CR) · 0,75 (D/E) · 0,88 (EK-Quote) — die höchsten Werte der Arbeit.</a:t>
            </a:r>
            <a:endParaRPr lang="en-US" sz="1000" dirty="0"/>
          </a:p>
        </p:txBody>
      </p:sp>
      <p:sp>
        <p:nvSpPr>
          <p:cNvPr id="74" name="!!K_Vorz"/>
          <p:cNvSpPr/>
          <p:nvPr/>
        </p:nvSpPr>
        <p:spPr>
          <a:xfrm>
            <a:off x="6235294" y="3450000"/>
            <a:ext cx="5320894" cy="16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75" name="!!L_Vorz"/>
          <p:cNvSpPr/>
          <p:nvPr/>
        </p:nvSpPr>
        <p:spPr>
          <a:xfrm>
            <a:off x="6489497" y="3580000"/>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VORZEICHEN-BILANZ · 70 SEKTOR-KENNZAHL-KOMBINATIONEN</a:t>
            </a:r>
            <a:endParaRPr lang="en-US" sz="1050" dirty="0"/>
          </a:p>
        </p:txBody>
      </p:sp>
      <p:sp>
        <p:nvSpPr>
          <p:cNvPr id="76" name="!!T_Vorz"/>
          <p:cNvSpPr/>
          <p:nvPr/>
        </p:nvSpPr>
        <p:spPr>
          <a:xfrm>
            <a:off x="6489497" y="3850000"/>
            <a:ext cx="4812488" cy="1120000"/>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44 / 70</a:t>
            </a:r>
            <a:r>
              <a:rPr lang="en-US" sz="1100" kern="0" dirty="0">
                <a:solidFill>
                  <a:srgbClr val="798D6F"/>
                </a:solidFill>
                <a:latin typeface="Courier New" pitchFamily="34" charset="0"/>
                <a:ea typeface="Courier New" pitchFamily="34" charset="-122"/>
                <a:cs typeface="Courier New" pitchFamily="34" charset="-120"/>
              </a:rPr>
              <a:t xml:space="preserve">   c-Mediane positiv</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Debt/Equity in </a:t>
            </a:r>
            <a:r>
              <a:rPr lang="en-US" sz="1000" b="1" kern="0" dirty="0">
                <a:solidFill>
                  <a:srgbClr val="F2EFDA"/>
                </a:solidFill>
                <a:latin typeface="Arial" pitchFamily="34" charset="0"/>
                <a:ea typeface="Arial" pitchFamily="34" charset="-122"/>
                <a:cs typeface="Arial" pitchFamily="34" charset="-120"/>
              </a:rPr>
              <a:t xml:space="preserve">10/10 Sektoren positiv</a:t>
            </a:r>
            <a:r>
              <a:rPr lang="en-US" sz="1000" kern="0" dirty="0">
                <a:solidFill>
                  <a:srgbClr val="B3BC9A"/>
                </a:solidFill>
                <a:latin typeface="Arial" pitchFamily="34" charset="0"/>
                <a:ea typeface="Arial" pitchFamily="34" charset="-122"/>
                <a:cs typeface="Arial" pitchFamily="34" charset="-120"/>
              </a:rPr>
              <a:t xml:space="preserve"> · FCF-Marge 9/10 · EBIT-Marge 8/10 — EK-Quote in 7/10 negativ: </a:t>
            </a:r>
            <a:r>
              <a:rPr lang="en-US" sz="1000" b="1" kern="0" dirty="0">
                <a:solidFill>
                  <a:srgbClr val="F2EFDA"/>
                </a:solidFill>
                <a:latin typeface="Arial" pitchFamily="34" charset="0"/>
                <a:ea typeface="Arial" pitchFamily="34" charset="-122"/>
                <a:cs typeface="Arial" pitchFamily="34" charset="-120"/>
              </a:rPr>
              <a:t xml:space="preserve">Verschuldungs- und Margenexpansion</a:t>
            </a:r>
            <a:r>
              <a:rPr lang="en-US" sz="1000" kern="0" dirty="0">
                <a:solidFill>
                  <a:srgbClr val="B3BC9A"/>
                </a:solidFill>
                <a:latin typeface="Arial" pitchFamily="34" charset="0"/>
                <a:ea typeface="Arial" pitchFamily="34" charset="-122"/>
                <a:cs typeface="Arial" pitchFamily="34" charset="-120"/>
              </a:rPr>
              <a:t xml:space="preserve"> (Bates et al. 2009; Graham et al. 2015).</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11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Die Dynamiktypen trennen das Krisenverhalten — in zwei von drei Phasen</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Mann-Whitney: |ΔY| volatil- vs. stabil-klassifiziert · Kruskal-Wallis über alle vier Quadranten — je Phase am Peak-Quartal.</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Testbilanz: 7 von 12 Tests Bonferroni-, 11 von 12 FDR-signifikant. In-Sample-Konsistenzprüfung — keine Out-of-Sample-Prognose.</a:t>
            </a:r>
            <a:endParaRPr lang="en-US" sz="900" dirty="0"/>
          </a:p>
        </p:txBody>
      </p:sp>
      <p:sp>
        <p:nvSpPr>
          <p:cNvPr id="80" name="!!PH_QuadReakt"/>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G8 — Quadranten-Reaktionen je Phase (Abb. 29 neu,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|ΔY|-Median der vier Dynamiktypen pro Krise</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output/explore/window_descriptions.csv</a:t>
            </a:r>
            <a:endParaRPr lang="en-US" sz="950" dirty="0"/>
          </a:p>
        </p:txBody>
      </p:sp>
      <p:sp>
        <p:nvSpPr>
          <p:cNvPr id="81" name="!!K_GFC"/>
          <p:cNvSpPr/>
          <p:nvPr/>
        </p:nvSpPr>
        <p:spPr>
          <a:xfrm>
            <a:off x="6235294" y="1904695"/>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FINANZKRISE · 2009</a:t>
            </a:r>
            <a:endParaRPr lang="en-US" sz="1050" dirty="0"/>
          </a:p>
        </p:txBody>
      </p:sp>
      <p:sp>
        <p:nvSpPr>
          <p:cNvPr id="83" name="!!T_GFC"/>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r_rb = −0,36</a:t>
            </a:r>
            <a:r>
              <a:rPr lang="en-US" sz="1100" kern="0" dirty="0">
                <a:solidFill>
                  <a:srgbClr val="798D6F"/>
                </a:solidFill>
                <a:latin typeface="Courier New" pitchFamily="34" charset="0"/>
                <a:ea typeface="Courier New" pitchFamily="34" charset="-122"/>
                <a:cs typeface="Courier New" pitchFamily="34" charset="-120"/>
              </a:rPr>
              <a:t xml:space="preserve">   volatil vs. stabil</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 −0,360 · EBIT-Marge −0,355 — </a:t>
            </a:r>
            <a:r>
              <a:rPr lang="en-US" sz="1000" b="1" kern="0" dirty="0">
                <a:solidFill>
                  <a:srgbClr val="F2EFDA"/>
                </a:solidFill>
                <a:latin typeface="Arial" pitchFamily="34" charset="0"/>
                <a:ea typeface="Arial" pitchFamily="34" charset="-122"/>
                <a:cs typeface="Arial" pitchFamily="34" charset="-120"/>
              </a:rPr>
              <a:t xml:space="preserve">volatil reagiert stärker</a:t>
            </a:r>
            <a:r>
              <a:rPr lang="en-US" sz="1000" kern="0" dirty="0">
                <a:solidFill>
                  <a:srgbClr val="B3BC9A"/>
                </a:solidFill>
                <a:latin typeface="Arial" pitchFamily="34" charset="0"/>
                <a:ea typeface="Arial" pitchFamily="34" charset="-122"/>
                <a:cs typeface="Arial" pitchFamily="34" charset="-120"/>
              </a:rPr>
              <a:t xml:space="preserve"> (Bonferroni).</a:t>
            </a:r>
            <a:endParaRPr lang="en-US" sz="1000" dirty="0"/>
          </a:p>
        </p:txBody>
      </p:sp>
      <p:sp>
        <p:nvSpPr>
          <p:cNvPr id="84" name="!!K_COVID"/>
          <p:cNvSpPr/>
          <p:nvPr/>
        </p:nvSpPr>
        <p:spPr>
          <a:xfrm>
            <a:off x="6235294" y="2996294"/>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F36451"/>
                </a:solidFill>
                <a:latin typeface="Courier New" pitchFamily="34" charset="0"/>
                <a:ea typeface="Courier New" pitchFamily="34" charset="-122"/>
                <a:cs typeface="Courier New" pitchFamily="34" charset="-120"/>
              </a:rPr>
              <a:t xml:space="preserve">COVID · 2020</a:t>
            </a:r>
            <a:endParaRPr lang="en-US" sz="1050" dirty="0"/>
          </a:p>
        </p:txBody>
      </p:sp>
      <p:sp>
        <p:nvSpPr>
          <p:cNvPr id="86" name="!!T_COVID"/>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r_rb = −0,27</a:t>
            </a:r>
            <a:r>
              <a:rPr lang="en-US" sz="1100" kern="0" dirty="0">
                <a:solidFill>
                  <a:srgbClr val="798D6F"/>
                </a:solidFill>
                <a:latin typeface="Courier New" pitchFamily="34" charset="0"/>
                <a:ea typeface="Courier New" pitchFamily="34" charset="-122"/>
                <a:cs typeface="Courier New" pitchFamily="34" charset="-120"/>
              </a:rPr>
              <a:t xml:space="preserve">   Trennung bestätigt</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 Bonferroni-signifikant · </a:t>
            </a:r>
            <a:r>
              <a:rPr lang="en-US" sz="1000" b="1" kern="0" dirty="0">
                <a:solidFill>
                  <a:srgbClr val="F2EFDA"/>
                </a:solidFill>
                <a:latin typeface="Arial" pitchFamily="34" charset="0"/>
                <a:ea typeface="Arial" pitchFamily="34" charset="-122"/>
                <a:cs typeface="Arial" pitchFamily="34" charset="-120"/>
              </a:rPr>
              <a:t xml:space="preserve">ε² = 0,13 (CR) · 0,10 (EBIT-Marge)</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87" name="!!K_DotCom"/>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DOT-COM · 2001</a:t>
            </a:r>
            <a:endParaRPr lang="en-US" sz="1050" dirty="0"/>
          </a:p>
        </p:txBody>
      </p:sp>
      <p:sp>
        <p:nvSpPr>
          <p:cNvPr id="89" name="!!T_DotCom"/>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keine Trennung</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sektorspezifische Tech-Krise mit geringer Querschnittsbreite — </a:t>
            </a:r>
            <a:r>
              <a:rPr lang="en-US" sz="1000" b="1" kern="0" dirty="0">
                <a:solidFill>
                  <a:srgbClr val="F2EFDA"/>
                </a:solidFill>
                <a:latin typeface="Arial" pitchFamily="34" charset="0"/>
                <a:ea typeface="Arial" pitchFamily="34" charset="-122"/>
                <a:cs typeface="Arial" pitchFamily="34" charset="-120"/>
              </a:rPr>
              <a:t xml:space="preserve">konsistent mit der Phasen-Struktur</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2</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11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Die Dynamiktypen trennen das Krisenverhalten — in zwei von drei Phasen</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Mann-Whitney: |ΔY| volatil- vs. stabil-klassifiziert · Kruskal-Wallis über alle vier Quadranten — je Phase am Peak-Quartal.</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Reaktion vs. Baseline: Median |ΔY| im Peak-Quartal ÷ Nicht-Peak-Baseline — Werte über 1 = überproportional. Testbilanz: 7/12 Bonferroni · 11/12 FDR · In-Sample-Konsistenzprüfung.</a:t>
            </a:r>
            <a:endParaRPr lang="en-US" sz="900" dirty="0"/>
          </a:p>
        </p:txBody>
      </p:sp>
      <p:sp>
        <p:nvSpPr>
          <p:cNvPr id="80" name="!!PH_QuadReakt"/>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G8 — Quadranten-Reaktionen je Phase (Abb. 29 neu,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|ΔY|-Median der vier Dynamiktypen pro Krise</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output/explore/window_descriptions.csv</a:t>
            </a:r>
            <a:endParaRPr lang="en-US" sz="950" dirty="0"/>
          </a:p>
        </p:txBody>
      </p:sp>
      <p:sp>
        <p:nvSpPr>
          <p:cNvPr id="81" name="!!K_GFC"/>
          <p:cNvSpPr/>
          <p:nvPr/>
        </p:nvSpPr>
        <p:spPr>
          <a:xfrm>
            <a:off x="6235294" y="1904695"/>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82" name="!!L_GFC"/>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FINANZKRISE · 2009</a:t>
            </a:r>
            <a:endParaRPr lang="en-US" sz="1050" dirty="0"/>
          </a:p>
        </p:txBody>
      </p:sp>
      <p:sp>
        <p:nvSpPr>
          <p:cNvPr id="83" name="!!T_GFC"/>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r_rb = −0,36</a:t>
            </a:r>
            <a:r>
              <a:rPr lang="en-US" sz="1100" kern="0" dirty="0">
                <a:solidFill>
                  <a:srgbClr val="798D6F"/>
                </a:solidFill>
                <a:latin typeface="Courier New" pitchFamily="34" charset="0"/>
                <a:ea typeface="Courier New" pitchFamily="34" charset="-122"/>
                <a:cs typeface="Courier New" pitchFamily="34" charset="-120"/>
              </a:rPr>
              <a:t xml:space="preserve">   volatil vs. stabil</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 −0,360 · EBIT-Marge −0,355 — </a:t>
            </a:r>
            <a:r>
              <a:rPr lang="en-US" sz="1000" b="1" kern="0" dirty="0">
                <a:solidFill>
                  <a:srgbClr val="F2EFDA"/>
                </a:solidFill>
                <a:latin typeface="Arial" pitchFamily="34" charset="0"/>
                <a:ea typeface="Arial" pitchFamily="34" charset="-122"/>
                <a:cs typeface="Arial" pitchFamily="34" charset="-120"/>
              </a:rPr>
              <a:t xml:space="preserve">volatil reagiert stärker</a:t>
            </a:r>
            <a:r>
              <a:rPr lang="en-US" sz="1000" kern="0" dirty="0">
                <a:solidFill>
                  <a:srgbClr val="B3BC9A"/>
                </a:solidFill>
                <a:latin typeface="Arial" pitchFamily="34" charset="0"/>
                <a:ea typeface="Arial" pitchFamily="34" charset="-122"/>
                <a:cs typeface="Arial" pitchFamily="34" charset="-120"/>
              </a:rPr>
              <a:t xml:space="preserve"> (Bonferroni).</a:t>
            </a:r>
            <a:endParaRPr lang="en-US" sz="1000" dirty="0"/>
          </a:p>
        </p:txBody>
      </p:sp>
      <p:sp>
        <p:nvSpPr>
          <p:cNvPr id="84" name="!!K_COVID"/>
          <p:cNvSpPr/>
          <p:nvPr/>
        </p:nvSpPr>
        <p:spPr>
          <a:xfrm>
            <a:off x="6235294" y="2996294"/>
            <a:ext cx="5320894" cy="991599"/>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85" name="!!L_COVID"/>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F36451"/>
                </a:solidFill>
                <a:latin typeface="Courier New" pitchFamily="34" charset="0"/>
                <a:ea typeface="Courier New" pitchFamily="34" charset="-122"/>
                <a:cs typeface="Courier New" pitchFamily="34" charset="-120"/>
              </a:rPr>
              <a:t xml:space="preserve">COVID · 2020</a:t>
            </a:r>
            <a:endParaRPr lang="en-US" sz="1050" dirty="0"/>
          </a:p>
        </p:txBody>
      </p:sp>
      <p:sp>
        <p:nvSpPr>
          <p:cNvPr id="86" name="!!T_COVID"/>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r_rb = −0,27</a:t>
            </a:r>
            <a:r>
              <a:rPr lang="en-US" sz="1100" kern="0" dirty="0">
                <a:solidFill>
                  <a:srgbClr val="798D6F"/>
                </a:solidFill>
                <a:latin typeface="Courier New" pitchFamily="34" charset="0"/>
                <a:ea typeface="Courier New" pitchFamily="34" charset="-122"/>
                <a:cs typeface="Courier New" pitchFamily="34" charset="-120"/>
              </a:rPr>
              <a:t xml:space="preserve">   Trennung bestätigt</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 Bonferroni-signifikant · </a:t>
            </a:r>
            <a:r>
              <a:rPr lang="en-US" sz="1000" b="1" kern="0" dirty="0">
                <a:solidFill>
                  <a:srgbClr val="F2EFDA"/>
                </a:solidFill>
                <a:latin typeface="Arial" pitchFamily="34" charset="0"/>
                <a:ea typeface="Arial" pitchFamily="34" charset="-122"/>
                <a:cs typeface="Arial" pitchFamily="34" charset="-120"/>
              </a:rPr>
              <a:t xml:space="preserve">ε² = 0,13 (CR) · 0,10 (EBIT-Marge)</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87" name="!!K_DotCom"/>
          <p:cNvSpPr/>
          <p:nvPr/>
        </p:nvSpPr>
        <p:spPr>
          <a:xfrm>
            <a:off x="6235294" y="4087893"/>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88" name="!!L_DotCom"/>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DOT-COM · 2001</a:t>
            </a:r>
            <a:endParaRPr lang="en-US" sz="1050" dirty="0"/>
          </a:p>
        </p:txBody>
      </p:sp>
      <p:sp>
        <p:nvSpPr>
          <p:cNvPr id="89" name="!!T_DotCom"/>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keine Trennung</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sektorspezifische Tech-Krise mit geringer Querschnittsbreite — </a:t>
            </a:r>
            <a:r>
              <a:rPr lang="en-US" sz="1000" b="1" kern="0" dirty="0">
                <a:solidFill>
                  <a:srgbClr val="F2EFDA"/>
                </a:solidFill>
                <a:latin typeface="Arial" pitchFamily="34" charset="0"/>
                <a:ea typeface="Arial" pitchFamily="34" charset="-122"/>
                <a:cs typeface="Arial" pitchFamily="34" charset="-120"/>
              </a:rPr>
              <a:t xml:space="preserve">konsistent mit der Phasen-Struktur</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91" name="!!K_Chip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hip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79A2F9"/>
                </a:solidFill>
                <a:latin typeface="Courier New" pitchFamily="34" charset="0"/>
                <a:ea typeface="Courier New" pitchFamily="34" charset="-122"/>
                <a:cs typeface="Courier New" pitchFamily="34" charset="-120"/>
              </a:rPr>
              <a:t xml:space="preserve">EBIT-MARGE</a:t>
            </a:r>
            <a:endParaRPr lang="en-US" sz="1000" dirty="0"/>
          </a:p>
        </p:txBody>
      </p:sp>
      <p:sp>
        <p:nvSpPr>
          <p:cNvPr id="93" name="!!T_Chip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×1,53 · ×1,54</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GFC · COVID — operativer Hebel: Umsatz bricht, Kosten bleiben.</a:t>
            </a:r>
            <a:endParaRPr lang="en-US" sz="870" dirty="0"/>
          </a:p>
        </p:txBody>
      </p:sp>
      <p:sp>
        <p:nvSpPr>
          <p:cNvPr id="94" name="!!K_Chip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hip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F36451"/>
                </a:solidFill>
                <a:latin typeface="Courier New" pitchFamily="34" charset="0"/>
                <a:ea typeface="Courier New" pitchFamily="34" charset="-122"/>
                <a:cs typeface="Courier New" pitchFamily="34" charset="-120"/>
              </a:rPr>
              <a:t xml:space="preserve">DEBT/EQUITY</a:t>
            </a:r>
            <a:endParaRPr lang="en-US" sz="1000" dirty="0"/>
          </a:p>
        </p:txBody>
      </p:sp>
      <p:sp>
        <p:nvSpPr>
          <p:cNvPr id="96" name="!!T_Chip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×1,37 Dot-Com</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Kurs-Crash vernichtet Eigenkapital; COVID ×1,50.</a:t>
            </a:r>
            <a:endParaRPr lang="en-US" sz="870" dirty="0"/>
          </a:p>
        </p:txBody>
      </p:sp>
      <p:sp>
        <p:nvSpPr>
          <p:cNvPr id="97" name="!!K_Chip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hip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79A2F9"/>
                </a:solidFill>
                <a:latin typeface="Courier New" pitchFamily="34" charset="0"/>
                <a:ea typeface="Courier New" pitchFamily="34" charset="-122"/>
                <a:cs typeface="Courier New" pitchFamily="34" charset="-120"/>
              </a:rPr>
              <a:t xml:space="preserve">FCF-MARGE</a:t>
            </a:r>
            <a:endParaRPr lang="en-US" sz="1000" dirty="0"/>
          </a:p>
        </p:txBody>
      </p:sp>
      <p:sp>
        <p:nvSpPr>
          <p:cNvPr id="99" name="!!T_Chip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×1,11 GFC</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kaum über Baseline — die Accrual-Sonderstellung erneut.</a:t>
            </a:r>
            <a:endParaRPr lang="en-US" sz="870" dirty="0"/>
          </a:p>
        </p:txBody>
      </p:sp>
      <p:sp>
        <p:nvSpPr>
          <p:cNvPr id="100" name="!!K_Chip4"/>
          <p:cNvSpPr/>
          <p:nvPr/>
        </p:nvSpPr>
        <p:spPr>
          <a:xfrm>
            <a:off x="8960788"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101" name="!!L_Chip4"/>
          <p:cNvSpPr/>
          <p:nvPr/>
        </p:nvSpPr>
        <p:spPr>
          <a:xfrm>
            <a:off x="9140788"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E6D34F"/>
                </a:solidFill>
                <a:latin typeface="Courier New" pitchFamily="34" charset="0"/>
                <a:ea typeface="Courier New" pitchFamily="34" charset="-122"/>
                <a:cs typeface="Courier New" pitchFamily="34" charset="-120"/>
              </a:rPr>
              <a:t xml:space="preserve">CURRENT RATIO</a:t>
            </a:r>
            <a:endParaRPr lang="en-US" sz="1000" dirty="0"/>
          </a:p>
        </p:txBody>
      </p:sp>
      <p:sp>
        <p:nvSpPr>
          <p:cNvPr id="102" name="!!T_Chip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 ×1,24</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überall am schwächsten — träge Bilanzposition.</a:t>
            </a:r>
            <a:endParaRPr lang="en-US" sz="87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12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Fünf Strukturvariablen, 98 Tests — die Wirkung liegt auf der σ-Seite</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Spearman: fünf Strukturvariablen × φ und σ je Kennzahl — 31 von 49 σ-Tests Bonferroni-signifikant, nur 10 von 49 bei φ; die zehn stärksten Effekte sind alle σ.</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Bonferroni: α/14 ≈ 0,0036. Investitionsintensität wirkt schwächer (CR −0,23 · EK-Quote −0,22 · ROA −0,11) — konzeptionelle Nähe zu Größe und Anlagenintensität; Klärung in der multivariaten Synthese (6.3).</a:t>
            </a:r>
            <a:endParaRPr lang="en-US" sz="900" dirty="0"/>
          </a:p>
        </p:txBody>
      </p:sp>
      <p:sp>
        <p:nvSpPr>
          <p:cNvPr id="30" name="!!PH_Bivariat"/>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Heatmaps Strukturvariablen × Kennzahlen (σ-Spearman,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output/ff3/plots/6_1_1 … 6_1_4 (Vorlagen) · output/ff3/bivariate_spearman.csv</a:t>
            </a:r>
            <a:endParaRPr lang="en-US" sz="950" dirty="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F2EFDA"/>
                </a:solidFill>
                <a:latin typeface="Courier New" pitchFamily="34" charset="0"/>
                <a:ea typeface="Courier New" pitchFamily="34" charset="-122"/>
                <a:cs typeface="Courier New" pitchFamily="34" charset="-120"/>
              </a:rPr>
              <a:t xml:space="preserve">GRÖSSE</a:t>
            </a:r>
            <a:endParaRPr lang="en-US" sz="1050" dirty="0"/>
          </a:p>
        </p:txBody>
      </p:sp>
      <p:sp>
        <p:nvSpPr>
          <p:cNvPr id="43" name="!!T_Groesse"/>
          <p:cNvSpPr/>
          <p:nvPr/>
        </p:nvSpPr>
        <p:spPr>
          <a:xfrm>
            <a:off x="6489497" y="2304695"/>
            <a:ext cx="4812488" cy="1057898"/>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ρ bis −0,53</a:t>
            </a:r>
            <a:r>
              <a:rPr lang="en-US" sz="1000" kern="0" dirty="0">
                <a:solidFill>
                  <a:srgbClr val="798D6F"/>
                </a:solidFill>
                <a:latin typeface="Courier New" pitchFamily="34" charset="0"/>
                <a:ea typeface="Courier New" pitchFamily="34" charset="-122"/>
                <a:cs typeface="Courier New" pitchFamily="34" charset="-120"/>
              </a:rPr>
              <a:t xml:space="preserve">   Mitarbeiter · Bilanzsumme · MarketCap</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Mitarbeiterzahl dämpft am stärksten: FCF-Marge und Current Ratio je −0,53. Quintil-Kontrast FCF: σ-Median </a:t>
            </a:r>
            <a:r>
              <a:rPr lang="en-US" sz="1000" b="1" kern="0" dirty="0">
                <a:solidFill>
                  <a:srgbClr val="F2EFDA"/>
                </a:solidFill>
                <a:latin typeface="Arial" pitchFamily="34" charset="0"/>
                <a:ea typeface="Arial" pitchFamily="34" charset="-122"/>
                <a:cs typeface="Arial" pitchFamily="34" charset="-120"/>
              </a:rPr>
              <a:t xml:space="preserve">0,45 → 0,11 (Cohens r = 0,80)</a:t>
            </a:r>
            <a:r>
              <a:rPr lang="en-US" sz="1000" kern="0" dirty="0">
                <a:solidFill>
                  <a:srgbClr val="B3BC9A"/>
                </a:solidFill>
                <a:latin typeface="Arial" pitchFamily="34" charset="0"/>
                <a:ea typeface="Arial" pitchFamily="34" charset="-122"/>
                <a:cs typeface="Arial" pitchFamily="34" charset="-120"/>
              </a:rPr>
              <a:t xml:space="preserve"> — der stärkste Effekt der Analyse.</a:t>
            </a:r>
            <a:endParaRPr lang="en-US" sz="1000" dirty="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dirty="0">
                <a:solidFill>
                  <a:srgbClr val="F2EFDA"/>
                </a:solidFill>
                <a:latin typeface="Courier New" pitchFamily="34" charset="0"/>
                <a:ea typeface="Courier New" pitchFamily="34" charset="-122"/>
                <a:cs typeface="Courier New" pitchFamily="34" charset="-120"/>
              </a:rPr>
              <a:t xml:space="preserve">ANLAGENINTENSITÄT</a:t>
            </a:r>
            <a:endParaRPr lang="en-US" sz="1050" dirty="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 Bilanz · + Margen</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EK-Quote −0,25 · ROA −0,18, aber EBIT-Marge +0,24 · FCF-Marge +0,22 — </a:t>
            </a:r>
            <a:r>
              <a:rPr lang="en-US" sz="1000" b="1" kern="0" dirty="0">
                <a:solidFill>
                  <a:srgbClr val="F2EFDA"/>
                </a:solidFill>
                <a:latin typeface="Arial" pitchFamily="34" charset="0"/>
                <a:ea typeface="Arial" pitchFamily="34" charset="-122"/>
                <a:cs typeface="Arial" pitchFamily="34" charset="-120"/>
              </a:rPr>
              <a:t xml:space="preserve">die Strom-vs.-Bestand-Mechanik auf Unternehmensebene</a:t>
            </a:r>
            <a:r>
              <a:rPr lang="en-US" sz="1000" kern="0" dirty="0">
                <a:solidFill>
                  <a:srgbClr val="B3BC9A"/>
                </a:solidFill>
                <a:latin typeface="Arial" pitchFamily="34" charset="0"/>
                <a:ea typeface="Arial" pitchFamily="34" charset="-122"/>
                <a:cs typeface="Arial" pitchFamily="34" charset="-120"/>
              </a:rPr>
              <a:t xml:space="preserve">. Current Ratio: kein Effekt (Mischform).</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12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Fünf Strukturvariablen, 98 Tests — die Wirkung liegt auf der σ-Seite</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Spearman: fünf Strukturvariablen × φ und σ je Kennzahl — 31 von 49 σ-Tests Bonferroni-signifikant, nur 10 von 49 bei φ; die zehn stärksten Effekte sind alle σ.</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Bonferroni: α/14 ≈ 0,0036. Investitionsintensität wirkt schwächer (CR −0,23 · EK-Quote −0,22 · ROA −0,11) — konzeptionelle Nähe zu Größe und Anlagenintensität; Klärung in der multivariaten Synthese (6.3).</a:t>
            </a:r>
            <a:endParaRPr lang="en-US" sz="900" dirty="0"/>
          </a:p>
        </p:txBody>
      </p:sp>
      <p:sp>
        <p:nvSpPr>
          <p:cNvPr id="30" name="!!PH_Bivariat"/>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Heatmaps Strukturvariablen × Kennzahlen (σ-Spearman,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output/ff3/plots/6_1_1 … 6_1_4 (Vorlagen) · output/ff3/bivariate_spearman.csv</a:t>
            </a:r>
            <a:endParaRPr lang="en-US" sz="950" dirty="0"/>
          </a:p>
        </p:txBody>
      </p:sp>
      <p:sp>
        <p:nvSpPr>
          <p:cNvPr id="41" name="!!K_Groesse"/>
          <p:cNvSpPr/>
          <p:nvPr/>
        </p:nvSpPr>
        <p:spPr>
          <a:xfrm>
            <a:off x="6235294" y="1904695"/>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2" name="!!L_Groess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F2EFDA"/>
                </a:solidFill>
                <a:latin typeface="Courier New" pitchFamily="34" charset="0"/>
                <a:ea typeface="Courier New" pitchFamily="34" charset="-122"/>
                <a:cs typeface="Courier New" pitchFamily="34" charset="-120"/>
              </a:rPr>
              <a:t xml:space="preserve">GRÖSSE</a:t>
            </a:r>
            <a:endParaRPr lang="en-US" sz="1050" dirty="0"/>
          </a:p>
        </p:txBody>
      </p:sp>
      <p:sp>
        <p:nvSpPr>
          <p:cNvPr id="43" name="!!T_Groesse"/>
          <p:cNvSpPr/>
          <p:nvPr/>
        </p:nvSpPr>
        <p:spPr>
          <a:xfrm>
            <a:off x="6489497" y="2304695"/>
            <a:ext cx="4812488" cy="1057898"/>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ρ bis −0,53</a:t>
            </a:r>
            <a:r>
              <a:rPr lang="en-US" sz="1000" kern="0" dirty="0">
                <a:solidFill>
                  <a:srgbClr val="798D6F"/>
                </a:solidFill>
                <a:latin typeface="Courier New" pitchFamily="34" charset="0"/>
                <a:ea typeface="Courier New" pitchFamily="34" charset="-122"/>
                <a:cs typeface="Courier New" pitchFamily="34" charset="-120"/>
              </a:rPr>
              <a:t xml:space="preserve">   Mitarbeiter · Bilanzsumme · MarketCap</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Mitarbeiterzahl dämpft am stärksten: FCF-Marge und Current Ratio je −0,53. Quintil-Kontrast FCF: σ-Median </a:t>
            </a:r>
            <a:r>
              <a:rPr lang="en-US" sz="1000" b="1" kern="0" dirty="0">
                <a:solidFill>
                  <a:srgbClr val="F2EFDA"/>
                </a:solidFill>
                <a:latin typeface="Arial" pitchFamily="34" charset="0"/>
                <a:ea typeface="Arial" pitchFamily="34" charset="-122"/>
                <a:cs typeface="Arial" pitchFamily="34" charset="-120"/>
              </a:rPr>
              <a:t xml:space="preserve">0,45 → 0,11 (Cohens r = 0,80)</a:t>
            </a:r>
            <a:r>
              <a:rPr lang="en-US" sz="1000" kern="0" dirty="0">
                <a:solidFill>
                  <a:srgbClr val="B3BC9A"/>
                </a:solidFill>
                <a:latin typeface="Arial" pitchFamily="34" charset="0"/>
                <a:ea typeface="Arial" pitchFamily="34" charset="-122"/>
                <a:cs typeface="Arial" pitchFamily="34" charset="-120"/>
              </a:rPr>
              <a:t xml:space="preserve"> — der stärkste Effekt der Analyse.</a:t>
            </a:r>
            <a:endParaRPr lang="en-US" sz="1000" dirty="0"/>
          </a:p>
        </p:txBody>
      </p:sp>
      <p:sp>
        <p:nvSpPr>
          <p:cNvPr id="44" name="!!K_Anlagen"/>
          <p:cNvSpPr/>
          <p:nvPr/>
        </p:nvSpPr>
        <p:spPr>
          <a:xfrm>
            <a:off x="6235294" y="3541593"/>
            <a:ext cx="5320894" cy="1537898"/>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Anlagen"/>
          <p:cNvSpPr/>
          <p:nvPr/>
        </p:nvSpPr>
        <p:spPr>
          <a:xfrm>
            <a:off x="6489497" y="3671593"/>
            <a:ext cx="4812488" cy="230000"/>
          </a:xfrm>
          <a:prstGeom prst="rect">
            <a:avLst/>
          </a:prstGeom>
          <a:noFill/>
          <a:ln/>
        </p:spPr>
        <p:txBody>
          <a:bodyPr wrap="square" rtlCol="0" anchor="t"/>
          <a:lstStyle/>
          <a:p>
            <a:pPr marL="0" indent="0" algn="l">
              <a:lnSpc>
                <a:spcPct val="105000"/>
              </a:lnSpc>
              <a:buNone/>
            </a:pPr>
            <a:r>
              <a:rPr lang="en-US" sz="1050" b="1" kern="0" dirty="0">
                <a:solidFill>
                  <a:srgbClr val="F2EFDA"/>
                </a:solidFill>
                <a:latin typeface="Courier New" pitchFamily="34" charset="0"/>
                <a:ea typeface="Courier New" pitchFamily="34" charset="-122"/>
                <a:cs typeface="Courier New" pitchFamily="34" charset="-120"/>
              </a:rPr>
              <a:t xml:space="preserve">ANLAGENINTENSITÄT</a:t>
            </a:r>
            <a:endParaRPr lang="en-US" sz="1050" dirty="0"/>
          </a:p>
        </p:txBody>
      </p:sp>
      <p:sp>
        <p:nvSpPr>
          <p:cNvPr id="46" name="!!T_Anlagen"/>
          <p:cNvSpPr/>
          <p:nvPr/>
        </p:nvSpPr>
        <p:spPr>
          <a:xfrm>
            <a:off x="6489497" y="3941593"/>
            <a:ext cx="4812488" cy="1057898"/>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 Bilanz · + Margen</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EK-Quote −0,25 · ROA −0,18, aber EBIT-Marge +0,24 · FCF-Marge +0,22 — </a:t>
            </a:r>
            <a:r>
              <a:rPr lang="en-US" sz="1000" b="1" kern="0" dirty="0">
                <a:solidFill>
                  <a:srgbClr val="F2EFDA"/>
                </a:solidFill>
                <a:latin typeface="Arial" pitchFamily="34" charset="0"/>
                <a:ea typeface="Arial" pitchFamily="34" charset="-122"/>
                <a:cs typeface="Arial" pitchFamily="34" charset="-120"/>
              </a:rPr>
              <a:t xml:space="preserve">die Strom-vs.-Bestand-Mechanik auf Unternehmensebene</a:t>
            </a:r>
            <a:r>
              <a:rPr lang="en-US" sz="1000" kern="0" dirty="0">
                <a:solidFill>
                  <a:srgbClr val="B3BC9A"/>
                </a:solidFill>
                <a:latin typeface="Arial" pitchFamily="34" charset="0"/>
                <a:ea typeface="Arial" pitchFamily="34" charset="-122"/>
                <a:cs typeface="Arial" pitchFamily="34" charset="-120"/>
              </a:rPr>
              <a:t xml:space="preserve">. Current Ratio: kein Effekt (Mischform).</a:t>
            </a:r>
            <a:endParaRPr lang="en-US" sz="1000" dirty="0"/>
          </a:p>
        </p:txBody>
      </p:sp>
      <p:sp>
        <p:nvSpPr>
          <p:cNvPr id="51" name="!!K_ProfNiveau"/>
          <p:cNvSpPr/>
          <p:nvPr/>
        </p:nvSpPr>
        <p:spPr>
          <a:xfrm>
            <a:off x="6345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3" name="!!L_ProfNiveau"/>
          <p:cNvSpPr/>
          <p:nvPr/>
        </p:nvSpPr>
        <p:spPr>
          <a:xfrm>
            <a:off x="888797" y="5700000"/>
            <a:ext cx="4813402"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MEDIAN-PROFITABILITÄT</a:t>
            </a:r>
            <a:endParaRPr lang="en-US" sz="1050" dirty="0"/>
          </a:p>
        </p:txBody>
      </p:sp>
      <p:sp>
        <p:nvSpPr>
          <p:cNvPr id="55" name="!!T_ProfNiveau"/>
          <p:cNvSpPr/>
          <p:nvPr/>
        </p:nvSpPr>
        <p:spPr>
          <a:xfrm>
            <a:off x="888797" y="5950000"/>
            <a:ext cx="4813402" cy="400000"/>
          </a:xfrm>
          <a:prstGeom prst="rect">
            <a:avLst/>
          </a:prstGeom>
          <a:noFill/>
          <a:ln/>
        </p:spPr>
        <p:txBody>
          <a:bodyPr wrap="square" rtlCol="0" anchor="t"/>
          <a:lstStyle/>
          <a:p>
            <a:pPr marL="0" indent="0" algn="l">
              <a:lnSpc>
                <a:spcPct val="104000"/>
              </a:lnSpc>
              <a:buNone/>
            </a:pPr>
            <a:r>
              <a:rPr lang="en-US" sz="1300" b="1" kern="0" dirty="0">
                <a:solidFill>
                  <a:srgbClr val="F2EFDA"/>
                </a:solidFill>
                <a:latin typeface="Courier New" pitchFamily="34" charset="0"/>
                <a:ea typeface="Courier New" pitchFamily="34" charset="-122"/>
                <a:cs typeface="Courier New" pitchFamily="34" charset="-120"/>
              </a:rPr>
              <a:t xml:space="preserve">ρ = −0,44 · −0,40  </a:t>
            </a:r>
            <a:r>
              <a:rPr lang="en-US" sz="950" kern="0" dirty="0">
                <a:solidFill>
                  <a:srgbClr val="B3BC9A"/>
                </a:solidFill>
                <a:latin typeface="Arial" pitchFamily="34" charset="0"/>
                <a:ea typeface="Arial" pitchFamily="34" charset="-122"/>
                <a:cs typeface="Arial" pitchFamily="34" charset="-120"/>
              </a:rPr>
              <a:t xml:space="preserve">EBIT- und FCF-Marge: </a:t>
            </a:r>
            <a:r>
              <a:rPr lang="en-US" sz="950" b="1" kern="0" dirty="0">
                <a:solidFill>
                  <a:srgbClr val="F2EFDA"/>
                </a:solidFill>
                <a:latin typeface="Arial" pitchFamily="34" charset="0"/>
                <a:ea typeface="Arial" pitchFamily="34" charset="-122"/>
                <a:cs typeface="Arial" pitchFamily="34" charset="-120"/>
              </a:rPr>
              <a:t xml:space="preserve">profitable Firmen schwanken weniger</a:t>
            </a:r>
            <a:r>
              <a:rPr lang="en-US" sz="950" kern="0" dirty="0">
                <a:solidFill>
                  <a:srgbClr val="B3BC9A"/>
                </a:solidFill>
                <a:latin typeface="Arial" pitchFamily="34" charset="0"/>
                <a:ea typeface="Arial" pitchFamily="34" charset="-122"/>
                <a:cs typeface="Arial" pitchFamily="34" charset="-120"/>
              </a:rPr>
              <a:t xml:space="preserve"> — und revertieren etwas langsamer (φ +0,11 … +0,14).</a:t>
            </a:r>
            <a:endParaRPr lang="en-US" sz="950" dirty="0"/>
          </a:p>
        </p:txBody>
      </p:sp>
      <p:sp>
        <p:nvSpPr>
          <p:cNvPr id="52" name="!!K_Accruals"/>
          <p:cNvSpPr/>
          <p:nvPr/>
        </p:nvSpPr>
        <p:spPr>
          <a:xfrm>
            <a:off x="6235294" y="5590000"/>
            <a:ext cx="5320894"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54" name="!!L_Accruals"/>
          <p:cNvSpPr/>
          <p:nvPr/>
        </p:nvSpPr>
        <p:spPr>
          <a:xfrm>
            <a:off x="6489497" y="5700000"/>
            <a:ext cx="4813402"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PERIODENABGRENZUNGEN (SLOAN 1996)</a:t>
            </a:r>
            <a:endParaRPr lang="en-US" sz="1050" dirty="0"/>
          </a:p>
        </p:txBody>
      </p:sp>
      <p:sp>
        <p:nvSpPr>
          <p:cNvPr id="56" name="!!T_Accruals"/>
          <p:cNvSpPr/>
          <p:nvPr/>
        </p:nvSpPr>
        <p:spPr>
          <a:xfrm>
            <a:off x="6489497" y="5950000"/>
            <a:ext cx="4813402" cy="400000"/>
          </a:xfrm>
          <a:prstGeom prst="rect">
            <a:avLst/>
          </a:prstGeom>
          <a:noFill/>
          <a:ln/>
        </p:spPr>
        <p:txBody>
          <a:bodyPr wrap="square" rtlCol="0" anchor="t"/>
          <a:lstStyle/>
          <a:p>
            <a:pPr marL="0" indent="0" algn="l">
              <a:lnSpc>
                <a:spcPct val="104000"/>
              </a:lnSpc>
              <a:buNone/>
            </a:pPr>
            <a:r>
              <a:rPr lang="en-US" sz="1300" b="1" kern="0" dirty="0">
                <a:solidFill>
                  <a:srgbClr val="F2EFDA"/>
                </a:solidFill>
                <a:latin typeface="Courier New" pitchFamily="34" charset="0"/>
                <a:ea typeface="Courier New" pitchFamily="34" charset="-122"/>
                <a:cs typeface="Courier New" pitchFamily="34" charset="-120"/>
              </a:rPr>
              <a:t xml:space="preserve">ROA −0,27 · FCF −0,08 n.s.  </a:t>
            </a:r>
            <a:r>
              <a:rPr lang="en-US" sz="950" kern="0" dirty="0">
                <a:solidFill>
                  <a:srgbClr val="B3BC9A"/>
                </a:solidFill>
                <a:latin typeface="Arial" pitchFamily="34" charset="0"/>
                <a:ea typeface="Arial" pitchFamily="34" charset="-122"/>
                <a:cs typeface="Arial" pitchFamily="34" charset="-120"/>
              </a:rPr>
              <a:t xml:space="preserve">Accruals glätten Buchgewinne, nicht den Cashflow — </a:t>
            </a:r>
            <a:r>
              <a:rPr lang="en-US" sz="950" b="1" kern="0" dirty="0">
                <a:solidFill>
                  <a:srgbClr val="F2EFDA"/>
                </a:solidFill>
                <a:latin typeface="Arial" pitchFamily="34" charset="0"/>
                <a:ea typeface="Arial" pitchFamily="34" charset="-122"/>
                <a:cs typeface="Arial" pitchFamily="34" charset="-120"/>
              </a:rPr>
              <a:t xml:space="preserve">der Mechanismus hinter der FCF-Sonderstellung</a:t>
            </a:r>
            <a:r>
              <a:rPr lang="en-US" sz="950" kern="0" dirty="0">
                <a:solidFill>
                  <a:srgbClr val="B3BC9A"/>
                </a:solidFill>
                <a:latin typeface="Arial" pitchFamily="34" charset="0"/>
                <a:ea typeface="Arial" pitchFamily="34" charset="-122"/>
                <a:cs typeface="Arial" pitchFamily="34" charset="-120"/>
              </a:rPr>
              <a:t xml:space="preserve">.</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Der Sektor erklärt die Schwankung — nicht die Korrektur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Kruskal-Wallis über die zehn GICS-Sektoren: ε² = durch den Sektor erklärter Anteil der Variation — je Kennzahl und Parameter.</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Deskriptive Sektor-Details (Mediane, IQR, Quadranten-Heatmap) in Kapitel 4.2 — hier die inferenzstatistische Bestätigung.</a:t>
            </a:r>
            <a:endParaRPr lang="en-US" sz="900" dirty="0"/>
          </a:p>
        </p:txBody>
      </p:sp>
      <p:sp>
        <p:nvSpPr>
          <p:cNvPr id="30" name="!!PH_SektorKW"/>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ε² Sektor-Effekt pro Kennzahl, φ vs. σ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output/ff3/plots/6_2_1_sektor_kw_heatmap.png (Vorlage)</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output/ff3/kruskal_wallis_sektor.csv</a:t>
            </a:r>
            <a:endParaRPr lang="en-US" sz="950" dirty="0"/>
          </a:p>
        </p:txBody>
      </p:sp>
      <p:sp>
        <p:nvSpPr>
          <p:cNvPr id="41" name="!!K_SigSeite"/>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σ-SEITE</a:t>
            </a:r>
            <a:endParaRPr lang="en-US" sz="1050" dirty="0"/>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ε² bis 0,22</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FCF-Marge 0,22 · Current Ratio 0,22 · EBIT-Marge 0,19 — </a:t>
            </a:r>
            <a:r>
              <a:rPr lang="en-US" sz="1000" b="1" kern="0" dirty="0">
                <a:solidFill>
                  <a:srgbClr val="F2EFDA"/>
                </a:solidFill>
                <a:latin typeface="Arial" pitchFamily="34" charset="0"/>
                <a:ea typeface="Arial" pitchFamily="34" charset="-122"/>
                <a:cs typeface="Arial" pitchFamily="34" charset="-120"/>
              </a:rPr>
              <a:t xml:space="preserve">alle sieben Tests Bonferroni-signifikant</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φ-SEITE</a:t>
            </a:r>
            <a:endParaRPr lang="en-US" sz="1050" dirty="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ε² ≤ 0,07</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sechs von sieben signifikant, aber klein — </a:t>
            </a:r>
            <a:r>
              <a:rPr lang="en-US" sz="1000" b="1" kern="0" dirty="0">
                <a:solidFill>
                  <a:srgbClr val="F2EFDA"/>
                </a:solidFill>
                <a:latin typeface="Arial" pitchFamily="34" charset="0"/>
                <a:ea typeface="Arial" pitchFamily="34" charset="-122"/>
                <a:cs typeface="Arial" pitchFamily="34" charset="-120"/>
              </a:rPr>
              <a:t xml:space="preserve">dieselbe Asymmetrie wie bei den Strukturvariablen</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Der Sektor erklärt die Schwankung — nicht die Korrektur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Kruskal-Wallis über die zehn GICS-Sektoren: ε² = durch den Sektor erklärter Anteil der Variation — je Kennzahl und Parameter.</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Deskriptive Sektor-Details (Mediane, IQR, Quadranten-Heatmap) in Kapitel 4.2 — hier die inferenzstatistische Bestätigung.</a:t>
            </a:r>
            <a:endParaRPr lang="en-US" sz="900" dirty="0"/>
          </a:p>
        </p:txBody>
      </p:sp>
      <p:sp>
        <p:nvSpPr>
          <p:cNvPr id="30" name="!!PH_SektorKW"/>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ε² Sektor-Effekt pro Kennzahl, φ vs. σ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output/ff3/plots/6_2_1_sektor_kw_heatmap.png (Vorlage)</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output/ff3/kruskal_wallis_sektor.csv</a:t>
            </a:r>
            <a:endParaRPr lang="en-US" sz="950" dirty="0"/>
          </a:p>
        </p:txBody>
      </p:sp>
      <p:sp>
        <p:nvSpPr>
          <p:cNvPr id="41" name="!!K_SigSeite"/>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σ-SEITE</a:t>
            </a:r>
            <a:endParaRPr lang="en-US" sz="1050" dirty="0"/>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ε² bis 0,22</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FCF-Marge 0,22 · Current Ratio 0,22 · EBIT-Marge 0,19 — </a:t>
            </a:r>
            <a:r>
              <a:rPr lang="en-US" sz="1000" b="1" kern="0" dirty="0">
                <a:solidFill>
                  <a:srgbClr val="F2EFDA"/>
                </a:solidFill>
                <a:latin typeface="Arial" pitchFamily="34" charset="0"/>
                <a:ea typeface="Arial" pitchFamily="34" charset="-122"/>
                <a:cs typeface="Arial" pitchFamily="34" charset="-120"/>
              </a:rPr>
              <a:t xml:space="preserve">alle sieben Tests Bonferroni-signifikant</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φ-SEITE</a:t>
            </a:r>
            <a:endParaRPr lang="en-US" sz="1050" dirty="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ε² ≤ 0,07</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sechs von sieben signifikant, aber klein — </a:t>
            </a:r>
            <a:r>
              <a:rPr lang="en-US" sz="1000" b="1" kern="0" dirty="0">
                <a:solidFill>
                  <a:srgbClr val="F2EFDA"/>
                </a:solidFill>
                <a:latin typeface="Arial" pitchFamily="34" charset="0"/>
                <a:ea typeface="Arial" pitchFamily="34" charset="-122"/>
                <a:cs typeface="Arial" pitchFamily="34" charset="-120"/>
              </a:rPr>
              <a:t xml:space="preserve">dieselbe Asymmetrie wie bei den Strukturvariablen</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FINSRV-KONTRAST · 451 UNTERNEHMEN</a:t>
            </a:r>
            <a:endParaRPr lang="en-US" sz="1050" dirty="0"/>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29×</a:t>
            </a:r>
            <a:r>
              <a:rPr lang="en-US" sz="1100" kern="0" dirty="0">
                <a:solidFill>
                  <a:srgbClr val="798D6F"/>
                </a:solidFill>
                <a:latin typeface="Courier New" pitchFamily="34" charset="0"/>
                <a:ea typeface="Courier New" pitchFamily="34" charset="-122"/>
                <a:cs typeface="Courier New" pitchFamily="34" charset="-120"/>
              </a:rPr>
              <a:t xml:space="preserve">   Current-Ratio-Volatilität</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ROA-σ ein Fünftel · CR-φ −0,40 statt −0,17: Regulierung erzwingt Korrektur — </a:t>
            </a:r>
            <a:r>
              <a:rPr lang="en-US" sz="1000" b="1" kern="0" dirty="0">
                <a:solidFill>
                  <a:srgbClr val="F2EFDA"/>
                </a:solidFill>
                <a:latin typeface="Arial" pitchFamily="34" charset="0"/>
                <a:ea typeface="Arial" pitchFamily="34" charset="-122"/>
                <a:cs typeface="Arial" pitchFamily="34" charset="-120"/>
              </a:rPr>
              <a:t xml:space="preserve">der Ausschluss ist empirisch begründet</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3" name="Text 1"/>
          <p:cNvSpPr/>
          <p:nvPr/>
        </p:nvSpPr>
        <p:spPr>
          <a:xfrm>
            <a:off x="415959" y="291694"/>
            <a:ext cx="8255203" cy="215798"/>
          </a:xfrm>
          <a:prstGeom prst="rect">
            <a:avLst/>
          </a:prstGeom>
          <a:noFill/>
          <a:ln/>
        </p:spPr>
        <p:txBody>
          <a:bodyPr wrap="square" rtlCol="0" anchor="ctr"/>
          <a:lstStyle/>
          <a:p>
            <a:pPr marL="0" indent="0" algn="l">
              <a:lnSpc>
                <a:spcPct val="105000"/>
              </a:lnSpc>
              <a:buNone/>
            </a:pPr>
            <a:r>
              <a:rPr lang="en-US" sz="1200" b="1" kern="0" spc="400" dirty="0">
                <a:solidFill>
                  <a:srgbClr val="E6D34F"/>
                </a:solidFill>
                <a:latin typeface="Courier New" pitchFamily="34" charset="0"/>
                <a:ea typeface="Courier New" pitchFamily="34" charset="-122"/>
                <a:cs typeface="Courier New" pitchFamily="34" charset="-120"/>
              </a:rPr>
              <a:t xml:space="preserve">FORSCHUNGSFRAGE 3</a:t>
            </a:r>
            <a:endParaRPr lang="en-US" sz="1200" dirty="0"/>
          </a:p>
        </p:txBody>
      </p:sp>
      <p:sp>
        <p:nvSpPr>
          <p:cNvPr id="5" name="Text 2"/>
          <p:cNvSpPr/>
          <p:nvPr/>
        </p:nvSpPr>
        <p:spPr>
          <a:xfrm>
            <a:off x="9651492" y="291694"/>
            <a:ext cx="1904695" cy="215798"/>
          </a:xfrm>
          <a:prstGeom prst="rect">
            <a:avLst/>
          </a:prstGeom>
          <a:noFill/>
          <a:ln/>
        </p:spPr>
        <p:txBody>
          <a:bodyPr wrap="square" rtlCol="0" anchor="ctr"/>
          <a:lstStyle/>
          <a:p>
            <a:pPr marL="0" indent="0" algn="r">
              <a:lnSpc>
                <a:spcPct val="105000"/>
              </a:lnSpc>
              <a:buNone/>
            </a:pPr>
            <a:r>
              <a:rPr lang="en-US" sz="1200" kern="0" dirty="0">
                <a:solidFill>
                  <a:srgbClr val="798D6F"/>
                </a:solidFill>
                <a:latin typeface="Courier New" pitchFamily="34" charset="0"/>
                <a:ea typeface="Courier New" pitchFamily="34" charset="-122"/>
                <a:cs typeface="Courier New" pitchFamily="34" charset="-120"/>
              </a:rPr>
              <a:t xml:space="preserve">13 / 15</a:t>
            </a:r>
            <a:endParaRPr lang="en-US" sz="1200" dirty="0"/>
          </a:p>
        </p:txBody>
      </p:sp>
      <p:sp>
        <p:nvSpPr>
          <p:cNvPr id="6" name="Text 3"/>
          <p:cNvSpPr/>
          <p:nvPr/>
        </p:nvSpPr>
        <p:spPr>
          <a:xfrm>
            <a:off x="634594" y="761695"/>
            <a:ext cx="10921594" cy="381305"/>
          </a:xfrm>
          <a:prstGeom prst="rect">
            <a:avLst/>
          </a:prstGeom>
          <a:noFill/>
          <a:ln/>
        </p:spPr>
        <p:txBody>
          <a:bodyPr wrap="square" rtlCol="0" anchor="t"/>
          <a:lstStyle/>
          <a:p>
            <a:pPr marL="0" indent="0" algn="l">
              <a:lnSpc>
                <a:spcPct val="100000"/>
              </a:lnSpc>
              <a:buNone/>
            </a:pPr>
            <a:r>
              <a:rPr lang="en-US" sz="2000" b="1" kern="0" spc="-50" dirty="0">
                <a:solidFill>
                  <a:srgbClr val="F2EFDA"/>
                </a:solidFill>
                <a:latin typeface="Arial" pitchFamily="34" charset="0"/>
                <a:ea typeface="Arial" pitchFamily="34" charset="-122"/>
                <a:cs typeface="Arial" pitchFamily="34" charset="-120"/>
              </a:rPr>
              <a:t xml:space="preserve">Der Sektor erklärt die Schwankung — nicht die Korrektur</a:t>
            </a:r>
            <a:endParaRPr lang="en-US" sz="20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100" kern="0" dirty="0">
                <a:solidFill>
                  <a:srgbClr val="B3BC9A"/>
                </a:solidFill>
                <a:latin typeface="Arial" pitchFamily="34" charset="0"/>
                <a:ea typeface="Arial" pitchFamily="34" charset="-122"/>
                <a:cs typeface="Arial" pitchFamily="34" charset="-120"/>
              </a:rPr>
              <a:t xml:space="preserve">Kruskal-Wallis über die zehn GICS-Sektoren: ε² = durch den Sektor erklärter Anteil der Variation — je Kennzahl und Parameter.</a:t>
            </a:r>
            <a:endParaRPr lang="en-US" sz="1100" dirty="0"/>
          </a:p>
        </p:txBody>
      </p:sp>
      <p:sp>
        <p:nvSpPr>
          <p:cNvPr id="20" name="Text 17"/>
          <p:cNvSpPr/>
          <p:nvPr/>
        </p:nvSpPr>
        <p:spPr>
          <a:xfrm>
            <a:off x="634594" y="5270602"/>
            <a:ext cx="10921594" cy="254203"/>
          </a:xfrm>
          <a:prstGeom prst="rect">
            <a:avLst/>
          </a:prstGeom>
          <a:noFill/>
          <a:ln/>
        </p:spPr>
        <p:txBody>
          <a:bodyPr wrap="square" rtlCol="0" anchor="t"/>
          <a:lstStyle/>
          <a:p>
            <a:pPr marL="0" indent="0" algn="l">
              <a:lnSpc>
                <a:spcPct val="105000"/>
              </a:lnSpc>
              <a:buNone/>
            </a:pPr>
            <a:r>
              <a:rPr lang="en-US" sz="900" kern="0" dirty="0">
                <a:solidFill>
                  <a:srgbClr val="798D6F"/>
                </a:solidFill>
                <a:latin typeface="Arial" pitchFamily="34" charset="0"/>
                <a:ea typeface="Arial" pitchFamily="34" charset="-122"/>
                <a:cs typeface="Arial" pitchFamily="34" charset="-120"/>
              </a:rPr>
              <a:t xml:space="preserve">Cluster-Falsifikation: Vorhersage aus der Sektor-Mechanik (4.3.3) vs. tatsächliche Quadranten-Verteilung. Cluster 5 (Gesundheit + Zykl. Konsum) bleibt wie vorhergesagt diffus — kein Quadrant über 36 %.</a:t>
            </a:r>
            <a:endParaRPr lang="en-US" sz="900" dirty="0"/>
          </a:p>
        </p:txBody>
      </p:sp>
      <p:sp>
        <p:nvSpPr>
          <p:cNvPr id="30" name="!!PH_SektorKW"/>
          <p:cNvSpPr/>
          <p:nvPr/>
        </p:nvSpPr>
        <p:spPr>
          <a:xfrm>
            <a:off x="634594" y="1904695"/>
            <a:ext cx="5320894" cy="3174797"/>
          </a:xfrm>
          <a:prstGeom prst="roundRect">
            <a:avLst>
              <a:gd name="adj" fmla="val 3197"/>
            </a:avLst>
          </a:prstGeom>
          <a:solidFill>
            <a:srgbClr val="1E402E"/>
          </a:solidFill>
          <a:ln w="15875">
            <a:solidFill>
              <a:srgbClr val="798D6F"/>
            </a:solidFill>
            <a:prstDash val="dash"/>
          </a:ln>
        </p:spPr>
        <p:txBody>
          <a:bodyPr wrap="square" rtlCol="0" anchor="ctr"/>
          <a:lstStyle/>
          <a:p>
            <a:pPr marL="0" indent="0" algn="ctr">
              <a:lnSpc>
                <a:spcPct val="105000"/>
              </a:lnSpc>
              <a:buNone/>
            </a:pPr>
            <a:r>
              <a:rPr lang="en-US" sz="1150" b="1" kern="0" dirty="0">
                <a:solidFill>
                  <a:srgbClr val="B3BC9A"/>
                </a:solidFill>
                <a:latin typeface="Courier New" pitchFamily="34" charset="0"/>
                <a:ea typeface="Courier New" pitchFamily="34" charset="-122"/>
                <a:cs typeface="Courier New" pitchFamily="34" charset="-120"/>
              </a:rPr>
              <a:t xml:space="preserve">PLATZHALTER</a:t>
            </a:r>
            <a:endParaRPr lang="en-US" sz="11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ε² Sektor-Effekt pro Kennzahl, φ vs. σ (Dark-Design)</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output/ff3/plots/6_2_1_sektor_kw_heatmap.png (Vorlage)</a:t>
            </a:r>
            <a:endParaRPr lang="en-US" sz="950" dirty="0"/>
          </a:p>
          <a:p>
            <a:pPr marL="0" indent="0" algn="ctr">
              <a:lnSpc>
                <a:spcPct val="105000"/>
              </a:lnSpc>
              <a:buNone/>
            </a:pPr>
            <a:r>
              <a:rPr lang="en-US" sz="950" kern="0" dirty="0">
                <a:solidFill>
                  <a:srgbClr val="798D6F"/>
                </a:solidFill>
                <a:latin typeface="Courier New" pitchFamily="34" charset="0"/>
                <a:ea typeface="Courier New" pitchFamily="34" charset="-122"/>
                <a:cs typeface="Courier New" pitchFamily="34" charset="-120"/>
              </a:rPr>
              <a:t xml:space="preserve">output/ff3/kruskal_wallis_sektor.csv</a:t>
            </a:r>
            <a:endParaRPr lang="en-US" sz="950" dirty="0"/>
          </a:p>
        </p:txBody>
      </p:sp>
      <p:sp>
        <p:nvSpPr>
          <p:cNvPr id="41" name="!!K_SigSeite"/>
          <p:cNvSpPr/>
          <p:nvPr/>
        </p:nvSpPr>
        <p:spPr>
          <a:xfrm>
            <a:off x="6235294" y="1904695"/>
            <a:ext cx="5320894" cy="991599"/>
          </a:xfrm>
          <a:prstGeom prst="roundRect">
            <a:avLst>
              <a:gd name="adj" fmla="val 3197"/>
            </a:avLst>
          </a:prstGeom>
          <a:solidFill>
            <a:srgbClr val="1E402E"/>
          </a:solidFill>
          <a:ln w="12700">
            <a:solidFill>
              <a:srgbClr val="79A2F9"/>
            </a:solidFill>
            <a:prstDash val="solid"/>
          </a:ln>
        </p:spPr>
        <p:txBody>
          <a:bodyPr/>
          <a:lstStyle/>
          <a:p>
            <a:endParaRPr lang="de-DE"/>
          </a:p>
        </p:txBody>
      </p:sp>
      <p:sp>
        <p:nvSpPr>
          <p:cNvPr id="42" name="!!L_SigSeite"/>
          <p:cNvSpPr/>
          <p:nvPr/>
        </p:nvSpPr>
        <p:spPr>
          <a:xfrm>
            <a:off x="6489497" y="2034695"/>
            <a:ext cx="4812488" cy="230000"/>
          </a:xfrm>
          <a:prstGeom prst="rect">
            <a:avLst/>
          </a:prstGeom>
          <a:noFill/>
          <a:ln/>
        </p:spPr>
        <p:txBody>
          <a:bodyPr wrap="square" rtlCol="0" anchor="t"/>
          <a:lstStyle/>
          <a:p>
            <a:pPr marL="0" indent="0" algn="l">
              <a:lnSpc>
                <a:spcPct val="105000"/>
              </a:lnSpc>
              <a:buNone/>
            </a:pPr>
            <a:r>
              <a:rPr lang="en-US" sz="1050" b="1" kern="0" dirty="0">
                <a:solidFill>
                  <a:srgbClr val="79A2F9"/>
                </a:solidFill>
                <a:latin typeface="Courier New" pitchFamily="34" charset="0"/>
                <a:ea typeface="Courier New" pitchFamily="34" charset="-122"/>
                <a:cs typeface="Courier New" pitchFamily="34" charset="-120"/>
              </a:rPr>
              <a:t xml:space="preserve">σ-SEITE</a:t>
            </a:r>
            <a:endParaRPr lang="en-US" sz="1050" dirty="0"/>
          </a:p>
        </p:txBody>
      </p:sp>
      <p:sp>
        <p:nvSpPr>
          <p:cNvPr id="43" name="!!T_SigSeite"/>
          <p:cNvSpPr/>
          <p:nvPr/>
        </p:nvSpPr>
        <p:spPr>
          <a:xfrm>
            <a:off x="6489497" y="2304695"/>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ε² bis 0,22</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FCF-Marge 0,22 · Current Ratio 0,22 · EBIT-Marge 0,19 — </a:t>
            </a:r>
            <a:r>
              <a:rPr lang="en-US" sz="1000" b="1" kern="0" dirty="0">
                <a:solidFill>
                  <a:srgbClr val="F2EFDA"/>
                </a:solidFill>
                <a:latin typeface="Arial" pitchFamily="34" charset="0"/>
                <a:ea typeface="Arial" pitchFamily="34" charset="-122"/>
                <a:cs typeface="Arial" pitchFamily="34" charset="-120"/>
              </a:rPr>
              <a:t xml:space="preserve">alle sieben Tests Bonferroni-signifikant</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4" name="!!K_PhiSeite"/>
          <p:cNvSpPr/>
          <p:nvPr/>
        </p:nvSpPr>
        <p:spPr>
          <a:xfrm>
            <a:off x="6235294" y="2996294"/>
            <a:ext cx="5320894" cy="991599"/>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45" name="!!L_PhiSeite"/>
          <p:cNvSpPr/>
          <p:nvPr/>
        </p:nvSpPr>
        <p:spPr>
          <a:xfrm>
            <a:off x="6489497" y="3126294"/>
            <a:ext cx="4812488" cy="230000"/>
          </a:xfrm>
          <a:prstGeom prst="rect">
            <a:avLst/>
          </a:prstGeom>
          <a:noFill/>
          <a:ln/>
        </p:spPr>
        <p:txBody>
          <a:bodyPr wrap="square" rtlCol="0" anchor="t"/>
          <a:lstStyle/>
          <a:p>
            <a:pPr marL="0" indent="0" algn="l">
              <a:lnSpc>
                <a:spcPct val="105000"/>
              </a:lnSpc>
              <a:buNone/>
            </a:pPr>
            <a:r>
              <a:rPr lang="en-US" sz="1050" b="1" kern="0" dirty="0">
                <a:solidFill>
                  <a:srgbClr val="B3BC9A"/>
                </a:solidFill>
                <a:latin typeface="Courier New" pitchFamily="34" charset="0"/>
                <a:ea typeface="Courier New" pitchFamily="34" charset="-122"/>
                <a:cs typeface="Courier New" pitchFamily="34" charset="-120"/>
              </a:rPr>
              <a:t xml:space="preserve">φ-SEITE</a:t>
            </a:r>
            <a:endParaRPr lang="en-US" sz="1050" dirty="0"/>
          </a:p>
        </p:txBody>
      </p:sp>
      <p:sp>
        <p:nvSpPr>
          <p:cNvPr id="46" name="!!T_PhiSeite"/>
          <p:cNvSpPr/>
          <p:nvPr/>
        </p:nvSpPr>
        <p:spPr>
          <a:xfrm>
            <a:off x="6489497" y="3396294"/>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ε² ≤ 0,07</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sechs von sieben signifikant, aber klein — </a:t>
            </a:r>
            <a:r>
              <a:rPr lang="en-US" sz="1000" b="1" kern="0" dirty="0">
                <a:solidFill>
                  <a:srgbClr val="F2EFDA"/>
                </a:solidFill>
                <a:latin typeface="Arial" pitchFamily="34" charset="0"/>
                <a:ea typeface="Arial" pitchFamily="34" charset="-122"/>
                <a:cs typeface="Arial" pitchFamily="34" charset="-120"/>
              </a:rPr>
              <a:t xml:space="preserve">dieselbe Asymmetrie wie bei den Strukturvariablen</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47" name="!!K_FinSrv"/>
          <p:cNvSpPr/>
          <p:nvPr/>
        </p:nvSpPr>
        <p:spPr>
          <a:xfrm>
            <a:off x="6235294" y="4087893"/>
            <a:ext cx="5320894" cy="991599"/>
          </a:xfrm>
          <a:prstGeom prst="roundRect">
            <a:avLst>
              <a:gd name="adj" fmla="val 3197"/>
            </a:avLst>
          </a:prstGeom>
          <a:solidFill>
            <a:srgbClr val="153B29"/>
          </a:solidFill>
          <a:ln w="12700">
            <a:solidFill>
              <a:srgbClr val="E6D34F"/>
            </a:solidFill>
            <a:prstDash val="solid"/>
          </a:ln>
        </p:spPr>
        <p:txBody>
          <a:bodyPr/>
          <a:lstStyle/>
          <a:p>
            <a:endParaRPr lang="de-DE"/>
          </a:p>
        </p:txBody>
      </p:sp>
      <p:sp>
        <p:nvSpPr>
          <p:cNvPr id="48" name="!!L_FinSrv"/>
          <p:cNvSpPr/>
          <p:nvPr/>
        </p:nvSpPr>
        <p:spPr>
          <a:xfrm>
            <a:off x="6489497" y="4217893"/>
            <a:ext cx="4812488" cy="230000"/>
          </a:xfrm>
          <a:prstGeom prst="rect">
            <a:avLst/>
          </a:prstGeom>
          <a:noFill/>
          <a:ln/>
        </p:spPr>
        <p:txBody>
          <a:bodyPr wrap="square" rtlCol="0" anchor="t"/>
          <a:lstStyle/>
          <a:p>
            <a:pPr marL="0" indent="0" algn="l">
              <a:lnSpc>
                <a:spcPct val="105000"/>
              </a:lnSpc>
              <a:buNone/>
            </a:pPr>
            <a:r>
              <a:rPr lang="en-US" sz="1050" b="1" kern="0" dirty="0">
                <a:solidFill>
                  <a:srgbClr val="E6D34F"/>
                </a:solidFill>
                <a:latin typeface="Courier New" pitchFamily="34" charset="0"/>
                <a:ea typeface="Courier New" pitchFamily="34" charset="-122"/>
                <a:cs typeface="Courier New" pitchFamily="34" charset="-120"/>
              </a:rPr>
              <a:t xml:space="preserve">FINSRV-KONTRAST · 451 UNTERNEHMEN</a:t>
            </a:r>
            <a:endParaRPr lang="en-US" sz="1050" dirty="0"/>
          </a:p>
        </p:txBody>
      </p:sp>
      <p:sp>
        <p:nvSpPr>
          <p:cNvPr id="49" name="!!T_FinSrv"/>
          <p:cNvSpPr/>
          <p:nvPr/>
        </p:nvSpPr>
        <p:spPr>
          <a:xfrm>
            <a:off x="6489497" y="4487893"/>
            <a:ext cx="4812488" cy="511599"/>
          </a:xfrm>
          <a:prstGeom prst="rect">
            <a:avLst/>
          </a:prstGeom>
          <a:noFill/>
          <a:ln/>
        </p:spPr>
        <p:txBody>
          <a:bodyPr wrap="square" rtlCol="0" anchor="t"/>
          <a:lstStyle/>
          <a:p>
            <a:pPr marL="0" indent="0" algn="l">
              <a:lnSpc>
                <a:spcPct val="100000"/>
              </a:lnSpc>
              <a:buNone/>
            </a:pPr>
            <a:r>
              <a:rPr lang="en-US" sz="1500" b="1" kern="0" dirty="0">
                <a:solidFill>
                  <a:srgbClr val="F2EFDA"/>
                </a:solidFill>
                <a:latin typeface="Courier New" pitchFamily="34" charset="0"/>
                <a:ea typeface="Courier New" pitchFamily="34" charset="-122"/>
                <a:cs typeface="Courier New" pitchFamily="34" charset="-120"/>
              </a:rPr>
              <a:t xml:space="preserve">29×</a:t>
            </a:r>
            <a:r>
              <a:rPr lang="en-US" sz="1100" kern="0" dirty="0">
                <a:solidFill>
                  <a:srgbClr val="798D6F"/>
                </a:solidFill>
                <a:latin typeface="Courier New" pitchFamily="34" charset="0"/>
                <a:ea typeface="Courier New" pitchFamily="34" charset="-122"/>
                <a:cs typeface="Courier New" pitchFamily="34" charset="-120"/>
              </a:rPr>
              <a:t xml:space="preserve">   Current-Ratio-Volatilität</a:t>
            </a:r>
            <a:endParaRPr lang="en-US" sz="1500" dirty="0"/>
          </a:p>
          <a:p>
            <a:pPr marL="0" indent="0" algn="l">
              <a:lnSpc>
                <a:spcPct val="104000"/>
              </a:lnSpc>
              <a:buNone/>
            </a:pPr>
            <a:r>
              <a:rPr lang="en-US" sz="1000" kern="0" dirty="0">
                <a:solidFill>
                  <a:srgbClr val="B3BC9A"/>
                </a:solidFill>
                <a:latin typeface="Arial" pitchFamily="34" charset="0"/>
                <a:ea typeface="Arial" pitchFamily="34" charset="-122"/>
                <a:cs typeface="Arial" pitchFamily="34" charset="-120"/>
              </a:rPr>
              <a:t xml:space="preserve">ROA-σ ein Fünftel · CR-φ −0,40 statt −0,17: Regulierung erzwingt Korrektur — </a:t>
            </a:r>
            <a:r>
              <a:rPr lang="en-US" sz="1000" b="1" kern="0" dirty="0">
                <a:solidFill>
                  <a:srgbClr val="F2EFDA"/>
                </a:solidFill>
                <a:latin typeface="Arial" pitchFamily="34" charset="0"/>
                <a:ea typeface="Arial" pitchFamily="34" charset="-122"/>
                <a:cs typeface="Arial" pitchFamily="34" charset="-120"/>
              </a:rPr>
              <a:t xml:space="preserve">der Ausschluss ist empirisch begründet</a:t>
            </a:r>
            <a:r>
              <a:rPr lang="en-US" sz="1000" kern="0" dirty="0">
                <a:solidFill>
                  <a:srgbClr val="B3BC9A"/>
                </a:solidFill>
                <a:latin typeface="Arial" pitchFamily="34" charset="0"/>
                <a:ea typeface="Arial" pitchFamily="34" charset="-122"/>
                <a:cs typeface="Arial" pitchFamily="34" charset="-120"/>
              </a:rPr>
              <a:t xml:space="preserve">.</a:t>
            </a:r>
            <a:endParaRPr lang="en-US" sz="1000" dirty="0"/>
          </a:p>
        </p:txBody>
      </p:sp>
      <p:sp>
        <p:nvSpPr>
          <p:cNvPr id="91" name="!!K_Cl1"/>
          <p:cNvSpPr/>
          <p:nvPr/>
        </p:nvSpPr>
        <p:spPr>
          <a:xfrm>
            <a:off x="634594"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2" name="!!L_Cl1"/>
          <p:cNvSpPr/>
          <p:nvPr/>
        </p:nvSpPr>
        <p:spPr>
          <a:xfrm>
            <a:off x="814594"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INDUSTRIE + BASISK.</a:t>
            </a:r>
            <a:endParaRPr lang="en-US" sz="1000" dirty="0"/>
          </a:p>
        </p:txBody>
      </p:sp>
      <p:sp>
        <p:nvSpPr>
          <p:cNvPr id="93" name="!!T_Cl1"/>
          <p:cNvSpPr/>
          <p:nvPr/>
        </p:nvSpPr>
        <p:spPr>
          <a:xfrm>
            <a:off x="814594"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66 %</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stabile Hälfte — robusteste Vorhersage.</a:t>
            </a:r>
            <a:endParaRPr lang="en-US" sz="870" dirty="0"/>
          </a:p>
        </p:txBody>
      </p:sp>
      <p:sp>
        <p:nvSpPr>
          <p:cNvPr id="94" name="!!K_Cl2"/>
          <p:cNvSpPr/>
          <p:nvPr/>
        </p:nvSpPr>
        <p:spPr>
          <a:xfrm>
            <a:off x="3409992"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5" name="!!L_Cl2"/>
          <p:cNvSpPr/>
          <p:nvPr/>
        </p:nvSpPr>
        <p:spPr>
          <a:xfrm>
            <a:off x="3589992"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VERSORGER + IMMOB.</a:t>
            </a:r>
            <a:endParaRPr lang="en-US" sz="1000" dirty="0"/>
          </a:p>
        </p:txBody>
      </p:sp>
      <p:sp>
        <p:nvSpPr>
          <p:cNvPr id="96" name="!!T_Cl2"/>
          <p:cNvSpPr/>
          <p:nvPr/>
        </p:nvSpPr>
        <p:spPr>
          <a:xfrm>
            <a:off x="3589992"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65 %</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Buchgewinne stabil: ROA 82 % — Margen schwächer.</a:t>
            </a:r>
            <a:endParaRPr lang="en-US" sz="870" dirty="0"/>
          </a:p>
        </p:txBody>
      </p:sp>
      <p:sp>
        <p:nvSpPr>
          <p:cNvPr id="97" name="!!K_Cl3"/>
          <p:cNvSpPr/>
          <p:nvPr/>
        </p:nvSpPr>
        <p:spPr>
          <a:xfrm>
            <a:off x="6185390" y="5590000"/>
            <a:ext cx="2595398" cy="800000"/>
          </a:xfrm>
          <a:prstGeom prst="roundRect">
            <a:avLst>
              <a:gd name="adj" fmla="val 3197"/>
            </a:avLst>
          </a:prstGeom>
          <a:solidFill>
            <a:srgbClr val="153B29"/>
          </a:solidFill>
          <a:ln w="12700">
            <a:solidFill>
              <a:srgbClr val="2B513D"/>
            </a:solidFill>
            <a:prstDash val="solid"/>
          </a:ln>
        </p:spPr>
        <p:txBody>
          <a:bodyPr/>
          <a:lstStyle/>
          <a:p>
            <a:endParaRPr lang="de-DE"/>
          </a:p>
        </p:txBody>
      </p:sp>
      <p:sp>
        <p:nvSpPr>
          <p:cNvPr id="98" name="!!L_Cl3"/>
          <p:cNvSpPr/>
          <p:nvPr/>
        </p:nvSpPr>
        <p:spPr>
          <a:xfrm>
            <a:off x="6365390"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B3BC9A"/>
                </a:solidFill>
                <a:latin typeface="Courier New" pitchFamily="34" charset="0"/>
                <a:ea typeface="Courier New" pitchFamily="34" charset="-122"/>
                <a:cs typeface="Courier New" pitchFamily="34" charset="-120"/>
              </a:rPr>
              <a:t xml:space="preserve">TECH + GRUNDSTOFFE</a:t>
            </a:r>
            <a:endParaRPr lang="en-US" sz="1000" dirty="0"/>
          </a:p>
        </p:txBody>
      </p:sp>
      <p:sp>
        <p:nvSpPr>
          <p:cNvPr id="99" name="!!T_Cl3"/>
          <p:cNvSpPr/>
          <p:nvPr/>
        </p:nvSpPr>
        <p:spPr>
          <a:xfrm>
            <a:off x="6365390"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60 %</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persistente Hälfte — moderat bestätigt.</a:t>
            </a:r>
            <a:endParaRPr lang="en-US" sz="870" dirty="0"/>
          </a:p>
        </p:txBody>
      </p:sp>
      <p:sp>
        <p:nvSpPr>
          <p:cNvPr id="100" name="!!K_Cl4"/>
          <p:cNvSpPr/>
          <p:nvPr/>
        </p:nvSpPr>
        <p:spPr>
          <a:xfrm>
            <a:off x="8960788" y="5590000"/>
            <a:ext cx="2595398" cy="800000"/>
          </a:xfrm>
          <a:prstGeom prst="roundRect">
            <a:avLst>
              <a:gd name="adj" fmla="val 3197"/>
            </a:avLst>
          </a:prstGeom>
          <a:solidFill>
            <a:srgbClr val="153B29"/>
          </a:solidFill>
          <a:ln w="12700">
            <a:solidFill>
              <a:srgbClr val="F36451"/>
            </a:solidFill>
            <a:prstDash val="solid"/>
          </a:ln>
        </p:spPr>
        <p:txBody>
          <a:bodyPr/>
          <a:lstStyle/>
          <a:p>
            <a:endParaRPr lang="de-DE"/>
          </a:p>
        </p:txBody>
      </p:sp>
      <p:sp>
        <p:nvSpPr>
          <p:cNvPr id="101" name="!!L_Cl4"/>
          <p:cNvSpPr/>
          <p:nvPr/>
        </p:nvSpPr>
        <p:spPr>
          <a:xfrm>
            <a:off x="9140788" y="5670000"/>
            <a:ext cx="2235398" cy="220000"/>
          </a:xfrm>
          <a:prstGeom prst="rect">
            <a:avLst/>
          </a:prstGeom>
          <a:noFill/>
          <a:ln/>
        </p:spPr>
        <p:txBody>
          <a:bodyPr wrap="square" rtlCol="0" anchor="t"/>
          <a:lstStyle/>
          <a:p>
            <a:pPr marL="0" indent="0" algn="l">
              <a:lnSpc>
                <a:spcPct val="105000"/>
              </a:lnSpc>
              <a:buNone/>
            </a:pPr>
            <a:r>
              <a:rPr lang="en-US" sz="1000" b="1" kern="0" dirty="0">
                <a:solidFill>
                  <a:srgbClr val="F36451"/>
                </a:solidFill>
                <a:latin typeface="Courier New" pitchFamily="34" charset="0"/>
                <a:ea typeface="Courier New" pitchFamily="34" charset="-122"/>
                <a:cs typeface="Courier New" pitchFamily="34" charset="-120"/>
              </a:rPr>
              <a:t xml:space="preserve">KOMM. + ENERGIE</a:t>
            </a:r>
            <a:endParaRPr lang="en-US" sz="1000" dirty="0"/>
          </a:p>
        </p:txBody>
      </p:sp>
      <p:sp>
        <p:nvSpPr>
          <p:cNvPr id="102" name="!!T_Cl4"/>
          <p:cNvSpPr/>
          <p:nvPr/>
        </p:nvSpPr>
        <p:spPr>
          <a:xfrm>
            <a:off x="9140788" y="5890000"/>
            <a:ext cx="2235398" cy="460000"/>
          </a:xfrm>
          <a:prstGeom prst="rect">
            <a:avLst/>
          </a:prstGeom>
          <a:noFill/>
          <a:ln/>
        </p:spPr>
        <p:txBody>
          <a:bodyPr wrap="square" rtlCol="0" anchor="t"/>
          <a:lstStyle/>
          <a:p>
            <a:pPr marL="0" indent="0" algn="l">
              <a:lnSpc>
                <a:spcPct val="100000"/>
              </a:lnSpc>
              <a:buNone/>
            </a:pPr>
            <a:r>
              <a:rPr lang="en-US" sz="1250" b="1" kern="0" dirty="0">
                <a:solidFill>
                  <a:srgbClr val="F2EFDA"/>
                </a:solidFill>
                <a:latin typeface="Courier New" pitchFamily="34" charset="0"/>
                <a:ea typeface="Courier New" pitchFamily="34" charset="-122"/>
                <a:cs typeface="Courier New" pitchFamily="34" charset="-120"/>
              </a:rPr>
              <a:t xml:space="preserve">43 %</a:t>
            </a:r>
            <a:endParaRPr lang="en-US" sz="1250" dirty="0"/>
          </a:p>
          <a:p>
            <a:pPr marL="0" indent="0" algn="l">
              <a:lnSpc>
                <a:spcPct val="100000"/>
              </a:lnSpc>
              <a:buNone/>
            </a:pPr>
            <a:r>
              <a:rPr lang="en-US" sz="870" kern="0" dirty="0">
                <a:solidFill>
                  <a:srgbClr val="B3BC9A"/>
                </a:solidFill>
                <a:latin typeface="Arial" pitchFamily="34" charset="0"/>
                <a:ea typeface="Arial" pitchFamily="34" charset="-122"/>
                <a:cs typeface="Arial" pitchFamily="34" charset="-120"/>
              </a:rPr>
              <a:t xml:space="preserve">offen benannt: FCF nur 30 % — Zyklen persistieren.</a:t>
            </a:r>
            <a:endParaRPr lang="en-US" sz="87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14 / 15</a:t>
            </a:r>
            <a:endParaRPr lang="en-US" sz="1200" dirty="0"/>
          </a:p>
        </p:txBody>
      </p:sp>
      <p:sp>
        <p:nvSpPr>
          <p:cNvPr id="6" name="Text 3"/>
          <p:cNvSpPr/>
          <p:nvPr/>
        </p:nvSpPr>
        <p:spPr>
          <a:xfrm>
            <a:off x="634594" y="761695"/>
            <a:ext cx="10921594" cy="476402"/>
          </a:xfrm>
          <a:prstGeom prst="rect">
            <a:avLst/>
          </a:prstGeom>
          <a:noFill/>
          <a:ln/>
        </p:spPr>
        <p:txBody>
          <a:bodyPr wrap="square" rtlCol="0" anchor="t"/>
          <a:lstStyle/>
          <a:p>
            <a:pPr marL="0" indent="0">
              <a:lnSpc>
                <a:spcPct val="100000"/>
              </a:lnSpc>
              <a:buNone/>
            </a:pPr>
            <a:r>
              <a:rPr lang="en-US" sz="2500" b="1" kern="0" spc="-50" dirty="0">
                <a:solidFill>
                  <a:srgbClr val="F2EFDA"/>
                </a:solidFill>
                <a:latin typeface="Arial" pitchFamily="34" charset="0"/>
                <a:ea typeface="Arial" pitchFamily="34" charset="-122"/>
                <a:cs typeface="Arial" pitchFamily="34" charset="-120"/>
              </a:rPr>
              <a:t>Struktur erklärt σ — nicht φ</a:t>
            </a:r>
            <a:endParaRPr lang="en-US" sz="2500" dirty="0"/>
          </a:p>
        </p:txBody>
      </p:sp>
      <p:sp>
        <p:nvSpPr>
          <p:cNvPr id="7" name="Text 4"/>
          <p:cNvSpPr/>
          <p:nvPr/>
        </p:nvSpPr>
        <p:spPr>
          <a:xfrm>
            <a:off x="634594" y="1333195"/>
            <a:ext cx="10921594" cy="254203"/>
          </a:xfrm>
          <a:prstGeom prst="rect">
            <a:avLst/>
          </a:prstGeom>
          <a:noFill/>
          <a:ln/>
        </p:spPr>
        <p:txBody>
          <a:bodyPr wrap="square" rtlCol="0" anchor="t"/>
          <a:lstStyle/>
          <a:p>
            <a:pPr marL="0" indent="0" algn="l">
              <a:lnSpc>
                <a:spcPct val="105000"/>
              </a:lnSpc>
              <a:buNone/>
            </a:pPr>
            <a:r>
              <a:rPr lang="en-US" sz="1000" dirty="0">
                <a:solidFill>
                  <a:srgbClr val="B3BC9A"/>
                </a:solidFill>
                <a:latin typeface="Arial" pitchFamily="34" charset="0"/>
                <a:ea typeface="Arial" pitchFamily="34" charset="-122"/>
                <a:cs typeface="Arial" pitchFamily="34" charset="-120"/>
              </a:rPr>
              <a:t>Fünf Strukturvariablen: Größe · Anlagenintensität · Investitionsintensität · Profitabilitätsniveau · Periodenabgrenzungen.</a:t>
            </a:r>
            <a:endParaRPr lang="en-US" sz="1000" dirty="0"/>
          </a:p>
        </p:txBody>
      </p:sp>
      <p:sp>
        <p:nvSpPr>
          <p:cNvPr id="8" name="Text 5"/>
          <p:cNvSpPr/>
          <p:nvPr/>
        </p:nvSpPr>
        <p:spPr>
          <a:xfrm>
            <a:off x="634594" y="1904695"/>
            <a:ext cx="4444898" cy="254203"/>
          </a:xfrm>
          <a:prstGeom prst="rect">
            <a:avLst/>
          </a:prstGeom>
          <a:noFill/>
          <a:ln/>
        </p:spPr>
        <p:txBody>
          <a:bodyPr wrap="square" rtlCol="0" anchor="t"/>
          <a:lstStyle/>
          <a:p>
            <a:pPr marL="0" indent="0" algn="l">
              <a:lnSpc>
                <a:spcPct val="105000"/>
              </a:lnSpc>
              <a:buNone/>
            </a:pPr>
            <a:r>
              <a:rPr lang="en-US" sz="1200" b="1" dirty="0">
                <a:solidFill>
                  <a:srgbClr val="79A2F9"/>
                </a:solidFill>
                <a:latin typeface="Courier New" pitchFamily="34" charset="0"/>
                <a:ea typeface="Courier New" pitchFamily="34" charset="-122"/>
                <a:cs typeface="Courier New" pitchFamily="34" charset="-120"/>
              </a:rPr>
              <a:t xml:space="preserve">σ  </a:t>
            </a:r>
            <a:r>
              <a:rPr lang="en-US" sz="1200" b="1" dirty="0">
                <a:solidFill>
                  <a:srgbClr val="F2EFDA"/>
                </a:solidFill>
                <a:latin typeface="Arial" pitchFamily="34" charset="0"/>
                <a:ea typeface="Arial" pitchFamily="34" charset="-122"/>
                <a:cs typeface="Arial" pitchFamily="34" charset="-120"/>
              </a:rPr>
              <a:t>Volatilität — erklärt</a:t>
            </a:r>
            <a:endParaRPr lang="en-US" sz="1200" dirty="0"/>
          </a:p>
        </p:txBody>
      </p:sp>
      <p:sp>
        <p:nvSpPr>
          <p:cNvPr id="9" name="Text 6"/>
          <p:cNvSpPr/>
          <p:nvPr/>
        </p:nvSpPr>
        <p:spPr>
          <a:xfrm>
            <a:off x="4826203" y="1873606"/>
            <a:ext cx="2286000" cy="317297"/>
          </a:xfrm>
          <a:prstGeom prst="rect">
            <a:avLst/>
          </a:prstGeom>
          <a:noFill/>
          <a:ln/>
        </p:spPr>
        <p:txBody>
          <a:bodyPr wrap="square" rtlCol="0" anchor="t"/>
          <a:lstStyle/>
          <a:p>
            <a:pPr marL="0" indent="0" algn="r">
              <a:lnSpc>
                <a:spcPct val="105000"/>
              </a:lnSpc>
              <a:buNone/>
            </a:pPr>
            <a:r>
              <a:rPr lang="en-US" sz="2400" b="1" dirty="0">
                <a:solidFill>
                  <a:srgbClr val="79A2F9"/>
                </a:solidFill>
                <a:latin typeface="Courier New" pitchFamily="34" charset="0"/>
                <a:ea typeface="Courier New" pitchFamily="34" charset="-122"/>
                <a:cs typeface="Courier New" pitchFamily="34" charset="-120"/>
              </a:rPr>
              <a:t>≈ 30 %</a:t>
            </a:r>
            <a:endParaRPr lang="en-US" sz="2400" dirty="0"/>
          </a:p>
        </p:txBody>
      </p:sp>
      <p:sp>
        <p:nvSpPr>
          <p:cNvPr id="10" name="Shape 7"/>
          <p:cNvSpPr/>
          <p:nvPr/>
        </p:nvSpPr>
        <p:spPr>
          <a:xfrm>
            <a:off x="634594" y="2286000"/>
            <a:ext cx="6476695" cy="241402"/>
          </a:xfrm>
          <a:prstGeom prst="roundRect">
            <a:avLst>
              <a:gd name="adj" fmla="val 21212"/>
            </a:avLst>
          </a:prstGeom>
          <a:solidFill>
            <a:srgbClr val="072013"/>
          </a:solidFill>
          <a:ln/>
        </p:spPr>
        <p:txBody>
          <a:bodyPr/>
          <a:lstStyle/>
          <a:p>
            <a:endParaRPr lang="de-DE"/>
          </a:p>
        </p:txBody>
      </p:sp>
      <p:sp>
        <p:nvSpPr>
          <p:cNvPr id="11" name="Shape 8"/>
          <p:cNvSpPr/>
          <p:nvPr/>
        </p:nvSpPr>
        <p:spPr>
          <a:xfrm>
            <a:off x="634594" y="2286000"/>
            <a:ext cx="1943100" cy="241402"/>
          </a:xfrm>
          <a:prstGeom prst="roundRect">
            <a:avLst>
              <a:gd name="adj" fmla="val 21212"/>
            </a:avLst>
          </a:prstGeom>
          <a:solidFill>
            <a:srgbClr val="79A2F9"/>
          </a:solidFill>
          <a:ln/>
        </p:spPr>
        <p:txBody>
          <a:bodyPr/>
          <a:lstStyle/>
          <a:p>
            <a:endParaRPr lang="de-DE"/>
          </a:p>
        </p:txBody>
      </p:sp>
      <p:sp>
        <p:nvSpPr>
          <p:cNvPr id="12" name="Text 9"/>
          <p:cNvSpPr/>
          <p:nvPr/>
        </p:nvSpPr>
        <p:spPr>
          <a:xfrm>
            <a:off x="634594" y="2590495"/>
            <a:ext cx="4444898" cy="190195"/>
          </a:xfrm>
          <a:prstGeom prst="rect">
            <a:avLst/>
          </a:prstGeom>
          <a:noFill/>
          <a:ln/>
        </p:spPr>
        <p:txBody>
          <a:bodyPr wrap="square" rtlCol="0" anchor="t"/>
          <a:lstStyle/>
          <a:p>
            <a:pPr marL="0" indent="0" algn="l">
              <a:lnSpc>
                <a:spcPct val="105000"/>
              </a:lnSpc>
              <a:buNone/>
            </a:pPr>
            <a:r>
              <a:rPr lang="en-US" sz="900" dirty="0">
                <a:solidFill>
                  <a:srgbClr val="798D6F"/>
                </a:solidFill>
                <a:latin typeface="Arial" pitchFamily="34" charset="0"/>
                <a:ea typeface="Arial" pitchFamily="34" charset="-122"/>
                <a:cs typeface="Arial" pitchFamily="34" charset="-120"/>
              </a:rPr>
              <a:t>Bei der FCF-Marge bis 49 %.</a:t>
            </a:r>
            <a:endParaRPr lang="en-US" sz="900" dirty="0"/>
          </a:p>
        </p:txBody>
      </p:sp>
      <p:sp>
        <p:nvSpPr>
          <p:cNvPr id="13" name="Text 10"/>
          <p:cNvSpPr/>
          <p:nvPr/>
        </p:nvSpPr>
        <p:spPr>
          <a:xfrm>
            <a:off x="634594" y="3174797"/>
            <a:ext cx="5715000" cy="254203"/>
          </a:xfrm>
          <a:prstGeom prst="rect">
            <a:avLst/>
          </a:prstGeom>
          <a:noFill/>
          <a:ln/>
        </p:spPr>
        <p:txBody>
          <a:bodyPr wrap="square" rtlCol="0" anchor="t"/>
          <a:lstStyle/>
          <a:p>
            <a:pPr marL="0" indent="0" algn="l">
              <a:lnSpc>
                <a:spcPct val="105000"/>
              </a:lnSpc>
              <a:buNone/>
            </a:pPr>
            <a:r>
              <a:rPr lang="en-US" sz="1200" b="1" dirty="0">
                <a:solidFill>
                  <a:srgbClr val="B3BC9A"/>
                </a:solidFill>
                <a:latin typeface="Courier New" pitchFamily="34" charset="0"/>
                <a:ea typeface="Courier New" pitchFamily="34" charset="-122"/>
                <a:cs typeface="Courier New" pitchFamily="34" charset="-120"/>
              </a:rPr>
              <a:t xml:space="preserve">φ  </a:t>
            </a:r>
            <a:r>
              <a:rPr lang="en-US" sz="1200" b="1" dirty="0">
                <a:solidFill>
                  <a:srgbClr val="B3BC9A"/>
                </a:solidFill>
                <a:latin typeface="Arial" pitchFamily="34" charset="0"/>
                <a:ea typeface="Arial" pitchFamily="34" charset="-122"/>
                <a:cs typeface="Arial" pitchFamily="34" charset="-120"/>
              </a:rPr>
              <a:t>Korrekturgeschwindigkeit — erklärt</a:t>
            </a:r>
            <a:endParaRPr lang="en-US" sz="1200" dirty="0"/>
          </a:p>
        </p:txBody>
      </p:sp>
      <p:sp>
        <p:nvSpPr>
          <p:cNvPr id="14" name="Text 11"/>
          <p:cNvSpPr/>
          <p:nvPr/>
        </p:nvSpPr>
        <p:spPr>
          <a:xfrm>
            <a:off x="4826203" y="3142793"/>
            <a:ext cx="2286000" cy="317297"/>
          </a:xfrm>
          <a:prstGeom prst="rect">
            <a:avLst/>
          </a:prstGeom>
          <a:noFill/>
          <a:ln/>
        </p:spPr>
        <p:txBody>
          <a:bodyPr wrap="square" rtlCol="0" anchor="t"/>
          <a:lstStyle/>
          <a:p>
            <a:pPr marL="0" indent="0" algn="r">
              <a:lnSpc>
                <a:spcPct val="105000"/>
              </a:lnSpc>
              <a:buNone/>
            </a:pPr>
            <a:r>
              <a:rPr lang="en-US" sz="2400" b="1" dirty="0">
                <a:solidFill>
                  <a:srgbClr val="B3BC9A"/>
                </a:solidFill>
                <a:latin typeface="Courier New" pitchFamily="34" charset="0"/>
                <a:ea typeface="Courier New" pitchFamily="34" charset="-122"/>
                <a:cs typeface="Courier New" pitchFamily="34" charset="-120"/>
              </a:rPr>
              <a:t>≈ 5 %</a:t>
            </a:r>
            <a:endParaRPr lang="en-US" sz="2400" dirty="0"/>
          </a:p>
        </p:txBody>
      </p:sp>
      <p:sp>
        <p:nvSpPr>
          <p:cNvPr id="15" name="Shape 12"/>
          <p:cNvSpPr/>
          <p:nvPr/>
        </p:nvSpPr>
        <p:spPr>
          <a:xfrm>
            <a:off x="634594" y="3556102"/>
            <a:ext cx="6476695" cy="241402"/>
          </a:xfrm>
          <a:prstGeom prst="roundRect">
            <a:avLst>
              <a:gd name="adj" fmla="val 21212"/>
            </a:avLst>
          </a:prstGeom>
          <a:solidFill>
            <a:srgbClr val="072013"/>
          </a:solidFill>
          <a:ln/>
        </p:spPr>
        <p:txBody>
          <a:bodyPr/>
          <a:lstStyle/>
          <a:p>
            <a:endParaRPr lang="de-DE"/>
          </a:p>
        </p:txBody>
      </p:sp>
      <p:sp>
        <p:nvSpPr>
          <p:cNvPr id="16" name="Shape 13"/>
          <p:cNvSpPr/>
          <p:nvPr/>
        </p:nvSpPr>
        <p:spPr>
          <a:xfrm>
            <a:off x="634594" y="3556102"/>
            <a:ext cx="323698" cy="241402"/>
          </a:xfrm>
          <a:prstGeom prst="roundRect">
            <a:avLst>
              <a:gd name="adj" fmla="val 21212"/>
            </a:avLst>
          </a:prstGeom>
          <a:solidFill>
            <a:srgbClr val="B3BC9A"/>
          </a:solidFill>
          <a:ln/>
        </p:spPr>
        <p:txBody>
          <a:bodyPr/>
          <a:lstStyle/>
          <a:p>
            <a:endParaRPr lang="de-DE"/>
          </a:p>
        </p:txBody>
      </p:sp>
      <p:sp>
        <p:nvSpPr>
          <p:cNvPr id="17" name="Text 14"/>
          <p:cNvSpPr/>
          <p:nvPr/>
        </p:nvSpPr>
        <p:spPr>
          <a:xfrm>
            <a:off x="634594" y="3860597"/>
            <a:ext cx="5715000" cy="190195"/>
          </a:xfrm>
          <a:prstGeom prst="rect">
            <a:avLst/>
          </a:prstGeom>
          <a:noFill/>
          <a:ln/>
        </p:spPr>
        <p:txBody>
          <a:bodyPr wrap="square" rtlCol="0" anchor="t"/>
          <a:lstStyle/>
          <a:p>
            <a:pPr marL="0" indent="0" algn="l">
              <a:lnSpc>
                <a:spcPct val="105000"/>
              </a:lnSpc>
              <a:buNone/>
            </a:pPr>
            <a:r>
              <a:rPr lang="en-US" sz="900" dirty="0">
                <a:solidFill>
                  <a:srgbClr val="798D6F"/>
                </a:solidFill>
                <a:latin typeface="Arial" pitchFamily="34" charset="0"/>
                <a:ea typeface="Arial" pitchFamily="34" charset="-122"/>
                <a:cs typeface="Arial" pitchFamily="34" charset="-120"/>
              </a:rPr>
              <a:t>φ bleibt idiosynkratisch — ein eigenständiges Firmenmerkmal.</a:t>
            </a:r>
            <a:endParaRPr lang="en-US" sz="900" dirty="0"/>
          </a:p>
        </p:txBody>
      </p:sp>
      <p:sp>
        <p:nvSpPr>
          <p:cNvPr id="18" name="Shape 15"/>
          <p:cNvSpPr/>
          <p:nvPr/>
        </p:nvSpPr>
        <p:spPr>
          <a:xfrm>
            <a:off x="7619695" y="1904695"/>
            <a:ext cx="3936492" cy="1015898"/>
          </a:xfrm>
          <a:prstGeom prst="roundRect">
            <a:avLst>
              <a:gd name="adj" fmla="val 9991"/>
            </a:avLst>
          </a:prstGeom>
          <a:solidFill>
            <a:srgbClr val="1E402E"/>
          </a:solidFill>
          <a:ln w="12700">
            <a:solidFill>
              <a:srgbClr val="79A2F9"/>
            </a:solidFill>
            <a:prstDash val="solid"/>
          </a:ln>
        </p:spPr>
        <p:txBody>
          <a:bodyPr/>
          <a:lstStyle/>
          <a:p>
            <a:endParaRPr lang="de-DE"/>
          </a:p>
        </p:txBody>
      </p:sp>
      <p:sp>
        <p:nvSpPr>
          <p:cNvPr id="19" name="Text 16"/>
          <p:cNvSpPr/>
          <p:nvPr/>
        </p:nvSpPr>
        <p:spPr>
          <a:xfrm>
            <a:off x="7822692" y="2070202"/>
            <a:ext cx="3556102" cy="254203"/>
          </a:xfrm>
          <a:prstGeom prst="rect">
            <a:avLst/>
          </a:prstGeom>
          <a:noFill/>
          <a:ln/>
        </p:spPr>
        <p:txBody>
          <a:bodyPr wrap="square" rtlCol="0" anchor="t"/>
          <a:lstStyle/>
          <a:p>
            <a:pPr marL="0" indent="0" algn="l">
              <a:lnSpc>
                <a:spcPct val="105000"/>
              </a:lnSpc>
              <a:buNone/>
            </a:pPr>
            <a:r>
              <a:rPr lang="en-US" sz="1400" b="1" dirty="0">
                <a:solidFill>
                  <a:srgbClr val="79A2F9"/>
                </a:solidFill>
                <a:latin typeface="Courier New" pitchFamily="34" charset="0"/>
                <a:ea typeface="Courier New" pitchFamily="34" charset="-122"/>
                <a:cs typeface="Courier New" pitchFamily="34" charset="-120"/>
              </a:rPr>
              <a:t>σ = Exposition</a:t>
            </a:r>
            <a:endParaRPr lang="en-US" sz="1400" dirty="0"/>
          </a:p>
        </p:txBody>
      </p:sp>
      <p:sp>
        <p:nvSpPr>
          <p:cNvPr id="20" name="Text 17"/>
          <p:cNvSpPr/>
          <p:nvPr/>
        </p:nvSpPr>
        <p:spPr>
          <a:xfrm>
            <a:off x="7822692" y="2387498"/>
            <a:ext cx="3530498" cy="444398"/>
          </a:xfrm>
          <a:prstGeom prst="rect">
            <a:avLst/>
          </a:prstGeom>
          <a:noFill/>
          <a:ln/>
        </p:spPr>
        <p:txBody>
          <a:bodyPr wrap="square" rtlCol="0" anchor="t"/>
          <a:lstStyle/>
          <a:p>
            <a:pPr marL="0" indent="0" algn="l">
              <a:lnSpc>
                <a:spcPct val="125000"/>
              </a:lnSpc>
              <a:buNone/>
            </a:pPr>
            <a:r>
              <a:rPr lang="en-US" sz="1100" dirty="0">
                <a:solidFill>
                  <a:srgbClr val="B3BC9A"/>
                </a:solidFill>
                <a:latin typeface="Arial" pitchFamily="34" charset="0"/>
                <a:ea typeface="Arial" pitchFamily="34" charset="-122"/>
                <a:cs typeface="Arial" pitchFamily="34" charset="-120"/>
              </a:rPr>
              <a:t>Was ein Unternehmen ist, bestimmt die Größe der Schocks, die es treffen.</a:t>
            </a:r>
            <a:endParaRPr lang="en-US" sz="1100" dirty="0"/>
          </a:p>
        </p:txBody>
      </p:sp>
      <p:sp>
        <p:nvSpPr>
          <p:cNvPr id="21" name="Shape 18"/>
          <p:cNvSpPr/>
          <p:nvPr/>
        </p:nvSpPr>
        <p:spPr>
          <a:xfrm>
            <a:off x="7619695" y="3111703"/>
            <a:ext cx="3936492" cy="1015898"/>
          </a:xfrm>
          <a:prstGeom prst="roundRect">
            <a:avLst>
              <a:gd name="adj" fmla="val 9991"/>
            </a:avLst>
          </a:prstGeom>
          <a:solidFill>
            <a:srgbClr val="153B29"/>
          </a:solidFill>
          <a:ln w="12700">
            <a:solidFill>
              <a:srgbClr val="2B513D"/>
            </a:solidFill>
            <a:prstDash val="solid"/>
          </a:ln>
        </p:spPr>
        <p:txBody>
          <a:bodyPr/>
          <a:lstStyle/>
          <a:p>
            <a:endParaRPr lang="de-DE"/>
          </a:p>
        </p:txBody>
      </p:sp>
      <p:sp>
        <p:nvSpPr>
          <p:cNvPr id="22" name="Text 19"/>
          <p:cNvSpPr/>
          <p:nvPr/>
        </p:nvSpPr>
        <p:spPr>
          <a:xfrm>
            <a:off x="7822692" y="3276295"/>
            <a:ext cx="3556102" cy="254203"/>
          </a:xfrm>
          <a:prstGeom prst="rect">
            <a:avLst/>
          </a:prstGeom>
          <a:noFill/>
          <a:ln/>
        </p:spPr>
        <p:txBody>
          <a:bodyPr wrap="square" rtlCol="0" anchor="t"/>
          <a:lstStyle/>
          <a:p>
            <a:pPr marL="0" indent="0" algn="l">
              <a:lnSpc>
                <a:spcPct val="105000"/>
              </a:lnSpc>
              <a:buNone/>
            </a:pPr>
            <a:r>
              <a:rPr lang="en-US" sz="1400" b="1" dirty="0">
                <a:solidFill>
                  <a:srgbClr val="E6D34F"/>
                </a:solidFill>
                <a:latin typeface="Courier New" pitchFamily="34" charset="0"/>
                <a:ea typeface="Courier New" pitchFamily="34" charset="-122"/>
                <a:cs typeface="Courier New" pitchFamily="34" charset="-120"/>
              </a:rPr>
              <a:t>φ = Reaktion</a:t>
            </a:r>
            <a:endParaRPr lang="en-US" sz="1400" dirty="0"/>
          </a:p>
        </p:txBody>
      </p:sp>
      <p:sp>
        <p:nvSpPr>
          <p:cNvPr id="23" name="Text 20"/>
          <p:cNvSpPr/>
          <p:nvPr/>
        </p:nvSpPr>
        <p:spPr>
          <a:xfrm>
            <a:off x="7822692" y="3593592"/>
            <a:ext cx="3530498" cy="444398"/>
          </a:xfrm>
          <a:prstGeom prst="rect">
            <a:avLst/>
          </a:prstGeom>
          <a:noFill/>
          <a:ln/>
        </p:spPr>
        <p:txBody>
          <a:bodyPr wrap="square" rtlCol="0" anchor="t"/>
          <a:lstStyle/>
          <a:p>
            <a:pPr marL="0" indent="0" algn="l">
              <a:lnSpc>
                <a:spcPct val="125000"/>
              </a:lnSpc>
              <a:buNone/>
            </a:pPr>
            <a:r>
              <a:rPr lang="en-US" sz="1100" dirty="0">
                <a:solidFill>
                  <a:srgbClr val="B3BC9A"/>
                </a:solidFill>
                <a:latin typeface="Arial" pitchFamily="34" charset="0"/>
                <a:ea typeface="Arial" pitchFamily="34" charset="-122"/>
                <a:cs typeface="Arial" pitchFamily="34" charset="-120"/>
              </a:rPr>
              <a:t>Wie schnell korrigiert wird, ist wettbewerbs- und verhaltensgetrieben.</a:t>
            </a:r>
            <a:endParaRPr lang="en-US" sz="1100" dirty="0"/>
          </a:p>
        </p:txBody>
      </p:sp>
      <p:sp>
        <p:nvSpPr>
          <p:cNvPr id="3" name="Text 1">
            <a:extLst>
              <a:ext uri="{FF2B5EF4-FFF2-40B4-BE49-F238E27FC236}">
                <a16:creationId xmlns:a16="http://schemas.microsoft.com/office/drawing/2014/main" id="{A5DAD10E-645E-4386-264D-4102B2B9E5C4}"/>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FORSCHUNGSFRAGE 3</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15 / 15</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Grenzen der Arbeit — und ihr Test</a:t>
            </a:r>
            <a:endParaRPr lang="en-US" sz="2300" dirty="0"/>
          </a:p>
        </p:txBody>
      </p:sp>
      <p:sp>
        <p:nvSpPr>
          <p:cNvPr id="7" name="Shape 4"/>
          <p:cNvSpPr/>
          <p:nvPr/>
        </p:nvSpPr>
        <p:spPr>
          <a:xfrm>
            <a:off x="634594"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63194" y="1828800"/>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 xml:space="preserve">01  </a:t>
            </a:r>
            <a:r>
              <a:rPr lang="en-US" sz="1300" b="1" dirty="0">
                <a:solidFill>
                  <a:srgbClr val="F2EFDA"/>
                </a:solidFill>
                <a:latin typeface="Arial" pitchFamily="34" charset="0"/>
                <a:ea typeface="Arial" pitchFamily="34" charset="-122"/>
                <a:cs typeface="Arial" pitchFamily="34" charset="-120"/>
              </a:rPr>
              <a:t>Survivorship Bias</a:t>
            </a:r>
            <a:endParaRPr lang="en-US" sz="1300" dirty="0"/>
          </a:p>
        </p:txBody>
      </p:sp>
      <p:sp>
        <p:nvSpPr>
          <p:cNvPr id="9" name="Text 6"/>
          <p:cNvSpPr/>
          <p:nvPr/>
        </p:nvSpPr>
        <p:spPr>
          <a:xfrm>
            <a:off x="863194" y="2197303"/>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Vollständigkeitsfilter entfernt 77 % der Unternehmen. Getestet: φ-Mediane stabil bis zur 40-Quartals-Schwelle (2.356 Firmen).</a:t>
            </a:r>
            <a:endParaRPr lang="en-US" sz="1000" dirty="0"/>
          </a:p>
        </p:txBody>
      </p:sp>
      <p:sp>
        <p:nvSpPr>
          <p:cNvPr id="10" name="Shape 7"/>
          <p:cNvSpPr/>
          <p:nvPr/>
        </p:nvSpPr>
        <p:spPr>
          <a:xfrm>
            <a:off x="6222492" y="1651406"/>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1" name="Text 8"/>
          <p:cNvSpPr/>
          <p:nvPr/>
        </p:nvSpPr>
        <p:spPr>
          <a:xfrm>
            <a:off x="6451092" y="1828800"/>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 xml:space="preserve">02  </a:t>
            </a:r>
            <a:r>
              <a:rPr lang="en-US" sz="1300" b="1" dirty="0">
                <a:solidFill>
                  <a:srgbClr val="F2EFDA"/>
                </a:solidFill>
                <a:latin typeface="Arial" pitchFamily="34" charset="0"/>
                <a:ea typeface="Arial" pitchFamily="34" charset="-122"/>
                <a:cs typeface="Arial" pitchFamily="34" charset="-120"/>
              </a:rPr>
              <a:t>Differenzen-Konvention</a:t>
            </a:r>
            <a:endParaRPr lang="en-US" sz="1300" dirty="0"/>
          </a:p>
        </p:txBody>
      </p:sp>
      <p:sp>
        <p:nvSpPr>
          <p:cNvPr id="12" name="Text 9"/>
          <p:cNvSpPr/>
          <p:nvPr/>
        </p:nvSpPr>
        <p:spPr>
          <a:xfrm>
            <a:off x="6451092" y="2197303"/>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φ misst Veränderungs-Autokorrelation, nicht Niveau-Persistenz. Entscheidend ist die Spreizung zwischen den Kennzahlen — und die ist ökonomisch.</a:t>
            </a:r>
            <a:endParaRPr lang="en-US" sz="1000" dirty="0"/>
          </a:p>
        </p:txBody>
      </p:sp>
      <p:sp>
        <p:nvSpPr>
          <p:cNvPr id="13" name="Shape 10"/>
          <p:cNvSpPr/>
          <p:nvPr/>
        </p:nvSpPr>
        <p:spPr>
          <a:xfrm>
            <a:off x="634594"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4" name="Text 11"/>
          <p:cNvSpPr/>
          <p:nvPr/>
        </p:nvSpPr>
        <p:spPr>
          <a:xfrm>
            <a:off x="863194" y="3720694"/>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 xml:space="preserve">03  </a:t>
            </a:r>
            <a:r>
              <a:rPr lang="en-US" sz="1300" b="1" dirty="0">
                <a:solidFill>
                  <a:srgbClr val="F2EFDA"/>
                </a:solidFill>
                <a:latin typeface="Arial" pitchFamily="34" charset="0"/>
                <a:ea typeface="Arial" pitchFamily="34" charset="-122"/>
                <a:cs typeface="Arial" pitchFamily="34" charset="-120"/>
              </a:rPr>
              <a:t>In-Sample-Charakter</a:t>
            </a:r>
            <a:endParaRPr lang="en-US" sz="1300" dirty="0"/>
          </a:p>
        </p:txBody>
      </p:sp>
      <p:sp>
        <p:nvSpPr>
          <p:cNvPr id="15" name="Text 12"/>
          <p:cNvSpPr/>
          <p:nvPr/>
        </p:nvSpPr>
        <p:spPr>
          <a:xfrm>
            <a:off x="863194" y="4089197"/>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Quadranten und Krisentest nutzen denselben Zeitraum. Als Konsistenzprüfung deklariert; Out-of-Sample-Test als nächster Schritt.</a:t>
            </a:r>
            <a:endParaRPr lang="en-US" sz="1000" dirty="0"/>
          </a:p>
        </p:txBody>
      </p:sp>
      <p:sp>
        <p:nvSpPr>
          <p:cNvPr id="16" name="Shape 13"/>
          <p:cNvSpPr/>
          <p:nvPr/>
        </p:nvSpPr>
        <p:spPr>
          <a:xfrm>
            <a:off x="6222492" y="3543300"/>
            <a:ext cx="5333695" cy="1765706"/>
          </a:xfrm>
          <a:prstGeom prst="roundRect">
            <a:avLst>
              <a:gd name="adj" fmla="val 5748"/>
            </a:avLst>
          </a:prstGeom>
          <a:solidFill>
            <a:srgbClr val="1E402E"/>
          </a:solidFill>
          <a:ln w="12700">
            <a:solidFill>
              <a:srgbClr val="4A6D56"/>
            </a:solidFill>
            <a:prstDash val="solid"/>
          </a:ln>
        </p:spPr>
        <p:txBody>
          <a:bodyPr/>
          <a:lstStyle/>
          <a:p>
            <a:endParaRPr lang="de-DE"/>
          </a:p>
        </p:txBody>
      </p:sp>
      <p:sp>
        <p:nvSpPr>
          <p:cNvPr id="17" name="Text 14"/>
          <p:cNvSpPr/>
          <p:nvPr/>
        </p:nvSpPr>
        <p:spPr>
          <a:xfrm>
            <a:off x="6451092" y="3720694"/>
            <a:ext cx="4876495" cy="254203"/>
          </a:xfrm>
          <a:prstGeom prst="rect">
            <a:avLst/>
          </a:prstGeom>
          <a:noFill/>
          <a:ln/>
        </p:spPr>
        <p:txBody>
          <a:bodyPr wrap="square" rtlCol="0" anchor="t"/>
          <a:lstStyle/>
          <a:p>
            <a:pPr marL="0" indent="0" algn="l">
              <a:lnSpc>
                <a:spcPct val="105000"/>
              </a:lnSpc>
              <a:buNone/>
            </a:pPr>
            <a:r>
              <a:rPr lang="en-US" sz="1300" b="1" dirty="0">
                <a:solidFill>
                  <a:srgbClr val="E6D34F"/>
                </a:solidFill>
                <a:latin typeface="Courier New" pitchFamily="34" charset="0"/>
                <a:ea typeface="Courier New" pitchFamily="34" charset="-122"/>
                <a:cs typeface="Courier New" pitchFamily="34" charset="-120"/>
              </a:rPr>
              <a:t xml:space="preserve">04  </a:t>
            </a:r>
            <a:r>
              <a:rPr lang="en-US" sz="1300" b="1" dirty="0">
                <a:solidFill>
                  <a:srgbClr val="F2EFDA"/>
                </a:solidFill>
                <a:latin typeface="Arial" pitchFamily="34" charset="0"/>
                <a:ea typeface="Arial" pitchFamily="34" charset="-122"/>
                <a:cs typeface="Arial" pitchFamily="34" charset="-120"/>
              </a:rPr>
              <a:t>Geltungsbereich</a:t>
            </a:r>
            <a:endParaRPr lang="en-US" sz="1300" dirty="0"/>
          </a:p>
        </p:txBody>
      </p:sp>
      <p:sp>
        <p:nvSpPr>
          <p:cNvPr id="18" name="Text 15"/>
          <p:cNvSpPr/>
          <p:nvPr/>
        </p:nvSpPr>
        <p:spPr>
          <a:xfrm>
            <a:off x="6451092" y="4089197"/>
            <a:ext cx="4876495" cy="1079906"/>
          </a:xfrm>
          <a:prstGeom prst="rect">
            <a:avLst/>
          </a:prstGeom>
          <a:noFill/>
          <a:ln/>
        </p:spPr>
        <p:txBody>
          <a:bodyPr wrap="square" rtlCol="0" anchor="t"/>
          <a:lstStyle/>
          <a:p>
            <a:pPr marL="0" indent="0" algn="l">
              <a:lnSpc>
                <a:spcPct val="135000"/>
              </a:lnSpc>
              <a:buNone/>
            </a:pPr>
            <a:r>
              <a:rPr lang="en-US" sz="1000" dirty="0">
                <a:solidFill>
                  <a:srgbClr val="B3BC9A"/>
                </a:solidFill>
                <a:latin typeface="Arial" pitchFamily="34" charset="0"/>
                <a:ea typeface="Arial" pitchFamily="34" charset="-122"/>
                <a:cs typeface="Arial" pitchFamily="34" charset="-120"/>
              </a:rPr>
              <a:t>Etablierte US-Unternehmen, Quartalsfrequenz. Effekte unterhalb eines Quartals und andere Märkte bleiben offen.</a:t>
            </a:r>
            <a:endParaRPr lang="en-US" sz="1000" dirty="0"/>
          </a:p>
        </p:txBody>
      </p:sp>
      <p:sp>
        <p:nvSpPr>
          <p:cNvPr id="3" name="Text 13">
            <a:extLst>
              <a:ext uri="{FF2B5EF4-FFF2-40B4-BE49-F238E27FC236}">
                <a16:creationId xmlns:a16="http://schemas.microsoft.com/office/drawing/2014/main" id="{15A27E08-90AA-E0DD-1480-57D1B6BF572F}"/>
              </a:ext>
            </a:extLst>
          </p:cNvPr>
          <p:cNvSpPr/>
          <p:nvPr/>
        </p:nvSpPr>
        <p:spPr>
          <a:xfrm>
            <a:off x="634594" y="5842102"/>
            <a:ext cx="10921594" cy="254203"/>
          </a:xfrm>
          <a:prstGeom prst="rect">
            <a:avLst/>
          </a:prstGeom>
          <a:noFill/>
          <a:ln/>
        </p:spPr>
        <p:txBody>
          <a:bodyPr wrap="square" rtlCol="0" anchor="t"/>
          <a:lstStyle/>
          <a:p>
            <a:pPr marL="0" indent="0" algn="l">
              <a:lnSpc>
                <a:spcPct val="105000"/>
              </a:lnSpc>
              <a:buNone/>
            </a:pPr>
            <a:r>
              <a:rPr lang="en-US" sz="900" b="1" kern="0" spc="200" dirty="0">
                <a:solidFill>
                  <a:srgbClr val="798D6F"/>
                </a:solidFill>
                <a:latin typeface="Courier New" pitchFamily="34" charset="0"/>
                <a:ea typeface="Courier New" pitchFamily="34" charset="-122"/>
                <a:cs typeface="Courier New" pitchFamily="34" charset="-120"/>
              </a:rPr>
              <a:t xml:space="preserve">AUSBLCK   </a:t>
            </a:r>
            <a:r>
              <a:rPr lang="en-US" sz="900" dirty="0">
                <a:solidFill>
                  <a:srgbClr val="B3BC9A"/>
                </a:solidFill>
                <a:latin typeface="Arial" pitchFamily="34" charset="0"/>
                <a:ea typeface="Arial" pitchFamily="34" charset="-122"/>
                <a:cs typeface="Arial" pitchFamily="34" charset="-120"/>
              </a:rPr>
              <a:t>Out-of-Sample-Test der Quadranten · Lead-Lag auf AR-Residuen · höhere Datenfrequenz · Märkte jenseits der USA</a:t>
            </a:r>
            <a:endParaRPr lang="en-US" sz="900" dirty="0"/>
          </a:p>
        </p:txBody>
      </p:sp>
      <p:sp>
        <p:nvSpPr>
          <p:cNvPr id="19" name="Text 1">
            <a:extLst>
              <a:ext uri="{FF2B5EF4-FFF2-40B4-BE49-F238E27FC236}">
                <a16:creationId xmlns:a16="http://schemas.microsoft.com/office/drawing/2014/main" id="{EFE3FEAF-AB28-0A24-084B-66A566755EC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LIMITATION UND AUSBLICK</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38405"/>
          </a:xfrm>
          <a:prstGeom prst="rect">
            <a:avLst/>
          </a:prstGeom>
          <a:solidFill>
            <a:srgbClr val="DBDEE2"/>
          </a:solidFill>
          <a:ln/>
        </p:spPr>
        <p:txBody>
          <a:bodyPr/>
          <a:lstStyle/>
          <a:p>
            <a:endParaRPr lang="de-DE"/>
          </a:p>
        </p:txBody>
      </p:sp>
      <p:sp>
        <p:nvSpPr>
          <p:cNvPr id="5" name="Text 2"/>
          <p:cNvSpPr/>
          <p:nvPr/>
        </p:nvSpPr>
        <p:spPr>
          <a:xfrm>
            <a:off x="9651492" y="291694"/>
            <a:ext cx="1904695" cy="215798"/>
          </a:xfrm>
          <a:prstGeom prst="rect">
            <a:avLst/>
          </a:prstGeom>
          <a:noFill/>
          <a:ln/>
        </p:spPr>
        <p:txBody>
          <a:bodyPr wrap="square" rtlCol="0" anchor="ctr"/>
          <a:lstStyle/>
          <a:p>
            <a:pPr marL="0" indent="0" algn="r">
              <a:buNone/>
            </a:pPr>
            <a:r>
              <a:rPr lang="en-US" sz="1200" dirty="0">
                <a:solidFill>
                  <a:srgbClr val="798D6F"/>
                </a:solidFill>
                <a:latin typeface="Courier New" pitchFamily="34" charset="0"/>
                <a:ea typeface="Courier New" pitchFamily="34" charset="-122"/>
                <a:cs typeface="Courier New" pitchFamily="34" charset="-120"/>
              </a:rPr>
              <a:t>B1</a:t>
            </a:r>
            <a:endParaRPr lang="en-US" sz="1200" dirty="0"/>
          </a:p>
        </p:txBody>
      </p:sp>
      <p:sp>
        <p:nvSpPr>
          <p:cNvPr id="6" name="Text 3"/>
          <p:cNvSpPr/>
          <p:nvPr/>
        </p:nvSpPr>
        <p:spPr>
          <a:xfrm>
            <a:off x="634594" y="761695"/>
            <a:ext cx="10921594" cy="437998"/>
          </a:xfrm>
          <a:prstGeom prst="rect">
            <a:avLst/>
          </a:prstGeom>
          <a:noFill/>
          <a:ln/>
        </p:spPr>
        <p:txBody>
          <a:bodyPr wrap="square" rtlCol="0" anchor="t"/>
          <a:lstStyle/>
          <a:p>
            <a:pPr marL="0" indent="0">
              <a:lnSpc>
                <a:spcPct val="100000"/>
              </a:lnSpc>
              <a:buNone/>
            </a:pPr>
            <a:r>
              <a:rPr lang="en-US" sz="2300" b="1" kern="0" spc="-50" dirty="0">
                <a:solidFill>
                  <a:srgbClr val="F2EFDA"/>
                </a:solidFill>
                <a:latin typeface="Arial" pitchFamily="34" charset="0"/>
                <a:ea typeface="Arial" pitchFamily="34" charset="-122"/>
                <a:cs typeface="Arial" pitchFamily="34" charset="-120"/>
              </a:rPr>
              <a:t>Falsifikation &amp; Finanzdienstleister-Kontrast</a:t>
            </a:r>
            <a:endParaRPr lang="en-US" sz="2300" dirty="0"/>
          </a:p>
        </p:txBody>
      </p:sp>
      <p:sp>
        <p:nvSpPr>
          <p:cNvPr id="7" name="Shape 4"/>
          <p:cNvSpPr/>
          <p:nvPr/>
        </p:nvSpPr>
        <p:spPr>
          <a:xfrm>
            <a:off x="634594" y="1651406"/>
            <a:ext cx="5969203" cy="3683203"/>
          </a:xfrm>
          <a:prstGeom prst="roundRect">
            <a:avLst>
              <a:gd name="adj" fmla="val 2756"/>
            </a:avLst>
          </a:prstGeom>
          <a:solidFill>
            <a:srgbClr val="1E402E"/>
          </a:solidFill>
          <a:ln w="12700">
            <a:solidFill>
              <a:srgbClr val="4A6D56"/>
            </a:solidFill>
            <a:prstDash val="solid"/>
          </a:ln>
        </p:spPr>
        <p:txBody>
          <a:bodyPr/>
          <a:lstStyle/>
          <a:p>
            <a:endParaRPr lang="de-DE"/>
          </a:p>
        </p:txBody>
      </p:sp>
      <p:sp>
        <p:nvSpPr>
          <p:cNvPr id="8" name="Text 5"/>
          <p:cNvSpPr/>
          <p:nvPr/>
        </p:nvSpPr>
        <p:spPr>
          <a:xfrm>
            <a:off x="888797" y="1841602"/>
            <a:ext cx="5460797" cy="190195"/>
          </a:xfrm>
          <a:prstGeom prst="rect">
            <a:avLst/>
          </a:prstGeom>
          <a:noFill/>
          <a:ln/>
        </p:spPr>
        <p:txBody>
          <a:bodyPr wrap="square" rtlCol="0" anchor="t"/>
          <a:lstStyle/>
          <a:p>
            <a:pPr marL="0" indent="0" algn="l">
              <a:lnSpc>
                <a:spcPct val="105000"/>
              </a:lnSpc>
              <a:buNone/>
            </a:pPr>
            <a:r>
              <a:rPr lang="en-US" sz="800" kern="0" spc="200" dirty="0">
                <a:solidFill>
                  <a:srgbClr val="E6D34F"/>
                </a:solidFill>
                <a:latin typeface="Courier New" pitchFamily="34" charset="0"/>
                <a:ea typeface="Courier New" pitchFamily="34" charset="-122"/>
                <a:cs typeface="Courier New" pitchFamily="34" charset="-120"/>
              </a:rPr>
              <a:t>CLUSTER-FALSIFIKATION (KAP. 6.2.2)</a:t>
            </a:r>
            <a:endParaRPr lang="en-US" sz="800" dirty="0"/>
          </a:p>
        </p:txBody>
      </p:sp>
      <p:sp>
        <p:nvSpPr>
          <p:cNvPr id="9" name="Text 6"/>
          <p:cNvSpPr/>
          <p:nvPr/>
        </p:nvSpPr>
        <p:spPr>
          <a:xfrm>
            <a:off x="888797" y="2107692"/>
            <a:ext cx="5460797" cy="508406"/>
          </a:xfrm>
          <a:prstGeom prst="rect">
            <a:avLst/>
          </a:prstGeom>
          <a:noFill/>
          <a:ln/>
        </p:spPr>
        <p:txBody>
          <a:bodyPr wrap="square" rtlCol="0" anchor="t"/>
          <a:lstStyle/>
          <a:p>
            <a:pPr marL="0" indent="0" algn="l">
              <a:lnSpc>
                <a:spcPct val="130000"/>
              </a:lnSpc>
              <a:buNone/>
            </a:pPr>
            <a:r>
              <a:rPr lang="en-US" sz="1100" dirty="0">
                <a:solidFill>
                  <a:srgbClr val="B3BC9A"/>
                </a:solidFill>
                <a:latin typeface="Arial" pitchFamily="34" charset="0"/>
                <a:ea typeface="Arial" pitchFamily="34" charset="-122"/>
                <a:cs typeface="Arial" pitchFamily="34" charset="-120"/>
              </a:rPr>
              <a:t>Aus jeder Sektor-Mechanik eine Vorhersage zur Quadrantenverteilung abgeleitet und die Konformität gemessen.</a:t>
            </a:r>
            <a:endParaRPr lang="en-US" sz="1100" dirty="0"/>
          </a:p>
        </p:txBody>
      </p:sp>
      <p:sp>
        <p:nvSpPr>
          <p:cNvPr id="10" name="Shape 7"/>
          <p:cNvSpPr/>
          <p:nvPr/>
        </p:nvSpPr>
        <p:spPr>
          <a:xfrm>
            <a:off x="888797"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1" name="Text 8"/>
          <p:cNvSpPr/>
          <p:nvPr/>
        </p:nvSpPr>
        <p:spPr>
          <a:xfrm>
            <a:off x="888797" y="2971800"/>
            <a:ext cx="1244498" cy="381305"/>
          </a:xfrm>
          <a:prstGeom prst="rect">
            <a:avLst/>
          </a:prstGeom>
          <a:noFill/>
          <a:ln/>
        </p:spPr>
        <p:txBody>
          <a:bodyPr wrap="square" rtlCol="0" anchor="t"/>
          <a:lstStyle/>
          <a:p>
            <a:pPr marL="0" indent="0" algn="ctr">
              <a:lnSpc>
                <a:spcPct val="105000"/>
              </a:lnSpc>
              <a:buNone/>
            </a:pPr>
            <a:r>
              <a:rPr lang="en-US" sz="1700" b="1" dirty="0">
                <a:solidFill>
                  <a:srgbClr val="3EB977"/>
                </a:solidFill>
                <a:latin typeface="Courier New" pitchFamily="34" charset="0"/>
                <a:ea typeface="Courier New" pitchFamily="34" charset="-122"/>
                <a:cs typeface="Courier New" pitchFamily="34" charset="-120"/>
              </a:rPr>
              <a:t>66 %</a:t>
            </a:r>
            <a:endParaRPr lang="en-US" sz="1700" dirty="0"/>
          </a:p>
        </p:txBody>
      </p:sp>
      <p:sp>
        <p:nvSpPr>
          <p:cNvPr id="12" name="Shape 9"/>
          <p:cNvSpPr/>
          <p:nvPr/>
        </p:nvSpPr>
        <p:spPr>
          <a:xfrm>
            <a:off x="2273198"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3" name="Text 10"/>
          <p:cNvSpPr/>
          <p:nvPr/>
        </p:nvSpPr>
        <p:spPr>
          <a:xfrm>
            <a:off x="2273198" y="2971800"/>
            <a:ext cx="1244498" cy="381305"/>
          </a:xfrm>
          <a:prstGeom prst="rect">
            <a:avLst/>
          </a:prstGeom>
          <a:noFill/>
          <a:ln/>
        </p:spPr>
        <p:txBody>
          <a:bodyPr wrap="square" rtlCol="0" anchor="t"/>
          <a:lstStyle/>
          <a:p>
            <a:pPr marL="0" indent="0" algn="ctr">
              <a:lnSpc>
                <a:spcPct val="105000"/>
              </a:lnSpc>
              <a:buNone/>
            </a:pPr>
            <a:r>
              <a:rPr lang="en-US" sz="1700" b="1" dirty="0">
                <a:solidFill>
                  <a:srgbClr val="3EB977"/>
                </a:solidFill>
                <a:latin typeface="Courier New" pitchFamily="34" charset="0"/>
                <a:ea typeface="Courier New" pitchFamily="34" charset="-122"/>
                <a:cs typeface="Courier New" pitchFamily="34" charset="-120"/>
              </a:rPr>
              <a:t>65 %</a:t>
            </a:r>
            <a:endParaRPr lang="en-US" sz="1700" dirty="0"/>
          </a:p>
        </p:txBody>
      </p:sp>
      <p:sp>
        <p:nvSpPr>
          <p:cNvPr id="14" name="Shape 11"/>
          <p:cNvSpPr/>
          <p:nvPr/>
        </p:nvSpPr>
        <p:spPr>
          <a:xfrm>
            <a:off x="3657600" y="2857500"/>
            <a:ext cx="1244498" cy="609905"/>
          </a:xfrm>
          <a:prstGeom prst="roundRect">
            <a:avLst>
              <a:gd name="adj" fmla="val 12444"/>
            </a:avLst>
          </a:prstGeom>
          <a:solidFill>
            <a:srgbClr val="3EB977">
              <a:alpha val="14000"/>
            </a:srgbClr>
          </a:solidFill>
          <a:ln w="12700">
            <a:solidFill>
              <a:srgbClr val="3EB977"/>
            </a:solidFill>
            <a:prstDash val="solid"/>
          </a:ln>
        </p:spPr>
        <p:txBody>
          <a:bodyPr/>
          <a:lstStyle/>
          <a:p>
            <a:endParaRPr lang="de-DE"/>
          </a:p>
        </p:txBody>
      </p:sp>
      <p:sp>
        <p:nvSpPr>
          <p:cNvPr id="15" name="Text 12"/>
          <p:cNvSpPr/>
          <p:nvPr/>
        </p:nvSpPr>
        <p:spPr>
          <a:xfrm>
            <a:off x="3657600" y="2971800"/>
            <a:ext cx="1244498" cy="381305"/>
          </a:xfrm>
          <a:prstGeom prst="rect">
            <a:avLst/>
          </a:prstGeom>
          <a:noFill/>
          <a:ln/>
        </p:spPr>
        <p:txBody>
          <a:bodyPr wrap="square" rtlCol="0" anchor="t"/>
          <a:lstStyle/>
          <a:p>
            <a:pPr marL="0" indent="0" algn="ctr">
              <a:lnSpc>
                <a:spcPct val="105000"/>
              </a:lnSpc>
              <a:buNone/>
            </a:pPr>
            <a:r>
              <a:rPr lang="en-US" sz="1700" b="1" dirty="0">
                <a:solidFill>
                  <a:srgbClr val="3EB977"/>
                </a:solidFill>
                <a:latin typeface="Courier New" pitchFamily="34" charset="0"/>
                <a:ea typeface="Courier New" pitchFamily="34" charset="-122"/>
                <a:cs typeface="Courier New" pitchFamily="34" charset="-120"/>
              </a:rPr>
              <a:t>60 %</a:t>
            </a:r>
            <a:endParaRPr lang="en-US" sz="1700" dirty="0"/>
          </a:p>
        </p:txBody>
      </p:sp>
      <p:sp>
        <p:nvSpPr>
          <p:cNvPr id="16" name="Shape 13"/>
          <p:cNvSpPr/>
          <p:nvPr/>
        </p:nvSpPr>
        <p:spPr>
          <a:xfrm>
            <a:off x="5042002" y="2857500"/>
            <a:ext cx="1244498" cy="609905"/>
          </a:xfrm>
          <a:prstGeom prst="roundRect">
            <a:avLst>
              <a:gd name="adj" fmla="val 12444"/>
            </a:avLst>
          </a:prstGeom>
          <a:solidFill>
            <a:srgbClr val="F36451">
              <a:alpha val="14000"/>
            </a:srgbClr>
          </a:solidFill>
          <a:ln w="12700">
            <a:solidFill>
              <a:srgbClr val="F36451"/>
            </a:solidFill>
            <a:prstDash val="solid"/>
          </a:ln>
        </p:spPr>
        <p:txBody>
          <a:bodyPr/>
          <a:lstStyle/>
          <a:p>
            <a:endParaRPr lang="de-DE"/>
          </a:p>
        </p:txBody>
      </p:sp>
      <p:sp>
        <p:nvSpPr>
          <p:cNvPr id="17" name="Text 14"/>
          <p:cNvSpPr/>
          <p:nvPr/>
        </p:nvSpPr>
        <p:spPr>
          <a:xfrm>
            <a:off x="5042002" y="2971800"/>
            <a:ext cx="1244498" cy="381305"/>
          </a:xfrm>
          <a:prstGeom prst="rect">
            <a:avLst/>
          </a:prstGeom>
          <a:noFill/>
          <a:ln/>
        </p:spPr>
        <p:txBody>
          <a:bodyPr wrap="square" rtlCol="0" anchor="t"/>
          <a:lstStyle/>
          <a:p>
            <a:pPr marL="0" indent="0" algn="ctr">
              <a:lnSpc>
                <a:spcPct val="105000"/>
              </a:lnSpc>
              <a:buNone/>
            </a:pPr>
            <a:r>
              <a:rPr lang="en-US" sz="1700" b="1" dirty="0">
                <a:solidFill>
                  <a:srgbClr val="F36451"/>
                </a:solidFill>
                <a:latin typeface="Courier New" pitchFamily="34" charset="0"/>
                <a:ea typeface="Courier New" pitchFamily="34" charset="-122"/>
                <a:cs typeface="Courier New" pitchFamily="34" charset="-120"/>
              </a:rPr>
              <a:t>43 %</a:t>
            </a:r>
            <a:endParaRPr lang="en-US" sz="1700" dirty="0"/>
          </a:p>
        </p:txBody>
      </p:sp>
      <p:sp>
        <p:nvSpPr>
          <p:cNvPr id="18" name="Text 15"/>
          <p:cNvSpPr/>
          <p:nvPr/>
        </p:nvSpPr>
        <p:spPr>
          <a:xfrm>
            <a:off x="888797" y="3810305"/>
            <a:ext cx="5460797" cy="761695"/>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 xml:space="preserve">3 von 4 Clustern bestätigt. Schwächstes Cluster </a:t>
            </a:r>
            <a:r>
              <a:rPr lang="en-US" sz="1000" b="1" dirty="0">
                <a:solidFill>
                  <a:srgbClr val="F2EFDA"/>
                </a:solidFill>
                <a:latin typeface="Arial" pitchFamily="34" charset="0"/>
                <a:ea typeface="Arial" pitchFamily="34" charset="-122"/>
                <a:cs typeface="Arial" pitchFamily="34" charset="-120"/>
              </a:rPr>
              <a:t>offen benannt</a:t>
            </a:r>
            <a:r>
              <a:rPr lang="en-US" sz="1000" dirty="0">
                <a:solidFill>
                  <a:srgbClr val="B3BC9A"/>
                </a:solidFill>
                <a:latin typeface="Arial" pitchFamily="34" charset="0"/>
                <a:ea typeface="Arial" pitchFamily="34" charset="-122"/>
                <a:cs typeface="Arial" pitchFamily="34" charset="-120"/>
              </a:rPr>
              <a:t>: Kommunikation/Energie mit 43 %.</a:t>
            </a:r>
            <a:endParaRPr lang="en-US" sz="1000" dirty="0"/>
          </a:p>
        </p:txBody>
      </p:sp>
      <p:sp>
        <p:nvSpPr>
          <p:cNvPr id="19" name="Shape 16"/>
          <p:cNvSpPr/>
          <p:nvPr/>
        </p:nvSpPr>
        <p:spPr>
          <a:xfrm>
            <a:off x="6858000" y="1651406"/>
            <a:ext cx="4699102" cy="3683203"/>
          </a:xfrm>
          <a:prstGeom prst="roundRect">
            <a:avLst>
              <a:gd name="adj" fmla="val 2756"/>
            </a:avLst>
          </a:prstGeom>
          <a:solidFill>
            <a:srgbClr val="1E402E"/>
          </a:solidFill>
          <a:ln w="12700">
            <a:solidFill>
              <a:srgbClr val="79A2F9"/>
            </a:solidFill>
            <a:prstDash val="solid"/>
          </a:ln>
        </p:spPr>
        <p:txBody>
          <a:bodyPr/>
          <a:lstStyle/>
          <a:p>
            <a:endParaRPr lang="de-DE"/>
          </a:p>
        </p:txBody>
      </p:sp>
      <p:sp>
        <p:nvSpPr>
          <p:cNvPr id="20" name="Text 17"/>
          <p:cNvSpPr/>
          <p:nvPr/>
        </p:nvSpPr>
        <p:spPr>
          <a:xfrm>
            <a:off x="7112203" y="1841602"/>
            <a:ext cx="4190695" cy="190195"/>
          </a:xfrm>
          <a:prstGeom prst="rect">
            <a:avLst/>
          </a:prstGeom>
          <a:noFill/>
          <a:ln/>
        </p:spPr>
        <p:txBody>
          <a:bodyPr wrap="square" rtlCol="0" anchor="t"/>
          <a:lstStyle/>
          <a:p>
            <a:pPr marL="0" indent="0" algn="l">
              <a:lnSpc>
                <a:spcPct val="105000"/>
              </a:lnSpc>
              <a:buNone/>
            </a:pPr>
            <a:r>
              <a:rPr lang="en-US" sz="800" kern="0" spc="200" dirty="0">
                <a:solidFill>
                  <a:srgbClr val="79A2F9"/>
                </a:solidFill>
                <a:latin typeface="Courier New" pitchFamily="34" charset="0"/>
                <a:ea typeface="Courier New" pitchFamily="34" charset="-122"/>
                <a:cs typeface="Courier New" pitchFamily="34" charset="-120"/>
              </a:rPr>
              <a:t>451 FINANZDIENSTLEISTER IM φ–σ-RAUM</a:t>
            </a:r>
            <a:endParaRPr lang="en-US" sz="800" dirty="0"/>
          </a:p>
        </p:txBody>
      </p:sp>
      <p:sp>
        <p:nvSpPr>
          <p:cNvPr id="21" name="Text 18"/>
          <p:cNvSpPr/>
          <p:nvPr/>
        </p:nvSpPr>
        <p:spPr>
          <a:xfrm>
            <a:off x="7112203" y="2286000"/>
            <a:ext cx="4190695" cy="888797"/>
          </a:xfrm>
          <a:prstGeom prst="rect">
            <a:avLst/>
          </a:prstGeom>
          <a:noFill/>
          <a:ln/>
        </p:spPr>
        <p:txBody>
          <a:bodyPr wrap="square" rtlCol="0" anchor="t"/>
          <a:lstStyle/>
          <a:p>
            <a:pPr marL="0" indent="0" algn="l">
              <a:lnSpc>
                <a:spcPct val="105000"/>
              </a:lnSpc>
              <a:buNone/>
            </a:pPr>
            <a:r>
              <a:rPr lang="en-US" sz="4500" b="1" dirty="0">
                <a:solidFill>
                  <a:srgbClr val="79A2F9"/>
                </a:solidFill>
                <a:latin typeface="Courier New" pitchFamily="34" charset="0"/>
                <a:ea typeface="Courier New" pitchFamily="34" charset="-122"/>
                <a:cs typeface="Courier New" pitchFamily="34" charset="-120"/>
              </a:rPr>
              <a:t>29×</a:t>
            </a:r>
            <a:endParaRPr lang="en-US" sz="4500" dirty="0"/>
          </a:p>
        </p:txBody>
      </p:sp>
      <p:sp>
        <p:nvSpPr>
          <p:cNvPr id="22" name="Text 19"/>
          <p:cNvSpPr/>
          <p:nvPr/>
        </p:nvSpPr>
        <p:spPr>
          <a:xfrm>
            <a:off x="7112203" y="3429000"/>
            <a:ext cx="4190695" cy="761695"/>
          </a:xfrm>
          <a:prstGeom prst="rect">
            <a:avLst/>
          </a:prstGeom>
          <a:noFill/>
          <a:ln/>
        </p:spPr>
        <p:txBody>
          <a:bodyPr wrap="square" rtlCol="0" anchor="t"/>
          <a:lstStyle/>
          <a:p>
            <a:pPr marL="0" indent="0" algn="l">
              <a:lnSpc>
                <a:spcPct val="140000"/>
              </a:lnSpc>
              <a:buNone/>
            </a:pPr>
            <a:r>
              <a:rPr lang="en-US" sz="1200" dirty="0">
                <a:solidFill>
                  <a:srgbClr val="F2EFDA"/>
                </a:solidFill>
                <a:latin typeface="Arial" pitchFamily="34" charset="0"/>
                <a:ea typeface="Arial" pitchFamily="34" charset="-122"/>
                <a:cs typeface="Arial" pitchFamily="34" charset="-120"/>
              </a:rPr>
              <a:t>Current-Ratio-Volatilität der Banken gegenüber der Hauptstichprobe (ROA-Volatilität: ⅕).</a:t>
            </a:r>
            <a:endParaRPr lang="en-US" sz="1200" dirty="0"/>
          </a:p>
        </p:txBody>
      </p:sp>
      <p:sp>
        <p:nvSpPr>
          <p:cNvPr id="23" name="Text 20"/>
          <p:cNvSpPr/>
          <p:nvPr/>
        </p:nvSpPr>
        <p:spPr>
          <a:xfrm>
            <a:off x="7112203" y="4507992"/>
            <a:ext cx="4190695" cy="634594"/>
          </a:xfrm>
          <a:prstGeom prst="rect">
            <a:avLst/>
          </a:prstGeom>
          <a:noFill/>
          <a:ln/>
        </p:spPr>
        <p:txBody>
          <a:bodyPr wrap="square" rtlCol="0" anchor="t"/>
          <a:lstStyle/>
          <a:p>
            <a:pPr marL="0" indent="0" algn="l">
              <a:lnSpc>
                <a:spcPct val="130000"/>
              </a:lnSpc>
              <a:buNone/>
            </a:pPr>
            <a:r>
              <a:rPr lang="en-US" sz="1000" dirty="0">
                <a:solidFill>
                  <a:srgbClr val="B3BC9A"/>
                </a:solidFill>
                <a:latin typeface="Arial" pitchFamily="34" charset="0"/>
                <a:ea typeface="Arial" pitchFamily="34" charset="-122"/>
                <a:cs typeface="Arial" pitchFamily="34" charset="-120"/>
              </a:rPr>
              <a:t xml:space="preserve">Der Sektorausschluss ist </a:t>
            </a:r>
            <a:r>
              <a:rPr lang="en-US" sz="1000" b="1" dirty="0">
                <a:solidFill>
                  <a:srgbClr val="F2EFDA"/>
                </a:solidFill>
                <a:latin typeface="Arial" pitchFamily="34" charset="0"/>
                <a:ea typeface="Arial" pitchFamily="34" charset="-122"/>
                <a:cs typeface="Arial" pitchFamily="34" charset="-120"/>
              </a:rPr>
              <a:t>empirisch begründet</a:t>
            </a:r>
            <a:r>
              <a:rPr lang="en-US" sz="1000" dirty="0">
                <a:solidFill>
                  <a:srgbClr val="B3BC9A"/>
                </a:solidFill>
                <a:latin typeface="Arial" pitchFamily="34" charset="0"/>
                <a:ea typeface="Arial" pitchFamily="34" charset="-122"/>
                <a:cs typeface="Arial" pitchFamily="34" charset="-120"/>
              </a:rPr>
              <a:t>, nicht nur Konvention.</a:t>
            </a:r>
            <a:endParaRPr lang="en-US" sz="1000" dirty="0"/>
          </a:p>
        </p:txBody>
      </p:sp>
      <p:sp>
        <p:nvSpPr>
          <p:cNvPr id="24" name="Text 1">
            <a:extLst>
              <a:ext uri="{FF2B5EF4-FFF2-40B4-BE49-F238E27FC236}">
                <a16:creationId xmlns:a16="http://schemas.microsoft.com/office/drawing/2014/main" id="{AF64E433-7D5E-0E48-F356-A2155D37151F}"/>
              </a:ext>
            </a:extLst>
          </p:cNvPr>
          <p:cNvSpPr/>
          <p:nvPr/>
        </p:nvSpPr>
        <p:spPr>
          <a:xfrm>
            <a:off x="415959" y="291694"/>
            <a:ext cx="8255203" cy="215798"/>
          </a:xfrm>
          <a:prstGeom prst="rect">
            <a:avLst/>
          </a:prstGeom>
          <a:noFill/>
          <a:ln/>
        </p:spPr>
        <p:txBody>
          <a:bodyPr wrap="square" rtlCol="0" anchor="ctr"/>
          <a:lstStyle/>
          <a:p>
            <a:pPr marL="0" indent="0">
              <a:buNone/>
            </a:pPr>
            <a:r>
              <a:rPr lang="en-US" sz="1200" b="1" kern="0" spc="400" dirty="0">
                <a:solidFill>
                  <a:srgbClr val="E6D34F"/>
                </a:solidFill>
                <a:latin typeface="Courier New" pitchFamily="34" charset="0"/>
                <a:cs typeface="Courier New" pitchFamily="34" charset="-120"/>
              </a:rPr>
              <a:t>VALIDIERUNG</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9ABACAB-E6CB-744C-BA6B-79B562EA2EC8}">
  <we:reference id="wa200010001" version="1.0.0.1" store="en-US" storeType="OMEX"/>
  <we:alternateReferences>
    <we:reference id="WA200010001" version="1.0.0.1" store="" storeType="OMEX"/>
  </we:alternateReferences>
  <we:properties>
    <we:property name="claude.fileId" value="&quot;31e2e507-e253-4e22-9e36-4cf89df1325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1838</Words>
  <Application>Microsoft Macintosh PowerPoint</Application>
  <PresentationFormat>Breitbild</PresentationFormat>
  <Paragraphs>234</Paragraphs>
  <Slides>13</Slides>
  <Notes>13</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13</vt:i4>
      </vt:variant>
    </vt:vector>
  </HeadingPairs>
  <TitlesOfParts>
    <vt:vector size="16" baseType="lpstr">
      <vt:lpstr>Arial</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Tobias Mourier</cp:lastModifiedBy>
  <cp:revision>3</cp:revision>
  <dcterms:created xsi:type="dcterms:W3CDTF">2026-06-21T21:41:59Z</dcterms:created>
  <dcterms:modified xsi:type="dcterms:W3CDTF">2026-07-01T18:50:13Z</dcterms:modified>
</cp:coreProperties>
</file>
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69" r:id="rId4"/>
    <p:sldId id="258" r:id="rId5"/>
    <p:sldId id="259" r:id="rId6"/>
    <p:sldId id="260" r:id="rId7"/>
    <p:sldId id="261" r:id="rId8"/>
    <p:sldId id="262" r:id="rId9"/>
    <p:sldId id="263" r:id="rId10"/>
    <p:sldId id="264" r:id="rId11"/>
    <p:sldId id="265" r:id="rId12"/>
    <p:sldId id="266" r:id="rId13"/>
    <p:sldId id="267"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8A2F9"/>
    <a:srgbClr val="F3EFDA"/>
    <a:srgbClr val="E6D44F"/>
    <a:srgbClr val="082E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520"/>
    <p:restoredTop sz="86591"/>
  </p:normalViewPr>
  <p:slideViewPr>
    <p:cSldViewPr snapToGrid="0" snapToObjects="1">
      <p:cViewPr>
        <p:scale>
          <a:sx n="100" d="100"/>
          <a:sy n="100" d="100"/>
        </p:scale>
        <p:origin x="824"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6951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Sehr </a:t>
            </a:r>
            <a:r>
              <a:rPr lang="en-US" dirty="0" err="1"/>
              <a:t>geehrter</a:t>
            </a:r>
            <a:r>
              <a:rPr lang="en-US" dirty="0"/>
              <a:t> Professor Steglich, </a:t>
            </a:r>
            <a:r>
              <a:rPr lang="en-US" dirty="0" err="1"/>
              <a:t>sehr</a:t>
            </a:r>
            <a:r>
              <a:rPr lang="en-US" dirty="0"/>
              <a:t> </a:t>
            </a:r>
            <a:r>
              <a:rPr lang="en-US" dirty="0" err="1"/>
              <a:t>geehrter</a:t>
            </a:r>
            <a:r>
              <a:rPr lang="en-US" dirty="0"/>
              <a:t> Professor </a:t>
            </a:r>
            <a:r>
              <a:rPr lang="en-US" dirty="0" err="1"/>
              <a:t>Stollhoff</a:t>
            </a:r>
            <a:r>
              <a:rPr lang="en-US" dirty="0"/>
              <a:t>, ich </a:t>
            </a:r>
            <a:r>
              <a:rPr lang="en-US" dirty="0" err="1"/>
              <a:t>freue</a:t>
            </a:r>
            <a:r>
              <a:rPr lang="en-US" dirty="0"/>
              <a:t> </a:t>
            </a:r>
            <a:r>
              <a:rPr lang="en-US" dirty="0" err="1"/>
              <a:t>mich</a:t>
            </a:r>
            <a:r>
              <a:rPr lang="en-US" dirty="0"/>
              <a:t>, </a:t>
            </a:r>
            <a:r>
              <a:rPr lang="en-US" dirty="0" err="1"/>
              <a:t>dasss</a:t>
            </a:r>
            <a:r>
              <a:rPr lang="en-US" dirty="0"/>
              <a:t> ich </a:t>
            </a:r>
            <a:r>
              <a:rPr lang="en-US" dirty="0" err="1"/>
              <a:t>hier</a:t>
            </a:r>
            <a:r>
              <a:rPr lang="en-US" dirty="0"/>
              <a:t> </a:t>
            </a:r>
            <a:r>
              <a:rPr lang="en-US" dirty="0" err="1"/>
              <a:t>beim</a:t>
            </a:r>
            <a:r>
              <a:rPr lang="en-US" dirty="0"/>
              <a:t> </a:t>
            </a:r>
            <a:r>
              <a:rPr lang="en-US" dirty="0" err="1"/>
              <a:t>Kolloquium</a:t>
            </a:r>
            <a:r>
              <a:rPr lang="en-US" dirty="0"/>
              <a:t> die Möglichkeit </a:t>
            </a:r>
            <a:r>
              <a:rPr lang="en-US" dirty="0" err="1"/>
              <a:t>habe</a:t>
            </a:r>
            <a:r>
              <a:rPr lang="en-US" dirty="0"/>
              <a:t>, meine </a:t>
            </a:r>
            <a:r>
              <a:rPr lang="en-US" dirty="0" err="1"/>
              <a:t>Masterarbeit</a:t>
            </a:r>
            <a:r>
              <a:rPr lang="en-US" dirty="0"/>
              <a:t> “</a:t>
            </a:r>
            <a:r>
              <a:rPr lang="en-US" dirty="0" err="1"/>
              <a:t>Zeitreihenbasierte</a:t>
            </a:r>
            <a:r>
              <a:rPr lang="en-US" dirty="0"/>
              <a:t> </a:t>
            </a:r>
            <a:r>
              <a:rPr lang="en-US" dirty="0" err="1"/>
              <a:t>Analyse</a:t>
            </a:r>
            <a:r>
              <a:rPr lang="en-US" dirty="0"/>
              <a:t> der Dynamik von </a:t>
            </a:r>
            <a:r>
              <a:rPr lang="en-US" dirty="0" err="1"/>
              <a:t>Finanzkennzahlen</a:t>
            </a:r>
            <a:r>
              <a:rPr lang="en-US" dirty="0"/>
              <a:t> </a:t>
            </a:r>
            <a:r>
              <a:rPr lang="en-US" dirty="0" err="1"/>
              <a:t>börsennotierter</a:t>
            </a:r>
            <a:r>
              <a:rPr lang="en-US" dirty="0"/>
              <a:t> </a:t>
            </a:r>
            <a:r>
              <a:rPr lang="en-US" dirty="0" err="1"/>
              <a:t>Unternehmen</a:t>
            </a:r>
            <a:r>
              <a:rPr lang="en-US" dirty="0"/>
              <a:t>” </a:t>
            </a:r>
            <a:r>
              <a:rPr lang="en-US" dirty="0" err="1"/>
              <a:t>vorzustellen</a:t>
            </a:r>
            <a:r>
              <a:rPr lang="en-US" dirty="0"/>
              <a:t>. Ich habe untersucht, wie sich Finanzkennzahlen börsennotierter US-Unternehmen über die Zeit verhalten — nicht ihre Höhe, sondern ihre Dynamik. In den nächsten 15 Minuten zeige ich Ihnen, warum sich diese Dynamik systematisch unterscheidet, wie die Kennzahlen zusammenhängen und womit sich die Unterschiede erklären lassen.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1:30] Eine Kennzahl wie der ROA ist eine Momentaufnahme. Die Information steckt in der Bewegung: Kehrt eine Veränderung im nächsten Quartal zurück — oder bleibt sie? Und wie stark schwankt eine Kennzahl? Diese beiden Dimensionen — Korrekturgeschwindigkeit und Volatilität — sind der Gegenstand der Arbeit. Daraus ergeben sich drei Forschungsfragen: systematische Unterschiede, Interdependenzen über Zeit und Krisen, und der Zusammenhang mit Unternehmensmerkmalen.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E951E-5BF9-5DE2-2E6B-05B45B3ED8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92183A-72F8-4A85-EA62-B246580F6F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EB3215-8F5F-3A84-98AC-9DF296579E67}"/>
              </a:ext>
            </a:extLst>
          </p:cNvPr>
          <p:cNvSpPr>
            <a:spLocks noGrp="1"/>
          </p:cNvSpPr>
          <p:nvPr>
            <p:ph type="body" idx="1"/>
          </p:nvPr>
        </p:nvSpPr>
        <p:spPr/>
        <p:txBody>
          <a:bodyPr/>
          <a:lstStyle/>
          <a:p>
            <a:r>
              <a:rPr lang="en-US" dirty="0"/>
              <a:t>[Zeit: 1:30] Eine Kennzahl wie der ROA ist eine Momentaufnahme. Die Information steckt in der Bewegung: Kehrt eine Veränderung im nächsten Quartal zurück — oder bleibt sie? Und wie stark schwankt eine Kennzahl? Diese beiden Dimensionen — Korrekturgeschwindigkeit und Volatilität — sind der Gegenstand der Arbeit. Daraus ergeben sich drei Forschungsfragen: systematische Unterschiede, Interdependenzen über Zeit und Krisen, und der Zusammenhang mit Unternehmensmerkmalen.</a:t>
            </a:r>
          </a:p>
        </p:txBody>
      </p:sp>
      <p:sp>
        <p:nvSpPr>
          <p:cNvPr id="4" name="Slide Number Placeholder 3">
            <a:extLst>
              <a:ext uri="{FF2B5EF4-FFF2-40B4-BE49-F238E27FC236}">
                <a16:creationId xmlns:a16="http://schemas.microsoft.com/office/drawing/2014/main" id="{19E306A4-D495-537D-37B6-03DFA72AFBC9}"/>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7109246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1:00] Datengrundlage sind Quartalsabschlüsse US-amerikanischer börsennotierter Unternehmen über 25 Jahre — 100 Quartale, 2000–2024, via EODHD-API. Aus knapp 5.900 Unternehmen entsteht über eine Filterkette die finale Stichprobe von 932: Finanzsektor ausgeschlossen, ADRs entfernt, Vollständigkeit, Winsorisierung. Der Vollständigkeitsfilter erzeugt einen Survivorship Bias — quantifiziert und getestet. Insgesamt 6.521 Unternehmen-Kennzahl-Kombinationen für sieben Kennzahlen.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1:30] Für jede der 6.521 Kombinationen schätze ich ein AR(1)-Modell — nicht auf Niveaus, sondern auf ersten Differenzen. Drei Gründe: direkte ökonomische Interpretation, Stationarität, Vergleichbarkeit. Phi misst die Autokorrelation der Veränderungen, nicht die Persistenz der Niveaus. Aus jeder Schätzung: Phi (negativ = Mean-Reversion) und Sigma (Volatilität). Mean-Group-Ansatz nach Pesaran/Smith.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1:00] Phi und Sigma spannen pro Kennzahl einen Raum auf, in dem jedes Unternehmen ein Punkt ist. Ein Median-Split erzeugt vier Dynamiktypen: korrektiv-stabil, korrektiv-volatil, persistent-stabil, persistent-volatil. Portfolio-Sort-Logik nach Fama/French. Die Achsen sind unabhängig: gemeinsame Variation maximal sechs Prozent.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1:30] Erste Forschungsfrage, erstes Kernergebnis: drei klar getrennte Schichten. Profitabilität revertiert stark (Phi −0,43 bis −0,46, über 90 % signifikant). Liquidität dazwischen (−0,17, höchste Volatilität). Kapitalstruktur nahe null (−0,04 bis −0,09, ein Drittel ohne Korrektur). Robust über vier Spezifikationen, vier Schwellen, vier Zeitfenster. Antwort: Ja — die Unterschiede folgen den Kennzahlgruppen.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1:30] Zwei Mechanismen. Erstens Konstruktion: Stromgrößen wie FCF- und EBIT-Marge korrigieren am stärksten; Bestandsgrößen wie die Eigenkapitalquote kaum; ROA, ROE, Current Ratio dazwischen. Zweitens Korrekturmechanismus: Der Markt korrigiert die Profitabilität (Wettbewerb, Fama/French ≈ 38 % p. a.); die Kapitalstruktur ändert sich nur durch Managemententscheidungen — Emission, Rückkauf, Dividende.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1:30] Forschungsfrage zwei: paarweise Korrelation der Parameter über 932 Unternehmen. Phi-Matrix: nur 9 von 21 Paaren signifikant, Kopplung nur innerhalb der Profitabilität (ROA×ROE 0,78). Sigma-Matrix: 19 von 21 — fast vollständig gekoppelt. Kernsatz: Schocks treffen gemeinsam, korrigiert wird kennzahlspezifisch. Mechanische Kopplungen (DuPont) werden explizit ausgewiesen.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1:00] Krisenphasen datengetrieben über die rollierende Querschnittsvolatilität (90. Perzentil, ≥3 Kennzahlen). Das Verfahren findet genau drei Phasen: Dot-Com, Finanzkrise, COVID. In 2009 und 2020 trennt die Quadranten-Klassifikation das Reaktionsverhalten signifikant (bis −0,36). Die Dot-Com-Phase trennt nicht — sektorspezifische Tech-Krise. Einschränkung: In-Sample-Konsistenzprüfung, keine Prognose.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1:30] Hauptbefund, Forschungsfrage drei: Phi und Sigma auf fünf Strukturvariablen regressiert — Größe, Anlagenintensität, Investitionsintensität, Profitabilitätsniveau, Periodenabgrenzungen. Asymmetrie: rund 30 % der Volatilität erklärt (FCF-Marge fast die Hälfte), aber nur rund 5 % der Korrekturgeschwindigkeit. Sigma misst Exposition, Phi misst Reaktion — Phi bleibt idiosynkratisch.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1:00] Zwei Validierungen. Erstens falsifizierungsorientierte Prüfung der Sektor-Mechaniken: drei von vier Clustern bestätigen sich mit 60–66 %, das schwächste (Kommunikation/Energie, 43 %) wird offen benannt. Zweitens der Kontrast mit 451 Finanzdienstleistern: deren Current-Ratio-Volatilität liegt beim 29-Fachen der Hauptstichprobe — der Sektorausschluss ist empirisch begründet.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1:00] Vier Grenzen. Survivorship Bias: 77 % entfernt, aber Phi-Mediane stabil bis zur 40-Quartals-Schwelle (2.356 Firmen). Differenzen-Konvention: Phi misst Veränderungs-Autokorrelation; entscheidend ist die ökonomische Spreizung. In-Sample-Charakter der Krisentests. Geltungsbereich: etablierte US-Unternehmen, Quartalsfrequenz — Subquartals-Effekte und andere Märkte bleiben offen.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82E1C"/>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4" name="Text 1"/>
          <p:cNvSpPr/>
          <p:nvPr/>
        </p:nvSpPr>
        <p:spPr>
          <a:xfrm>
            <a:off x="415654" y="648068"/>
            <a:ext cx="8889797" cy="215798"/>
          </a:xfrm>
          <a:prstGeom prst="rect">
            <a:avLst/>
          </a:prstGeom>
          <a:noFill/>
          <a:ln/>
        </p:spPr>
        <p:txBody>
          <a:bodyPr wrap="square" rtlCol="0" anchor="ctr"/>
          <a:lstStyle/>
          <a:p>
            <a:pPr marL="0" indent="0">
              <a:buNone/>
            </a:pPr>
            <a:r>
              <a:rPr lang="en-US" sz="1200" b="1" kern="0" spc="400" dirty="0">
                <a:solidFill>
                  <a:srgbClr val="E6D44F"/>
                </a:solidFill>
                <a:latin typeface="Courier New" pitchFamily="34" charset="0"/>
                <a:ea typeface="Courier New" pitchFamily="34" charset="-122"/>
                <a:cs typeface="Courier New" pitchFamily="34" charset="-120"/>
              </a:rPr>
              <a:t>MASTERKOLLOQUIUM</a:t>
            </a:r>
            <a:endParaRPr lang="en-US" sz="1000" dirty="0">
              <a:solidFill>
                <a:srgbClr val="E6D44F"/>
              </a:solidFill>
            </a:endParaRPr>
          </a:p>
        </p:txBody>
      </p:sp>
      <p:sp>
        <p:nvSpPr>
          <p:cNvPr id="5" name="Text 2"/>
          <p:cNvSpPr/>
          <p:nvPr/>
        </p:nvSpPr>
        <p:spPr>
          <a:xfrm>
            <a:off x="634594" y="1428517"/>
            <a:ext cx="10933951" cy="1209867"/>
          </a:xfrm>
          <a:prstGeom prst="rect">
            <a:avLst/>
          </a:prstGeom>
          <a:noFill/>
          <a:ln/>
        </p:spPr>
        <p:txBody>
          <a:bodyPr wrap="square" rtlCol="0" anchor="t"/>
          <a:lstStyle/>
          <a:p>
            <a:pPr marL="0" indent="0" algn="ctr">
              <a:lnSpc>
                <a:spcPct val="102000"/>
              </a:lnSpc>
              <a:buNone/>
            </a:pPr>
            <a:r>
              <a:rPr lang="en-US" sz="3600" b="1" kern="0" spc="-100" dirty="0">
                <a:solidFill>
                  <a:srgbClr val="F3EFDA"/>
                </a:solidFill>
                <a:latin typeface="Arial" pitchFamily="34" charset="0"/>
                <a:ea typeface="Arial" pitchFamily="34" charset="-122"/>
                <a:cs typeface="Arial" pitchFamily="34" charset="-120"/>
              </a:rPr>
              <a:t>Zeitreihenbasierte Analyse der Dynamik von Finanzkennzahlen </a:t>
            </a:r>
            <a:r>
              <a:rPr lang="en-US" sz="3600" b="1" kern="0" spc="-100" dirty="0" err="1">
                <a:solidFill>
                  <a:srgbClr val="F3EFDA"/>
                </a:solidFill>
                <a:latin typeface="Arial" pitchFamily="34" charset="0"/>
                <a:ea typeface="Arial" pitchFamily="34" charset="-122"/>
                <a:cs typeface="Arial" pitchFamily="34" charset="-120"/>
              </a:rPr>
              <a:t>börsennotierter</a:t>
            </a:r>
            <a:r>
              <a:rPr lang="en-US" sz="3600" b="1" kern="0" spc="-100" dirty="0">
                <a:solidFill>
                  <a:srgbClr val="F3EFDA"/>
                </a:solidFill>
                <a:latin typeface="Arial" pitchFamily="34" charset="0"/>
                <a:ea typeface="Arial" pitchFamily="34" charset="-122"/>
                <a:cs typeface="Arial" pitchFamily="34" charset="-120"/>
              </a:rPr>
              <a:t> </a:t>
            </a:r>
            <a:r>
              <a:rPr lang="en-US" sz="3600" b="1" kern="0" spc="-100" dirty="0" err="1">
                <a:solidFill>
                  <a:srgbClr val="F3EFDA"/>
                </a:solidFill>
                <a:latin typeface="Arial" pitchFamily="34" charset="0"/>
                <a:ea typeface="Arial" pitchFamily="34" charset="-122"/>
                <a:cs typeface="Arial" pitchFamily="34" charset="-120"/>
              </a:rPr>
              <a:t>Unternehmen</a:t>
            </a:r>
            <a:endParaRPr lang="en-US" sz="3600" dirty="0">
              <a:solidFill>
                <a:srgbClr val="F3EFDA"/>
              </a:solidFill>
            </a:endParaRPr>
          </a:p>
        </p:txBody>
      </p:sp>
      <p:sp>
        <p:nvSpPr>
          <p:cNvPr id="11" name="Text 8"/>
          <p:cNvSpPr/>
          <p:nvPr/>
        </p:nvSpPr>
        <p:spPr>
          <a:xfrm>
            <a:off x="461312" y="3463845"/>
            <a:ext cx="2286000" cy="152705"/>
          </a:xfrm>
          <a:prstGeom prst="rect">
            <a:avLst/>
          </a:prstGeom>
          <a:noFill/>
          <a:ln/>
        </p:spPr>
        <p:txBody>
          <a:bodyPr wrap="square" rtlCol="0" anchor="t"/>
          <a:lstStyle/>
          <a:p>
            <a:pPr marL="0" indent="0" algn="r">
              <a:lnSpc>
                <a:spcPct val="105000"/>
              </a:lnSpc>
              <a:buNone/>
            </a:pPr>
            <a:r>
              <a:rPr lang="en-US" sz="1200" b="1" kern="0" spc="200" dirty="0">
                <a:solidFill>
                  <a:srgbClr val="E6D44F"/>
                </a:solidFill>
                <a:latin typeface="Courier New" pitchFamily="34" charset="0"/>
                <a:ea typeface="Courier New" pitchFamily="34" charset="-122"/>
                <a:cs typeface="Courier New" pitchFamily="34" charset="-120"/>
              </a:rPr>
              <a:t>VORGELEGT VON</a:t>
            </a:r>
          </a:p>
          <a:p>
            <a:pPr marL="0" indent="0" algn="r">
              <a:lnSpc>
                <a:spcPct val="105000"/>
              </a:lnSpc>
              <a:buNone/>
            </a:pPr>
            <a:endParaRPr lang="en-US" sz="900" kern="0" spc="200" dirty="0">
              <a:solidFill>
                <a:srgbClr val="E6D44F"/>
              </a:solidFill>
              <a:latin typeface="Courier New" pitchFamily="34" charset="0"/>
              <a:cs typeface="Courier New" pitchFamily="34" charset="-120"/>
            </a:endParaRPr>
          </a:p>
          <a:p>
            <a:pPr marL="0" indent="0" algn="r">
              <a:lnSpc>
                <a:spcPct val="105000"/>
              </a:lnSpc>
              <a:buNone/>
            </a:pPr>
            <a:endParaRPr lang="en-US" sz="900" kern="0" spc="200" dirty="0">
              <a:solidFill>
                <a:srgbClr val="E6D44F"/>
              </a:solidFill>
              <a:latin typeface="Courier New" pitchFamily="34" charset="0"/>
              <a:cs typeface="Courier New" pitchFamily="34" charset="-120"/>
            </a:endParaRPr>
          </a:p>
          <a:p>
            <a:pPr marL="0" indent="0" algn="r">
              <a:lnSpc>
                <a:spcPct val="105000"/>
              </a:lnSpc>
              <a:buNone/>
            </a:pPr>
            <a:endParaRPr lang="en-US" sz="900" kern="0" spc="200" dirty="0">
              <a:solidFill>
                <a:srgbClr val="E6D44F"/>
              </a:solidFill>
              <a:latin typeface="Courier New" pitchFamily="34" charset="0"/>
              <a:cs typeface="Courier New" pitchFamily="34" charset="-120"/>
            </a:endParaRPr>
          </a:p>
          <a:p>
            <a:pPr marL="0" indent="0" algn="r">
              <a:lnSpc>
                <a:spcPct val="105000"/>
              </a:lnSpc>
              <a:buNone/>
            </a:pPr>
            <a:r>
              <a:rPr lang="en-US" sz="1200" b="1" kern="0" spc="200" dirty="0">
                <a:solidFill>
                  <a:srgbClr val="E6D44F"/>
                </a:solidFill>
                <a:latin typeface="Courier New" pitchFamily="34" charset="0"/>
                <a:cs typeface="Courier New" pitchFamily="34" charset="-120"/>
              </a:rPr>
              <a:t>HOCHSCHULE</a:t>
            </a:r>
          </a:p>
          <a:p>
            <a:pPr marL="0" indent="0" algn="r">
              <a:lnSpc>
                <a:spcPct val="105000"/>
              </a:lnSpc>
              <a:buNone/>
            </a:pPr>
            <a:endParaRPr lang="en-US" sz="900" kern="0" spc="200" dirty="0">
              <a:solidFill>
                <a:srgbClr val="E6D44F"/>
              </a:solidFill>
              <a:latin typeface="Courier New" pitchFamily="34" charset="0"/>
              <a:cs typeface="Courier New" pitchFamily="34" charset="-120"/>
            </a:endParaRPr>
          </a:p>
          <a:p>
            <a:pPr marL="0" indent="0" algn="r">
              <a:lnSpc>
                <a:spcPct val="105000"/>
              </a:lnSpc>
              <a:buNone/>
            </a:pPr>
            <a:endParaRPr lang="en-US" sz="900" kern="0" spc="200" dirty="0">
              <a:solidFill>
                <a:srgbClr val="E6D44F"/>
              </a:solidFill>
              <a:latin typeface="Courier New" pitchFamily="34" charset="0"/>
              <a:cs typeface="Courier New" pitchFamily="34" charset="-120"/>
            </a:endParaRPr>
          </a:p>
          <a:p>
            <a:pPr marL="0" indent="0" algn="r">
              <a:lnSpc>
                <a:spcPct val="105000"/>
              </a:lnSpc>
              <a:buNone/>
            </a:pPr>
            <a:endParaRPr lang="en-US" sz="900" kern="0" spc="200" dirty="0">
              <a:solidFill>
                <a:srgbClr val="E6D44F"/>
              </a:solidFill>
              <a:latin typeface="Courier New" pitchFamily="34" charset="0"/>
              <a:cs typeface="Courier New" pitchFamily="34" charset="-120"/>
            </a:endParaRPr>
          </a:p>
          <a:p>
            <a:pPr marL="0" indent="0" algn="r">
              <a:lnSpc>
                <a:spcPct val="105000"/>
              </a:lnSpc>
              <a:buNone/>
            </a:pPr>
            <a:r>
              <a:rPr lang="en-US" sz="1200" b="1" kern="0" spc="200" dirty="0">
                <a:solidFill>
                  <a:srgbClr val="E6D44F"/>
                </a:solidFill>
                <a:latin typeface="Courier New" pitchFamily="34" charset="0"/>
                <a:cs typeface="Courier New" pitchFamily="34" charset="-120"/>
              </a:rPr>
              <a:t>PRÜFER</a:t>
            </a:r>
          </a:p>
          <a:p>
            <a:pPr marL="0" indent="0" algn="r">
              <a:lnSpc>
                <a:spcPct val="105000"/>
              </a:lnSpc>
              <a:buNone/>
            </a:pPr>
            <a:endParaRPr lang="en-US" sz="900" kern="0" spc="200" dirty="0">
              <a:solidFill>
                <a:srgbClr val="E6D44F"/>
              </a:solidFill>
              <a:latin typeface="Courier New" pitchFamily="34" charset="0"/>
              <a:cs typeface="Courier New" pitchFamily="34" charset="-120"/>
            </a:endParaRPr>
          </a:p>
          <a:p>
            <a:pPr marL="0" indent="0" algn="r">
              <a:lnSpc>
                <a:spcPct val="105000"/>
              </a:lnSpc>
              <a:buNone/>
            </a:pPr>
            <a:endParaRPr lang="en-US" sz="900" kern="0" spc="200" dirty="0">
              <a:solidFill>
                <a:srgbClr val="E6D44F"/>
              </a:solidFill>
              <a:latin typeface="Courier New" pitchFamily="34" charset="0"/>
              <a:cs typeface="Courier New" pitchFamily="34" charset="-120"/>
            </a:endParaRPr>
          </a:p>
          <a:p>
            <a:pPr marL="0" indent="0" algn="r">
              <a:lnSpc>
                <a:spcPct val="105000"/>
              </a:lnSpc>
              <a:buNone/>
            </a:pPr>
            <a:endParaRPr lang="en-US" sz="900" kern="0" spc="200" dirty="0">
              <a:solidFill>
                <a:srgbClr val="E6D44F"/>
              </a:solidFill>
              <a:latin typeface="Courier New" pitchFamily="34" charset="0"/>
              <a:cs typeface="Courier New" pitchFamily="34" charset="-120"/>
            </a:endParaRPr>
          </a:p>
          <a:p>
            <a:pPr marL="0" indent="0" algn="r">
              <a:lnSpc>
                <a:spcPct val="105000"/>
              </a:lnSpc>
              <a:buNone/>
            </a:pPr>
            <a:r>
              <a:rPr lang="en-US" sz="1200" b="1" kern="0" spc="200" dirty="0">
                <a:solidFill>
                  <a:srgbClr val="E6D44F"/>
                </a:solidFill>
                <a:latin typeface="Courier New" pitchFamily="34" charset="0"/>
                <a:cs typeface="Courier New" pitchFamily="34" charset="-120"/>
              </a:rPr>
              <a:t>DATUM</a:t>
            </a:r>
            <a:endParaRPr lang="en-US" sz="900" b="1" kern="0" spc="200" dirty="0">
              <a:solidFill>
                <a:srgbClr val="E6D44F"/>
              </a:solidFill>
              <a:latin typeface="Courier New" pitchFamily="34" charset="0"/>
              <a:cs typeface="Courier New" pitchFamily="34" charset="-120"/>
            </a:endParaRPr>
          </a:p>
        </p:txBody>
      </p:sp>
      <p:sp>
        <p:nvSpPr>
          <p:cNvPr id="12" name="Text 9"/>
          <p:cNvSpPr/>
          <p:nvPr/>
        </p:nvSpPr>
        <p:spPr>
          <a:xfrm>
            <a:off x="3499985" y="3454660"/>
            <a:ext cx="2286000" cy="254203"/>
          </a:xfrm>
          <a:prstGeom prst="rect">
            <a:avLst/>
          </a:prstGeom>
          <a:noFill/>
          <a:ln/>
        </p:spPr>
        <p:txBody>
          <a:bodyPr wrap="square" rtlCol="0" anchor="t"/>
          <a:lstStyle/>
          <a:p>
            <a:pPr marL="0" indent="0" algn="l">
              <a:lnSpc>
                <a:spcPct val="105000"/>
              </a:lnSpc>
              <a:buNone/>
            </a:pPr>
            <a:r>
              <a:rPr lang="en-US" sz="1400" b="1" dirty="0">
                <a:solidFill>
                  <a:srgbClr val="F2EFDA"/>
                </a:solidFill>
                <a:latin typeface="Arial" pitchFamily="34" charset="0"/>
                <a:ea typeface="Arial" pitchFamily="34" charset="-122"/>
                <a:cs typeface="Arial" pitchFamily="34" charset="-120"/>
              </a:rPr>
              <a:t>Tobias Mourier</a:t>
            </a:r>
            <a:endParaRPr lang="en-US" sz="1400" dirty="0"/>
          </a:p>
        </p:txBody>
      </p:sp>
      <p:pic>
        <p:nvPicPr>
          <p:cNvPr id="3" name="Grafik 2">
            <a:extLst>
              <a:ext uri="{FF2B5EF4-FFF2-40B4-BE49-F238E27FC236}">
                <a16:creationId xmlns:a16="http://schemas.microsoft.com/office/drawing/2014/main" id="{324B70AD-BD1D-0514-C299-459E1BACE3A3}"/>
              </a:ext>
            </a:extLst>
          </p:cNvPr>
          <p:cNvPicPr>
            <a:picLocks noChangeAspect="1"/>
          </p:cNvPicPr>
          <p:nvPr/>
        </p:nvPicPr>
        <p:blipFill>
          <a:blip r:embed="rId3"/>
          <a:stretch>
            <a:fillRect/>
          </a:stretch>
        </p:blipFill>
        <p:spPr>
          <a:xfrm>
            <a:off x="10231872" y="380800"/>
            <a:ext cx="1618140" cy="693489"/>
          </a:xfrm>
          <a:prstGeom prst="rect">
            <a:avLst/>
          </a:prstGeom>
        </p:spPr>
      </p:pic>
      <p:sp>
        <p:nvSpPr>
          <p:cNvPr id="19" name="Text 9">
            <a:extLst>
              <a:ext uri="{FF2B5EF4-FFF2-40B4-BE49-F238E27FC236}">
                <a16:creationId xmlns:a16="http://schemas.microsoft.com/office/drawing/2014/main" id="{8B0D7EA3-88F9-F05C-E011-8FC22262E690}"/>
              </a:ext>
            </a:extLst>
          </p:cNvPr>
          <p:cNvSpPr/>
          <p:nvPr/>
        </p:nvSpPr>
        <p:spPr>
          <a:xfrm>
            <a:off x="3499984" y="4051555"/>
            <a:ext cx="3003847" cy="292878"/>
          </a:xfrm>
          <a:prstGeom prst="rect">
            <a:avLst/>
          </a:prstGeom>
          <a:noFill/>
          <a:ln/>
        </p:spPr>
        <p:txBody>
          <a:bodyPr wrap="square" rtlCol="0" anchor="t"/>
          <a:lstStyle/>
          <a:p>
            <a:pPr marL="0" indent="0" algn="l">
              <a:lnSpc>
                <a:spcPct val="105000"/>
              </a:lnSpc>
              <a:buNone/>
            </a:pPr>
            <a:r>
              <a:rPr lang="en-US" sz="1400" b="1" dirty="0" err="1">
                <a:solidFill>
                  <a:srgbClr val="F2EFDA"/>
                </a:solidFill>
                <a:latin typeface="Arial" pitchFamily="34" charset="0"/>
                <a:ea typeface="Arial" pitchFamily="34" charset="-122"/>
                <a:cs typeface="Arial" pitchFamily="34" charset="-120"/>
              </a:rPr>
              <a:t>Technische</a:t>
            </a:r>
            <a:r>
              <a:rPr lang="en-US" sz="1400" b="1" dirty="0">
                <a:solidFill>
                  <a:srgbClr val="F2EFDA"/>
                </a:solidFill>
                <a:latin typeface="Arial" pitchFamily="34" charset="0"/>
                <a:ea typeface="Arial" pitchFamily="34" charset="-122"/>
                <a:cs typeface="Arial" pitchFamily="34" charset="-120"/>
              </a:rPr>
              <a:t> Hochschule Wildau</a:t>
            </a:r>
            <a:endParaRPr lang="en-US" sz="1400" dirty="0"/>
          </a:p>
        </p:txBody>
      </p:sp>
      <p:sp>
        <p:nvSpPr>
          <p:cNvPr id="20" name="Text 9">
            <a:extLst>
              <a:ext uri="{FF2B5EF4-FFF2-40B4-BE49-F238E27FC236}">
                <a16:creationId xmlns:a16="http://schemas.microsoft.com/office/drawing/2014/main" id="{3D1A27AC-F3F8-8963-7DAA-A6C880C7C8A9}"/>
              </a:ext>
            </a:extLst>
          </p:cNvPr>
          <p:cNvSpPr/>
          <p:nvPr/>
        </p:nvSpPr>
        <p:spPr>
          <a:xfrm>
            <a:off x="3499985" y="4602607"/>
            <a:ext cx="2286000" cy="254203"/>
          </a:xfrm>
          <a:prstGeom prst="rect">
            <a:avLst/>
          </a:prstGeom>
          <a:noFill/>
          <a:ln/>
        </p:spPr>
        <p:txBody>
          <a:bodyPr wrap="square" rtlCol="0" anchor="t"/>
          <a:lstStyle/>
          <a:p>
            <a:pPr marL="0" indent="0" algn="l">
              <a:lnSpc>
                <a:spcPct val="105000"/>
              </a:lnSpc>
              <a:buNone/>
            </a:pPr>
            <a:r>
              <a:rPr lang="en-US" sz="1400" b="1" dirty="0">
                <a:solidFill>
                  <a:srgbClr val="F2EFDA"/>
                </a:solidFill>
                <a:latin typeface="Arial" pitchFamily="34" charset="0"/>
                <a:ea typeface="Arial" pitchFamily="34" charset="-122"/>
                <a:cs typeface="Arial" pitchFamily="34" charset="-120"/>
              </a:rPr>
              <a:t>Prof. Dr. M. Steglich</a:t>
            </a:r>
          </a:p>
          <a:p>
            <a:pPr marL="0" indent="0" algn="l">
              <a:lnSpc>
                <a:spcPct val="105000"/>
              </a:lnSpc>
              <a:buNone/>
            </a:pPr>
            <a:r>
              <a:rPr lang="en-US" sz="1400" b="1" dirty="0">
                <a:solidFill>
                  <a:srgbClr val="F2EFDA"/>
                </a:solidFill>
                <a:latin typeface="Arial" pitchFamily="34" charset="0"/>
                <a:cs typeface="Arial" pitchFamily="34" charset="-120"/>
              </a:rPr>
              <a:t>Prof. Dr. R. </a:t>
            </a:r>
            <a:r>
              <a:rPr lang="en-US" sz="1400" b="1" dirty="0" err="1">
                <a:solidFill>
                  <a:srgbClr val="F2EFDA"/>
                </a:solidFill>
                <a:latin typeface="Arial" pitchFamily="34" charset="0"/>
                <a:cs typeface="Arial" pitchFamily="34" charset="-120"/>
              </a:rPr>
              <a:t>Stollhoff</a:t>
            </a:r>
            <a:endParaRPr lang="en-US" sz="1400" dirty="0"/>
          </a:p>
        </p:txBody>
      </p:sp>
      <p:sp>
        <p:nvSpPr>
          <p:cNvPr id="21" name="Text 9">
            <a:extLst>
              <a:ext uri="{FF2B5EF4-FFF2-40B4-BE49-F238E27FC236}">
                <a16:creationId xmlns:a16="http://schemas.microsoft.com/office/drawing/2014/main" id="{C3683C61-2CF9-EE4C-BF49-6DEAFBE66068}"/>
              </a:ext>
            </a:extLst>
          </p:cNvPr>
          <p:cNvSpPr/>
          <p:nvPr/>
        </p:nvSpPr>
        <p:spPr>
          <a:xfrm>
            <a:off x="3499985" y="5337654"/>
            <a:ext cx="2286000" cy="254203"/>
          </a:xfrm>
          <a:prstGeom prst="rect">
            <a:avLst/>
          </a:prstGeom>
          <a:noFill/>
          <a:ln/>
        </p:spPr>
        <p:txBody>
          <a:bodyPr wrap="square" rtlCol="0" anchor="t"/>
          <a:lstStyle/>
          <a:p>
            <a:pPr marL="0" indent="0" algn="l">
              <a:lnSpc>
                <a:spcPct val="105000"/>
              </a:lnSpc>
              <a:buNone/>
            </a:pPr>
            <a:r>
              <a:rPr lang="en-US" sz="1400" b="1" dirty="0">
                <a:solidFill>
                  <a:srgbClr val="F2EFDA"/>
                </a:solidFill>
                <a:latin typeface="Arial" pitchFamily="34" charset="0"/>
                <a:ea typeface="Arial" pitchFamily="34" charset="-122"/>
                <a:cs typeface="Arial" pitchFamily="34" charset="-120"/>
              </a:rPr>
              <a:t>07.07.2026</a:t>
            </a:r>
            <a:endParaRPr lang="en-US" sz="1400" dirty="0"/>
          </a:p>
        </p:txBody>
      </p:sp>
      <p:pic>
        <p:nvPicPr>
          <p:cNvPr id="22" name="Grafik 21">
            <a:extLst>
              <a:ext uri="{FF2B5EF4-FFF2-40B4-BE49-F238E27FC236}">
                <a16:creationId xmlns:a16="http://schemas.microsoft.com/office/drawing/2014/main" id="{CEF7AEE1-50DC-1F30-E9E7-5B152B6E8239}"/>
              </a:ext>
            </a:extLst>
          </p:cNvPr>
          <p:cNvPicPr>
            <a:picLocks noChangeAspect="1"/>
          </p:cNvPicPr>
          <p:nvPr/>
        </p:nvPicPr>
        <p:blipFill>
          <a:blip r:embed="rId4"/>
          <a:stretch>
            <a:fillRect/>
          </a:stretch>
        </p:blipFill>
        <p:spPr>
          <a:xfrm>
            <a:off x="8507100" y="3153787"/>
            <a:ext cx="2425840" cy="3431804"/>
          </a:xfrm>
          <a:prstGeom prst="rect">
            <a:avLst/>
          </a:prstGeom>
          <a:effectLst>
            <a:outerShdw blurRad="50800" dist="127000" dir="13500000" algn="br" rotWithShape="0">
              <a:schemeClr val="bg1">
                <a:alpha val="40000"/>
              </a:schemeClr>
            </a:outerShdw>
          </a:effectLst>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4" name="Text 1"/>
          <p:cNvSpPr/>
          <p:nvPr/>
        </p:nvSpPr>
        <p:spPr>
          <a:xfrm>
            <a:off x="415959" y="291694"/>
            <a:ext cx="8255203" cy="215798"/>
          </a:xfrm>
          <a:prstGeom prst="rect">
            <a:avLst/>
          </a:prstGeom>
          <a:noFill/>
          <a:ln/>
        </p:spPr>
        <p:txBody>
          <a:bodyPr wrap="square" rtlCol="0" anchor="ctr"/>
          <a:lstStyle/>
          <a:p>
            <a:pPr marL="0" indent="0">
              <a:buNone/>
            </a:pPr>
            <a:r>
              <a:rPr lang="en-US" sz="1200" b="1" kern="0" spc="400" dirty="0">
                <a:solidFill>
                  <a:srgbClr val="E6D34F"/>
                </a:solidFill>
                <a:latin typeface="Courier New" pitchFamily="34" charset="0"/>
                <a:cs typeface="Courier New" pitchFamily="34" charset="-120"/>
              </a:rPr>
              <a:t>EINLEITUNG</a:t>
            </a:r>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dirty="0">
                <a:solidFill>
                  <a:srgbClr val="798D6F"/>
                </a:solidFill>
                <a:latin typeface="Courier New" pitchFamily="34" charset="0"/>
                <a:ea typeface="Courier New" pitchFamily="34" charset="-122"/>
                <a:cs typeface="Courier New" pitchFamily="34" charset="-120"/>
              </a:rPr>
              <a:t>02 / 13</a:t>
            </a:r>
            <a:endParaRPr lang="en-US" sz="1200" dirty="0"/>
          </a:p>
        </p:txBody>
      </p:sp>
      <p:sp>
        <p:nvSpPr>
          <p:cNvPr id="6" name="Text 3"/>
          <p:cNvSpPr/>
          <p:nvPr/>
        </p:nvSpPr>
        <p:spPr>
          <a:xfrm>
            <a:off x="634593" y="761695"/>
            <a:ext cx="10921593" cy="888797"/>
          </a:xfrm>
          <a:prstGeom prst="rect">
            <a:avLst/>
          </a:prstGeom>
          <a:noFill/>
          <a:ln/>
        </p:spPr>
        <p:txBody>
          <a:bodyPr wrap="square" rtlCol="0" anchor="t"/>
          <a:lstStyle/>
          <a:p>
            <a:pPr marL="0" indent="0" algn="ctr">
              <a:lnSpc>
                <a:spcPct val="105000"/>
              </a:lnSpc>
              <a:buNone/>
            </a:pPr>
            <a:r>
              <a:rPr lang="en-US" sz="2400" b="1" dirty="0">
                <a:solidFill>
                  <a:srgbClr val="F2EFDA"/>
                </a:solidFill>
                <a:latin typeface="Arial" pitchFamily="34" charset="0"/>
                <a:ea typeface="Arial" pitchFamily="34" charset="-122"/>
                <a:cs typeface="Arial" pitchFamily="34" charset="-120"/>
              </a:rPr>
              <a:t>Eine Kennzahl ist </a:t>
            </a:r>
            <a:r>
              <a:rPr lang="en-US" sz="2400" b="1" dirty="0" err="1">
                <a:solidFill>
                  <a:srgbClr val="F2EFDA"/>
                </a:solidFill>
                <a:latin typeface="Arial" pitchFamily="34" charset="0"/>
                <a:ea typeface="Arial" pitchFamily="34" charset="-122"/>
                <a:cs typeface="Arial" pitchFamily="34" charset="-120"/>
              </a:rPr>
              <a:t>eine</a:t>
            </a:r>
            <a:r>
              <a:rPr lang="en-US" sz="2400" b="1" dirty="0">
                <a:solidFill>
                  <a:srgbClr val="F2EFDA"/>
                </a:solidFill>
                <a:latin typeface="Arial" pitchFamily="34" charset="0"/>
                <a:ea typeface="Arial" pitchFamily="34" charset="-122"/>
                <a:cs typeface="Arial" pitchFamily="34" charset="-120"/>
              </a:rPr>
              <a:t> </a:t>
            </a:r>
            <a:r>
              <a:rPr lang="en-US" sz="2400" b="1" dirty="0" err="1">
                <a:solidFill>
                  <a:srgbClr val="F2EFDA"/>
                </a:solidFill>
                <a:latin typeface="Arial" pitchFamily="34" charset="0"/>
                <a:ea typeface="Arial" pitchFamily="34" charset="-122"/>
                <a:cs typeface="Arial" pitchFamily="34" charset="-120"/>
              </a:rPr>
              <a:t>Momentaufnahme</a:t>
            </a:r>
            <a:r>
              <a:rPr lang="en-US" sz="2400" b="1" dirty="0">
                <a:solidFill>
                  <a:srgbClr val="F2EFDA"/>
                </a:solidFill>
                <a:latin typeface="Arial" pitchFamily="34" charset="0"/>
                <a:ea typeface="Arial" pitchFamily="34" charset="-122"/>
                <a:cs typeface="Arial" pitchFamily="34" charset="-120"/>
              </a:rPr>
              <a:t>, die Information steckt in der </a:t>
            </a:r>
            <a:r>
              <a:rPr lang="en-US" sz="2400" b="1" dirty="0" err="1">
                <a:solidFill>
                  <a:srgbClr val="78A2F9"/>
                </a:solidFill>
                <a:latin typeface="Arial" pitchFamily="34" charset="0"/>
                <a:ea typeface="Arial" pitchFamily="34" charset="-122"/>
                <a:cs typeface="Arial" pitchFamily="34" charset="-120"/>
              </a:rPr>
              <a:t>Veränderung</a:t>
            </a:r>
            <a:r>
              <a:rPr lang="en-US" sz="2400" b="1" dirty="0">
                <a:solidFill>
                  <a:srgbClr val="F2EFDA"/>
                </a:solidFill>
                <a:latin typeface="Arial" pitchFamily="34" charset="0"/>
                <a:ea typeface="Arial" pitchFamily="34" charset="-122"/>
                <a:cs typeface="Arial" pitchFamily="34" charset="-120"/>
              </a:rPr>
              <a:t>.</a:t>
            </a:r>
            <a:endParaRPr lang="en-US" sz="2400" dirty="0"/>
          </a:p>
        </p:txBody>
      </p:sp>
      <p:sp>
        <p:nvSpPr>
          <p:cNvPr id="7" name="Shape 4"/>
          <p:cNvSpPr/>
          <p:nvPr/>
        </p:nvSpPr>
        <p:spPr>
          <a:xfrm>
            <a:off x="634593" y="1904695"/>
            <a:ext cx="5266695" cy="952805"/>
          </a:xfrm>
          <a:prstGeom prst="roundRect">
            <a:avLst>
              <a:gd name="adj" fmla="val 10653"/>
            </a:avLst>
          </a:prstGeom>
          <a:solidFill>
            <a:srgbClr val="1E402E"/>
          </a:solidFill>
          <a:ln w="12700">
            <a:solidFill>
              <a:srgbClr val="4A6D56"/>
            </a:solidFill>
            <a:prstDash val="solid"/>
          </a:ln>
        </p:spPr>
        <p:txBody>
          <a:bodyPr/>
          <a:lstStyle/>
          <a:p>
            <a:endParaRPr lang="de-DE"/>
          </a:p>
        </p:txBody>
      </p:sp>
      <p:sp>
        <p:nvSpPr>
          <p:cNvPr id="8" name="Text 5"/>
          <p:cNvSpPr/>
          <p:nvPr/>
        </p:nvSpPr>
        <p:spPr>
          <a:xfrm>
            <a:off x="952805" y="2095805"/>
            <a:ext cx="571500" cy="558698"/>
          </a:xfrm>
          <a:prstGeom prst="rect">
            <a:avLst/>
          </a:prstGeom>
          <a:noFill/>
          <a:ln/>
        </p:spPr>
        <p:txBody>
          <a:bodyPr wrap="square" rtlCol="0" anchor="ctr"/>
          <a:lstStyle/>
          <a:p>
            <a:pPr marL="0" indent="0" algn="l">
              <a:lnSpc>
                <a:spcPct val="105000"/>
              </a:lnSpc>
              <a:buNone/>
            </a:pPr>
            <a:r>
              <a:rPr lang="en-US" sz="3200" b="1" dirty="0">
                <a:solidFill>
                  <a:srgbClr val="78A2F9"/>
                </a:solidFill>
                <a:latin typeface="Courier New" pitchFamily="34" charset="0"/>
                <a:ea typeface="Courier New" pitchFamily="34" charset="-122"/>
                <a:cs typeface="Courier New" pitchFamily="34" charset="-120"/>
              </a:rPr>
              <a:t>φ</a:t>
            </a:r>
            <a:endParaRPr lang="en-US" sz="3200" dirty="0">
              <a:solidFill>
                <a:srgbClr val="78A2F9"/>
              </a:solidFill>
            </a:endParaRPr>
          </a:p>
        </p:txBody>
      </p:sp>
      <p:sp>
        <p:nvSpPr>
          <p:cNvPr id="9" name="Text 6"/>
          <p:cNvSpPr/>
          <p:nvPr/>
        </p:nvSpPr>
        <p:spPr>
          <a:xfrm>
            <a:off x="1714500" y="2095805"/>
            <a:ext cx="3873398" cy="254203"/>
          </a:xfrm>
          <a:prstGeom prst="rect">
            <a:avLst/>
          </a:prstGeom>
          <a:noFill/>
          <a:ln/>
        </p:spPr>
        <p:txBody>
          <a:bodyPr wrap="square" rtlCol="0" anchor="t"/>
          <a:lstStyle/>
          <a:p>
            <a:pPr marL="0" indent="0" algn="l">
              <a:lnSpc>
                <a:spcPct val="105000"/>
              </a:lnSpc>
              <a:buNone/>
            </a:pPr>
            <a:r>
              <a:rPr lang="en-US" sz="1400" b="1" dirty="0">
                <a:solidFill>
                  <a:srgbClr val="F2EFDA"/>
                </a:solidFill>
                <a:latin typeface="Arial" pitchFamily="34" charset="0"/>
                <a:ea typeface="Arial" pitchFamily="34" charset="-122"/>
                <a:cs typeface="Arial" pitchFamily="34" charset="-120"/>
              </a:rPr>
              <a:t>Korrekturgeschwindigkeit</a:t>
            </a:r>
            <a:endParaRPr lang="en-US" sz="1400" dirty="0"/>
          </a:p>
        </p:txBody>
      </p:sp>
      <p:sp>
        <p:nvSpPr>
          <p:cNvPr id="10" name="Text 7"/>
          <p:cNvSpPr/>
          <p:nvPr/>
        </p:nvSpPr>
        <p:spPr>
          <a:xfrm>
            <a:off x="1714500" y="2400300"/>
            <a:ext cx="4063594" cy="305614"/>
          </a:xfrm>
          <a:prstGeom prst="rect">
            <a:avLst/>
          </a:prstGeom>
          <a:noFill/>
          <a:ln/>
        </p:spPr>
        <p:txBody>
          <a:bodyPr wrap="square" rtlCol="0" anchor="t"/>
          <a:lstStyle/>
          <a:p>
            <a:pPr marL="0" indent="0" algn="l">
              <a:lnSpc>
                <a:spcPct val="105000"/>
              </a:lnSpc>
              <a:buNone/>
            </a:pPr>
            <a:r>
              <a:rPr lang="en-US" sz="1200" dirty="0">
                <a:solidFill>
                  <a:srgbClr val="B3BC9A"/>
                </a:solidFill>
                <a:latin typeface="Arial" pitchFamily="34" charset="0"/>
                <a:ea typeface="Arial" pitchFamily="34" charset="-122"/>
                <a:cs typeface="Arial" pitchFamily="34" charset="-120"/>
              </a:rPr>
              <a:t>Kehrt eine Quartalsveränderung im Folgequartal </a:t>
            </a:r>
            <a:r>
              <a:rPr lang="en-US" sz="1200" dirty="0" err="1">
                <a:solidFill>
                  <a:srgbClr val="B3BC9A"/>
                </a:solidFill>
                <a:latin typeface="Arial" pitchFamily="34" charset="0"/>
                <a:ea typeface="Arial" pitchFamily="34" charset="-122"/>
                <a:cs typeface="Arial" pitchFamily="34" charset="-120"/>
              </a:rPr>
              <a:t>zurück</a:t>
            </a:r>
            <a:r>
              <a:rPr lang="en-US" sz="1200" dirty="0">
                <a:solidFill>
                  <a:srgbClr val="B3BC9A"/>
                </a:solidFill>
                <a:latin typeface="Arial" pitchFamily="34" charset="0"/>
                <a:ea typeface="Arial" pitchFamily="34" charset="-122"/>
                <a:cs typeface="Arial" pitchFamily="34" charset="-120"/>
              </a:rPr>
              <a:t>?</a:t>
            </a:r>
          </a:p>
        </p:txBody>
      </p:sp>
      <p:sp>
        <p:nvSpPr>
          <p:cNvPr id="11" name="Shape 8"/>
          <p:cNvSpPr/>
          <p:nvPr/>
        </p:nvSpPr>
        <p:spPr>
          <a:xfrm>
            <a:off x="6290714" y="1904695"/>
            <a:ext cx="5266696" cy="952805"/>
          </a:xfrm>
          <a:prstGeom prst="roundRect">
            <a:avLst>
              <a:gd name="adj" fmla="val 10653"/>
            </a:avLst>
          </a:prstGeom>
          <a:solidFill>
            <a:srgbClr val="1E402E"/>
          </a:solidFill>
          <a:ln w="12700">
            <a:solidFill>
              <a:srgbClr val="4A6D56"/>
            </a:solidFill>
            <a:prstDash val="solid"/>
          </a:ln>
        </p:spPr>
        <p:txBody>
          <a:bodyPr/>
          <a:lstStyle/>
          <a:p>
            <a:endParaRPr lang="de-DE"/>
          </a:p>
        </p:txBody>
      </p:sp>
      <p:sp>
        <p:nvSpPr>
          <p:cNvPr id="12" name="Text 9"/>
          <p:cNvSpPr/>
          <p:nvPr/>
        </p:nvSpPr>
        <p:spPr>
          <a:xfrm>
            <a:off x="6608011" y="2031797"/>
            <a:ext cx="571500" cy="622706"/>
          </a:xfrm>
          <a:prstGeom prst="rect">
            <a:avLst/>
          </a:prstGeom>
          <a:noFill/>
          <a:ln/>
        </p:spPr>
        <p:txBody>
          <a:bodyPr wrap="square" rtlCol="0" anchor="ctr"/>
          <a:lstStyle/>
          <a:p>
            <a:pPr marL="0" indent="0" algn="l">
              <a:lnSpc>
                <a:spcPct val="105000"/>
              </a:lnSpc>
              <a:buNone/>
            </a:pPr>
            <a:r>
              <a:rPr lang="en-US" sz="3200" b="1" dirty="0">
                <a:solidFill>
                  <a:srgbClr val="79A2F9"/>
                </a:solidFill>
                <a:latin typeface="Courier New" pitchFamily="34" charset="0"/>
                <a:ea typeface="Courier New" pitchFamily="34" charset="-122"/>
                <a:cs typeface="Courier New" pitchFamily="34" charset="-120"/>
              </a:rPr>
              <a:t>σ</a:t>
            </a:r>
            <a:endParaRPr lang="en-US" sz="3200" dirty="0"/>
          </a:p>
        </p:txBody>
      </p:sp>
      <p:sp>
        <p:nvSpPr>
          <p:cNvPr id="13" name="Text 10"/>
          <p:cNvSpPr/>
          <p:nvPr/>
        </p:nvSpPr>
        <p:spPr>
          <a:xfrm>
            <a:off x="7369706" y="2095805"/>
            <a:ext cx="3746297" cy="254203"/>
          </a:xfrm>
          <a:prstGeom prst="rect">
            <a:avLst/>
          </a:prstGeom>
          <a:noFill/>
          <a:ln/>
        </p:spPr>
        <p:txBody>
          <a:bodyPr wrap="square" rtlCol="0" anchor="t"/>
          <a:lstStyle/>
          <a:p>
            <a:pPr marL="0" indent="0" algn="l">
              <a:lnSpc>
                <a:spcPct val="105000"/>
              </a:lnSpc>
              <a:buNone/>
            </a:pPr>
            <a:r>
              <a:rPr lang="en-US" sz="1400" b="1" dirty="0">
                <a:solidFill>
                  <a:srgbClr val="F2EFDA"/>
                </a:solidFill>
                <a:latin typeface="Arial" pitchFamily="34" charset="0"/>
                <a:ea typeface="Arial" pitchFamily="34" charset="-122"/>
                <a:cs typeface="Arial" pitchFamily="34" charset="-120"/>
              </a:rPr>
              <a:t>Veränderungsvolatilität σ(ΔY)</a:t>
            </a:r>
            <a:endParaRPr lang="en-US" sz="1400" dirty="0"/>
          </a:p>
        </p:txBody>
      </p:sp>
      <p:sp>
        <p:nvSpPr>
          <p:cNvPr id="14" name="Text 11"/>
          <p:cNvSpPr/>
          <p:nvPr/>
        </p:nvSpPr>
        <p:spPr>
          <a:xfrm>
            <a:off x="7369706" y="2400300"/>
            <a:ext cx="4187704" cy="305719"/>
          </a:xfrm>
          <a:prstGeom prst="rect">
            <a:avLst/>
          </a:prstGeom>
          <a:noFill/>
          <a:ln/>
        </p:spPr>
        <p:txBody>
          <a:bodyPr wrap="square" rtlCol="0" anchor="t"/>
          <a:lstStyle/>
          <a:p>
            <a:pPr marL="0" indent="0" algn="l">
              <a:lnSpc>
                <a:spcPct val="105000"/>
              </a:lnSpc>
              <a:buNone/>
            </a:pPr>
            <a:r>
              <a:rPr lang="en-US" sz="1200" dirty="0">
                <a:solidFill>
                  <a:srgbClr val="B3BC9A"/>
                </a:solidFill>
                <a:latin typeface="Arial" pitchFamily="34" charset="0"/>
                <a:ea typeface="Arial" pitchFamily="34" charset="-122"/>
                <a:cs typeface="Arial" pitchFamily="34" charset="-120"/>
              </a:rPr>
              <a:t>Wie stark schwankt eine Kennzahl von Quartal zu Quartal?</a:t>
            </a:r>
            <a:endParaRPr lang="en-US" sz="1200" dirty="0"/>
          </a:p>
        </p:txBody>
      </p:sp>
      <p:sp>
        <p:nvSpPr>
          <p:cNvPr id="15" name="Shape 12"/>
          <p:cNvSpPr/>
          <p:nvPr/>
        </p:nvSpPr>
        <p:spPr>
          <a:xfrm>
            <a:off x="634594" y="3517697"/>
            <a:ext cx="3226003" cy="2730398"/>
          </a:xfrm>
          <a:prstGeom prst="roundRect">
            <a:avLst>
              <a:gd name="adj" fmla="val 3717"/>
            </a:avLst>
          </a:prstGeom>
          <a:solidFill>
            <a:srgbClr val="153B29"/>
          </a:solidFill>
          <a:ln w="12700">
            <a:solidFill>
              <a:srgbClr val="2B513D"/>
            </a:solidFill>
            <a:prstDash val="solid"/>
          </a:ln>
        </p:spPr>
        <p:txBody>
          <a:bodyPr/>
          <a:lstStyle/>
          <a:p>
            <a:endParaRPr lang="de-DE" dirty="0"/>
          </a:p>
        </p:txBody>
      </p:sp>
      <p:sp>
        <p:nvSpPr>
          <p:cNvPr id="16" name="Text 13"/>
          <p:cNvSpPr/>
          <p:nvPr/>
        </p:nvSpPr>
        <p:spPr>
          <a:xfrm>
            <a:off x="838505" y="3735602"/>
            <a:ext cx="508406" cy="381305"/>
          </a:xfrm>
          <a:prstGeom prst="rect">
            <a:avLst/>
          </a:prstGeom>
          <a:noFill/>
          <a:ln/>
        </p:spPr>
        <p:txBody>
          <a:bodyPr wrap="square" rtlCol="0" anchor="t"/>
          <a:lstStyle/>
          <a:p>
            <a:pPr marL="0" indent="0" algn="l">
              <a:lnSpc>
                <a:spcPct val="105000"/>
              </a:lnSpc>
              <a:buNone/>
            </a:pPr>
            <a:r>
              <a:rPr lang="en-US" sz="1400" b="1" dirty="0">
                <a:solidFill>
                  <a:srgbClr val="E6D34F"/>
                </a:solidFill>
                <a:latin typeface="Courier New" pitchFamily="34" charset="0"/>
                <a:ea typeface="Courier New" pitchFamily="34" charset="-122"/>
                <a:cs typeface="Courier New" pitchFamily="34" charset="-120"/>
              </a:rPr>
              <a:t>1</a:t>
            </a:r>
            <a:endParaRPr lang="en-US" sz="1400" dirty="0"/>
          </a:p>
        </p:txBody>
      </p:sp>
      <p:sp>
        <p:nvSpPr>
          <p:cNvPr id="17" name="Shape 14"/>
          <p:cNvSpPr/>
          <p:nvPr/>
        </p:nvSpPr>
        <p:spPr>
          <a:xfrm>
            <a:off x="1206094" y="3873708"/>
            <a:ext cx="2450592" cy="19202"/>
          </a:xfrm>
          <a:prstGeom prst="rect">
            <a:avLst/>
          </a:prstGeom>
          <a:solidFill>
            <a:srgbClr val="DBDEE2"/>
          </a:solidFill>
          <a:ln/>
        </p:spPr>
        <p:txBody>
          <a:bodyPr/>
          <a:lstStyle/>
          <a:p>
            <a:endParaRPr lang="de-DE"/>
          </a:p>
        </p:txBody>
      </p:sp>
      <p:sp>
        <p:nvSpPr>
          <p:cNvPr id="18" name="Text 15"/>
          <p:cNvSpPr/>
          <p:nvPr/>
        </p:nvSpPr>
        <p:spPr>
          <a:xfrm>
            <a:off x="838505" y="4216298"/>
            <a:ext cx="2819095" cy="1533035"/>
          </a:xfrm>
          <a:prstGeom prst="rect">
            <a:avLst/>
          </a:prstGeom>
          <a:noFill/>
          <a:ln/>
        </p:spPr>
        <p:txBody>
          <a:bodyPr wrap="square" rtlCol="0" anchor="ctr"/>
          <a:lstStyle/>
          <a:p>
            <a:pPr marL="0" indent="0" algn="l">
              <a:lnSpc>
                <a:spcPct val="125000"/>
              </a:lnSpc>
              <a:buNone/>
            </a:pPr>
            <a:r>
              <a:rPr lang="en-US" sz="1400" dirty="0">
                <a:solidFill>
                  <a:srgbClr val="F2EFDA"/>
                </a:solidFill>
                <a:latin typeface="Arial" pitchFamily="34" charset="0"/>
                <a:ea typeface="Arial" pitchFamily="34" charset="-122"/>
                <a:cs typeface="Arial" pitchFamily="34" charset="-120"/>
              </a:rPr>
              <a:t>Weisen </a:t>
            </a:r>
            <a:r>
              <a:rPr lang="en-US" sz="1400" dirty="0" err="1">
                <a:solidFill>
                  <a:srgbClr val="F2EFDA"/>
                </a:solidFill>
                <a:latin typeface="Arial" pitchFamily="34" charset="0"/>
                <a:ea typeface="Arial" pitchFamily="34" charset="-122"/>
                <a:cs typeface="Arial" pitchFamily="34" charset="-120"/>
              </a:rPr>
              <a:t>Finanzkennzahlen</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über</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Unternehmen</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hinweg</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systematische</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Unterschiede</a:t>
            </a:r>
            <a:r>
              <a:rPr lang="en-US" sz="1400" dirty="0">
                <a:solidFill>
                  <a:srgbClr val="F2EFDA"/>
                </a:solidFill>
                <a:latin typeface="Arial" pitchFamily="34" charset="0"/>
                <a:ea typeface="Arial" pitchFamily="34" charset="-122"/>
                <a:cs typeface="Arial" pitchFamily="34" charset="-120"/>
              </a:rPr>
              <a:t> in </a:t>
            </a:r>
            <a:r>
              <a:rPr lang="en-US" sz="1400" dirty="0" err="1">
                <a:solidFill>
                  <a:srgbClr val="F2EFDA"/>
                </a:solidFill>
                <a:latin typeface="Arial" pitchFamily="34" charset="0"/>
                <a:ea typeface="Arial" pitchFamily="34" charset="-122"/>
                <a:cs typeface="Arial" pitchFamily="34" charset="-120"/>
              </a:rPr>
              <a:t>ihrer</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zeitlichen</a:t>
            </a:r>
            <a:r>
              <a:rPr lang="en-US" sz="1400" dirty="0">
                <a:solidFill>
                  <a:srgbClr val="F2EFDA"/>
                </a:solidFill>
                <a:latin typeface="Arial" pitchFamily="34" charset="0"/>
                <a:ea typeface="Arial" pitchFamily="34" charset="-122"/>
                <a:cs typeface="Arial" pitchFamily="34" charset="-120"/>
              </a:rPr>
              <a:t> Dynamik auf?</a:t>
            </a:r>
          </a:p>
        </p:txBody>
      </p:sp>
      <p:sp>
        <p:nvSpPr>
          <p:cNvPr id="19" name="Shape 16"/>
          <p:cNvSpPr/>
          <p:nvPr/>
        </p:nvSpPr>
        <p:spPr>
          <a:xfrm>
            <a:off x="4482998" y="3517697"/>
            <a:ext cx="3226003" cy="2730398"/>
          </a:xfrm>
          <a:prstGeom prst="roundRect">
            <a:avLst>
              <a:gd name="adj" fmla="val 3717"/>
            </a:avLst>
          </a:prstGeom>
          <a:solidFill>
            <a:srgbClr val="153B29"/>
          </a:solidFill>
          <a:ln w="12700">
            <a:solidFill>
              <a:srgbClr val="2B513D"/>
            </a:solidFill>
            <a:prstDash val="solid"/>
          </a:ln>
        </p:spPr>
        <p:txBody>
          <a:bodyPr/>
          <a:lstStyle/>
          <a:p>
            <a:endParaRPr lang="de-DE" dirty="0"/>
          </a:p>
        </p:txBody>
      </p:sp>
      <p:sp>
        <p:nvSpPr>
          <p:cNvPr id="20" name="Text 17"/>
          <p:cNvSpPr/>
          <p:nvPr/>
        </p:nvSpPr>
        <p:spPr>
          <a:xfrm>
            <a:off x="4685995" y="3721747"/>
            <a:ext cx="508406" cy="381305"/>
          </a:xfrm>
          <a:prstGeom prst="rect">
            <a:avLst/>
          </a:prstGeom>
          <a:noFill/>
          <a:ln/>
        </p:spPr>
        <p:txBody>
          <a:bodyPr wrap="square" rtlCol="0" anchor="t"/>
          <a:lstStyle/>
          <a:p>
            <a:pPr marL="0" indent="0" algn="l">
              <a:lnSpc>
                <a:spcPct val="105000"/>
              </a:lnSpc>
              <a:buNone/>
            </a:pPr>
            <a:r>
              <a:rPr lang="en-US" sz="1400" b="1" dirty="0">
                <a:solidFill>
                  <a:srgbClr val="E6D34F"/>
                </a:solidFill>
                <a:latin typeface="Courier New" pitchFamily="34" charset="0"/>
                <a:ea typeface="Courier New" pitchFamily="34" charset="-122"/>
                <a:cs typeface="Courier New" pitchFamily="34" charset="-120"/>
              </a:rPr>
              <a:t>2</a:t>
            </a:r>
            <a:endParaRPr lang="en-US" sz="1400" dirty="0"/>
          </a:p>
        </p:txBody>
      </p:sp>
      <p:sp>
        <p:nvSpPr>
          <p:cNvPr id="21" name="Shape 18"/>
          <p:cNvSpPr/>
          <p:nvPr/>
        </p:nvSpPr>
        <p:spPr>
          <a:xfrm>
            <a:off x="5054498" y="3873708"/>
            <a:ext cx="2450592" cy="19202"/>
          </a:xfrm>
          <a:prstGeom prst="rect">
            <a:avLst/>
          </a:prstGeom>
          <a:solidFill>
            <a:srgbClr val="DBDEE2"/>
          </a:solidFill>
          <a:ln/>
        </p:spPr>
        <p:txBody>
          <a:bodyPr/>
          <a:lstStyle/>
          <a:p>
            <a:endParaRPr lang="de-DE"/>
          </a:p>
        </p:txBody>
      </p:sp>
      <p:sp>
        <p:nvSpPr>
          <p:cNvPr id="22" name="Text 19"/>
          <p:cNvSpPr/>
          <p:nvPr/>
        </p:nvSpPr>
        <p:spPr>
          <a:xfrm>
            <a:off x="4685995" y="4216298"/>
            <a:ext cx="2819095" cy="1533035"/>
          </a:xfrm>
          <a:prstGeom prst="rect">
            <a:avLst/>
          </a:prstGeom>
          <a:noFill/>
          <a:ln/>
        </p:spPr>
        <p:txBody>
          <a:bodyPr wrap="square" rtlCol="0" anchor="ctr"/>
          <a:lstStyle/>
          <a:p>
            <a:pPr marL="0" indent="0" algn="l">
              <a:lnSpc>
                <a:spcPct val="125000"/>
              </a:lnSpc>
              <a:buNone/>
            </a:pPr>
            <a:r>
              <a:rPr lang="en-US" sz="1400" dirty="0" err="1">
                <a:solidFill>
                  <a:srgbClr val="F2EFDA"/>
                </a:solidFill>
                <a:latin typeface="Arial" pitchFamily="34" charset="0"/>
                <a:ea typeface="Arial" pitchFamily="34" charset="-122"/>
                <a:cs typeface="Arial" pitchFamily="34" charset="-120"/>
              </a:rPr>
              <a:t>Welche</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Interdependenzen</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bestehen</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zwischen</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Finanzkennzahlen</a:t>
            </a:r>
            <a:r>
              <a:rPr lang="en-US" sz="1400" dirty="0">
                <a:solidFill>
                  <a:srgbClr val="F2EFDA"/>
                </a:solidFill>
                <a:latin typeface="Arial" pitchFamily="34" charset="0"/>
                <a:ea typeface="Arial" pitchFamily="34" charset="-122"/>
                <a:cs typeface="Arial" pitchFamily="34" charset="-120"/>
              </a:rPr>
              <a:t> und </a:t>
            </a:r>
            <a:r>
              <a:rPr lang="en-US" sz="1400" dirty="0" err="1">
                <a:solidFill>
                  <a:srgbClr val="F2EFDA"/>
                </a:solidFill>
                <a:latin typeface="Arial" pitchFamily="34" charset="0"/>
                <a:ea typeface="Arial" pitchFamily="34" charset="-122"/>
                <a:cs typeface="Arial" pitchFamily="34" charset="-120"/>
              </a:rPr>
              <a:t>inwieweit</a:t>
            </a:r>
            <a:endParaRPr lang="en-US" sz="1400" dirty="0">
              <a:solidFill>
                <a:srgbClr val="F2EFDA"/>
              </a:solidFill>
              <a:latin typeface="Arial" pitchFamily="34" charset="0"/>
              <a:ea typeface="Arial" pitchFamily="34" charset="-122"/>
              <a:cs typeface="Arial" pitchFamily="34" charset="-120"/>
            </a:endParaRPr>
          </a:p>
          <a:p>
            <a:pPr marL="0" indent="0" algn="l">
              <a:lnSpc>
                <a:spcPct val="125000"/>
              </a:lnSpc>
              <a:buNone/>
            </a:pPr>
            <a:r>
              <a:rPr lang="en-US" sz="1400" dirty="0" err="1">
                <a:solidFill>
                  <a:srgbClr val="F2EFDA"/>
                </a:solidFill>
                <a:latin typeface="Arial" pitchFamily="34" charset="0"/>
                <a:ea typeface="Arial" pitchFamily="34" charset="-122"/>
                <a:cs typeface="Arial" pitchFamily="34" charset="-120"/>
              </a:rPr>
              <a:t>unterscheiden</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sich</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diese</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zwischen</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Unternehmen</a:t>
            </a:r>
            <a:r>
              <a:rPr lang="en-US" sz="1400" dirty="0">
                <a:solidFill>
                  <a:srgbClr val="F2EFDA"/>
                </a:solidFill>
                <a:latin typeface="Arial" pitchFamily="34" charset="0"/>
                <a:ea typeface="Arial" pitchFamily="34" charset="-122"/>
                <a:cs typeface="Arial" pitchFamily="34" charset="-120"/>
              </a:rPr>
              <a:t>?</a:t>
            </a:r>
          </a:p>
        </p:txBody>
      </p:sp>
      <p:sp>
        <p:nvSpPr>
          <p:cNvPr id="23" name="Shape 20"/>
          <p:cNvSpPr/>
          <p:nvPr/>
        </p:nvSpPr>
        <p:spPr>
          <a:xfrm>
            <a:off x="8330183" y="3517697"/>
            <a:ext cx="3226003" cy="2730398"/>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4" name="Text 21"/>
          <p:cNvSpPr/>
          <p:nvPr/>
        </p:nvSpPr>
        <p:spPr>
          <a:xfrm>
            <a:off x="8534094" y="3721747"/>
            <a:ext cx="508406" cy="381305"/>
          </a:xfrm>
          <a:prstGeom prst="rect">
            <a:avLst/>
          </a:prstGeom>
          <a:noFill/>
          <a:ln/>
        </p:spPr>
        <p:txBody>
          <a:bodyPr wrap="square" rtlCol="0" anchor="t"/>
          <a:lstStyle/>
          <a:p>
            <a:pPr marL="0" indent="0" algn="l">
              <a:lnSpc>
                <a:spcPct val="105000"/>
              </a:lnSpc>
              <a:buNone/>
            </a:pPr>
            <a:r>
              <a:rPr lang="en-US" sz="1400" b="1" dirty="0">
                <a:solidFill>
                  <a:srgbClr val="E6D34F"/>
                </a:solidFill>
                <a:latin typeface="Courier New" pitchFamily="34" charset="0"/>
                <a:ea typeface="Courier New" pitchFamily="34" charset="-122"/>
                <a:cs typeface="Courier New" pitchFamily="34" charset="-120"/>
              </a:rPr>
              <a:t>3</a:t>
            </a:r>
            <a:endParaRPr lang="en-US" sz="1400" dirty="0"/>
          </a:p>
        </p:txBody>
      </p:sp>
      <p:sp>
        <p:nvSpPr>
          <p:cNvPr id="25" name="Shape 22"/>
          <p:cNvSpPr/>
          <p:nvPr/>
        </p:nvSpPr>
        <p:spPr>
          <a:xfrm>
            <a:off x="8901683" y="3873708"/>
            <a:ext cx="2450592" cy="19202"/>
          </a:xfrm>
          <a:prstGeom prst="rect">
            <a:avLst/>
          </a:prstGeom>
          <a:solidFill>
            <a:srgbClr val="DBDEE2"/>
          </a:solidFill>
          <a:ln/>
        </p:spPr>
        <p:txBody>
          <a:bodyPr/>
          <a:lstStyle/>
          <a:p>
            <a:endParaRPr lang="de-DE"/>
          </a:p>
        </p:txBody>
      </p:sp>
      <p:sp>
        <p:nvSpPr>
          <p:cNvPr id="26" name="Text 23"/>
          <p:cNvSpPr/>
          <p:nvPr/>
        </p:nvSpPr>
        <p:spPr>
          <a:xfrm>
            <a:off x="8534094" y="4216298"/>
            <a:ext cx="2819095" cy="1533035"/>
          </a:xfrm>
          <a:prstGeom prst="rect">
            <a:avLst/>
          </a:prstGeom>
          <a:noFill/>
          <a:ln/>
        </p:spPr>
        <p:txBody>
          <a:bodyPr wrap="square" rtlCol="0" anchor="ctr"/>
          <a:lstStyle/>
          <a:p>
            <a:pPr marL="0" indent="0" algn="l">
              <a:lnSpc>
                <a:spcPct val="125000"/>
              </a:lnSpc>
              <a:buNone/>
            </a:pPr>
            <a:r>
              <a:rPr lang="en-US" sz="1400" dirty="0">
                <a:solidFill>
                  <a:srgbClr val="F2EFDA"/>
                </a:solidFill>
                <a:latin typeface="Arial" pitchFamily="34" charset="0"/>
                <a:ea typeface="Arial" pitchFamily="34" charset="-122"/>
                <a:cs typeface="Arial" pitchFamily="34" charset="-120"/>
              </a:rPr>
              <a:t>Stehen </a:t>
            </a:r>
            <a:r>
              <a:rPr lang="en-US" sz="1400" dirty="0" err="1">
                <a:solidFill>
                  <a:srgbClr val="F2EFDA"/>
                </a:solidFill>
                <a:latin typeface="Arial" pitchFamily="34" charset="0"/>
                <a:ea typeface="Arial" pitchFamily="34" charset="-122"/>
                <a:cs typeface="Arial" pitchFamily="34" charset="-120"/>
              </a:rPr>
              <a:t>zeitliche</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Dynamiken</a:t>
            </a:r>
            <a:r>
              <a:rPr lang="en-US" sz="1400" dirty="0">
                <a:solidFill>
                  <a:srgbClr val="F2EFDA"/>
                </a:solidFill>
                <a:latin typeface="Arial" pitchFamily="34" charset="0"/>
                <a:ea typeface="Arial" pitchFamily="34" charset="-122"/>
                <a:cs typeface="Arial" pitchFamily="34" charset="-120"/>
              </a:rPr>
              <a:t> von </a:t>
            </a:r>
            <a:r>
              <a:rPr lang="en-US" sz="1400" dirty="0" err="1">
                <a:solidFill>
                  <a:srgbClr val="F2EFDA"/>
                </a:solidFill>
                <a:latin typeface="Arial" pitchFamily="34" charset="0"/>
                <a:ea typeface="Arial" pitchFamily="34" charset="-122"/>
                <a:cs typeface="Arial" pitchFamily="34" charset="-120"/>
              </a:rPr>
              <a:t>Finanzkennzahlen</a:t>
            </a:r>
            <a:r>
              <a:rPr lang="en-US" sz="1400" dirty="0">
                <a:solidFill>
                  <a:srgbClr val="F2EFDA"/>
                </a:solidFill>
                <a:latin typeface="Arial" pitchFamily="34" charset="0"/>
                <a:ea typeface="Arial" pitchFamily="34" charset="-122"/>
                <a:cs typeface="Arial" pitchFamily="34" charset="-120"/>
              </a:rPr>
              <a:t> in </a:t>
            </a:r>
            <a:r>
              <a:rPr lang="en-US" sz="1400" dirty="0" err="1">
                <a:solidFill>
                  <a:srgbClr val="F2EFDA"/>
                </a:solidFill>
                <a:latin typeface="Arial" pitchFamily="34" charset="0"/>
                <a:ea typeface="Arial" pitchFamily="34" charset="-122"/>
                <a:cs typeface="Arial" pitchFamily="34" charset="-120"/>
              </a:rPr>
              <a:t>Zusammenhang</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mit</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strukturellen</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Unternehmensmerkmalen</a:t>
            </a:r>
            <a:r>
              <a:rPr lang="en-US" sz="1400" dirty="0">
                <a:solidFill>
                  <a:srgbClr val="F2EFDA"/>
                </a:solidFill>
                <a:latin typeface="Arial" pitchFamily="34" charset="0"/>
                <a:ea typeface="Arial" pitchFamily="34" charset="-122"/>
                <a:cs typeface="Arial" pitchFamily="34" charset="-120"/>
              </a:rPr>
              <a:t>?</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451E4-4982-23E3-8EF8-95F83DB9218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368BBE8-1D8F-9ADD-4C92-4E376BD456B2}"/>
              </a:ext>
            </a:extLst>
          </p:cNvPr>
          <p:cNvSpPr/>
          <p:nvPr/>
        </p:nvSpPr>
        <p:spPr>
          <a:xfrm>
            <a:off x="0" y="0"/>
            <a:ext cx="12191695" cy="38405"/>
          </a:xfrm>
          <a:prstGeom prst="rect">
            <a:avLst/>
          </a:prstGeom>
          <a:solidFill>
            <a:srgbClr val="DBDEE2"/>
          </a:solidFill>
          <a:ln/>
        </p:spPr>
        <p:txBody>
          <a:bodyPr/>
          <a:lstStyle/>
          <a:p>
            <a:endParaRPr lang="de-DE"/>
          </a:p>
        </p:txBody>
      </p:sp>
      <p:sp>
        <p:nvSpPr>
          <p:cNvPr id="4" name="Text 1">
            <a:extLst>
              <a:ext uri="{FF2B5EF4-FFF2-40B4-BE49-F238E27FC236}">
                <a16:creationId xmlns:a16="http://schemas.microsoft.com/office/drawing/2014/main" id="{C4CF78A2-8F04-6C60-9309-32338B1F32AF}"/>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dirty="0">
                <a:solidFill>
                  <a:srgbClr val="E6D34F"/>
                </a:solidFill>
                <a:latin typeface="Courier New" pitchFamily="34" charset="0"/>
                <a:cs typeface="Courier New" pitchFamily="34" charset="-120"/>
              </a:rPr>
              <a:t>EINLEITUNG</a:t>
            </a:r>
          </a:p>
        </p:txBody>
      </p:sp>
      <p:sp>
        <p:nvSpPr>
          <p:cNvPr id="5" name="Text 2">
            <a:extLst>
              <a:ext uri="{FF2B5EF4-FFF2-40B4-BE49-F238E27FC236}">
                <a16:creationId xmlns:a16="http://schemas.microsoft.com/office/drawing/2014/main" id="{61CA8CA7-F8FF-ACE9-9B1D-988ABF328FE2}"/>
              </a:ext>
            </a:extLst>
          </p:cNvPr>
          <p:cNvSpPr/>
          <p:nvPr/>
        </p:nvSpPr>
        <p:spPr>
          <a:xfrm>
            <a:off x="9651492" y="291694"/>
            <a:ext cx="1904695" cy="215798"/>
          </a:xfrm>
          <a:prstGeom prst="rect">
            <a:avLst/>
          </a:prstGeom>
          <a:noFill/>
          <a:ln/>
        </p:spPr>
        <p:txBody>
          <a:bodyPr wrap="square" rtlCol="0" anchor="ctr"/>
          <a:lstStyle/>
          <a:p>
            <a:pPr marL="0" indent="0" algn="r">
              <a:buNone/>
            </a:pPr>
            <a:r>
              <a:rPr lang="en-US" sz="1200" dirty="0">
                <a:solidFill>
                  <a:srgbClr val="798D6F"/>
                </a:solidFill>
                <a:latin typeface="Courier New" pitchFamily="34" charset="0"/>
                <a:ea typeface="Courier New" pitchFamily="34" charset="-122"/>
                <a:cs typeface="Courier New" pitchFamily="34" charset="-120"/>
              </a:rPr>
              <a:t>02 / 13</a:t>
            </a:r>
            <a:endParaRPr lang="en-US" sz="1200" dirty="0"/>
          </a:p>
        </p:txBody>
      </p:sp>
      <p:sp>
        <p:nvSpPr>
          <p:cNvPr id="7" name="Shape 4">
            <a:extLst>
              <a:ext uri="{FF2B5EF4-FFF2-40B4-BE49-F238E27FC236}">
                <a16:creationId xmlns:a16="http://schemas.microsoft.com/office/drawing/2014/main" id="{E7B7F6E3-9C98-23D1-B103-976B3DD8707A}"/>
              </a:ext>
            </a:extLst>
          </p:cNvPr>
          <p:cNvSpPr/>
          <p:nvPr/>
        </p:nvSpPr>
        <p:spPr>
          <a:xfrm>
            <a:off x="634593" y="779281"/>
            <a:ext cx="5266695" cy="952805"/>
          </a:xfrm>
          <a:prstGeom prst="roundRect">
            <a:avLst>
              <a:gd name="adj" fmla="val 10653"/>
            </a:avLst>
          </a:prstGeom>
          <a:solidFill>
            <a:srgbClr val="1E402E"/>
          </a:solidFill>
          <a:ln w="12700">
            <a:solidFill>
              <a:srgbClr val="4A6D56"/>
            </a:solidFill>
            <a:prstDash val="solid"/>
          </a:ln>
        </p:spPr>
        <p:txBody>
          <a:bodyPr/>
          <a:lstStyle/>
          <a:p>
            <a:endParaRPr lang="de-DE"/>
          </a:p>
        </p:txBody>
      </p:sp>
      <p:sp>
        <p:nvSpPr>
          <p:cNvPr id="8" name="Text 5">
            <a:extLst>
              <a:ext uri="{FF2B5EF4-FFF2-40B4-BE49-F238E27FC236}">
                <a16:creationId xmlns:a16="http://schemas.microsoft.com/office/drawing/2014/main" id="{59255580-A4A8-2D72-7536-EEEA89620334}"/>
              </a:ext>
            </a:extLst>
          </p:cNvPr>
          <p:cNvSpPr/>
          <p:nvPr/>
        </p:nvSpPr>
        <p:spPr>
          <a:xfrm>
            <a:off x="952805" y="970391"/>
            <a:ext cx="571500" cy="558698"/>
          </a:xfrm>
          <a:prstGeom prst="rect">
            <a:avLst/>
          </a:prstGeom>
          <a:noFill/>
          <a:ln/>
        </p:spPr>
        <p:txBody>
          <a:bodyPr wrap="square" rtlCol="0" anchor="ctr"/>
          <a:lstStyle/>
          <a:p>
            <a:pPr marL="0" indent="0" algn="l">
              <a:lnSpc>
                <a:spcPct val="105000"/>
              </a:lnSpc>
              <a:buNone/>
            </a:pPr>
            <a:r>
              <a:rPr lang="en-US" sz="3200" b="1" dirty="0">
                <a:solidFill>
                  <a:srgbClr val="78A2F9"/>
                </a:solidFill>
                <a:latin typeface="Courier New" pitchFamily="34" charset="0"/>
                <a:ea typeface="Courier New" pitchFamily="34" charset="-122"/>
                <a:cs typeface="Courier New" pitchFamily="34" charset="-120"/>
              </a:rPr>
              <a:t>φ</a:t>
            </a:r>
            <a:endParaRPr lang="en-US" sz="3200" dirty="0">
              <a:solidFill>
                <a:srgbClr val="78A2F9"/>
              </a:solidFill>
            </a:endParaRPr>
          </a:p>
        </p:txBody>
      </p:sp>
      <p:sp>
        <p:nvSpPr>
          <p:cNvPr id="9" name="Text 6">
            <a:extLst>
              <a:ext uri="{FF2B5EF4-FFF2-40B4-BE49-F238E27FC236}">
                <a16:creationId xmlns:a16="http://schemas.microsoft.com/office/drawing/2014/main" id="{794C40AF-190F-DBB5-603D-EDC91DCA0026}"/>
              </a:ext>
            </a:extLst>
          </p:cNvPr>
          <p:cNvSpPr/>
          <p:nvPr/>
        </p:nvSpPr>
        <p:spPr>
          <a:xfrm>
            <a:off x="1714500" y="970391"/>
            <a:ext cx="3873398" cy="254203"/>
          </a:xfrm>
          <a:prstGeom prst="rect">
            <a:avLst/>
          </a:prstGeom>
          <a:noFill/>
          <a:ln/>
        </p:spPr>
        <p:txBody>
          <a:bodyPr wrap="square" rtlCol="0" anchor="t"/>
          <a:lstStyle/>
          <a:p>
            <a:pPr marL="0" indent="0" algn="l">
              <a:lnSpc>
                <a:spcPct val="105000"/>
              </a:lnSpc>
              <a:buNone/>
            </a:pPr>
            <a:r>
              <a:rPr lang="en-US" sz="1400" b="1" dirty="0">
                <a:solidFill>
                  <a:srgbClr val="F2EFDA"/>
                </a:solidFill>
                <a:latin typeface="Arial" pitchFamily="34" charset="0"/>
                <a:ea typeface="Arial" pitchFamily="34" charset="-122"/>
                <a:cs typeface="Arial" pitchFamily="34" charset="-120"/>
              </a:rPr>
              <a:t>Korrekturgeschwindigkeit</a:t>
            </a:r>
            <a:endParaRPr lang="en-US" sz="1400" dirty="0"/>
          </a:p>
        </p:txBody>
      </p:sp>
      <p:sp>
        <p:nvSpPr>
          <p:cNvPr id="10" name="Text 7">
            <a:extLst>
              <a:ext uri="{FF2B5EF4-FFF2-40B4-BE49-F238E27FC236}">
                <a16:creationId xmlns:a16="http://schemas.microsoft.com/office/drawing/2014/main" id="{D97EE1CB-52F1-C07A-189D-EC5CA012047B}"/>
              </a:ext>
            </a:extLst>
          </p:cNvPr>
          <p:cNvSpPr/>
          <p:nvPr/>
        </p:nvSpPr>
        <p:spPr>
          <a:xfrm>
            <a:off x="1714500" y="1274886"/>
            <a:ext cx="4063594" cy="254203"/>
          </a:xfrm>
          <a:prstGeom prst="rect">
            <a:avLst/>
          </a:prstGeom>
          <a:noFill/>
          <a:ln/>
        </p:spPr>
        <p:txBody>
          <a:bodyPr wrap="square" rtlCol="0" anchor="t"/>
          <a:lstStyle/>
          <a:p>
            <a:pPr marL="0" indent="0" algn="l">
              <a:lnSpc>
                <a:spcPct val="105000"/>
              </a:lnSpc>
              <a:buNone/>
            </a:pPr>
            <a:r>
              <a:rPr lang="en-US" sz="1200" dirty="0">
                <a:solidFill>
                  <a:srgbClr val="B3BC9A"/>
                </a:solidFill>
                <a:latin typeface="Arial" pitchFamily="34" charset="0"/>
                <a:ea typeface="Arial" pitchFamily="34" charset="-122"/>
                <a:cs typeface="Arial" pitchFamily="34" charset="-120"/>
              </a:rPr>
              <a:t>Kehrt eine Quartalsveränderung im Folgequartal zurück?</a:t>
            </a:r>
            <a:endParaRPr lang="en-US" sz="1200" dirty="0"/>
          </a:p>
        </p:txBody>
      </p:sp>
      <p:sp>
        <p:nvSpPr>
          <p:cNvPr id="11" name="Shape 8">
            <a:extLst>
              <a:ext uri="{FF2B5EF4-FFF2-40B4-BE49-F238E27FC236}">
                <a16:creationId xmlns:a16="http://schemas.microsoft.com/office/drawing/2014/main" id="{763482C4-BB56-948D-E6F0-48F37FD1B6EB}"/>
              </a:ext>
            </a:extLst>
          </p:cNvPr>
          <p:cNvSpPr/>
          <p:nvPr/>
        </p:nvSpPr>
        <p:spPr>
          <a:xfrm>
            <a:off x="6290714" y="779281"/>
            <a:ext cx="5266696" cy="952805"/>
          </a:xfrm>
          <a:prstGeom prst="roundRect">
            <a:avLst>
              <a:gd name="adj" fmla="val 10653"/>
            </a:avLst>
          </a:prstGeom>
          <a:solidFill>
            <a:srgbClr val="1E402E"/>
          </a:solidFill>
          <a:ln w="12700">
            <a:solidFill>
              <a:srgbClr val="4A6D56"/>
            </a:solidFill>
            <a:prstDash val="solid"/>
          </a:ln>
        </p:spPr>
        <p:txBody>
          <a:bodyPr/>
          <a:lstStyle/>
          <a:p>
            <a:endParaRPr lang="de-DE"/>
          </a:p>
        </p:txBody>
      </p:sp>
      <p:sp>
        <p:nvSpPr>
          <p:cNvPr id="12" name="Text 9">
            <a:extLst>
              <a:ext uri="{FF2B5EF4-FFF2-40B4-BE49-F238E27FC236}">
                <a16:creationId xmlns:a16="http://schemas.microsoft.com/office/drawing/2014/main" id="{1FD22A11-19E7-5E32-9854-CA50E1DCEA39}"/>
              </a:ext>
            </a:extLst>
          </p:cNvPr>
          <p:cNvSpPr/>
          <p:nvPr/>
        </p:nvSpPr>
        <p:spPr>
          <a:xfrm>
            <a:off x="6608011" y="906383"/>
            <a:ext cx="571500" cy="622706"/>
          </a:xfrm>
          <a:prstGeom prst="rect">
            <a:avLst/>
          </a:prstGeom>
          <a:noFill/>
          <a:ln/>
        </p:spPr>
        <p:txBody>
          <a:bodyPr wrap="square" rtlCol="0" anchor="ctr"/>
          <a:lstStyle/>
          <a:p>
            <a:pPr marL="0" indent="0" algn="l">
              <a:lnSpc>
                <a:spcPct val="105000"/>
              </a:lnSpc>
              <a:buNone/>
            </a:pPr>
            <a:r>
              <a:rPr lang="en-US" sz="3200" b="1" dirty="0">
                <a:solidFill>
                  <a:srgbClr val="79A2F9"/>
                </a:solidFill>
                <a:latin typeface="Courier New" pitchFamily="34" charset="0"/>
                <a:ea typeface="Courier New" pitchFamily="34" charset="-122"/>
                <a:cs typeface="Courier New" pitchFamily="34" charset="-120"/>
              </a:rPr>
              <a:t>σ</a:t>
            </a:r>
            <a:endParaRPr lang="en-US" sz="3200" dirty="0"/>
          </a:p>
        </p:txBody>
      </p:sp>
      <p:sp>
        <p:nvSpPr>
          <p:cNvPr id="13" name="Text 10">
            <a:extLst>
              <a:ext uri="{FF2B5EF4-FFF2-40B4-BE49-F238E27FC236}">
                <a16:creationId xmlns:a16="http://schemas.microsoft.com/office/drawing/2014/main" id="{975E8C70-7532-D29F-224B-AE09B69388F9}"/>
              </a:ext>
            </a:extLst>
          </p:cNvPr>
          <p:cNvSpPr/>
          <p:nvPr/>
        </p:nvSpPr>
        <p:spPr>
          <a:xfrm>
            <a:off x="7369706" y="970391"/>
            <a:ext cx="3746297" cy="254203"/>
          </a:xfrm>
          <a:prstGeom prst="rect">
            <a:avLst/>
          </a:prstGeom>
          <a:noFill/>
          <a:ln/>
        </p:spPr>
        <p:txBody>
          <a:bodyPr wrap="square" rtlCol="0" anchor="t"/>
          <a:lstStyle/>
          <a:p>
            <a:pPr marL="0" indent="0" algn="l">
              <a:lnSpc>
                <a:spcPct val="105000"/>
              </a:lnSpc>
              <a:buNone/>
            </a:pPr>
            <a:r>
              <a:rPr lang="en-US" sz="1400" b="1" dirty="0">
                <a:solidFill>
                  <a:srgbClr val="F2EFDA"/>
                </a:solidFill>
                <a:latin typeface="Arial" pitchFamily="34" charset="0"/>
                <a:ea typeface="Arial" pitchFamily="34" charset="-122"/>
                <a:cs typeface="Arial" pitchFamily="34" charset="-120"/>
              </a:rPr>
              <a:t>Veränderungsvolatilität σ(ΔY)</a:t>
            </a:r>
            <a:endParaRPr lang="en-US" sz="1400" dirty="0"/>
          </a:p>
        </p:txBody>
      </p:sp>
      <p:sp>
        <p:nvSpPr>
          <p:cNvPr id="14" name="Text 11">
            <a:extLst>
              <a:ext uri="{FF2B5EF4-FFF2-40B4-BE49-F238E27FC236}">
                <a16:creationId xmlns:a16="http://schemas.microsoft.com/office/drawing/2014/main" id="{13E2D9A1-BC9A-0F0D-220D-65228197AB42}"/>
              </a:ext>
            </a:extLst>
          </p:cNvPr>
          <p:cNvSpPr/>
          <p:nvPr/>
        </p:nvSpPr>
        <p:spPr>
          <a:xfrm>
            <a:off x="7369706" y="1274886"/>
            <a:ext cx="4187704" cy="305719"/>
          </a:xfrm>
          <a:prstGeom prst="rect">
            <a:avLst/>
          </a:prstGeom>
          <a:noFill/>
          <a:ln/>
        </p:spPr>
        <p:txBody>
          <a:bodyPr wrap="square" rtlCol="0" anchor="t"/>
          <a:lstStyle/>
          <a:p>
            <a:pPr marL="0" indent="0" algn="l">
              <a:lnSpc>
                <a:spcPct val="105000"/>
              </a:lnSpc>
              <a:buNone/>
            </a:pPr>
            <a:r>
              <a:rPr lang="en-US" sz="1200" dirty="0">
                <a:solidFill>
                  <a:srgbClr val="B3BC9A"/>
                </a:solidFill>
                <a:latin typeface="Arial" pitchFamily="34" charset="0"/>
                <a:ea typeface="Arial" pitchFamily="34" charset="-122"/>
                <a:cs typeface="Arial" pitchFamily="34" charset="-120"/>
              </a:rPr>
              <a:t>Wie stark schwankt eine Kennzahl von Quartal zu Quartal?</a:t>
            </a:r>
            <a:endParaRPr lang="en-US" sz="1200" dirty="0"/>
          </a:p>
        </p:txBody>
      </p:sp>
      <p:sp>
        <p:nvSpPr>
          <p:cNvPr id="15" name="Shape 12">
            <a:extLst>
              <a:ext uri="{FF2B5EF4-FFF2-40B4-BE49-F238E27FC236}">
                <a16:creationId xmlns:a16="http://schemas.microsoft.com/office/drawing/2014/main" id="{C0C842C1-28E1-8117-453A-FE4D9A2E37E3}"/>
              </a:ext>
            </a:extLst>
          </p:cNvPr>
          <p:cNvSpPr/>
          <p:nvPr/>
        </p:nvSpPr>
        <p:spPr>
          <a:xfrm>
            <a:off x="634594" y="2049383"/>
            <a:ext cx="3226003" cy="2002547"/>
          </a:xfrm>
          <a:prstGeom prst="roundRect">
            <a:avLst>
              <a:gd name="adj" fmla="val 3717"/>
            </a:avLst>
          </a:prstGeom>
          <a:solidFill>
            <a:srgbClr val="153B29"/>
          </a:solidFill>
          <a:ln w="12700">
            <a:solidFill>
              <a:srgbClr val="2B513D"/>
            </a:solidFill>
            <a:prstDash val="solid"/>
          </a:ln>
        </p:spPr>
        <p:txBody>
          <a:bodyPr/>
          <a:lstStyle/>
          <a:p>
            <a:endParaRPr lang="de-DE" dirty="0"/>
          </a:p>
        </p:txBody>
      </p:sp>
      <p:sp>
        <p:nvSpPr>
          <p:cNvPr id="16" name="Text 13">
            <a:extLst>
              <a:ext uri="{FF2B5EF4-FFF2-40B4-BE49-F238E27FC236}">
                <a16:creationId xmlns:a16="http://schemas.microsoft.com/office/drawing/2014/main" id="{3D3EDEFC-7B1F-80B8-83D8-C4919306094D}"/>
              </a:ext>
            </a:extLst>
          </p:cNvPr>
          <p:cNvSpPr/>
          <p:nvPr/>
        </p:nvSpPr>
        <p:spPr>
          <a:xfrm>
            <a:off x="838505" y="2267288"/>
            <a:ext cx="508406" cy="381305"/>
          </a:xfrm>
          <a:prstGeom prst="rect">
            <a:avLst/>
          </a:prstGeom>
          <a:noFill/>
          <a:ln/>
        </p:spPr>
        <p:txBody>
          <a:bodyPr wrap="square" rtlCol="0" anchor="t"/>
          <a:lstStyle/>
          <a:p>
            <a:pPr marL="0" indent="0" algn="l">
              <a:lnSpc>
                <a:spcPct val="105000"/>
              </a:lnSpc>
              <a:buNone/>
            </a:pPr>
            <a:r>
              <a:rPr lang="en-US" sz="1400" b="1" dirty="0">
                <a:solidFill>
                  <a:srgbClr val="E6D34F"/>
                </a:solidFill>
                <a:latin typeface="Courier New" pitchFamily="34" charset="0"/>
                <a:ea typeface="Courier New" pitchFamily="34" charset="-122"/>
                <a:cs typeface="Courier New" pitchFamily="34" charset="-120"/>
              </a:rPr>
              <a:t>1</a:t>
            </a:r>
            <a:endParaRPr lang="en-US" sz="1400" dirty="0"/>
          </a:p>
        </p:txBody>
      </p:sp>
      <p:sp>
        <p:nvSpPr>
          <p:cNvPr id="17" name="Shape 14">
            <a:extLst>
              <a:ext uri="{FF2B5EF4-FFF2-40B4-BE49-F238E27FC236}">
                <a16:creationId xmlns:a16="http://schemas.microsoft.com/office/drawing/2014/main" id="{D1573499-103B-973A-EBF5-C2C877705862}"/>
              </a:ext>
            </a:extLst>
          </p:cNvPr>
          <p:cNvSpPr/>
          <p:nvPr/>
        </p:nvSpPr>
        <p:spPr>
          <a:xfrm>
            <a:off x="1206094" y="2405394"/>
            <a:ext cx="2450592" cy="19202"/>
          </a:xfrm>
          <a:prstGeom prst="rect">
            <a:avLst/>
          </a:prstGeom>
          <a:solidFill>
            <a:srgbClr val="DBDEE2"/>
          </a:solidFill>
          <a:ln/>
        </p:spPr>
        <p:txBody>
          <a:bodyPr/>
          <a:lstStyle/>
          <a:p>
            <a:endParaRPr lang="de-DE"/>
          </a:p>
        </p:txBody>
      </p:sp>
      <p:sp>
        <p:nvSpPr>
          <p:cNvPr id="18" name="Text 15">
            <a:extLst>
              <a:ext uri="{FF2B5EF4-FFF2-40B4-BE49-F238E27FC236}">
                <a16:creationId xmlns:a16="http://schemas.microsoft.com/office/drawing/2014/main" id="{37B58CCC-869E-70F8-DBBB-D3008AFE245D}"/>
              </a:ext>
            </a:extLst>
          </p:cNvPr>
          <p:cNvSpPr/>
          <p:nvPr/>
        </p:nvSpPr>
        <p:spPr>
          <a:xfrm>
            <a:off x="838505" y="2300944"/>
            <a:ext cx="2819095" cy="1533035"/>
          </a:xfrm>
          <a:prstGeom prst="rect">
            <a:avLst/>
          </a:prstGeom>
          <a:noFill/>
          <a:ln/>
        </p:spPr>
        <p:txBody>
          <a:bodyPr wrap="square" rtlCol="0" anchor="ctr"/>
          <a:lstStyle/>
          <a:p>
            <a:pPr marL="0" indent="0" algn="l">
              <a:lnSpc>
                <a:spcPct val="125000"/>
              </a:lnSpc>
              <a:buNone/>
            </a:pPr>
            <a:r>
              <a:rPr lang="en-US" sz="1400" dirty="0">
                <a:solidFill>
                  <a:srgbClr val="F2EFDA"/>
                </a:solidFill>
                <a:latin typeface="Arial" pitchFamily="34" charset="0"/>
                <a:ea typeface="Arial" pitchFamily="34" charset="-122"/>
                <a:cs typeface="Arial" pitchFamily="34" charset="-120"/>
              </a:rPr>
              <a:t>Weisen </a:t>
            </a:r>
            <a:r>
              <a:rPr lang="en-US" sz="1400" dirty="0" err="1">
                <a:solidFill>
                  <a:srgbClr val="F2EFDA"/>
                </a:solidFill>
                <a:latin typeface="Arial" pitchFamily="34" charset="0"/>
                <a:ea typeface="Arial" pitchFamily="34" charset="-122"/>
                <a:cs typeface="Arial" pitchFamily="34" charset="-120"/>
              </a:rPr>
              <a:t>Finanzkennzahlen</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über</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Unternehmen</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hinweg</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systematische</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Unterschiede</a:t>
            </a:r>
            <a:r>
              <a:rPr lang="en-US" sz="1400" dirty="0">
                <a:solidFill>
                  <a:srgbClr val="F2EFDA"/>
                </a:solidFill>
                <a:latin typeface="Arial" pitchFamily="34" charset="0"/>
                <a:ea typeface="Arial" pitchFamily="34" charset="-122"/>
                <a:cs typeface="Arial" pitchFamily="34" charset="-120"/>
              </a:rPr>
              <a:t> in </a:t>
            </a:r>
            <a:r>
              <a:rPr lang="en-US" sz="1400" dirty="0" err="1">
                <a:solidFill>
                  <a:srgbClr val="F2EFDA"/>
                </a:solidFill>
                <a:latin typeface="Arial" pitchFamily="34" charset="0"/>
                <a:ea typeface="Arial" pitchFamily="34" charset="-122"/>
                <a:cs typeface="Arial" pitchFamily="34" charset="-120"/>
              </a:rPr>
              <a:t>ihrer</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zeitlichen</a:t>
            </a:r>
            <a:r>
              <a:rPr lang="en-US" sz="1400" dirty="0">
                <a:solidFill>
                  <a:srgbClr val="F2EFDA"/>
                </a:solidFill>
                <a:latin typeface="Arial" pitchFamily="34" charset="0"/>
                <a:ea typeface="Arial" pitchFamily="34" charset="-122"/>
                <a:cs typeface="Arial" pitchFamily="34" charset="-120"/>
              </a:rPr>
              <a:t> Dynamik auf?</a:t>
            </a:r>
          </a:p>
        </p:txBody>
      </p:sp>
      <p:sp>
        <p:nvSpPr>
          <p:cNvPr id="19" name="Shape 16">
            <a:extLst>
              <a:ext uri="{FF2B5EF4-FFF2-40B4-BE49-F238E27FC236}">
                <a16:creationId xmlns:a16="http://schemas.microsoft.com/office/drawing/2014/main" id="{B39138A5-A463-0E83-8DF1-975D13CC65B9}"/>
              </a:ext>
            </a:extLst>
          </p:cNvPr>
          <p:cNvSpPr/>
          <p:nvPr/>
        </p:nvSpPr>
        <p:spPr>
          <a:xfrm>
            <a:off x="4482998" y="2049383"/>
            <a:ext cx="3226003" cy="2002547"/>
          </a:xfrm>
          <a:prstGeom prst="roundRect">
            <a:avLst>
              <a:gd name="adj" fmla="val 3717"/>
            </a:avLst>
          </a:prstGeom>
          <a:solidFill>
            <a:srgbClr val="153B29"/>
          </a:solidFill>
          <a:ln w="12700">
            <a:solidFill>
              <a:srgbClr val="2B513D"/>
            </a:solidFill>
            <a:prstDash val="solid"/>
          </a:ln>
        </p:spPr>
        <p:txBody>
          <a:bodyPr/>
          <a:lstStyle/>
          <a:p>
            <a:endParaRPr lang="de-DE" dirty="0"/>
          </a:p>
        </p:txBody>
      </p:sp>
      <p:sp>
        <p:nvSpPr>
          <p:cNvPr id="20" name="Text 17">
            <a:extLst>
              <a:ext uri="{FF2B5EF4-FFF2-40B4-BE49-F238E27FC236}">
                <a16:creationId xmlns:a16="http://schemas.microsoft.com/office/drawing/2014/main" id="{4A74AC5B-8081-0105-FEF8-21F2AB8C3CB4}"/>
              </a:ext>
            </a:extLst>
          </p:cNvPr>
          <p:cNvSpPr/>
          <p:nvPr/>
        </p:nvSpPr>
        <p:spPr>
          <a:xfrm>
            <a:off x="4685995" y="2253433"/>
            <a:ext cx="508406" cy="381305"/>
          </a:xfrm>
          <a:prstGeom prst="rect">
            <a:avLst/>
          </a:prstGeom>
          <a:noFill/>
          <a:ln/>
        </p:spPr>
        <p:txBody>
          <a:bodyPr wrap="square" rtlCol="0" anchor="t"/>
          <a:lstStyle/>
          <a:p>
            <a:pPr marL="0" indent="0" algn="l">
              <a:lnSpc>
                <a:spcPct val="105000"/>
              </a:lnSpc>
              <a:buNone/>
            </a:pPr>
            <a:r>
              <a:rPr lang="en-US" sz="1400" b="1" dirty="0">
                <a:solidFill>
                  <a:srgbClr val="E6D34F"/>
                </a:solidFill>
                <a:latin typeface="Courier New" pitchFamily="34" charset="0"/>
                <a:ea typeface="Courier New" pitchFamily="34" charset="-122"/>
                <a:cs typeface="Courier New" pitchFamily="34" charset="-120"/>
              </a:rPr>
              <a:t>2</a:t>
            </a:r>
            <a:endParaRPr lang="en-US" sz="1400" dirty="0"/>
          </a:p>
        </p:txBody>
      </p:sp>
      <p:sp>
        <p:nvSpPr>
          <p:cNvPr id="21" name="Shape 18">
            <a:extLst>
              <a:ext uri="{FF2B5EF4-FFF2-40B4-BE49-F238E27FC236}">
                <a16:creationId xmlns:a16="http://schemas.microsoft.com/office/drawing/2014/main" id="{48C2227C-B444-6F31-BE01-07746C211DE5}"/>
              </a:ext>
            </a:extLst>
          </p:cNvPr>
          <p:cNvSpPr/>
          <p:nvPr/>
        </p:nvSpPr>
        <p:spPr>
          <a:xfrm>
            <a:off x="5054498" y="2405394"/>
            <a:ext cx="2450592" cy="19202"/>
          </a:xfrm>
          <a:prstGeom prst="rect">
            <a:avLst/>
          </a:prstGeom>
          <a:solidFill>
            <a:srgbClr val="DBDEE2"/>
          </a:solidFill>
          <a:ln/>
        </p:spPr>
        <p:txBody>
          <a:bodyPr/>
          <a:lstStyle/>
          <a:p>
            <a:endParaRPr lang="de-DE"/>
          </a:p>
        </p:txBody>
      </p:sp>
      <p:sp>
        <p:nvSpPr>
          <p:cNvPr id="22" name="Text 19">
            <a:extLst>
              <a:ext uri="{FF2B5EF4-FFF2-40B4-BE49-F238E27FC236}">
                <a16:creationId xmlns:a16="http://schemas.microsoft.com/office/drawing/2014/main" id="{8FB349CB-7CE5-0805-5005-721DCEC87515}"/>
              </a:ext>
            </a:extLst>
          </p:cNvPr>
          <p:cNvSpPr/>
          <p:nvPr/>
        </p:nvSpPr>
        <p:spPr>
          <a:xfrm>
            <a:off x="4685995" y="2403496"/>
            <a:ext cx="2819095" cy="1533035"/>
          </a:xfrm>
          <a:prstGeom prst="rect">
            <a:avLst/>
          </a:prstGeom>
          <a:noFill/>
          <a:ln/>
        </p:spPr>
        <p:txBody>
          <a:bodyPr wrap="square" rtlCol="0" anchor="ctr"/>
          <a:lstStyle/>
          <a:p>
            <a:pPr marL="0" indent="0" algn="l">
              <a:lnSpc>
                <a:spcPct val="125000"/>
              </a:lnSpc>
              <a:buNone/>
            </a:pPr>
            <a:r>
              <a:rPr lang="en-US" sz="1400" dirty="0" err="1">
                <a:solidFill>
                  <a:srgbClr val="F2EFDA"/>
                </a:solidFill>
                <a:latin typeface="Arial" pitchFamily="34" charset="0"/>
                <a:ea typeface="Arial" pitchFamily="34" charset="-122"/>
                <a:cs typeface="Arial" pitchFamily="34" charset="-120"/>
              </a:rPr>
              <a:t>Welche</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Interdependenzen</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bestehen</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zwischen</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Finanzkennzahlen</a:t>
            </a:r>
            <a:r>
              <a:rPr lang="en-US" sz="1400" dirty="0">
                <a:solidFill>
                  <a:srgbClr val="F2EFDA"/>
                </a:solidFill>
                <a:latin typeface="Arial" pitchFamily="34" charset="0"/>
                <a:ea typeface="Arial" pitchFamily="34" charset="-122"/>
                <a:cs typeface="Arial" pitchFamily="34" charset="-120"/>
              </a:rPr>
              <a:t> und </a:t>
            </a:r>
            <a:r>
              <a:rPr lang="en-US" sz="1400" dirty="0" err="1">
                <a:solidFill>
                  <a:srgbClr val="F2EFDA"/>
                </a:solidFill>
                <a:latin typeface="Arial" pitchFamily="34" charset="0"/>
                <a:ea typeface="Arial" pitchFamily="34" charset="-122"/>
                <a:cs typeface="Arial" pitchFamily="34" charset="-120"/>
              </a:rPr>
              <a:t>inwieweit</a:t>
            </a:r>
            <a:endParaRPr lang="en-US" sz="1400" dirty="0">
              <a:solidFill>
                <a:srgbClr val="F2EFDA"/>
              </a:solidFill>
              <a:latin typeface="Arial" pitchFamily="34" charset="0"/>
              <a:ea typeface="Arial" pitchFamily="34" charset="-122"/>
              <a:cs typeface="Arial" pitchFamily="34" charset="-120"/>
            </a:endParaRPr>
          </a:p>
          <a:p>
            <a:pPr marL="0" indent="0" algn="l">
              <a:lnSpc>
                <a:spcPct val="125000"/>
              </a:lnSpc>
              <a:buNone/>
            </a:pPr>
            <a:r>
              <a:rPr lang="en-US" sz="1400" dirty="0" err="1">
                <a:solidFill>
                  <a:srgbClr val="F2EFDA"/>
                </a:solidFill>
                <a:latin typeface="Arial" pitchFamily="34" charset="0"/>
                <a:ea typeface="Arial" pitchFamily="34" charset="-122"/>
                <a:cs typeface="Arial" pitchFamily="34" charset="-120"/>
              </a:rPr>
              <a:t>unterscheiden</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sich</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diese</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zwischen</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Unternehmen</a:t>
            </a:r>
            <a:r>
              <a:rPr lang="en-US" sz="1400" dirty="0">
                <a:solidFill>
                  <a:srgbClr val="F2EFDA"/>
                </a:solidFill>
                <a:latin typeface="Arial" pitchFamily="34" charset="0"/>
                <a:ea typeface="Arial" pitchFamily="34" charset="-122"/>
                <a:cs typeface="Arial" pitchFamily="34" charset="-120"/>
              </a:rPr>
              <a:t>?</a:t>
            </a:r>
          </a:p>
        </p:txBody>
      </p:sp>
      <p:sp>
        <p:nvSpPr>
          <p:cNvPr id="23" name="Shape 20">
            <a:extLst>
              <a:ext uri="{FF2B5EF4-FFF2-40B4-BE49-F238E27FC236}">
                <a16:creationId xmlns:a16="http://schemas.microsoft.com/office/drawing/2014/main" id="{31AF9529-DE44-07EE-4D04-2D8440BEBC88}"/>
              </a:ext>
            </a:extLst>
          </p:cNvPr>
          <p:cNvSpPr/>
          <p:nvPr/>
        </p:nvSpPr>
        <p:spPr>
          <a:xfrm>
            <a:off x="8330183" y="2049383"/>
            <a:ext cx="3226003" cy="2002547"/>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4" name="Text 21">
            <a:extLst>
              <a:ext uri="{FF2B5EF4-FFF2-40B4-BE49-F238E27FC236}">
                <a16:creationId xmlns:a16="http://schemas.microsoft.com/office/drawing/2014/main" id="{5138326C-55F9-C391-0AA6-8363869A3312}"/>
              </a:ext>
            </a:extLst>
          </p:cNvPr>
          <p:cNvSpPr/>
          <p:nvPr/>
        </p:nvSpPr>
        <p:spPr>
          <a:xfrm>
            <a:off x="8534094" y="2253433"/>
            <a:ext cx="508406" cy="381305"/>
          </a:xfrm>
          <a:prstGeom prst="rect">
            <a:avLst/>
          </a:prstGeom>
          <a:noFill/>
          <a:ln/>
        </p:spPr>
        <p:txBody>
          <a:bodyPr wrap="square" rtlCol="0" anchor="t"/>
          <a:lstStyle/>
          <a:p>
            <a:pPr marL="0" indent="0" algn="l">
              <a:lnSpc>
                <a:spcPct val="105000"/>
              </a:lnSpc>
              <a:buNone/>
            </a:pPr>
            <a:r>
              <a:rPr lang="en-US" sz="1400" b="1" dirty="0">
                <a:solidFill>
                  <a:srgbClr val="E6D34F"/>
                </a:solidFill>
                <a:latin typeface="Courier New" pitchFamily="34" charset="0"/>
                <a:ea typeface="Courier New" pitchFamily="34" charset="-122"/>
                <a:cs typeface="Courier New" pitchFamily="34" charset="-120"/>
              </a:rPr>
              <a:t>3</a:t>
            </a:r>
            <a:endParaRPr lang="en-US" sz="1400" dirty="0"/>
          </a:p>
        </p:txBody>
      </p:sp>
      <p:sp>
        <p:nvSpPr>
          <p:cNvPr id="25" name="Shape 22">
            <a:extLst>
              <a:ext uri="{FF2B5EF4-FFF2-40B4-BE49-F238E27FC236}">
                <a16:creationId xmlns:a16="http://schemas.microsoft.com/office/drawing/2014/main" id="{DF06B852-C3B8-A933-7DDC-D4C5066B1367}"/>
              </a:ext>
            </a:extLst>
          </p:cNvPr>
          <p:cNvSpPr/>
          <p:nvPr/>
        </p:nvSpPr>
        <p:spPr>
          <a:xfrm>
            <a:off x="8901683" y="2405394"/>
            <a:ext cx="2450592" cy="19202"/>
          </a:xfrm>
          <a:prstGeom prst="rect">
            <a:avLst/>
          </a:prstGeom>
          <a:solidFill>
            <a:srgbClr val="DBDEE2"/>
          </a:solidFill>
          <a:ln/>
        </p:spPr>
        <p:txBody>
          <a:bodyPr/>
          <a:lstStyle/>
          <a:p>
            <a:endParaRPr lang="de-DE"/>
          </a:p>
        </p:txBody>
      </p:sp>
      <p:sp>
        <p:nvSpPr>
          <p:cNvPr id="26" name="Text 23">
            <a:extLst>
              <a:ext uri="{FF2B5EF4-FFF2-40B4-BE49-F238E27FC236}">
                <a16:creationId xmlns:a16="http://schemas.microsoft.com/office/drawing/2014/main" id="{9611075A-C01C-B3FA-29DD-CFC18AFA4CE4}"/>
              </a:ext>
            </a:extLst>
          </p:cNvPr>
          <p:cNvSpPr/>
          <p:nvPr/>
        </p:nvSpPr>
        <p:spPr>
          <a:xfrm>
            <a:off x="8533180" y="2300944"/>
            <a:ext cx="2819095" cy="1533035"/>
          </a:xfrm>
          <a:prstGeom prst="rect">
            <a:avLst/>
          </a:prstGeom>
          <a:noFill/>
          <a:ln/>
        </p:spPr>
        <p:txBody>
          <a:bodyPr wrap="square" rtlCol="0" anchor="ctr"/>
          <a:lstStyle/>
          <a:p>
            <a:pPr marL="0" indent="0" algn="l">
              <a:lnSpc>
                <a:spcPct val="125000"/>
              </a:lnSpc>
              <a:buNone/>
            </a:pPr>
            <a:r>
              <a:rPr lang="en-US" sz="1400" dirty="0">
                <a:solidFill>
                  <a:srgbClr val="F2EFDA"/>
                </a:solidFill>
                <a:latin typeface="Arial" pitchFamily="34" charset="0"/>
                <a:ea typeface="Arial" pitchFamily="34" charset="-122"/>
                <a:cs typeface="Arial" pitchFamily="34" charset="-120"/>
              </a:rPr>
              <a:t>Stehen </a:t>
            </a:r>
            <a:r>
              <a:rPr lang="en-US" sz="1400" dirty="0" err="1">
                <a:solidFill>
                  <a:srgbClr val="F2EFDA"/>
                </a:solidFill>
                <a:latin typeface="Arial" pitchFamily="34" charset="0"/>
                <a:ea typeface="Arial" pitchFamily="34" charset="-122"/>
                <a:cs typeface="Arial" pitchFamily="34" charset="-120"/>
              </a:rPr>
              <a:t>zeitliche</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Dynamiken</a:t>
            </a:r>
            <a:r>
              <a:rPr lang="en-US" sz="1400" dirty="0">
                <a:solidFill>
                  <a:srgbClr val="F2EFDA"/>
                </a:solidFill>
                <a:latin typeface="Arial" pitchFamily="34" charset="0"/>
                <a:ea typeface="Arial" pitchFamily="34" charset="-122"/>
                <a:cs typeface="Arial" pitchFamily="34" charset="-120"/>
              </a:rPr>
              <a:t> von </a:t>
            </a:r>
            <a:r>
              <a:rPr lang="en-US" sz="1400" dirty="0" err="1">
                <a:solidFill>
                  <a:srgbClr val="F2EFDA"/>
                </a:solidFill>
                <a:latin typeface="Arial" pitchFamily="34" charset="0"/>
                <a:ea typeface="Arial" pitchFamily="34" charset="-122"/>
                <a:cs typeface="Arial" pitchFamily="34" charset="-120"/>
              </a:rPr>
              <a:t>Finanzkennzahlen</a:t>
            </a:r>
            <a:r>
              <a:rPr lang="en-US" sz="1400" dirty="0">
                <a:solidFill>
                  <a:srgbClr val="F2EFDA"/>
                </a:solidFill>
                <a:latin typeface="Arial" pitchFamily="34" charset="0"/>
                <a:ea typeface="Arial" pitchFamily="34" charset="-122"/>
                <a:cs typeface="Arial" pitchFamily="34" charset="-120"/>
              </a:rPr>
              <a:t> in </a:t>
            </a:r>
            <a:r>
              <a:rPr lang="en-US" sz="1400" dirty="0" err="1">
                <a:solidFill>
                  <a:srgbClr val="F2EFDA"/>
                </a:solidFill>
                <a:latin typeface="Arial" pitchFamily="34" charset="0"/>
                <a:ea typeface="Arial" pitchFamily="34" charset="-122"/>
                <a:cs typeface="Arial" pitchFamily="34" charset="-120"/>
              </a:rPr>
              <a:t>Zusammenhang</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mit</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strukturellen</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Unternehmensmerkmalen</a:t>
            </a:r>
            <a:r>
              <a:rPr lang="en-US" sz="1400" dirty="0">
                <a:solidFill>
                  <a:srgbClr val="F2EFDA"/>
                </a:solidFill>
                <a:latin typeface="Arial" pitchFamily="34" charset="0"/>
                <a:ea typeface="Arial" pitchFamily="34" charset="-122"/>
                <a:cs typeface="Arial" pitchFamily="34" charset="-120"/>
              </a:rPr>
              <a:t>?</a:t>
            </a:r>
          </a:p>
        </p:txBody>
      </p:sp>
      <p:sp>
        <p:nvSpPr>
          <p:cNvPr id="3" name="Shape 4">
            <a:extLst>
              <a:ext uri="{FF2B5EF4-FFF2-40B4-BE49-F238E27FC236}">
                <a16:creationId xmlns:a16="http://schemas.microsoft.com/office/drawing/2014/main" id="{E4C417A9-9A24-B483-B9F4-AD8BB6356F7C}"/>
              </a:ext>
            </a:extLst>
          </p:cNvPr>
          <p:cNvSpPr/>
          <p:nvPr/>
        </p:nvSpPr>
        <p:spPr>
          <a:xfrm>
            <a:off x="634594" y="4500397"/>
            <a:ext cx="10921594" cy="609905"/>
          </a:xfrm>
          <a:prstGeom prst="roundRect">
            <a:avLst>
              <a:gd name="adj" fmla="val 16642"/>
            </a:avLst>
          </a:prstGeom>
          <a:solidFill>
            <a:srgbClr val="1E402E"/>
          </a:solidFill>
          <a:ln w="12700">
            <a:solidFill>
              <a:srgbClr val="4A6D56"/>
            </a:solidFill>
            <a:prstDash val="solid"/>
          </a:ln>
        </p:spPr>
        <p:txBody>
          <a:bodyPr/>
          <a:lstStyle/>
          <a:p>
            <a:endParaRPr lang="de-DE"/>
          </a:p>
        </p:txBody>
      </p:sp>
      <p:sp>
        <p:nvSpPr>
          <p:cNvPr id="27" name="Text 5">
            <a:extLst>
              <a:ext uri="{FF2B5EF4-FFF2-40B4-BE49-F238E27FC236}">
                <a16:creationId xmlns:a16="http://schemas.microsoft.com/office/drawing/2014/main" id="{F300F6F1-63EF-EB25-19BB-4D465FDE9C89}"/>
              </a:ext>
            </a:extLst>
          </p:cNvPr>
          <p:cNvSpPr/>
          <p:nvPr/>
        </p:nvSpPr>
        <p:spPr>
          <a:xfrm>
            <a:off x="888797" y="4500397"/>
            <a:ext cx="381305" cy="609905"/>
          </a:xfrm>
          <a:prstGeom prst="rect">
            <a:avLst/>
          </a:prstGeom>
          <a:noFill/>
          <a:ln/>
        </p:spPr>
        <p:txBody>
          <a:bodyPr wrap="square" rtlCol="0" anchor="ctr"/>
          <a:lstStyle/>
          <a:p>
            <a:pPr marL="0" indent="0" algn="l">
              <a:lnSpc>
                <a:spcPct val="105000"/>
              </a:lnSpc>
              <a:buNone/>
            </a:pPr>
            <a:r>
              <a:rPr lang="en-US" sz="1400" b="1" dirty="0">
                <a:solidFill>
                  <a:srgbClr val="E6D34F"/>
                </a:solidFill>
                <a:latin typeface="Courier New" pitchFamily="34" charset="0"/>
                <a:ea typeface="Courier New" pitchFamily="34" charset="-122"/>
                <a:cs typeface="Courier New" pitchFamily="34" charset="-120"/>
              </a:rPr>
              <a:t>1</a:t>
            </a:r>
            <a:endParaRPr lang="en-US" sz="1400" dirty="0"/>
          </a:p>
        </p:txBody>
      </p:sp>
      <p:sp>
        <p:nvSpPr>
          <p:cNvPr id="28" name="Text 6">
            <a:extLst>
              <a:ext uri="{FF2B5EF4-FFF2-40B4-BE49-F238E27FC236}">
                <a16:creationId xmlns:a16="http://schemas.microsoft.com/office/drawing/2014/main" id="{FAF0814E-B433-E665-D870-C05D2C32C16F}"/>
              </a:ext>
            </a:extLst>
          </p:cNvPr>
          <p:cNvSpPr/>
          <p:nvPr/>
        </p:nvSpPr>
        <p:spPr>
          <a:xfrm>
            <a:off x="1333195" y="4500397"/>
            <a:ext cx="10032797" cy="609905"/>
          </a:xfrm>
          <a:prstGeom prst="rect">
            <a:avLst/>
          </a:prstGeom>
          <a:noFill/>
          <a:ln/>
        </p:spPr>
        <p:txBody>
          <a:bodyPr wrap="square" rtlCol="0" anchor="ctr"/>
          <a:lstStyle/>
          <a:p>
            <a:pPr marL="0" indent="0" algn="l">
              <a:lnSpc>
                <a:spcPct val="115000"/>
              </a:lnSpc>
              <a:buNone/>
            </a:pPr>
            <a:r>
              <a:rPr lang="en-US" sz="1200" dirty="0" err="1">
                <a:solidFill>
                  <a:srgbClr val="F2EFDA"/>
                </a:solidFill>
                <a:latin typeface="Arial" pitchFamily="34" charset="0"/>
                <a:ea typeface="Arial" pitchFamily="34" charset="-122"/>
                <a:cs typeface="Arial" pitchFamily="34" charset="-120"/>
              </a:rPr>
              <a:t>Übertragung</a:t>
            </a:r>
            <a:r>
              <a:rPr lang="en-US" sz="1200" dirty="0">
                <a:solidFill>
                  <a:srgbClr val="F2EFDA"/>
                </a:solidFill>
                <a:latin typeface="Arial" pitchFamily="34" charset="0"/>
                <a:ea typeface="Arial" pitchFamily="34" charset="-122"/>
                <a:cs typeface="Arial" pitchFamily="34" charset="-120"/>
              </a:rPr>
              <a:t> der Mean-Reversion-Forschung (Fama/French) auf Quartalsfrequenz und individuelle Schätzungen pro Unternehmen.</a:t>
            </a:r>
            <a:endParaRPr lang="en-US" sz="1200" dirty="0"/>
          </a:p>
        </p:txBody>
      </p:sp>
      <p:sp>
        <p:nvSpPr>
          <p:cNvPr id="29" name="Shape 7">
            <a:extLst>
              <a:ext uri="{FF2B5EF4-FFF2-40B4-BE49-F238E27FC236}">
                <a16:creationId xmlns:a16="http://schemas.microsoft.com/office/drawing/2014/main" id="{424CF010-B52F-8BF9-05FF-8EE06118F21B}"/>
              </a:ext>
            </a:extLst>
          </p:cNvPr>
          <p:cNvSpPr/>
          <p:nvPr/>
        </p:nvSpPr>
        <p:spPr>
          <a:xfrm>
            <a:off x="634594" y="5186197"/>
            <a:ext cx="10921594" cy="609905"/>
          </a:xfrm>
          <a:prstGeom prst="roundRect">
            <a:avLst>
              <a:gd name="adj" fmla="val 16642"/>
            </a:avLst>
          </a:prstGeom>
          <a:solidFill>
            <a:srgbClr val="1E402E"/>
          </a:solidFill>
          <a:ln w="12700">
            <a:solidFill>
              <a:srgbClr val="4A6D56"/>
            </a:solidFill>
            <a:prstDash val="solid"/>
          </a:ln>
        </p:spPr>
        <p:txBody>
          <a:bodyPr/>
          <a:lstStyle/>
          <a:p>
            <a:endParaRPr lang="de-DE"/>
          </a:p>
        </p:txBody>
      </p:sp>
      <p:sp>
        <p:nvSpPr>
          <p:cNvPr id="30" name="Text 8">
            <a:extLst>
              <a:ext uri="{FF2B5EF4-FFF2-40B4-BE49-F238E27FC236}">
                <a16:creationId xmlns:a16="http://schemas.microsoft.com/office/drawing/2014/main" id="{9F91FB34-0B13-6C67-5438-DAABD968E623}"/>
              </a:ext>
            </a:extLst>
          </p:cNvPr>
          <p:cNvSpPr/>
          <p:nvPr/>
        </p:nvSpPr>
        <p:spPr>
          <a:xfrm>
            <a:off x="888797" y="5186197"/>
            <a:ext cx="381305" cy="609905"/>
          </a:xfrm>
          <a:prstGeom prst="rect">
            <a:avLst/>
          </a:prstGeom>
          <a:noFill/>
          <a:ln/>
        </p:spPr>
        <p:txBody>
          <a:bodyPr wrap="square" rtlCol="0" anchor="ctr"/>
          <a:lstStyle/>
          <a:p>
            <a:pPr marL="0" indent="0" algn="l">
              <a:lnSpc>
                <a:spcPct val="105000"/>
              </a:lnSpc>
              <a:buNone/>
            </a:pPr>
            <a:r>
              <a:rPr lang="en-US" sz="1400" b="1" dirty="0">
                <a:solidFill>
                  <a:srgbClr val="E6D34F"/>
                </a:solidFill>
                <a:latin typeface="Courier New" pitchFamily="34" charset="0"/>
                <a:ea typeface="Courier New" pitchFamily="34" charset="-122"/>
                <a:cs typeface="Courier New" pitchFamily="34" charset="-120"/>
              </a:rPr>
              <a:t>2</a:t>
            </a:r>
            <a:endParaRPr lang="en-US" sz="1400" dirty="0"/>
          </a:p>
        </p:txBody>
      </p:sp>
      <p:sp>
        <p:nvSpPr>
          <p:cNvPr id="31" name="Text 9">
            <a:extLst>
              <a:ext uri="{FF2B5EF4-FFF2-40B4-BE49-F238E27FC236}">
                <a16:creationId xmlns:a16="http://schemas.microsoft.com/office/drawing/2014/main" id="{5A0C6D14-CAD4-6354-0BE8-B84036F252AE}"/>
              </a:ext>
            </a:extLst>
          </p:cNvPr>
          <p:cNvSpPr/>
          <p:nvPr/>
        </p:nvSpPr>
        <p:spPr>
          <a:xfrm>
            <a:off x="1333195" y="5186197"/>
            <a:ext cx="10032797" cy="609905"/>
          </a:xfrm>
          <a:prstGeom prst="rect">
            <a:avLst/>
          </a:prstGeom>
          <a:noFill/>
          <a:ln/>
        </p:spPr>
        <p:txBody>
          <a:bodyPr wrap="square" rtlCol="0" anchor="ctr"/>
          <a:lstStyle/>
          <a:p>
            <a:pPr marL="0" indent="0" algn="l">
              <a:lnSpc>
                <a:spcPct val="115000"/>
              </a:lnSpc>
              <a:buNone/>
            </a:pPr>
            <a:r>
              <a:rPr lang="en-US" sz="1200" dirty="0">
                <a:solidFill>
                  <a:srgbClr val="F2EFDA"/>
                </a:solidFill>
                <a:latin typeface="Arial" pitchFamily="34" charset="0"/>
                <a:ea typeface="Arial" pitchFamily="34" charset="-122"/>
                <a:cs typeface="Arial" pitchFamily="34" charset="-120"/>
              </a:rPr>
              <a:t>Dynamik </a:t>
            </a:r>
            <a:r>
              <a:rPr lang="en-US" sz="1200" dirty="0" err="1">
                <a:solidFill>
                  <a:srgbClr val="F2EFDA"/>
                </a:solidFill>
                <a:latin typeface="Arial" pitchFamily="34" charset="0"/>
                <a:ea typeface="Arial" pitchFamily="34" charset="-122"/>
                <a:cs typeface="Arial" pitchFamily="34" charset="-120"/>
              </a:rPr>
              <a:t>über</a:t>
            </a:r>
            <a:r>
              <a:rPr lang="en-US" sz="1200" dirty="0">
                <a:solidFill>
                  <a:srgbClr val="F2EFDA"/>
                </a:solidFill>
                <a:latin typeface="Arial" pitchFamily="34" charset="0"/>
                <a:ea typeface="Arial" pitchFamily="34" charset="-122"/>
                <a:cs typeface="Arial" pitchFamily="34" charset="-120"/>
              </a:rPr>
              <a:t> </a:t>
            </a:r>
            <a:r>
              <a:rPr lang="en-US" sz="1200" dirty="0" err="1">
                <a:solidFill>
                  <a:srgbClr val="F2EFDA"/>
                </a:solidFill>
                <a:latin typeface="Arial" pitchFamily="34" charset="0"/>
                <a:ea typeface="Arial" pitchFamily="34" charset="-122"/>
                <a:cs typeface="Arial" pitchFamily="34" charset="-120"/>
              </a:rPr>
              <a:t>sieben</a:t>
            </a:r>
            <a:r>
              <a:rPr lang="en-US" sz="1200" dirty="0">
                <a:solidFill>
                  <a:srgbClr val="F2EFDA"/>
                </a:solidFill>
                <a:latin typeface="Arial" pitchFamily="34" charset="0"/>
                <a:ea typeface="Arial" pitchFamily="34" charset="-122"/>
                <a:cs typeface="Arial" pitchFamily="34" charset="-120"/>
              </a:rPr>
              <a:t> </a:t>
            </a:r>
            <a:r>
              <a:rPr lang="en-US" sz="1200" dirty="0" err="1">
                <a:solidFill>
                  <a:srgbClr val="F2EFDA"/>
                </a:solidFill>
                <a:latin typeface="Arial" pitchFamily="34" charset="0"/>
                <a:ea typeface="Arial" pitchFamily="34" charset="-122"/>
                <a:cs typeface="Arial" pitchFamily="34" charset="-120"/>
              </a:rPr>
              <a:t>Kennzahlen</a:t>
            </a:r>
            <a:r>
              <a:rPr lang="en-US" sz="1200" dirty="0">
                <a:solidFill>
                  <a:srgbClr val="F2EFDA"/>
                </a:solidFill>
                <a:latin typeface="Arial" pitchFamily="34" charset="0"/>
                <a:ea typeface="Arial" pitchFamily="34" charset="-122"/>
                <a:cs typeface="Arial" pitchFamily="34" charset="-120"/>
              </a:rPr>
              <a:t> </a:t>
            </a:r>
            <a:r>
              <a:rPr lang="en-US" sz="1200" dirty="0" err="1">
                <a:solidFill>
                  <a:srgbClr val="F2EFDA"/>
                </a:solidFill>
                <a:latin typeface="Arial" pitchFamily="34" charset="0"/>
                <a:ea typeface="Arial" pitchFamily="34" charset="-122"/>
                <a:cs typeface="Arial" pitchFamily="34" charset="-120"/>
              </a:rPr>
              <a:t>mit</a:t>
            </a:r>
            <a:r>
              <a:rPr lang="en-US" sz="1200" dirty="0">
                <a:solidFill>
                  <a:srgbClr val="F2EFDA"/>
                </a:solidFill>
                <a:latin typeface="Arial" pitchFamily="34" charset="0"/>
                <a:ea typeface="Arial" pitchFamily="34" charset="-122"/>
                <a:cs typeface="Arial" pitchFamily="34" charset="-120"/>
              </a:rPr>
              <a:t> </a:t>
            </a:r>
            <a:r>
              <a:rPr lang="en-US" sz="1200" dirty="0" err="1">
                <a:solidFill>
                  <a:srgbClr val="F2EFDA"/>
                </a:solidFill>
                <a:latin typeface="Arial" pitchFamily="34" charset="0"/>
                <a:ea typeface="Arial" pitchFamily="34" charset="-122"/>
                <a:cs typeface="Arial" pitchFamily="34" charset="-120"/>
              </a:rPr>
              <a:t>unterschiedlichen</a:t>
            </a:r>
            <a:r>
              <a:rPr lang="en-US" sz="1200" dirty="0">
                <a:solidFill>
                  <a:srgbClr val="F2EFDA"/>
                </a:solidFill>
                <a:latin typeface="Arial" pitchFamily="34" charset="0"/>
                <a:ea typeface="Arial" pitchFamily="34" charset="-122"/>
                <a:cs typeface="Arial" pitchFamily="34" charset="-120"/>
              </a:rPr>
              <a:t> </a:t>
            </a:r>
            <a:r>
              <a:rPr lang="en-US" sz="1200" dirty="0" err="1">
                <a:solidFill>
                  <a:srgbClr val="F2EFDA"/>
                </a:solidFill>
                <a:latin typeface="Arial" pitchFamily="34" charset="0"/>
                <a:ea typeface="Arial" pitchFamily="34" charset="-122"/>
                <a:cs typeface="Arial" pitchFamily="34" charset="-120"/>
              </a:rPr>
              <a:t>Betrachtungswinkel</a:t>
            </a:r>
            <a:r>
              <a:rPr lang="en-US" sz="1200" dirty="0">
                <a:solidFill>
                  <a:srgbClr val="F2EFDA"/>
                </a:solidFill>
                <a:latin typeface="Arial" pitchFamily="34" charset="0"/>
                <a:ea typeface="Arial" pitchFamily="34" charset="-122"/>
                <a:cs typeface="Arial" pitchFamily="34" charset="-120"/>
              </a:rPr>
              <a:t> </a:t>
            </a:r>
            <a:r>
              <a:rPr lang="en-US" sz="1200" dirty="0" err="1">
                <a:solidFill>
                  <a:srgbClr val="F2EFDA"/>
                </a:solidFill>
                <a:latin typeface="Arial" pitchFamily="34" charset="0"/>
                <a:ea typeface="Arial" pitchFamily="34" charset="-122"/>
                <a:cs typeface="Arial" pitchFamily="34" charset="-120"/>
              </a:rPr>
              <a:t>eines</a:t>
            </a:r>
            <a:r>
              <a:rPr lang="en-US" sz="1200" dirty="0">
                <a:solidFill>
                  <a:srgbClr val="F2EFDA"/>
                </a:solidFill>
                <a:latin typeface="Arial" pitchFamily="34" charset="0"/>
                <a:ea typeface="Arial" pitchFamily="34" charset="-122"/>
                <a:cs typeface="Arial" pitchFamily="34" charset="-120"/>
              </a:rPr>
              <a:t> </a:t>
            </a:r>
            <a:r>
              <a:rPr lang="en-US" sz="1200" dirty="0" err="1">
                <a:solidFill>
                  <a:srgbClr val="F2EFDA"/>
                </a:solidFill>
                <a:latin typeface="Arial" pitchFamily="34" charset="0"/>
                <a:ea typeface="Arial" pitchFamily="34" charset="-122"/>
                <a:cs typeface="Arial" pitchFamily="34" charset="-120"/>
              </a:rPr>
              <a:t>Unternehmen</a:t>
            </a:r>
            <a:endParaRPr lang="en-US" sz="1200" dirty="0"/>
          </a:p>
        </p:txBody>
      </p:sp>
      <p:sp>
        <p:nvSpPr>
          <p:cNvPr id="32" name="Shape 10">
            <a:extLst>
              <a:ext uri="{FF2B5EF4-FFF2-40B4-BE49-F238E27FC236}">
                <a16:creationId xmlns:a16="http://schemas.microsoft.com/office/drawing/2014/main" id="{13004DB0-2FC5-E6AF-8B5F-B52F746C3DC5}"/>
              </a:ext>
            </a:extLst>
          </p:cNvPr>
          <p:cNvSpPr/>
          <p:nvPr/>
        </p:nvSpPr>
        <p:spPr>
          <a:xfrm>
            <a:off x="634594" y="5871997"/>
            <a:ext cx="10921594" cy="609905"/>
          </a:xfrm>
          <a:prstGeom prst="roundRect">
            <a:avLst>
              <a:gd name="adj" fmla="val 16642"/>
            </a:avLst>
          </a:prstGeom>
          <a:solidFill>
            <a:srgbClr val="1E402E"/>
          </a:solidFill>
          <a:ln w="12700">
            <a:solidFill>
              <a:srgbClr val="4A6D56"/>
            </a:solidFill>
            <a:prstDash val="solid"/>
          </a:ln>
        </p:spPr>
        <p:txBody>
          <a:bodyPr/>
          <a:lstStyle/>
          <a:p>
            <a:endParaRPr lang="de-DE"/>
          </a:p>
        </p:txBody>
      </p:sp>
      <p:sp>
        <p:nvSpPr>
          <p:cNvPr id="33" name="Text 11">
            <a:extLst>
              <a:ext uri="{FF2B5EF4-FFF2-40B4-BE49-F238E27FC236}">
                <a16:creationId xmlns:a16="http://schemas.microsoft.com/office/drawing/2014/main" id="{958A0150-3C4D-2096-4254-FACC3323DBB9}"/>
              </a:ext>
            </a:extLst>
          </p:cNvPr>
          <p:cNvSpPr/>
          <p:nvPr/>
        </p:nvSpPr>
        <p:spPr>
          <a:xfrm>
            <a:off x="888797" y="5871997"/>
            <a:ext cx="381305" cy="609905"/>
          </a:xfrm>
          <a:prstGeom prst="rect">
            <a:avLst/>
          </a:prstGeom>
          <a:noFill/>
          <a:ln/>
        </p:spPr>
        <p:txBody>
          <a:bodyPr wrap="square" rtlCol="0" anchor="ctr"/>
          <a:lstStyle/>
          <a:p>
            <a:pPr marL="0" indent="0" algn="l">
              <a:lnSpc>
                <a:spcPct val="105000"/>
              </a:lnSpc>
              <a:buNone/>
            </a:pPr>
            <a:r>
              <a:rPr lang="en-US" sz="1400" b="1" dirty="0">
                <a:solidFill>
                  <a:srgbClr val="E6D34F"/>
                </a:solidFill>
                <a:latin typeface="Courier New" pitchFamily="34" charset="0"/>
                <a:ea typeface="Courier New" pitchFamily="34" charset="-122"/>
                <a:cs typeface="Courier New" pitchFamily="34" charset="-120"/>
              </a:rPr>
              <a:t>3</a:t>
            </a:r>
            <a:endParaRPr lang="en-US" sz="1400" dirty="0"/>
          </a:p>
        </p:txBody>
      </p:sp>
      <p:sp>
        <p:nvSpPr>
          <p:cNvPr id="34" name="Text 12">
            <a:extLst>
              <a:ext uri="{FF2B5EF4-FFF2-40B4-BE49-F238E27FC236}">
                <a16:creationId xmlns:a16="http://schemas.microsoft.com/office/drawing/2014/main" id="{5ED083AF-DF6A-EE06-DBDA-C83D2E33B4DA}"/>
              </a:ext>
            </a:extLst>
          </p:cNvPr>
          <p:cNvSpPr/>
          <p:nvPr/>
        </p:nvSpPr>
        <p:spPr>
          <a:xfrm>
            <a:off x="1333195" y="5871997"/>
            <a:ext cx="10032797" cy="609905"/>
          </a:xfrm>
          <a:prstGeom prst="rect">
            <a:avLst/>
          </a:prstGeom>
          <a:noFill/>
          <a:ln/>
        </p:spPr>
        <p:txBody>
          <a:bodyPr wrap="square" rtlCol="0" anchor="ctr"/>
          <a:lstStyle/>
          <a:p>
            <a:pPr marL="0" indent="0" algn="l">
              <a:lnSpc>
                <a:spcPct val="115000"/>
              </a:lnSpc>
              <a:buNone/>
            </a:pPr>
            <a:r>
              <a:rPr lang="en-US" sz="1200" dirty="0" err="1">
                <a:solidFill>
                  <a:srgbClr val="F2EFDA"/>
                </a:solidFill>
                <a:latin typeface="Arial" pitchFamily="34" charset="0"/>
                <a:ea typeface="Arial" pitchFamily="34" charset="-122"/>
                <a:cs typeface="Arial" pitchFamily="34" charset="-120"/>
              </a:rPr>
              <a:t>Struktur</a:t>
            </a:r>
            <a:r>
              <a:rPr lang="en-US" sz="1200" dirty="0">
                <a:solidFill>
                  <a:srgbClr val="F2EFDA"/>
                </a:solidFill>
                <a:latin typeface="Arial" pitchFamily="34" charset="0"/>
                <a:ea typeface="Arial" pitchFamily="34" charset="-122"/>
                <a:cs typeface="Arial" pitchFamily="34" charset="-120"/>
              </a:rPr>
              <a:t> erklärt die Volatilität, nicht die Korrekturgeschwindigkeit — φ ist ein idiosynkratisches Firmenmerkmal.</a:t>
            </a:r>
            <a:endParaRPr lang="en-US" sz="1200" dirty="0"/>
          </a:p>
        </p:txBody>
      </p:sp>
    </p:spTree>
    <p:extLst>
      <p:ext uri="{BB962C8B-B14F-4D97-AF65-F5344CB8AC3E}">
        <p14:creationId xmlns:p14="http://schemas.microsoft.com/office/powerpoint/2010/main" val="3000712335"/>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dirty="0">
                <a:solidFill>
                  <a:srgbClr val="798D6F"/>
                </a:solidFill>
                <a:latin typeface="Courier New" pitchFamily="34" charset="0"/>
                <a:ea typeface="Courier New" pitchFamily="34" charset="-122"/>
                <a:cs typeface="Courier New" pitchFamily="34" charset="-120"/>
              </a:rPr>
              <a:t>03 / 13</a:t>
            </a:r>
            <a:endParaRPr lang="en-US" sz="1200" dirty="0"/>
          </a:p>
        </p:txBody>
      </p:sp>
      <p:sp>
        <p:nvSpPr>
          <p:cNvPr id="6" name="Text 3"/>
          <p:cNvSpPr/>
          <p:nvPr/>
        </p:nvSpPr>
        <p:spPr>
          <a:xfrm>
            <a:off x="634594" y="761695"/>
            <a:ext cx="10921594" cy="495605"/>
          </a:xfrm>
          <a:prstGeom prst="rect">
            <a:avLst/>
          </a:prstGeom>
          <a:noFill/>
          <a:ln/>
        </p:spPr>
        <p:txBody>
          <a:bodyPr wrap="square" rtlCol="0" anchor="t"/>
          <a:lstStyle/>
          <a:p>
            <a:pPr marL="0" indent="0">
              <a:lnSpc>
                <a:spcPct val="100000"/>
              </a:lnSpc>
              <a:buNone/>
            </a:pPr>
            <a:r>
              <a:rPr lang="en-US" sz="2600" b="1" kern="0" spc="-50" dirty="0" err="1">
                <a:solidFill>
                  <a:srgbClr val="F2EFDA"/>
                </a:solidFill>
                <a:latin typeface="Arial" pitchFamily="34" charset="0"/>
                <a:ea typeface="Arial" pitchFamily="34" charset="-122"/>
                <a:cs typeface="Arial" pitchFamily="34" charset="-120"/>
              </a:rPr>
              <a:t>Filterkette</a:t>
            </a:r>
            <a:r>
              <a:rPr lang="en-US" sz="2600" b="1" kern="0" spc="-50" dirty="0">
                <a:solidFill>
                  <a:srgbClr val="F2EFDA"/>
                </a:solidFill>
                <a:latin typeface="Arial" pitchFamily="34" charset="0"/>
                <a:ea typeface="Arial" pitchFamily="34" charset="-122"/>
                <a:cs typeface="Arial" pitchFamily="34" charset="-120"/>
              </a:rPr>
              <a:t> für </a:t>
            </a:r>
            <a:r>
              <a:rPr lang="en-US" sz="2600" b="1" kern="0" spc="-50" dirty="0" err="1">
                <a:solidFill>
                  <a:srgbClr val="F2EFDA"/>
                </a:solidFill>
                <a:latin typeface="Arial" pitchFamily="34" charset="0"/>
                <a:ea typeface="Arial" pitchFamily="34" charset="-122"/>
                <a:cs typeface="Arial" pitchFamily="34" charset="-120"/>
              </a:rPr>
              <a:t>Daten</a:t>
            </a:r>
            <a:r>
              <a:rPr lang="en-US" sz="2600" b="1" kern="0" spc="-50" dirty="0">
                <a:solidFill>
                  <a:srgbClr val="F2EFDA"/>
                </a:solidFill>
                <a:latin typeface="Arial" pitchFamily="34" charset="0"/>
                <a:ea typeface="Arial" pitchFamily="34" charset="-122"/>
                <a:cs typeface="Arial" pitchFamily="34" charset="-120"/>
              </a:rPr>
              <a:t>- und </a:t>
            </a:r>
            <a:r>
              <a:rPr lang="en-US" sz="2600" b="1" kern="0" spc="-50" dirty="0" err="1">
                <a:solidFill>
                  <a:srgbClr val="F2EFDA"/>
                </a:solidFill>
                <a:latin typeface="Arial" pitchFamily="34" charset="0"/>
                <a:ea typeface="Arial" pitchFamily="34" charset="-122"/>
                <a:cs typeface="Arial" pitchFamily="34" charset="-120"/>
              </a:rPr>
              <a:t>Kennzahlqualität</a:t>
            </a:r>
            <a:endParaRPr lang="en-US" sz="2600" dirty="0"/>
          </a:p>
        </p:txBody>
      </p:sp>
      <p:sp>
        <p:nvSpPr>
          <p:cNvPr id="7" name="Shape 4"/>
          <p:cNvSpPr/>
          <p:nvPr/>
        </p:nvSpPr>
        <p:spPr>
          <a:xfrm>
            <a:off x="634594" y="1904695"/>
            <a:ext cx="5206594" cy="457200"/>
          </a:xfrm>
          <a:prstGeom prst="rect">
            <a:avLst/>
          </a:prstGeom>
          <a:solidFill>
            <a:srgbClr val="2B513D"/>
          </a:solidFill>
          <a:ln/>
        </p:spPr>
        <p:txBody>
          <a:bodyPr/>
          <a:lstStyle/>
          <a:p>
            <a:endParaRPr lang="de-DE"/>
          </a:p>
        </p:txBody>
      </p:sp>
      <p:sp>
        <p:nvSpPr>
          <p:cNvPr id="8" name="Text 5"/>
          <p:cNvSpPr/>
          <p:nvPr/>
        </p:nvSpPr>
        <p:spPr>
          <a:xfrm>
            <a:off x="812902" y="1904695"/>
            <a:ext cx="4444898" cy="457200"/>
          </a:xfrm>
          <a:prstGeom prst="rect">
            <a:avLst/>
          </a:prstGeom>
          <a:noFill/>
          <a:ln/>
        </p:spPr>
        <p:txBody>
          <a:bodyPr wrap="square" rtlCol="0" anchor="ctr"/>
          <a:lstStyle/>
          <a:p>
            <a:pPr marL="0" indent="0" algn="l">
              <a:lnSpc>
                <a:spcPct val="105000"/>
              </a:lnSpc>
              <a:buNone/>
            </a:pPr>
            <a:r>
              <a:rPr lang="en-US" sz="1200" b="1" dirty="0">
                <a:solidFill>
                  <a:srgbClr val="F2EFDA"/>
                </a:solidFill>
                <a:latin typeface="Arial" pitchFamily="34" charset="0"/>
                <a:ea typeface="Arial" pitchFamily="34" charset="-122"/>
                <a:cs typeface="Arial" pitchFamily="34" charset="-120"/>
              </a:rPr>
              <a:t>Unternehmen mit Bilanz, GuV &amp; Cashflow</a:t>
            </a:r>
            <a:endParaRPr lang="en-US" sz="1200" dirty="0"/>
          </a:p>
        </p:txBody>
      </p:sp>
      <p:sp>
        <p:nvSpPr>
          <p:cNvPr id="9" name="Text 6"/>
          <p:cNvSpPr/>
          <p:nvPr/>
        </p:nvSpPr>
        <p:spPr>
          <a:xfrm>
            <a:off x="4556034" y="1904695"/>
            <a:ext cx="1270102" cy="457200"/>
          </a:xfrm>
          <a:prstGeom prst="rect">
            <a:avLst/>
          </a:prstGeom>
          <a:noFill/>
          <a:ln/>
        </p:spPr>
        <p:txBody>
          <a:bodyPr wrap="square" rtlCol="0" anchor="ctr"/>
          <a:lstStyle/>
          <a:p>
            <a:pPr algn="r">
              <a:lnSpc>
                <a:spcPct val="105000"/>
              </a:lnSpc>
            </a:pPr>
            <a:r>
              <a:rPr lang="en-US" sz="1700" b="1" dirty="0">
                <a:solidFill>
                  <a:srgbClr val="E6D34F"/>
                </a:solidFill>
                <a:latin typeface="Courier New" pitchFamily="34" charset="0"/>
                <a:cs typeface="Courier New" pitchFamily="34" charset="-120"/>
              </a:rPr>
              <a:t>5.871</a:t>
            </a:r>
          </a:p>
        </p:txBody>
      </p:sp>
      <p:sp>
        <p:nvSpPr>
          <p:cNvPr id="15" name="Text 12"/>
          <p:cNvSpPr/>
          <p:nvPr/>
        </p:nvSpPr>
        <p:spPr>
          <a:xfrm>
            <a:off x="800101" y="5422798"/>
            <a:ext cx="2031797" cy="457200"/>
          </a:xfrm>
          <a:prstGeom prst="rect">
            <a:avLst/>
          </a:prstGeom>
          <a:noFill/>
          <a:ln/>
        </p:spPr>
        <p:txBody>
          <a:bodyPr wrap="square" rtlCol="0" anchor="ctr"/>
          <a:lstStyle/>
          <a:p>
            <a:pPr marL="0" indent="0" algn="l">
              <a:lnSpc>
                <a:spcPct val="105000"/>
              </a:lnSpc>
              <a:buNone/>
            </a:pPr>
            <a:r>
              <a:rPr lang="en-US" sz="1200" b="1" dirty="0">
                <a:solidFill>
                  <a:srgbClr val="092E1D"/>
                </a:solidFill>
                <a:latin typeface="Arial" pitchFamily="34" charset="0"/>
                <a:ea typeface="Arial" pitchFamily="34" charset="-122"/>
                <a:cs typeface="Arial" pitchFamily="34" charset="-120"/>
              </a:rPr>
              <a:t>Finale Stichprobe</a:t>
            </a:r>
            <a:endParaRPr lang="en-US" sz="1200" dirty="0"/>
          </a:p>
        </p:txBody>
      </p:sp>
      <p:sp>
        <p:nvSpPr>
          <p:cNvPr id="18" name="Shape 15"/>
          <p:cNvSpPr/>
          <p:nvPr/>
        </p:nvSpPr>
        <p:spPr>
          <a:xfrm>
            <a:off x="6460352" y="2410953"/>
            <a:ext cx="2308586" cy="1166354"/>
          </a:xfrm>
          <a:prstGeom prst="roundRect">
            <a:avLst>
              <a:gd name="adj" fmla="val 11100"/>
            </a:avLst>
          </a:prstGeom>
          <a:solidFill>
            <a:srgbClr val="1E402E"/>
          </a:solidFill>
          <a:ln w="12700">
            <a:solidFill>
              <a:srgbClr val="4A6D56"/>
            </a:solidFill>
            <a:prstDash val="solid"/>
          </a:ln>
        </p:spPr>
        <p:txBody>
          <a:bodyPr/>
          <a:lstStyle/>
          <a:p>
            <a:endParaRPr lang="de-DE"/>
          </a:p>
        </p:txBody>
      </p:sp>
      <p:sp>
        <p:nvSpPr>
          <p:cNvPr id="19" name="Text 16"/>
          <p:cNvSpPr/>
          <p:nvPr/>
        </p:nvSpPr>
        <p:spPr>
          <a:xfrm>
            <a:off x="6725778" y="2563657"/>
            <a:ext cx="1865766" cy="777845"/>
          </a:xfrm>
          <a:prstGeom prst="rect">
            <a:avLst/>
          </a:prstGeom>
          <a:noFill/>
          <a:ln/>
        </p:spPr>
        <p:txBody>
          <a:bodyPr wrap="square" rtlCol="0" anchor="t"/>
          <a:lstStyle/>
          <a:p>
            <a:pPr marL="0" indent="0" algn="ctr">
              <a:lnSpc>
                <a:spcPct val="105000"/>
              </a:lnSpc>
              <a:buNone/>
            </a:pPr>
            <a:r>
              <a:rPr lang="en-US" sz="2600" b="1" dirty="0">
                <a:solidFill>
                  <a:srgbClr val="F2EFDA"/>
                </a:solidFill>
                <a:latin typeface="Courier New" pitchFamily="34" charset="0"/>
                <a:ea typeface="Courier New" pitchFamily="34" charset="-122"/>
                <a:cs typeface="Courier New" pitchFamily="34" charset="-120"/>
              </a:rPr>
              <a:t>100</a:t>
            </a:r>
            <a:endParaRPr lang="en-US" sz="2600" dirty="0"/>
          </a:p>
        </p:txBody>
      </p:sp>
      <p:sp>
        <p:nvSpPr>
          <p:cNvPr id="20" name="Text 17"/>
          <p:cNvSpPr/>
          <p:nvPr/>
        </p:nvSpPr>
        <p:spPr>
          <a:xfrm>
            <a:off x="6479091" y="3046461"/>
            <a:ext cx="2289846" cy="467344"/>
          </a:xfrm>
          <a:prstGeom prst="rect">
            <a:avLst/>
          </a:prstGeom>
          <a:noFill/>
          <a:ln/>
        </p:spPr>
        <p:txBody>
          <a:bodyPr wrap="square" rtlCol="0" anchor="t"/>
          <a:lstStyle/>
          <a:p>
            <a:pPr marL="0" indent="0" algn="ctr">
              <a:lnSpc>
                <a:spcPct val="105000"/>
              </a:lnSpc>
              <a:buNone/>
            </a:pPr>
            <a:r>
              <a:rPr lang="en-US" sz="1200" dirty="0">
                <a:solidFill>
                  <a:srgbClr val="B3BC9A"/>
                </a:solidFill>
                <a:latin typeface="Arial" pitchFamily="34" charset="0"/>
                <a:ea typeface="Arial" pitchFamily="34" charset="-122"/>
                <a:cs typeface="Arial" pitchFamily="34" charset="-120"/>
              </a:rPr>
              <a:t>Quartale (2000–2024)</a:t>
            </a:r>
            <a:endParaRPr lang="en-US" sz="1200" dirty="0"/>
          </a:p>
        </p:txBody>
      </p:sp>
      <p:sp>
        <p:nvSpPr>
          <p:cNvPr id="21" name="Shape 18"/>
          <p:cNvSpPr/>
          <p:nvPr/>
        </p:nvSpPr>
        <p:spPr>
          <a:xfrm>
            <a:off x="9034363" y="2410647"/>
            <a:ext cx="2308586" cy="1166353"/>
          </a:xfrm>
          <a:prstGeom prst="roundRect">
            <a:avLst>
              <a:gd name="adj" fmla="val 11100"/>
            </a:avLst>
          </a:prstGeom>
          <a:solidFill>
            <a:srgbClr val="1E402E"/>
          </a:solidFill>
          <a:ln w="12700">
            <a:solidFill>
              <a:srgbClr val="4A6D56"/>
            </a:solidFill>
            <a:prstDash val="solid"/>
          </a:ln>
        </p:spPr>
        <p:txBody>
          <a:bodyPr/>
          <a:lstStyle/>
          <a:p>
            <a:endParaRPr lang="de-DE"/>
          </a:p>
        </p:txBody>
      </p:sp>
      <p:sp>
        <p:nvSpPr>
          <p:cNvPr id="22" name="Text 19"/>
          <p:cNvSpPr/>
          <p:nvPr/>
        </p:nvSpPr>
        <p:spPr>
          <a:xfrm>
            <a:off x="9298875" y="2563352"/>
            <a:ext cx="1865766" cy="777845"/>
          </a:xfrm>
          <a:prstGeom prst="rect">
            <a:avLst/>
          </a:prstGeom>
          <a:noFill/>
          <a:ln/>
        </p:spPr>
        <p:txBody>
          <a:bodyPr wrap="square" rtlCol="0" anchor="t"/>
          <a:lstStyle/>
          <a:p>
            <a:pPr marL="0" indent="0" algn="ctr">
              <a:lnSpc>
                <a:spcPct val="105000"/>
              </a:lnSpc>
              <a:buNone/>
            </a:pPr>
            <a:r>
              <a:rPr lang="en-US" sz="2600" b="1" dirty="0">
                <a:solidFill>
                  <a:srgbClr val="F2EFDA"/>
                </a:solidFill>
                <a:latin typeface="Courier New" pitchFamily="34" charset="0"/>
                <a:ea typeface="Courier New" pitchFamily="34" charset="-122"/>
                <a:cs typeface="Courier New" pitchFamily="34" charset="-120"/>
              </a:rPr>
              <a:t>7</a:t>
            </a:r>
            <a:endParaRPr lang="en-US" sz="2600" dirty="0"/>
          </a:p>
        </p:txBody>
      </p:sp>
      <p:sp>
        <p:nvSpPr>
          <p:cNvPr id="23" name="Text 20"/>
          <p:cNvSpPr/>
          <p:nvPr/>
        </p:nvSpPr>
        <p:spPr>
          <a:xfrm>
            <a:off x="9298875" y="3046156"/>
            <a:ext cx="1865766" cy="332905"/>
          </a:xfrm>
          <a:prstGeom prst="rect">
            <a:avLst/>
          </a:prstGeom>
          <a:noFill/>
          <a:ln/>
        </p:spPr>
        <p:txBody>
          <a:bodyPr wrap="square" rtlCol="0" anchor="t"/>
          <a:lstStyle/>
          <a:p>
            <a:pPr marL="0" indent="0" algn="ctr">
              <a:lnSpc>
                <a:spcPct val="105000"/>
              </a:lnSpc>
              <a:buNone/>
            </a:pPr>
            <a:r>
              <a:rPr lang="en-US" sz="1200" dirty="0" err="1">
                <a:solidFill>
                  <a:srgbClr val="B3BC9A"/>
                </a:solidFill>
                <a:latin typeface="Arial" pitchFamily="34" charset="0"/>
                <a:ea typeface="Arial" pitchFamily="34" charset="-122"/>
                <a:cs typeface="Arial" pitchFamily="34" charset="-120"/>
              </a:rPr>
              <a:t>Kennzahlen</a:t>
            </a:r>
            <a:endParaRPr lang="en-US" sz="1200" dirty="0"/>
          </a:p>
        </p:txBody>
      </p:sp>
      <p:sp>
        <p:nvSpPr>
          <p:cNvPr id="24" name="Shape 21"/>
          <p:cNvSpPr/>
          <p:nvPr/>
        </p:nvSpPr>
        <p:spPr>
          <a:xfrm>
            <a:off x="6460352" y="4447047"/>
            <a:ext cx="4775403" cy="1166354"/>
          </a:xfrm>
          <a:prstGeom prst="roundRect">
            <a:avLst>
              <a:gd name="adj" fmla="val 11100"/>
            </a:avLst>
          </a:prstGeom>
          <a:solidFill>
            <a:srgbClr val="1E402E"/>
          </a:solidFill>
          <a:ln w="12700">
            <a:solidFill>
              <a:srgbClr val="4A6D56"/>
            </a:solidFill>
            <a:prstDash val="solid"/>
          </a:ln>
        </p:spPr>
        <p:txBody>
          <a:bodyPr/>
          <a:lstStyle/>
          <a:p>
            <a:endParaRPr lang="de-DE"/>
          </a:p>
        </p:txBody>
      </p:sp>
      <p:sp>
        <p:nvSpPr>
          <p:cNvPr id="25" name="Text 22"/>
          <p:cNvSpPr/>
          <p:nvPr/>
        </p:nvSpPr>
        <p:spPr>
          <a:xfrm>
            <a:off x="6726002" y="4599751"/>
            <a:ext cx="4331445" cy="845066"/>
          </a:xfrm>
          <a:prstGeom prst="rect">
            <a:avLst/>
          </a:prstGeom>
          <a:noFill/>
          <a:ln/>
        </p:spPr>
        <p:txBody>
          <a:bodyPr wrap="square" rtlCol="0" anchor="t"/>
          <a:lstStyle/>
          <a:p>
            <a:pPr marL="0" indent="0" algn="ctr">
              <a:lnSpc>
                <a:spcPct val="105000"/>
              </a:lnSpc>
              <a:buNone/>
            </a:pPr>
            <a:r>
              <a:rPr lang="en-US" sz="2600" b="1" dirty="0">
                <a:solidFill>
                  <a:srgbClr val="79A2F9"/>
                </a:solidFill>
                <a:latin typeface="Courier New" pitchFamily="34" charset="0"/>
                <a:ea typeface="Courier New" pitchFamily="34" charset="-122"/>
                <a:cs typeface="Courier New" pitchFamily="34" charset="-120"/>
              </a:rPr>
              <a:t>6.521</a:t>
            </a:r>
            <a:endParaRPr lang="en-US" sz="2600" dirty="0"/>
          </a:p>
        </p:txBody>
      </p:sp>
      <p:sp>
        <p:nvSpPr>
          <p:cNvPr id="26" name="Text 23"/>
          <p:cNvSpPr/>
          <p:nvPr/>
        </p:nvSpPr>
        <p:spPr>
          <a:xfrm>
            <a:off x="6726003" y="5082555"/>
            <a:ext cx="4331444" cy="488154"/>
          </a:xfrm>
          <a:prstGeom prst="rect">
            <a:avLst/>
          </a:prstGeom>
          <a:noFill/>
          <a:ln/>
        </p:spPr>
        <p:txBody>
          <a:bodyPr wrap="square" rtlCol="0" anchor="t"/>
          <a:lstStyle/>
          <a:p>
            <a:pPr marL="0" indent="0" algn="ctr">
              <a:lnSpc>
                <a:spcPct val="105000"/>
              </a:lnSpc>
              <a:buNone/>
            </a:pPr>
            <a:r>
              <a:rPr lang="en-US" sz="900" dirty="0">
                <a:solidFill>
                  <a:srgbClr val="B3BC9A"/>
                </a:solidFill>
                <a:latin typeface="Arial" pitchFamily="34" charset="0"/>
                <a:ea typeface="Arial" pitchFamily="34" charset="-122"/>
                <a:cs typeface="Arial" pitchFamily="34" charset="-120"/>
              </a:rPr>
              <a:t>Unt.-Kennzahl-Kombinationen</a:t>
            </a:r>
            <a:endParaRPr lang="en-US" sz="900" dirty="0"/>
          </a:p>
        </p:txBody>
      </p:sp>
      <p:sp>
        <p:nvSpPr>
          <p:cNvPr id="3" name="Text 1">
            <a:extLst>
              <a:ext uri="{FF2B5EF4-FFF2-40B4-BE49-F238E27FC236}">
                <a16:creationId xmlns:a16="http://schemas.microsoft.com/office/drawing/2014/main" id="{9FBC1F3B-A698-30ED-1A52-2B4B39B9A3DC}"/>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dirty="0">
                <a:solidFill>
                  <a:srgbClr val="E6D34F"/>
                </a:solidFill>
                <a:latin typeface="Courier New" pitchFamily="34" charset="0"/>
                <a:cs typeface="Courier New" pitchFamily="34" charset="-120"/>
              </a:rPr>
              <a:t>METHODIK</a:t>
            </a:r>
          </a:p>
        </p:txBody>
      </p:sp>
      <p:sp>
        <p:nvSpPr>
          <p:cNvPr id="30" name="Shape 4">
            <a:extLst>
              <a:ext uri="{FF2B5EF4-FFF2-40B4-BE49-F238E27FC236}">
                <a16:creationId xmlns:a16="http://schemas.microsoft.com/office/drawing/2014/main" id="{269889F2-24E1-C3BB-ADC4-6D219639DC73}"/>
              </a:ext>
            </a:extLst>
          </p:cNvPr>
          <p:cNvSpPr/>
          <p:nvPr/>
        </p:nvSpPr>
        <p:spPr>
          <a:xfrm>
            <a:off x="634594" y="5457129"/>
            <a:ext cx="5206594" cy="457200"/>
          </a:xfrm>
          <a:prstGeom prst="rect">
            <a:avLst/>
          </a:prstGeom>
          <a:solidFill>
            <a:srgbClr val="2B513D"/>
          </a:solidFill>
          <a:ln/>
        </p:spPr>
        <p:txBody>
          <a:bodyPr/>
          <a:lstStyle/>
          <a:p>
            <a:endParaRPr lang="de-DE"/>
          </a:p>
        </p:txBody>
      </p:sp>
      <p:sp>
        <p:nvSpPr>
          <p:cNvPr id="32" name="Text 5">
            <a:extLst>
              <a:ext uri="{FF2B5EF4-FFF2-40B4-BE49-F238E27FC236}">
                <a16:creationId xmlns:a16="http://schemas.microsoft.com/office/drawing/2014/main" id="{F61D5EB5-456D-E278-FEE2-7FE120AD779E}"/>
              </a:ext>
            </a:extLst>
          </p:cNvPr>
          <p:cNvSpPr/>
          <p:nvPr/>
        </p:nvSpPr>
        <p:spPr>
          <a:xfrm>
            <a:off x="800101" y="5457129"/>
            <a:ext cx="4444898" cy="457200"/>
          </a:xfrm>
          <a:prstGeom prst="rect">
            <a:avLst/>
          </a:prstGeom>
          <a:noFill/>
          <a:ln/>
        </p:spPr>
        <p:txBody>
          <a:bodyPr wrap="square" rtlCol="0" anchor="ctr"/>
          <a:lstStyle/>
          <a:p>
            <a:pPr marL="0" indent="0" algn="l">
              <a:lnSpc>
                <a:spcPct val="105000"/>
              </a:lnSpc>
              <a:buNone/>
            </a:pPr>
            <a:r>
              <a:rPr lang="en-US" sz="1200" b="1" dirty="0">
                <a:solidFill>
                  <a:srgbClr val="F2EFDA"/>
                </a:solidFill>
                <a:latin typeface="Arial" pitchFamily="34" charset="0"/>
                <a:ea typeface="Arial" pitchFamily="34" charset="-122"/>
                <a:cs typeface="Arial" pitchFamily="34" charset="-120"/>
              </a:rPr>
              <a:t>Finale </a:t>
            </a:r>
            <a:r>
              <a:rPr lang="en-US" sz="1200" b="1" dirty="0" err="1">
                <a:solidFill>
                  <a:srgbClr val="F2EFDA"/>
                </a:solidFill>
                <a:latin typeface="Arial" pitchFamily="34" charset="0"/>
                <a:ea typeface="Arial" pitchFamily="34" charset="-122"/>
                <a:cs typeface="Arial" pitchFamily="34" charset="-120"/>
              </a:rPr>
              <a:t>Stichprobe</a:t>
            </a:r>
            <a:endParaRPr lang="en-US" sz="1200" dirty="0"/>
          </a:p>
        </p:txBody>
      </p:sp>
      <p:sp>
        <p:nvSpPr>
          <p:cNvPr id="16" name="Text 13"/>
          <p:cNvSpPr/>
          <p:nvPr/>
        </p:nvSpPr>
        <p:spPr>
          <a:xfrm>
            <a:off x="4543233" y="5448403"/>
            <a:ext cx="1270102" cy="457200"/>
          </a:xfrm>
          <a:prstGeom prst="rect">
            <a:avLst/>
          </a:prstGeom>
          <a:noFill/>
          <a:ln/>
        </p:spPr>
        <p:txBody>
          <a:bodyPr wrap="square" rtlCol="0" anchor="ctr"/>
          <a:lstStyle/>
          <a:p>
            <a:pPr marL="0" indent="0" algn="r">
              <a:lnSpc>
                <a:spcPct val="105000"/>
              </a:lnSpc>
              <a:buNone/>
            </a:pPr>
            <a:r>
              <a:rPr lang="en-US" sz="1700" b="1" dirty="0">
                <a:solidFill>
                  <a:srgbClr val="E6D34F"/>
                </a:solidFill>
                <a:latin typeface="Courier New" pitchFamily="34" charset="0"/>
                <a:ea typeface="Courier New" pitchFamily="34" charset="-122"/>
                <a:cs typeface="Courier New" pitchFamily="34" charset="-120"/>
              </a:rPr>
              <a:t>932</a:t>
            </a:r>
            <a:endParaRPr lang="en-US" sz="1700" dirty="0"/>
          </a:p>
        </p:txBody>
      </p:sp>
      <p:graphicFrame>
        <p:nvGraphicFramePr>
          <p:cNvPr id="34" name="Tabelle 33">
            <a:extLst>
              <a:ext uri="{FF2B5EF4-FFF2-40B4-BE49-F238E27FC236}">
                <a16:creationId xmlns:a16="http://schemas.microsoft.com/office/drawing/2014/main" id="{E7176041-190C-FA1B-1488-71AC7A54F4D2}"/>
              </a:ext>
            </a:extLst>
          </p:cNvPr>
          <p:cNvGraphicFramePr>
            <a:graphicFrameLocks noGrp="1"/>
          </p:cNvGraphicFramePr>
          <p:nvPr>
            <p:extLst>
              <p:ext uri="{D42A27DB-BD31-4B8C-83A1-F6EECF244321}">
                <p14:modId xmlns:p14="http://schemas.microsoft.com/office/powerpoint/2010/main" val="2601304072"/>
              </p:ext>
            </p:extLst>
          </p:nvPr>
        </p:nvGraphicFramePr>
        <p:xfrm>
          <a:off x="654695" y="2501799"/>
          <a:ext cx="5158640" cy="2781401"/>
        </p:xfrm>
        <a:graphic>
          <a:graphicData uri="http://schemas.openxmlformats.org/drawingml/2006/table">
            <a:tbl>
              <a:tblPr>
                <a:tableStyleId>{5C22544A-7EE6-4342-B048-85BDC9FD1C3A}</a:tableStyleId>
              </a:tblPr>
              <a:tblGrid>
                <a:gridCol w="2494905">
                  <a:extLst>
                    <a:ext uri="{9D8B030D-6E8A-4147-A177-3AD203B41FA5}">
                      <a16:colId xmlns:a16="http://schemas.microsoft.com/office/drawing/2014/main" val="614156983"/>
                    </a:ext>
                  </a:extLst>
                </a:gridCol>
                <a:gridCol w="939800">
                  <a:extLst>
                    <a:ext uri="{9D8B030D-6E8A-4147-A177-3AD203B41FA5}">
                      <a16:colId xmlns:a16="http://schemas.microsoft.com/office/drawing/2014/main" val="200872870"/>
                    </a:ext>
                  </a:extLst>
                </a:gridCol>
                <a:gridCol w="838200">
                  <a:extLst>
                    <a:ext uri="{9D8B030D-6E8A-4147-A177-3AD203B41FA5}">
                      <a16:colId xmlns:a16="http://schemas.microsoft.com/office/drawing/2014/main" val="2618023021"/>
                    </a:ext>
                  </a:extLst>
                </a:gridCol>
                <a:gridCol w="885735">
                  <a:extLst>
                    <a:ext uri="{9D8B030D-6E8A-4147-A177-3AD203B41FA5}">
                      <a16:colId xmlns:a16="http://schemas.microsoft.com/office/drawing/2014/main" val="681434799"/>
                    </a:ext>
                  </a:extLst>
                </a:gridCol>
              </a:tblGrid>
              <a:tr h="397343">
                <a:tc>
                  <a:txBody>
                    <a:bodyPr/>
                    <a:lstStyle/>
                    <a:p>
                      <a:pPr marL="19050" algn="l">
                        <a:lnSpc>
                          <a:spcPct val="130000"/>
                        </a:lnSpc>
                        <a:spcBef>
                          <a:spcPts val="600"/>
                        </a:spcBef>
                        <a:buNone/>
                      </a:pPr>
                      <a:r>
                        <a:rPr lang="nb-NO" sz="1200" kern="1200" dirty="0">
                          <a:solidFill>
                            <a:srgbClr val="B3BC9A"/>
                          </a:solidFill>
                          <a:latin typeface="Arial" pitchFamily="34" charset="0"/>
                          <a:cs typeface="Arial" pitchFamily="34" charset="-120"/>
                        </a:rPr>
                        <a:t>Sektor-Filter</a:t>
                      </a:r>
                      <a:endParaRPr lang="de-DE" sz="1200" kern="1200" dirty="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tc>
                  <a:txBody>
                    <a:bodyPr/>
                    <a:lstStyle/>
                    <a:p>
                      <a:pPr marL="19050" algn="just">
                        <a:lnSpc>
                          <a:spcPct val="130000"/>
                        </a:lnSpc>
                        <a:spcBef>
                          <a:spcPts val="600"/>
                        </a:spcBef>
                        <a:buNone/>
                      </a:pPr>
                      <a:r>
                        <a:rPr lang="de-DE" sz="1200" kern="1200">
                          <a:solidFill>
                            <a:srgbClr val="B3BC9A"/>
                          </a:solidFill>
                          <a:latin typeface="Arial" pitchFamily="34" charset="0"/>
                          <a:cs typeface="Arial" pitchFamily="34" charset="-120"/>
                        </a:rPr>
                        <a:t>5.871</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tc>
                  <a:txBody>
                    <a:bodyPr/>
                    <a:lstStyle/>
                    <a:p>
                      <a:pPr marL="19050" algn="just">
                        <a:lnSpc>
                          <a:spcPct val="130000"/>
                        </a:lnSpc>
                        <a:spcBef>
                          <a:spcPts val="600"/>
                        </a:spcBef>
                        <a:buNone/>
                      </a:pPr>
                      <a:r>
                        <a:rPr lang="de-DE" sz="1200" kern="1200" dirty="0">
                          <a:solidFill>
                            <a:srgbClr val="B3BC9A"/>
                          </a:solidFill>
                          <a:latin typeface="Arial" pitchFamily="34" charset="0"/>
                          <a:cs typeface="Arial" pitchFamily="34" charset="-120"/>
                        </a:rPr>
                        <a:t>883</a:t>
                      </a:r>
                      <a:endParaRPr lang="de-DE" sz="1200" kern="1200" dirty="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tc>
                  <a:txBody>
                    <a:bodyPr/>
                    <a:lstStyle/>
                    <a:p>
                      <a:pPr marL="19050" algn="just">
                        <a:lnSpc>
                          <a:spcPct val="130000"/>
                        </a:lnSpc>
                        <a:spcBef>
                          <a:spcPts val="600"/>
                        </a:spcBef>
                        <a:buNone/>
                      </a:pPr>
                      <a:r>
                        <a:rPr lang="de-DE" sz="1200" kern="1200">
                          <a:solidFill>
                            <a:srgbClr val="B3BC9A"/>
                          </a:solidFill>
                          <a:latin typeface="Arial" pitchFamily="34" charset="0"/>
                          <a:cs typeface="Arial" pitchFamily="34" charset="-120"/>
                        </a:rPr>
                        <a:t>4.988</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extLst>
                  <a:ext uri="{0D108BD9-81ED-4DB2-BD59-A6C34878D82A}">
                    <a16:rowId xmlns:a16="http://schemas.microsoft.com/office/drawing/2014/main" val="475832156"/>
                  </a:ext>
                </a:extLst>
              </a:tr>
              <a:tr h="397343">
                <a:tc>
                  <a:txBody>
                    <a:bodyPr/>
                    <a:lstStyle/>
                    <a:p>
                      <a:pPr marL="19050" algn="l">
                        <a:lnSpc>
                          <a:spcPct val="130000"/>
                        </a:lnSpc>
                        <a:spcBef>
                          <a:spcPts val="600"/>
                        </a:spcBef>
                        <a:buNone/>
                      </a:pPr>
                      <a:r>
                        <a:rPr lang="de-DE" sz="1200" kern="1200" dirty="0">
                          <a:solidFill>
                            <a:srgbClr val="B3BC9A"/>
                          </a:solidFill>
                          <a:latin typeface="Arial" pitchFamily="34" charset="0"/>
                          <a:cs typeface="Arial" pitchFamily="34" charset="-120"/>
                        </a:rPr>
                        <a:t>ADR-Filter</a:t>
                      </a:r>
                      <a:endParaRPr lang="de-DE" sz="1200" kern="1200" dirty="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tc>
                  <a:txBody>
                    <a:bodyPr/>
                    <a:lstStyle/>
                    <a:p>
                      <a:pPr marL="19050" algn="just">
                        <a:lnSpc>
                          <a:spcPct val="130000"/>
                        </a:lnSpc>
                        <a:spcBef>
                          <a:spcPts val="600"/>
                        </a:spcBef>
                        <a:buNone/>
                      </a:pPr>
                      <a:r>
                        <a:rPr lang="de-DE" sz="1200" kern="1200">
                          <a:solidFill>
                            <a:srgbClr val="B3BC9A"/>
                          </a:solidFill>
                          <a:latin typeface="Arial" pitchFamily="34" charset="0"/>
                          <a:cs typeface="Arial" pitchFamily="34" charset="-120"/>
                        </a:rPr>
                        <a:t>4.988</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tc>
                  <a:txBody>
                    <a:bodyPr/>
                    <a:lstStyle/>
                    <a:p>
                      <a:pPr marL="19050" algn="just">
                        <a:lnSpc>
                          <a:spcPct val="130000"/>
                        </a:lnSpc>
                        <a:spcBef>
                          <a:spcPts val="600"/>
                        </a:spcBef>
                        <a:buNone/>
                      </a:pPr>
                      <a:r>
                        <a:rPr lang="de-DE" sz="1200" kern="1200">
                          <a:solidFill>
                            <a:srgbClr val="B3BC9A"/>
                          </a:solidFill>
                          <a:latin typeface="Arial" pitchFamily="34" charset="0"/>
                          <a:cs typeface="Arial" pitchFamily="34" charset="-120"/>
                        </a:rPr>
                        <a:t>646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tc>
                  <a:txBody>
                    <a:bodyPr/>
                    <a:lstStyle/>
                    <a:p>
                      <a:pPr marL="19050" algn="just">
                        <a:lnSpc>
                          <a:spcPct val="130000"/>
                        </a:lnSpc>
                        <a:spcBef>
                          <a:spcPts val="600"/>
                        </a:spcBef>
                        <a:buNone/>
                      </a:pPr>
                      <a:r>
                        <a:rPr lang="de-DE" sz="1200" kern="1200">
                          <a:solidFill>
                            <a:srgbClr val="B3BC9A"/>
                          </a:solidFill>
                          <a:latin typeface="Arial" pitchFamily="34" charset="0"/>
                          <a:cs typeface="Arial" pitchFamily="34" charset="-120"/>
                        </a:rPr>
                        <a:t>4.342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extLst>
                  <a:ext uri="{0D108BD9-81ED-4DB2-BD59-A6C34878D82A}">
                    <a16:rowId xmlns:a16="http://schemas.microsoft.com/office/drawing/2014/main" val="35776230"/>
                  </a:ext>
                </a:extLst>
              </a:tr>
              <a:tr h="397343">
                <a:tc>
                  <a:txBody>
                    <a:bodyPr/>
                    <a:lstStyle/>
                    <a:p>
                      <a:pPr marL="19050" algn="l">
                        <a:lnSpc>
                          <a:spcPct val="130000"/>
                        </a:lnSpc>
                        <a:spcBef>
                          <a:spcPts val="600"/>
                        </a:spcBef>
                        <a:buNone/>
                      </a:pPr>
                      <a:r>
                        <a:rPr lang="de-DE" sz="1200" kern="1200" dirty="0">
                          <a:solidFill>
                            <a:srgbClr val="B3BC9A"/>
                          </a:solidFill>
                          <a:latin typeface="Arial" pitchFamily="34" charset="0"/>
                          <a:cs typeface="Arial" pitchFamily="34" charset="-120"/>
                        </a:rPr>
                        <a:t>Vollständigkeitsfilter</a:t>
                      </a:r>
                      <a:endParaRPr lang="de-DE" sz="1200" kern="1200" dirty="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tc>
                  <a:txBody>
                    <a:bodyPr/>
                    <a:lstStyle/>
                    <a:p>
                      <a:pPr marL="19050" algn="just">
                        <a:lnSpc>
                          <a:spcPct val="130000"/>
                        </a:lnSpc>
                        <a:spcBef>
                          <a:spcPts val="600"/>
                        </a:spcBef>
                        <a:buNone/>
                      </a:pPr>
                      <a:r>
                        <a:rPr lang="de-DE" sz="1200" kern="1200" dirty="0">
                          <a:solidFill>
                            <a:srgbClr val="B3BC9A"/>
                          </a:solidFill>
                          <a:latin typeface="Arial" pitchFamily="34" charset="0"/>
                          <a:cs typeface="Arial" pitchFamily="34" charset="-120"/>
                        </a:rPr>
                        <a:t>4.342</a:t>
                      </a:r>
                      <a:endParaRPr lang="de-DE" sz="1200" kern="1200" dirty="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tc>
                  <a:txBody>
                    <a:bodyPr/>
                    <a:lstStyle/>
                    <a:p>
                      <a:pPr marL="19050" algn="just">
                        <a:lnSpc>
                          <a:spcPct val="130000"/>
                        </a:lnSpc>
                        <a:spcBef>
                          <a:spcPts val="600"/>
                        </a:spcBef>
                        <a:buNone/>
                      </a:pPr>
                      <a:r>
                        <a:rPr lang="de-DE" sz="1200" kern="1200">
                          <a:solidFill>
                            <a:srgbClr val="B3BC9A"/>
                          </a:solidFill>
                          <a:latin typeface="Arial" pitchFamily="34" charset="0"/>
                          <a:cs typeface="Arial" pitchFamily="34" charset="-120"/>
                        </a:rPr>
                        <a:t>3.366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tc>
                  <a:txBody>
                    <a:bodyPr/>
                    <a:lstStyle/>
                    <a:p>
                      <a:pPr marL="19050" algn="just">
                        <a:lnSpc>
                          <a:spcPct val="130000"/>
                        </a:lnSpc>
                        <a:spcBef>
                          <a:spcPts val="600"/>
                        </a:spcBef>
                        <a:buNone/>
                      </a:pPr>
                      <a:r>
                        <a:rPr lang="de-DE" sz="1200" kern="1200">
                          <a:solidFill>
                            <a:srgbClr val="B3BC9A"/>
                          </a:solidFill>
                          <a:latin typeface="Arial" pitchFamily="34" charset="0"/>
                          <a:cs typeface="Arial" pitchFamily="34" charset="-120"/>
                        </a:rPr>
                        <a:t>976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extLst>
                  <a:ext uri="{0D108BD9-81ED-4DB2-BD59-A6C34878D82A}">
                    <a16:rowId xmlns:a16="http://schemas.microsoft.com/office/drawing/2014/main" val="362203985"/>
                  </a:ext>
                </a:extLst>
              </a:tr>
              <a:tr h="397343">
                <a:tc>
                  <a:txBody>
                    <a:bodyPr/>
                    <a:lstStyle/>
                    <a:p>
                      <a:pPr marL="19050" algn="l">
                        <a:lnSpc>
                          <a:spcPct val="130000"/>
                        </a:lnSpc>
                        <a:spcBef>
                          <a:spcPts val="600"/>
                        </a:spcBef>
                        <a:buNone/>
                      </a:pPr>
                      <a:r>
                        <a:rPr lang="de-DE" sz="1200" kern="1200" dirty="0" err="1">
                          <a:solidFill>
                            <a:srgbClr val="B3BC9A"/>
                          </a:solidFill>
                          <a:latin typeface="Arial" pitchFamily="34" charset="0"/>
                          <a:cs typeface="Arial" pitchFamily="34" charset="-120"/>
                        </a:rPr>
                        <a:t>Outlier-Detection</a:t>
                      </a:r>
                      <a:endParaRPr lang="de-DE" sz="1200" kern="1200" dirty="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tc>
                  <a:txBody>
                    <a:bodyPr/>
                    <a:lstStyle/>
                    <a:p>
                      <a:pPr marL="19050" algn="just">
                        <a:lnSpc>
                          <a:spcPct val="130000"/>
                        </a:lnSpc>
                        <a:spcBef>
                          <a:spcPts val="600"/>
                        </a:spcBef>
                        <a:buNone/>
                      </a:pPr>
                      <a:r>
                        <a:rPr lang="de-DE" sz="1200" kern="1200" dirty="0">
                          <a:solidFill>
                            <a:srgbClr val="B3BC9A"/>
                          </a:solidFill>
                          <a:latin typeface="Arial" pitchFamily="34" charset="0"/>
                          <a:cs typeface="Arial" pitchFamily="34" charset="-120"/>
                        </a:rPr>
                        <a:t>976</a:t>
                      </a:r>
                      <a:endParaRPr lang="de-DE" sz="1200" kern="1200" dirty="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tc>
                  <a:txBody>
                    <a:bodyPr/>
                    <a:lstStyle/>
                    <a:p>
                      <a:pPr marL="19050" algn="just">
                        <a:lnSpc>
                          <a:spcPct val="130000"/>
                        </a:lnSpc>
                        <a:spcBef>
                          <a:spcPts val="600"/>
                        </a:spcBef>
                        <a:buNone/>
                      </a:pPr>
                      <a:r>
                        <a:rPr lang="de-DE" sz="1200" kern="1200">
                          <a:solidFill>
                            <a:srgbClr val="B3BC9A"/>
                          </a:solidFill>
                          <a:latin typeface="Arial" pitchFamily="34" charset="0"/>
                          <a:cs typeface="Arial" pitchFamily="34" charset="-120"/>
                        </a:rPr>
                        <a:t>-</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tc>
                  <a:txBody>
                    <a:bodyPr/>
                    <a:lstStyle/>
                    <a:p>
                      <a:pPr marL="19050" algn="just">
                        <a:lnSpc>
                          <a:spcPct val="130000"/>
                        </a:lnSpc>
                        <a:spcBef>
                          <a:spcPts val="600"/>
                        </a:spcBef>
                        <a:buNone/>
                      </a:pPr>
                      <a:r>
                        <a:rPr lang="de-DE" sz="1200" kern="1200">
                          <a:solidFill>
                            <a:srgbClr val="B3BC9A"/>
                          </a:solidFill>
                          <a:latin typeface="Arial" pitchFamily="34" charset="0"/>
                          <a:cs typeface="Arial" pitchFamily="34" charset="-120"/>
                        </a:rPr>
                        <a:t>976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extLst>
                  <a:ext uri="{0D108BD9-81ED-4DB2-BD59-A6C34878D82A}">
                    <a16:rowId xmlns:a16="http://schemas.microsoft.com/office/drawing/2014/main" val="2056506140"/>
                  </a:ext>
                </a:extLst>
              </a:tr>
              <a:tr h="397343">
                <a:tc>
                  <a:txBody>
                    <a:bodyPr/>
                    <a:lstStyle/>
                    <a:p>
                      <a:pPr marL="19050" algn="l">
                        <a:lnSpc>
                          <a:spcPct val="130000"/>
                        </a:lnSpc>
                        <a:spcBef>
                          <a:spcPts val="600"/>
                        </a:spcBef>
                        <a:buNone/>
                      </a:pPr>
                      <a:r>
                        <a:rPr lang="de-DE" sz="1200" kern="1200" dirty="0" err="1">
                          <a:solidFill>
                            <a:srgbClr val="B3BC9A"/>
                          </a:solidFill>
                          <a:latin typeface="Arial" pitchFamily="34" charset="0"/>
                          <a:cs typeface="Arial" pitchFamily="34" charset="-120"/>
                        </a:rPr>
                        <a:t>NaN</a:t>
                      </a:r>
                      <a:r>
                        <a:rPr lang="de-DE" sz="1200" kern="1200" dirty="0">
                          <a:solidFill>
                            <a:srgbClr val="B3BC9A"/>
                          </a:solidFill>
                          <a:latin typeface="Arial" pitchFamily="34" charset="0"/>
                          <a:cs typeface="Arial" pitchFamily="34" charset="-120"/>
                        </a:rPr>
                        <a:t>-/Qualitätsfilter</a:t>
                      </a:r>
                      <a:endParaRPr lang="de-DE" sz="1200" kern="1200" dirty="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tc>
                  <a:txBody>
                    <a:bodyPr/>
                    <a:lstStyle/>
                    <a:p>
                      <a:pPr marL="19050" algn="just">
                        <a:lnSpc>
                          <a:spcPct val="130000"/>
                        </a:lnSpc>
                        <a:spcBef>
                          <a:spcPts val="600"/>
                        </a:spcBef>
                        <a:buNone/>
                      </a:pPr>
                      <a:r>
                        <a:rPr lang="de-DE" sz="1200" kern="1200" dirty="0">
                          <a:solidFill>
                            <a:srgbClr val="B3BC9A"/>
                          </a:solidFill>
                          <a:latin typeface="Arial" pitchFamily="34" charset="0"/>
                          <a:cs typeface="Arial" pitchFamily="34" charset="-120"/>
                        </a:rPr>
                        <a:t>976</a:t>
                      </a:r>
                      <a:endParaRPr lang="de-DE" sz="1200" kern="1200" dirty="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tc>
                  <a:txBody>
                    <a:bodyPr/>
                    <a:lstStyle/>
                    <a:p>
                      <a:pPr marL="19050" algn="just">
                        <a:lnSpc>
                          <a:spcPct val="130000"/>
                        </a:lnSpc>
                        <a:spcBef>
                          <a:spcPts val="600"/>
                        </a:spcBef>
                        <a:buNone/>
                      </a:pPr>
                      <a:r>
                        <a:rPr lang="de-DE" sz="1200" kern="1200" dirty="0">
                          <a:solidFill>
                            <a:srgbClr val="B3BC9A"/>
                          </a:solidFill>
                          <a:latin typeface="Arial" pitchFamily="34" charset="0"/>
                          <a:cs typeface="Arial" pitchFamily="34" charset="-120"/>
                        </a:rPr>
                        <a:t>44</a:t>
                      </a:r>
                      <a:endParaRPr lang="de-DE" sz="1200" kern="1200" dirty="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tc>
                  <a:txBody>
                    <a:bodyPr/>
                    <a:lstStyle/>
                    <a:p>
                      <a:pPr marL="19050" algn="just">
                        <a:lnSpc>
                          <a:spcPct val="130000"/>
                        </a:lnSpc>
                        <a:spcBef>
                          <a:spcPts val="600"/>
                        </a:spcBef>
                        <a:buNone/>
                      </a:pPr>
                      <a:r>
                        <a:rPr lang="de-DE" sz="1200" kern="1200">
                          <a:solidFill>
                            <a:srgbClr val="B3BC9A"/>
                          </a:solidFill>
                          <a:latin typeface="Arial" pitchFamily="34" charset="0"/>
                          <a:cs typeface="Arial" pitchFamily="34" charset="-120"/>
                        </a:rPr>
                        <a:t>932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extLst>
                  <a:ext uri="{0D108BD9-81ED-4DB2-BD59-A6C34878D82A}">
                    <a16:rowId xmlns:a16="http://schemas.microsoft.com/office/drawing/2014/main" val="1269198846"/>
                  </a:ext>
                </a:extLst>
              </a:tr>
              <a:tr h="397343">
                <a:tc>
                  <a:txBody>
                    <a:bodyPr/>
                    <a:lstStyle/>
                    <a:p>
                      <a:pPr marL="19050" algn="l">
                        <a:lnSpc>
                          <a:spcPct val="130000"/>
                        </a:lnSpc>
                        <a:spcBef>
                          <a:spcPts val="600"/>
                        </a:spcBef>
                        <a:buNone/>
                      </a:pPr>
                      <a:r>
                        <a:rPr lang="de-DE" sz="1200" kern="1200">
                          <a:solidFill>
                            <a:srgbClr val="B3BC9A"/>
                          </a:solidFill>
                          <a:latin typeface="Arial" pitchFamily="34" charset="0"/>
                          <a:cs typeface="Arial" pitchFamily="34" charset="-120"/>
                        </a:rPr>
                        <a:t>Kennzahlenberechnung</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tc>
                  <a:txBody>
                    <a:bodyPr/>
                    <a:lstStyle/>
                    <a:p>
                      <a:pPr marL="19050" algn="just">
                        <a:lnSpc>
                          <a:spcPct val="130000"/>
                        </a:lnSpc>
                        <a:spcBef>
                          <a:spcPts val="600"/>
                        </a:spcBef>
                        <a:buNone/>
                      </a:pPr>
                      <a:r>
                        <a:rPr lang="de-DE" sz="1200" kern="1200" dirty="0">
                          <a:solidFill>
                            <a:srgbClr val="B3BC9A"/>
                          </a:solidFill>
                          <a:latin typeface="Arial" pitchFamily="34" charset="0"/>
                          <a:cs typeface="Arial" pitchFamily="34" charset="-120"/>
                        </a:rPr>
                        <a:t>932</a:t>
                      </a:r>
                      <a:endParaRPr lang="de-DE" sz="1200" kern="1200" dirty="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tc>
                  <a:txBody>
                    <a:bodyPr/>
                    <a:lstStyle/>
                    <a:p>
                      <a:pPr marL="19050" algn="just">
                        <a:lnSpc>
                          <a:spcPct val="130000"/>
                        </a:lnSpc>
                        <a:spcBef>
                          <a:spcPts val="600"/>
                        </a:spcBef>
                        <a:buNone/>
                      </a:pPr>
                      <a:r>
                        <a:rPr lang="de-DE" sz="1200" kern="1200" dirty="0">
                          <a:solidFill>
                            <a:srgbClr val="B3BC9A"/>
                          </a:solidFill>
                          <a:latin typeface="Arial" pitchFamily="34" charset="0"/>
                          <a:cs typeface="Arial" pitchFamily="34" charset="-120"/>
                        </a:rPr>
                        <a:t>-</a:t>
                      </a:r>
                      <a:endParaRPr lang="de-DE" sz="1200" kern="1200" dirty="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tc>
                  <a:txBody>
                    <a:bodyPr/>
                    <a:lstStyle/>
                    <a:p>
                      <a:pPr marL="19050" algn="just">
                        <a:lnSpc>
                          <a:spcPct val="130000"/>
                        </a:lnSpc>
                        <a:spcBef>
                          <a:spcPts val="600"/>
                        </a:spcBef>
                        <a:buNone/>
                      </a:pPr>
                      <a:r>
                        <a:rPr lang="de-DE" sz="1200" kern="1200">
                          <a:solidFill>
                            <a:srgbClr val="B3BC9A"/>
                          </a:solidFill>
                          <a:latin typeface="Arial" pitchFamily="34" charset="0"/>
                          <a:cs typeface="Arial" pitchFamily="34" charset="-120"/>
                        </a:rPr>
                        <a:t>932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extLst>
                  <a:ext uri="{0D108BD9-81ED-4DB2-BD59-A6C34878D82A}">
                    <a16:rowId xmlns:a16="http://schemas.microsoft.com/office/drawing/2014/main" val="1765662456"/>
                  </a:ext>
                </a:extLst>
              </a:tr>
              <a:tr h="397343">
                <a:tc>
                  <a:txBody>
                    <a:bodyPr/>
                    <a:lstStyle/>
                    <a:p>
                      <a:pPr marL="19050" algn="l">
                        <a:lnSpc>
                          <a:spcPct val="130000"/>
                        </a:lnSpc>
                        <a:spcBef>
                          <a:spcPts val="600"/>
                        </a:spcBef>
                        <a:buNone/>
                      </a:pPr>
                      <a:r>
                        <a:rPr lang="de-DE" sz="1200" kern="1200" dirty="0" err="1">
                          <a:solidFill>
                            <a:srgbClr val="B3BC9A"/>
                          </a:solidFill>
                          <a:latin typeface="Arial" pitchFamily="34" charset="0"/>
                          <a:cs typeface="Arial" pitchFamily="34" charset="-120"/>
                        </a:rPr>
                        <a:t>Winsorisierung</a:t>
                      </a:r>
                      <a:endParaRPr lang="de-DE" sz="1200" kern="1200" dirty="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tc>
                  <a:txBody>
                    <a:bodyPr/>
                    <a:lstStyle/>
                    <a:p>
                      <a:pPr marL="19050" algn="just">
                        <a:lnSpc>
                          <a:spcPct val="130000"/>
                        </a:lnSpc>
                        <a:spcBef>
                          <a:spcPts val="600"/>
                        </a:spcBef>
                        <a:buNone/>
                      </a:pPr>
                      <a:r>
                        <a:rPr lang="de-DE" sz="1200" kern="1200">
                          <a:solidFill>
                            <a:srgbClr val="B3BC9A"/>
                          </a:solidFill>
                          <a:latin typeface="Arial" pitchFamily="34" charset="0"/>
                          <a:cs typeface="Arial" pitchFamily="34" charset="-120"/>
                        </a:rPr>
                        <a:t>932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tc>
                  <a:txBody>
                    <a:bodyPr/>
                    <a:lstStyle/>
                    <a:p>
                      <a:pPr marL="19050" algn="just">
                        <a:lnSpc>
                          <a:spcPct val="130000"/>
                        </a:lnSpc>
                        <a:spcBef>
                          <a:spcPts val="600"/>
                        </a:spcBef>
                        <a:buNone/>
                      </a:pPr>
                      <a:r>
                        <a:rPr lang="de-DE" sz="1200" kern="1200" dirty="0">
                          <a:solidFill>
                            <a:srgbClr val="B3BC9A"/>
                          </a:solidFill>
                          <a:latin typeface="Arial" pitchFamily="34" charset="0"/>
                          <a:cs typeface="Arial" pitchFamily="34" charset="-120"/>
                        </a:rPr>
                        <a:t>-</a:t>
                      </a:r>
                      <a:endParaRPr lang="de-DE" sz="1200" kern="1200" dirty="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tc>
                  <a:txBody>
                    <a:bodyPr/>
                    <a:lstStyle/>
                    <a:p>
                      <a:pPr marL="19050" algn="just">
                        <a:lnSpc>
                          <a:spcPct val="130000"/>
                        </a:lnSpc>
                        <a:spcBef>
                          <a:spcPts val="600"/>
                        </a:spcBef>
                        <a:buNone/>
                      </a:pPr>
                      <a:r>
                        <a:rPr lang="de-DE" sz="1200" kern="1200" dirty="0">
                          <a:solidFill>
                            <a:srgbClr val="B3BC9A"/>
                          </a:solidFill>
                          <a:latin typeface="Arial" pitchFamily="34" charset="0"/>
                          <a:cs typeface="Arial" pitchFamily="34" charset="-120"/>
                        </a:rPr>
                        <a:t>932</a:t>
                      </a:r>
                      <a:endParaRPr lang="de-DE" sz="1200" kern="1200" dirty="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extLst>
                  <a:ext uri="{0D108BD9-81ED-4DB2-BD59-A6C34878D82A}">
                    <a16:rowId xmlns:a16="http://schemas.microsoft.com/office/drawing/2014/main" val="3719891346"/>
                  </a:ext>
                </a:extLst>
              </a:tr>
            </a:tbl>
          </a:graphicData>
        </a:graphic>
      </p:graphicFrame>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82E1C"/>
        </a:solidFill>
        <a:effectLst/>
      </p:bgPr>
    </p:bg>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dirty="0">
                <a:solidFill>
                  <a:srgbClr val="798D6F"/>
                </a:solidFill>
                <a:latin typeface="Courier New" pitchFamily="34" charset="0"/>
                <a:ea typeface="Courier New" pitchFamily="34" charset="-122"/>
                <a:cs typeface="Courier New" pitchFamily="34" charset="-120"/>
              </a:rPr>
              <a:t>04 / 13</a:t>
            </a:r>
            <a:endParaRPr lang="en-US" sz="1200" dirty="0"/>
          </a:p>
        </p:txBody>
      </p:sp>
      <p:sp>
        <p:nvSpPr>
          <p:cNvPr id="6" name="Text 3"/>
          <p:cNvSpPr/>
          <p:nvPr/>
        </p:nvSpPr>
        <p:spPr>
          <a:xfrm>
            <a:off x="634594" y="761695"/>
            <a:ext cx="10921594" cy="399593"/>
          </a:xfrm>
          <a:prstGeom prst="rect">
            <a:avLst/>
          </a:prstGeom>
          <a:noFill/>
          <a:ln/>
        </p:spPr>
        <p:txBody>
          <a:bodyPr wrap="square" rtlCol="0" anchor="t"/>
          <a:lstStyle/>
          <a:p>
            <a:pPr marL="0" indent="0">
              <a:lnSpc>
                <a:spcPct val="100000"/>
              </a:lnSpc>
              <a:buNone/>
            </a:pPr>
            <a:r>
              <a:rPr lang="en-US" sz="2100" b="1" kern="0" spc="-50" dirty="0">
                <a:solidFill>
                  <a:srgbClr val="F2EFDA"/>
                </a:solidFill>
                <a:latin typeface="Arial" pitchFamily="34" charset="0"/>
                <a:ea typeface="Arial" pitchFamily="34" charset="-122"/>
                <a:cs typeface="Arial" pitchFamily="34" charset="-120"/>
              </a:rPr>
              <a:t>AR(1) auf ersten Differenzen — pro Unternehmen &amp; Kennzahl</a:t>
            </a:r>
            <a:endParaRPr lang="en-US" sz="2100" dirty="0"/>
          </a:p>
        </p:txBody>
      </p:sp>
      <p:sp>
        <p:nvSpPr>
          <p:cNvPr id="7" name="Shape 4"/>
          <p:cNvSpPr/>
          <p:nvPr/>
        </p:nvSpPr>
        <p:spPr>
          <a:xfrm>
            <a:off x="634593" y="2562469"/>
            <a:ext cx="10921594" cy="761695"/>
          </a:xfrm>
          <a:prstGeom prst="roundRect">
            <a:avLst>
              <a:gd name="adj" fmla="val 13325"/>
            </a:avLst>
          </a:prstGeom>
          <a:solidFill>
            <a:srgbClr val="1E402E"/>
          </a:solidFill>
          <a:ln w="12700">
            <a:solidFill>
              <a:srgbClr val="4A6D56"/>
            </a:solidFill>
            <a:prstDash val="solid"/>
          </a:ln>
        </p:spPr>
        <p:txBody>
          <a:bodyPr/>
          <a:lstStyle/>
          <a:p>
            <a:endParaRPr lang="de-DE"/>
          </a:p>
        </p:txBody>
      </p:sp>
      <p:sp>
        <p:nvSpPr>
          <p:cNvPr id="8" name="Text 5"/>
          <p:cNvSpPr/>
          <p:nvPr/>
        </p:nvSpPr>
        <p:spPr>
          <a:xfrm>
            <a:off x="952804" y="2562469"/>
            <a:ext cx="6349594" cy="761695"/>
          </a:xfrm>
          <a:prstGeom prst="rect">
            <a:avLst/>
          </a:prstGeom>
          <a:noFill/>
          <a:ln/>
        </p:spPr>
        <p:txBody>
          <a:bodyPr wrap="square" rtlCol="0" anchor="ctr"/>
          <a:lstStyle/>
          <a:p>
            <a:pPr marL="0" indent="0" algn="l">
              <a:lnSpc>
                <a:spcPct val="105000"/>
              </a:lnSpc>
              <a:buNone/>
            </a:pPr>
            <a:r>
              <a:rPr lang="en-US" sz="2000" dirty="0">
                <a:solidFill>
                  <a:srgbClr val="F2EFDA"/>
                </a:solidFill>
                <a:latin typeface="Courier New" pitchFamily="34" charset="0"/>
                <a:ea typeface="Courier New" pitchFamily="34" charset="-122"/>
                <a:cs typeface="Courier New" pitchFamily="34" charset="-120"/>
              </a:rPr>
              <a:t>ΔYt = c + </a:t>
            </a:r>
            <a:r>
              <a:rPr lang="en-US" sz="2000" b="1" dirty="0">
                <a:solidFill>
                  <a:srgbClr val="E6D34F"/>
                </a:solidFill>
                <a:latin typeface="Courier New" pitchFamily="34" charset="0"/>
                <a:ea typeface="Courier New" pitchFamily="34" charset="-122"/>
                <a:cs typeface="Courier New" pitchFamily="34" charset="-120"/>
              </a:rPr>
              <a:t>φ</a:t>
            </a:r>
            <a:r>
              <a:rPr lang="en-US" sz="2000" dirty="0">
                <a:solidFill>
                  <a:srgbClr val="F2EFDA"/>
                </a:solidFill>
                <a:latin typeface="Courier New" pitchFamily="34" charset="0"/>
                <a:ea typeface="Courier New" pitchFamily="34" charset="-122"/>
                <a:cs typeface="Courier New" pitchFamily="34" charset="-120"/>
              </a:rPr>
              <a:t> · ΔYt−1 + </a:t>
            </a:r>
            <a:r>
              <a:rPr lang="en-US" sz="2000" b="1" dirty="0">
                <a:solidFill>
                  <a:srgbClr val="79A2F9"/>
                </a:solidFill>
                <a:latin typeface="Courier New" pitchFamily="34" charset="0"/>
                <a:ea typeface="Courier New" pitchFamily="34" charset="-122"/>
                <a:cs typeface="Courier New" pitchFamily="34" charset="-120"/>
              </a:rPr>
              <a:t>εt</a:t>
            </a:r>
            <a:endParaRPr lang="en-US" sz="2000" dirty="0"/>
          </a:p>
        </p:txBody>
      </p:sp>
      <p:sp>
        <p:nvSpPr>
          <p:cNvPr id="9" name="Text 6"/>
          <p:cNvSpPr/>
          <p:nvPr/>
        </p:nvSpPr>
        <p:spPr>
          <a:xfrm>
            <a:off x="7302397" y="2562469"/>
            <a:ext cx="4063594" cy="761695"/>
          </a:xfrm>
          <a:prstGeom prst="rect">
            <a:avLst/>
          </a:prstGeom>
          <a:noFill/>
          <a:ln/>
        </p:spPr>
        <p:txBody>
          <a:bodyPr wrap="square" rtlCol="0" anchor="ctr"/>
          <a:lstStyle/>
          <a:p>
            <a:pPr marL="0" indent="0" algn="r">
              <a:lnSpc>
                <a:spcPct val="105000"/>
              </a:lnSpc>
              <a:buNone/>
            </a:pPr>
            <a:r>
              <a:rPr lang="en-US" sz="900" dirty="0">
                <a:solidFill>
                  <a:srgbClr val="798D6F"/>
                </a:solidFill>
                <a:latin typeface="Courier New" pitchFamily="34" charset="0"/>
                <a:ea typeface="Courier New" pitchFamily="34" charset="-122"/>
                <a:cs typeface="Courier New" pitchFamily="34" charset="-120"/>
              </a:rPr>
              <a:t>individuelle OLS (Mean-Group, Pesaran/Smith 1995)</a:t>
            </a:r>
            <a:endParaRPr lang="en-US" sz="900" dirty="0"/>
          </a:p>
        </p:txBody>
      </p:sp>
      <p:sp>
        <p:nvSpPr>
          <p:cNvPr id="3" name="Text 1">
            <a:extLst>
              <a:ext uri="{FF2B5EF4-FFF2-40B4-BE49-F238E27FC236}">
                <a16:creationId xmlns:a16="http://schemas.microsoft.com/office/drawing/2014/main" id="{DEFC72AC-EA13-A164-ED3B-4ABCE5A94802}"/>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dirty="0">
                <a:solidFill>
                  <a:srgbClr val="E6D34F"/>
                </a:solidFill>
                <a:latin typeface="Courier New" pitchFamily="34" charset="0"/>
                <a:cs typeface="Courier New" pitchFamily="34" charset="-120"/>
              </a:rPr>
              <a:t>METHODIK</a:t>
            </a:r>
          </a:p>
        </p:txBody>
      </p:sp>
      <p:sp>
        <p:nvSpPr>
          <p:cNvPr id="22" name="Shape 21">
            <a:extLst>
              <a:ext uri="{FF2B5EF4-FFF2-40B4-BE49-F238E27FC236}">
                <a16:creationId xmlns:a16="http://schemas.microsoft.com/office/drawing/2014/main" id="{2813FA41-3035-6183-4147-4CA548EB5FB5}"/>
              </a:ext>
            </a:extLst>
          </p:cNvPr>
          <p:cNvSpPr/>
          <p:nvPr/>
        </p:nvSpPr>
        <p:spPr>
          <a:xfrm>
            <a:off x="6460352" y="4447047"/>
            <a:ext cx="4775403" cy="1166354"/>
          </a:xfrm>
          <a:prstGeom prst="roundRect">
            <a:avLst>
              <a:gd name="adj" fmla="val 11100"/>
            </a:avLst>
          </a:prstGeom>
          <a:solidFill>
            <a:srgbClr val="1E402E"/>
          </a:solidFill>
          <a:ln w="12700">
            <a:solidFill>
              <a:srgbClr val="4A6D56"/>
            </a:solidFill>
            <a:prstDash val="solid"/>
          </a:ln>
        </p:spPr>
        <p:txBody>
          <a:bodyPr/>
          <a:lstStyle/>
          <a:p>
            <a:endParaRPr lang="de-DE"/>
          </a:p>
        </p:txBody>
      </p:sp>
      <p:sp>
        <p:nvSpPr>
          <p:cNvPr id="23" name="Text 22">
            <a:extLst>
              <a:ext uri="{FF2B5EF4-FFF2-40B4-BE49-F238E27FC236}">
                <a16:creationId xmlns:a16="http://schemas.microsoft.com/office/drawing/2014/main" id="{978F406D-F6E9-03E3-7F68-6F4104C9258F}"/>
              </a:ext>
            </a:extLst>
          </p:cNvPr>
          <p:cNvSpPr/>
          <p:nvPr/>
        </p:nvSpPr>
        <p:spPr>
          <a:xfrm>
            <a:off x="6726002" y="4599751"/>
            <a:ext cx="4331445" cy="845066"/>
          </a:xfrm>
          <a:prstGeom prst="rect">
            <a:avLst/>
          </a:prstGeom>
          <a:noFill/>
          <a:ln/>
        </p:spPr>
        <p:txBody>
          <a:bodyPr wrap="square" rtlCol="0" anchor="t"/>
          <a:lstStyle/>
          <a:p>
            <a:pPr marL="0" indent="0" algn="ctr">
              <a:lnSpc>
                <a:spcPct val="105000"/>
              </a:lnSpc>
              <a:buNone/>
            </a:pPr>
            <a:r>
              <a:rPr lang="en-US" sz="2600" b="1" dirty="0">
                <a:solidFill>
                  <a:srgbClr val="79A2F9"/>
                </a:solidFill>
                <a:latin typeface="Courier New" pitchFamily="34" charset="0"/>
                <a:ea typeface="Courier New" pitchFamily="34" charset="-122"/>
                <a:cs typeface="Courier New" pitchFamily="34" charset="-120"/>
              </a:rPr>
              <a:t>6.521</a:t>
            </a:r>
            <a:endParaRPr lang="en-US" sz="2600" dirty="0"/>
          </a:p>
        </p:txBody>
      </p:sp>
      <p:sp>
        <p:nvSpPr>
          <p:cNvPr id="24" name="Text 23">
            <a:extLst>
              <a:ext uri="{FF2B5EF4-FFF2-40B4-BE49-F238E27FC236}">
                <a16:creationId xmlns:a16="http://schemas.microsoft.com/office/drawing/2014/main" id="{0F415808-5D7E-4480-66D0-76A01FA18438}"/>
              </a:ext>
            </a:extLst>
          </p:cNvPr>
          <p:cNvSpPr/>
          <p:nvPr/>
        </p:nvSpPr>
        <p:spPr>
          <a:xfrm>
            <a:off x="6726003" y="5082555"/>
            <a:ext cx="4331444" cy="488154"/>
          </a:xfrm>
          <a:prstGeom prst="rect">
            <a:avLst/>
          </a:prstGeom>
          <a:noFill/>
          <a:ln/>
        </p:spPr>
        <p:txBody>
          <a:bodyPr wrap="square" rtlCol="0" anchor="t"/>
          <a:lstStyle/>
          <a:p>
            <a:pPr marL="0" indent="0" algn="ctr">
              <a:lnSpc>
                <a:spcPct val="105000"/>
              </a:lnSpc>
              <a:buNone/>
            </a:pPr>
            <a:r>
              <a:rPr lang="en-US" sz="900" dirty="0">
                <a:solidFill>
                  <a:srgbClr val="B3BC9A"/>
                </a:solidFill>
                <a:latin typeface="Arial" pitchFamily="34" charset="0"/>
                <a:ea typeface="Arial" pitchFamily="34" charset="-122"/>
                <a:cs typeface="Arial" pitchFamily="34" charset="-120"/>
              </a:rPr>
              <a:t>Unt.-Kennzahl-Kombinationen</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3" name="Shape 16">
            <a:extLst>
              <a:ext uri="{FF2B5EF4-FFF2-40B4-BE49-F238E27FC236}">
                <a16:creationId xmlns:a16="http://schemas.microsoft.com/office/drawing/2014/main" id="{0EDC59D2-A420-643C-D8EA-9C0E9711EF60}"/>
              </a:ext>
            </a:extLst>
          </p:cNvPr>
          <p:cNvSpPr/>
          <p:nvPr/>
        </p:nvSpPr>
        <p:spPr>
          <a:xfrm>
            <a:off x="241198" y="1426453"/>
            <a:ext cx="4114902" cy="3780242"/>
          </a:xfrm>
          <a:prstGeom prst="roundRect">
            <a:avLst>
              <a:gd name="adj" fmla="val 3717"/>
            </a:avLst>
          </a:prstGeom>
          <a:solidFill>
            <a:srgbClr val="153B29"/>
          </a:solidFill>
          <a:ln w="12700">
            <a:solidFill>
              <a:srgbClr val="2B513D"/>
            </a:solidFill>
            <a:prstDash val="solid"/>
          </a:ln>
        </p:spPr>
        <p:txBody>
          <a:bodyPr/>
          <a:lstStyle/>
          <a:p>
            <a:endParaRPr lang="de-DE" dirty="0"/>
          </a:p>
        </p:txBody>
      </p:sp>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dirty="0">
                <a:solidFill>
                  <a:srgbClr val="798D6F"/>
                </a:solidFill>
                <a:latin typeface="Courier New" pitchFamily="34" charset="0"/>
                <a:ea typeface="Courier New" pitchFamily="34" charset="-122"/>
                <a:cs typeface="Courier New" pitchFamily="34" charset="-120"/>
              </a:rPr>
              <a:t>05 / 13</a:t>
            </a:r>
            <a:endParaRPr lang="en-US" sz="1200" dirty="0"/>
          </a:p>
        </p:txBody>
      </p:sp>
      <p:sp>
        <p:nvSpPr>
          <p:cNvPr id="6" name="Text 3"/>
          <p:cNvSpPr/>
          <p:nvPr/>
        </p:nvSpPr>
        <p:spPr>
          <a:xfrm>
            <a:off x="634594" y="761695"/>
            <a:ext cx="10921594" cy="437998"/>
          </a:xfrm>
          <a:prstGeom prst="rect">
            <a:avLst/>
          </a:prstGeom>
          <a:noFill/>
          <a:ln/>
        </p:spPr>
        <p:txBody>
          <a:bodyPr wrap="square" rtlCol="0" anchor="t"/>
          <a:lstStyle/>
          <a:p>
            <a:pPr marL="0" indent="0">
              <a:lnSpc>
                <a:spcPct val="100000"/>
              </a:lnSpc>
              <a:buNone/>
            </a:pPr>
            <a:r>
              <a:rPr lang="en-US" sz="2300" b="1" kern="0" spc="-50" dirty="0">
                <a:solidFill>
                  <a:srgbClr val="F2EFDA"/>
                </a:solidFill>
                <a:latin typeface="Arial" pitchFamily="34" charset="0"/>
                <a:ea typeface="Arial" pitchFamily="34" charset="-122"/>
                <a:cs typeface="Arial" pitchFamily="34" charset="-120"/>
              </a:rPr>
              <a:t>Die vier </a:t>
            </a:r>
            <a:r>
              <a:rPr lang="en-US" sz="2300" b="1" kern="0" spc="-50" dirty="0" err="1">
                <a:solidFill>
                  <a:srgbClr val="F2EFDA"/>
                </a:solidFill>
                <a:latin typeface="Arial" pitchFamily="34" charset="0"/>
                <a:ea typeface="Arial" pitchFamily="34" charset="-122"/>
                <a:cs typeface="Arial" pitchFamily="34" charset="-120"/>
              </a:rPr>
              <a:t>Quadranten</a:t>
            </a:r>
            <a:endParaRPr lang="en-US" sz="2300" dirty="0"/>
          </a:p>
        </p:txBody>
      </p:sp>
      <p:sp>
        <p:nvSpPr>
          <p:cNvPr id="3" name="Text 1">
            <a:extLst>
              <a:ext uri="{FF2B5EF4-FFF2-40B4-BE49-F238E27FC236}">
                <a16:creationId xmlns:a16="http://schemas.microsoft.com/office/drawing/2014/main" id="{7FA366E6-5637-CF1A-3985-22992DB97CCA}"/>
              </a:ext>
            </a:extLst>
          </p:cNvPr>
          <p:cNvSpPr/>
          <p:nvPr/>
        </p:nvSpPr>
        <p:spPr>
          <a:xfrm>
            <a:off x="415959" y="291694"/>
            <a:ext cx="8255203" cy="215798"/>
          </a:xfrm>
          <a:prstGeom prst="rect">
            <a:avLst/>
          </a:prstGeom>
          <a:noFill/>
          <a:ln/>
        </p:spPr>
        <p:txBody>
          <a:bodyPr wrap="square" rtlCol="0" anchor="ctr"/>
          <a:lstStyle/>
          <a:p>
            <a:r>
              <a:rPr lang="en-US" sz="1200" b="1" kern="0" spc="400" dirty="0">
                <a:solidFill>
                  <a:srgbClr val="E6D34F"/>
                </a:solidFill>
                <a:latin typeface="Courier New" pitchFamily="34" charset="0"/>
                <a:cs typeface="Courier New" pitchFamily="34" charset="-120"/>
              </a:rPr>
              <a:t>METHODIK</a:t>
            </a:r>
          </a:p>
        </p:txBody>
      </p:sp>
      <p:pic>
        <p:nvPicPr>
          <p:cNvPr id="32" name="Grafik 31">
            <a:extLst>
              <a:ext uri="{FF2B5EF4-FFF2-40B4-BE49-F238E27FC236}">
                <a16:creationId xmlns:a16="http://schemas.microsoft.com/office/drawing/2014/main" id="{B0113F9D-B5F2-C2FB-A838-7AD4BCFE0911}"/>
              </a:ext>
            </a:extLst>
          </p:cNvPr>
          <p:cNvPicPr>
            <a:picLocks noChangeAspect="1"/>
          </p:cNvPicPr>
          <p:nvPr/>
        </p:nvPicPr>
        <p:blipFill>
          <a:blip r:embed="rId3"/>
          <a:stretch>
            <a:fillRect/>
          </a:stretch>
        </p:blipFill>
        <p:spPr>
          <a:xfrm>
            <a:off x="415959" y="1904695"/>
            <a:ext cx="3759735" cy="2857805"/>
          </a:xfrm>
          <a:prstGeom prst="rect">
            <a:avLst/>
          </a:prstGeom>
        </p:spPr>
      </p:pic>
      <p:sp>
        <p:nvSpPr>
          <p:cNvPr id="34" name="Shape 12">
            <a:extLst>
              <a:ext uri="{FF2B5EF4-FFF2-40B4-BE49-F238E27FC236}">
                <a16:creationId xmlns:a16="http://schemas.microsoft.com/office/drawing/2014/main" id="{24307684-3263-A01D-89DE-A5FB50BAB70B}"/>
              </a:ext>
            </a:extLst>
          </p:cNvPr>
          <p:cNvSpPr/>
          <p:nvPr/>
        </p:nvSpPr>
        <p:spPr>
          <a:xfrm>
            <a:off x="4951172" y="1426453"/>
            <a:ext cx="6235395" cy="1563047"/>
          </a:xfrm>
          <a:prstGeom prst="roundRect">
            <a:avLst>
              <a:gd name="adj" fmla="val 3717"/>
            </a:avLst>
          </a:prstGeom>
          <a:solidFill>
            <a:srgbClr val="153B29"/>
          </a:solidFill>
          <a:ln w="12700">
            <a:solidFill>
              <a:srgbClr val="2B513D"/>
            </a:solidFill>
            <a:prstDash val="solid"/>
          </a:ln>
        </p:spPr>
        <p:txBody>
          <a:bodyPr/>
          <a:lstStyle/>
          <a:p>
            <a:endParaRPr lang="de-DE" dirty="0"/>
          </a:p>
        </p:txBody>
      </p:sp>
      <p:sp>
        <p:nvSpPr>
          <p:cNvPr id="35" name="Text 13">
            <a:extLst>
              <a:ext uri="{FF2B5EF4-FFF2-40B4-BE49-F238E27FC236}">
                <a16:creationId xmlns:a16="http://schemas.microsoft.com/office/drawing/2014/main" id="{7758B25B-3AB3-7352-18FD-624509E04F2F}"/>
              </a:ext>
            </a:extLst>
          </p:cNvPr>
          <p:cNvSpPr/>
          <p:nvPr/>
        </p:nvSpPr>
        <p:spPr>
          <a:xfrm>
            <a:off x="5155082" y="1644359"/>
            <a:ext cx="982675" cy="297620"/>
          </a:xfrm>
          <a:prstGeom prst="rect">
            <a:avLst/>
          </a:prstGeom>
          <a:noFill/>
          <a:ln/>
        </p:spPr>
        <p:txBody>
          <a:bodyPr wrap="square" rtlCol="0" anchor="t"/>
          <a:lstStyle/>
          <a:p>
            <a:pPr marL="0" indent="0" algn="l">
              <a:lnSpc>
                <a:spcPct val="105000"/>
              </a:lnSpc>
              <a:buNone/>
            </a:pPr>
            <a:r>
              <a:rPr lang="en-US" sz="1400" b="1" dirty="0">
                <a:solidFill>
                  <a:srgbClr val="E6D34F"/>
                </a:solidFill>
                <a:latin typeface="Courier New" pitchFamily="34" charset="0"/>
                <a:ea typeface="Courier New" pitchFamily="34" charset="-122"/>
                <a:cs typeface="Courier New" pitchFamily="34" charset="-120"/>
              </a:rPr>
              <a:t>1</a:t>
            </a:r>
            <a:endParaRPr lang="en-US" sz="1400" dirty="0"/>
          </a:p>
        </p:txBody>
      </p:sp>
      <p:sp>
        <p:nvSpPr>
          <p:cNvPr id="36" name="Shape 14">
            <a:extLst>
              <a:ext uri="{FF2B5EF4-FFF2-40B4-BE49-F238E27FC236}">
                <a16:creationId xmlns:a16="http://schemas.microsoft.com/office/drawing/2014/main" id="{B6C0395C-764B-1ED8-A3AB-1B8CBF115A9E}"/>
              </a:ext>
            </a:extLst>
          </p:cNvPr>
          <p:cNvSpPr/>
          <p:nvPr/>
        </p:nvSpPr>
        <p:spPr>
          <a:xfrm>
            <a:off x="5522672" y="1782463"/>
            <a:ext cx="4736638" cy="45719"/>
          </a:xfrm>
          <a:prstGeom prst="rect">
            <a:avLst/>
          </a:prstGeom>
          <a:solidFill>
            <a:srgbClr val="DBDEE2"/>
          </a:solidFill>
          <a:ln/>
        </p:spPr>
        <p:txBody>
          <a:bodyPr/>
          <a:lstStyle/>
          <a:p>
            <a:endParaRPr lang="de-DE"/>
          </a:p>
        </p:txBody>
      </p:sp>
      <p:sp>
        <p:nvSpPr>
          <p:cNvPr id="37" name="Text 15">
            <a:extLst>
              <a:ext uri="{FF2B5EF4-FFF2-40B4-BE49-F238E27FC236}">
                <a16:creationId xmlns:a16="http://schemas.microsoft.com/office/drawing/2014/main" id="{0F6E75AC-BC04-351D-2E4F-F498A1E3A861}"/>
              </a:ext>
            </a:extLst>
          </p:cNvPr>
          <p:cNvSpPr/>
          <p:nvPr/>
        </p:nvSpPr>
        <p:spPr>
          <a:xfrm>
            <a:off x="5155083" y="1678014"/>
            <a:ext cx="5448901" cy="1196579"/>
          </a:xfrm>
          <a:prstGeom prst="rect">
            <a:avLst/>
          </a:prstGeom>
          <a:noFill/>
          <a:ln/>
        </p:spPr>
        <p:txBody>
          <a:bodyPr wrap="square" rtlCol="0" anchor="ctr"/>
          <a:lstStyle/>
          <a:p>
            <a:pPr>
              <a:lnSpc>
                <a:spcPct val="130000"/>
              </a:lnSpc>
            </a:pPr>
            <a:r>
              <a:rPr lang="en-US" sz="1400" dirty="0">
                <a:solidFill>
                  <a:srgbClr val="F2EFDA"/>
                </a:solidFill>
                <a:latin typeface="Arial" pitchFamily="34" charset="0"/>
                <a:ea typeface="Arial" pitchFamily="34" charset="-122"/>
                <a:cs typeface="Arial" pitchFamily="34" charset="-120"/>
              </a:rPr>
              <a:t>Median-Split in </a:t>
            </a:r>
            <a:r>
              <a:rPr lang="en-US" sz="1400" dirty="0" err="1">
                <a:solidFill>
                  <a:srgbClr val="F2EFDA"/>
                </a:solidFill>
                <a:latin typeface="Arial" pitchFamily="34" charset="0"/>
                <a:ea typeface="Arial" pitchFamily="34" charset="-122"/>
                <a:cs typeface="Arial" pitchFamily="34" charset="-120"/>
              </a:rPr>
              <a:t>beiden</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Dimensionen</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jedes</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Unternehmen</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wird</a:t>
            </a:r>
            <a:r>
              <a:rPr lang="en-US" sz="1400" dirty="0">
                <a:solidFill>
                  <a:srgbClr val="F2EFDA"/>
                </a:solidFill>
                <a:latin typeface="Arial" pitchFamily="34" charset="0"/>
                <a:ea typeface="Arial" pitchFamily="34" charset="-122"/>
                <a:cs typeface="Arial" pitchFamily="34" charset="-120"/>
              </a:rPr>
              <a:t> pro </a:t>
            </a:r>
            <a:r>
              <a:rPr lang="en-US" sz="1400" dirty="0" err="1">
                <a:solidFill>
                  <a:srgbClr val="F2EFDA"/>
                </a:solidFill>
                <a:latin typeface="Arial" pitchFamily="34" charset="0"/>
                <a:ea typeface="Arial" pitchFamily="34" charset="-122"/>
                <a:cs typeface="Arial" pitchFamily="34" charset="-120"/>
              </a:rPr>
              <a:t>Kennzahl</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zu</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einem</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Punkt</a:t>
            </a:r>
            <a:r>
              <a:rPr lang="en-US" sz="1400" dirty="0">
                <a:solidFill>
                  <a:srgbClr val="F2EFDA"/>
                </a:solidFill>
                <a:latin typeface="Arial" pitchFamily="34" charset="0"/>
                <a:ea typeface="Arial" pitchFamily="34" charset="-122"/>
                <a:cs typeface="Arial" pitchFamily="34" charset="-120"/>
              </a:rPr>
              <a:t>.</a:t>
            </a:r>
            <a:endParaRPr lang="en-US" sz="1400" dirty="0"/>
          </a:p>
        </p:txBody>
      </p:sp>
      <p:sp>
        <p:nvSpPr>
          <p:cNvPr id="38" name="Shape 12">
            <a:extLst>
              <a:ext uri="{FF2B5EF4-FFF2-40B4-BE49-F238E27FC236}">
                <a16:creationId xmlns:a16="http://schemas.microsoft.com/office/drawing/2014/main" id="{31129902-BCD6-B619-20CD-FF71DC28C58D}"/>
              </a:ext>
            </a:extLst>
          </p:cNvPr>
          <p:cNvSpPr/>
          <p:nvPr/>
        </p:nvSpPr>
        <p:spPr>
          <a:xfrm>
            <a:off x="4950511" y="3204149"/>
            <a:ext cx="6235395" cy="1558352"/>
          </a:xfrm>
          <a:prstGeom prst="roundRect">
            <a:avLst>
              <a:gd name="adj" fmla="val 3717"/>
            </a:avLst>
          </a:prstGeom>
          <a:solidFill>
            <a:srgbClr val="153B29"/>
          </a:solidFill>
          <a:ln w="12700">
            <a:solidFill>
              <a:srgbClr val="2B513D"/>
            </a:solidFill>
            <a:prstDash val="solid"/>
          </a:ln>
        </p:spPr>
        <p:txBody>
          <a:bodyPr/>
          <a:lstStyle/>
          <a:p>
            <a:endParaRPr lang="de-DE" dirty="0"/>
          </a:p>
        </p:txBody>
      </p:sp>
      <p:sp>
        <p:nvSpPr>
          <p:cNvPr id="39" name="Text 13">
            <a:extLst>
              <a:ext uri="{FF2B5EF4-FFF2-40B4-BE49-F238E27FC236}">
                <a16:creationId xmlns:a16="http://schemas.microsoft.com/office/drawing/2014/main" id="{D333D71B-7735-4E3B-E0A9-25B8FC061182}"/>
              </a:ext>
            </a:extLst>
          </p:cNvPr>
          <p:cNvSpPr/>
          <p:nvPr/>
        </p:nvSpPr>
        <p:spPr>
          <a:xfrm>
            <a:off x="5154421" y="3422054"/>
            <a:ext cx="982675" cy="296726"/>
          </a:xfrm>
          <a:prstGeom prst="rect">
            <a:avLst/>
          </a:prstGeom>
          <a:noFill/>
          <a:ln/>
        </p:spPr>
        <p:txBody>
          <a:bodyPr wrap="square" rtlCol="0" anchor="t"/>
          <a:lstStyle/>
          <a:p>
            <a:pPr marL="0" indent="0" algn="l">
              <a:lnSpc>
                <a:spcPct val="105000"/>
              </a:lnSpc>
              <a:buNone/>
            </a:pPr>
            <a:r>
              <a:rPr lang="en-US" sz="1400" b="1" dirty="0">
                <a:solidFill>
                  <a:srgbClr val="E6D34F"/>
                </a:solidFill>
                <a:latin typeface="Courier New" pitchFamily="34" charset="0"/>
                <a:cs typeface="Courier New" pitchFamily="34" charset="-120"/>
              </a:rPr>
              <a:t>2</a:t>
            </a:r>
            <a:endParaRPr lang="en-US" sz="1400" dirty="0"/>
          </a:p>
        </p:txBody>
      </p:sp>
      <p:sp>
        <p:nvSpPr>
          <p:cNvPr id="40" name="Shape 14">
            <a:extLst>
              <a:ext uri="{FF2B5EF4-FFF2-40B4-BE49-F238E27FC236}">
                <a16:creationId xmlns:a16="http://schemas.microsoft.com/office/drawing/2014/main" id="{7DCB8AE1-83C3-86FD-2DDC-531AB43D0E1D}"/>
              </a:ext>
            </a:extLst>
          </p:cNvPr>
          <p:cNvSpPr/>
          <p:nvPr/>
        </p:nvSpPr>
        <p:spPr>
          <a:xfrm>
            <a:off x="5522011" y="3560158"/>
            <a:ext cx="4736638" cy="45719"/>
          </a:xfrm>
          <a:prstGeom prst="rect">
            <a:avLst/>
          </a:prstGeom>
          <a:solidFill>
            <a:srgbClr val="DBDEE2"/>
          </a:solidFill>
          <a:ln/>
        </p:spPr>
        <p:txBody>
          <a:bodyPr/>
          <a:lstStyle/>
          <a:p>
            <a:endParaRPr lang="de-DE"/>
          </a:p>
        </p:txBody>
      </p:sp>
      <p:sp>
        <p:nvSpPr>
          <p:cNvPr id="41" name="Text 15">
            <a:extLst>
              <a:ext uri="{FF2B5EF4-FFF2-40B4-BE49-F238E27FC236}">
                <a16:creationId xmlns:a16="http://schemas.microsoft.com/office/drawing/2014/main" id="{F9C655DB-7830-A7FF-D5A2-0E4F3ABB8791}"/>
              </a:ext>
            </a:extLst>
          </p:cNvPr>
          <p:cNvSpPr/>
          <p:nvPr/>
        </p:nvSpPr>
        <p:spPr>
          <a:xfrm>
            <a:off x="5154422" y="3455709"/>
            <a:ext cx="5448901" cy="1192985"/>
          </a:xfrm>
          <a:prstGeom prst="rect">
            <a:avLst/>
          </a:prstGeom>
          <a:noFill/>
          <a:ln/>
        </p:spPr>
        <p:txBody>
          <a:bodyPr wrap="square" rtlCol="0" anchor="ctr"/>
          <a:lstStyle/>
          <a:p>
            <a:pPr>
              <a:lnSpc>
                <a:spcPct val="130000"/>
              </a:lnSpc>
            </a:pPr>
            <a:r>
              <a:rPr lang="en-US" sz="1400" dirty="0">
                <a:solidFill>
                  <a:srgbClr val="F2EFDA"/>
                </a:solidFill>
                <a:latin typeface="Arial" pitchFamily="34" charset="0"/>
                <a:ea typeface="Arial" pitchFamily="34" charset="-122"/>
                <a:cs typeface="Arial" pitchFamily="34" charset="-120"/>
              </a:rPr>
              <a:t>Labels </a:t>
            </a:r>
            <a:r>
              <a:rPr lang="en-US" sz="1400" dirty="0" err="1">
                <a:solidFill>
                  <a:srgbClr val="F2EFDA"/>
                </a:solidFill>
                <a:latin typeface="Arial" pitchFamily="34" charset="0"/>
                <a:ea typeface="Arial" pitchFamily="34" charset="-122"/>
                <a:cs typeface="Arial" pitchFamily="34" charset="-120"/>
              </a:rPr>
              <a:t>direkt</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aus</a:t>
            </a:r>
            <a:r>
              <a:rPr lang="en-US" sz="1400" dirty="0">
                <a:solidFill>
                  <a:srgbClr val="F2EFDA"/>
                </a:solidFill>
                <a:latin typeface="Arial" pitchFamily="34" charset="0"/>
                <a:ea typeface="Arial" pitchFamily="34" charset="-122"/>
                <a:cs typeface="Arial" pitchFamily="34" charset="-120"/>
              </a:rPr>
              <a:t> den </a:t>
            </a:r>
            <a:r>
              <a:rPr lang="en-US" sz="1400" dirty="0" err="1">
                <a:solidFill>
                  <a:srgbClr val="F2EFDA"/>
                </a:solidFill>
                <a:latin typeface="Arial" pitchFamily="34" charset="0"/>
                <a:ea typeface="Arial" pitchFamily="34" charset="-122"/>
                <a:cs typeface="Arial" pitchFamily="34" charset="-120"/>
              </a:rPr>
              <a:t>Dimensionen</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ableitbar</a:t>
            </a:r>
            <a:r>
              <a:rPr lang="en-US" sz="1400" dirty="0">
                <a:solidFill>
                  <a:srgbClr val="F2EFDA"/>
                </a:solidFill>
                <a:latin typeface="Arial" pitchFamily="34" charset="0"/>
                <a:ea typeface="Arial" pitchFamily="34" charset="-122"/>
                <a:cs typeface="Arial" pitchFamily="34" charset="-120"/>
              </a:rPr>
              <a:t> — Portfolio-Sort-</a:t>
            </a:r>
            <a:r>
              <a:rPr lang="en-US" sz="1400" dirty="0" err="1">
                <a:solidFill>
                  <a:srgbClr val="F2EFDA"/>
                </a:solidFill>
                <a:latin typeface="Arial" pitchFamily="34" charset="0"/>
                <a:ea typeface="Arial" pitchFamily="34" charset="-122"/>
                <a:cs typeface="Arial" pitchFamily="34" charset="-120"/>
              </a:rPr>
              <a:t>Logik</a:t>
            </a:r>
            <a:r>
              <a:rPr lang="en-US" sz="1400" dirty="0">
                <a:solidFill>
                  <a:srgbClr val="F2EFDA"/>
                </a:solidFill>
                <a:latin typeface="Arial" pitchFamily="34" charset="0"/>
                <a:ea typeface="Arial" pitchFamily="34" charset="-122"/>
                <a:cs typeface="Arial" pitchFamily="34" charset="-120"/>
              </a:rPr>
              <a:t> (Fama/French 1993).</a:t>
            </a:r>
            <a:endParaRPr lang="en-US" sz="1400" dirty="0"/>
          </a:p>
        </p:txBody>
      </p:sp>
      <p:sp>
        <p:nvSpPr>
          <p:cNvPr id="43" name="Shape 12">
            <a:extLst>
              <a:ext uri="{FF2B5EF4-FFF2-40B4-BE49-F238E27FC236}">
                <a16:creationId xmlns:a16="http://schemas.microsoft.com/office/drawing/2014/main" id="{ADD21BA8-B013-6439-1669-2B1DAF584939}"/>
              </a:ext>
            </a:extLst>
          </p:cNvPr>
          <p:cNvSpPr/>
          <p:nvPr/>
        </p:nvSpPr>
        <p:spPr>
          <a:xfrm>
            <a:off x="4950511" y="5014061"/>
            <a:ext cx="6235395" cy="1558352"/>
          </a:xfrm>
          <a:prstGeom prst="roundRect">
            <a:avLst>
              <a:gd name="adj" fmla="val 3717"/>
            </a:avLst>
          </a:prstGeom>
          <a:solidFill>
            <a:srgbClr val="153B29"/>
          </a:solidFill>
          <a:ln w="12700">
            <a:solidFill>
              <a:srgbClr val="2B513D"/>
            </a:solidFill>
            <a:prstDash val="solid"/>
          </a:ln>
        </p:spPr>
        <p:txBody>
          <a:bodyPr/>
          <a:lstStyle/>
          <a:p>
            <a:endParaRPr lang="de-DE" dirty="0"/>
          </a:p>
        </p:txBody>
      </p:sp>
      <p:sp>
        <p:nvSpPr>
          <p:cNvPr id="44" name="Text 13">
            <a:extLst>
              <a:ext uri="{FF2B5EF4-FFF2-40B4-BE49-F238E27FC236}">
                <a16:creationId xmlns:a16="http://schemas.microsoft.com/office/drawing/2014/main" id="{BC43F0F2-B75D-F18B-705B-F8E91A32425B}"/>
              </a:ext>
            </a:extLst>
          </p:cNvPr>
          <p:cNvSpPr/>
          <p:nvPr/>
        </p:nvSpPr>
        <p:spPr>
          <a:xfrm>
            <a:off x="5154421" y="5231966"/>
            <a:ext cx="982675" cy="296726"/>
          </a:xfrm>
          <a:prstGeom prst="rect">
            <a:avLst/>
          </a:prstGeom>
          <a:noFill/>
          <a:ln/>
        </p:spPr>
        <p:txBody>
          <a:bodyPr wrap="square" rtlCol="0" anchor="t"/>
          <a:lstStyle/>
          <a:p>
            <a:pPr marL="0" indent="0" algn="l">
              <a:lnSpc>
                <a:spcPct val="105000"/>
              </a:lnSpc>
              <a:buNone/>
            </a:pPr>
            <a:r>
              <a:rPr lang="en-US" sz="1400" b="1" dirty="0">
                <a:solidFill>
                  <a:srgbClr val="E6D34F"/>
                </a:solidFill>
                <a:latin typeface="Courier New" pitchFamily="34" charset="0"/>
                <a:cs typeface="Courier New" pitchFamily="34" charset="-120"/>
              </a:rPr>
              <a:t>2</a:t>
            </a:r>
            <a:endParaRPr lang="en-US" sz="1400" dirty="0"/>
          </a:p>
        </p:txBody>
      </p:sp>
      <p:sp>
        <p:nvSpPr>
          <p:cNvPr id="45" name="Shape 14">
            <a:extLst>
              <a:ext uri="{FF2B5EF4-FFF2-40B4-BE49-F238E27FC236}">
                <a16:creationId xmlns:a16="http://schemas.microsoft.com/office/drawing/2014/main" id="{9C786DE1-D166-8348-3A77-90DB04F41137}"/>
              </a:ext>
            </a:extLst>
          </p:cNvPr>
          <p:cNvSpPr/>
          <p:nvPr/>
        </p:nvSpPr>
        <p:spPr>
          <a:xfrm>
            <a:off x="5522011" y="5370070"/>
            <a:ext cx="4736638" cy="45719"/>
          </a:xfrm>
          <a:prstGeom prst="rect">
            <a:avLst/>
          </a:prstGeom>
          <a:solidFill>
            <a:srgbClr val="DBDEE2"/>
          </a:solidFill>
          <a:ln/>
        </p:spPr>
        <p:txBody>
          <a:bodyPr/>
          <a:lstStyle/>
          <a:p>
            <a:endParaRPr lang="de-DE"/>
          </a:p>
        </p:txBody>
      </p:sp>
      <p:sp>
        <p:nvSpPr>
          <p:cNvPr id="46" name="Text 15">
            <a:extLst>
              <a:ext uri="{FF2B5EF4-FFF2-40B4-BE49-F238E27FC236}">
                <a16:creationId xmlns:a16="http://schemas.microsoft.com/office/drawing/2014/main" id="{2F9779FA-E5BC-D265-7BD6-B12B84E76E69}"/>
              </a:ext>
            </a:extLst>
          </p:cNvPr>
          <p:cNvSpPr/>
          <p:nvPr/>
        </p:nvSpPr>
        <p:spPr>
          <a:xfrm>
            <a:off x="5154422" y="5265621"/>
            <a:ext cx="5448901" cy="1192985"/>
          </a:xfrm>
          <a:prstGeom prst="rect">
            <a:avLst/>
          </a:prstGeom>
          <a:noFill/>
          <a:ln/>
        </p:spPr>
        <p:txBody>
          <a:bodyPr wrap="square" rtlCol="0" anchor="ctr"/>
          <a:lstStyle/>
          <a:p>
            <a:pPr>
              <a:lnSpc>
                <a:spcPct val="130000"/>
              </a:lnSpc>
            </a:pPr>
            <a:r>
              <a:rPr lang="en-US" sz="1400" dirty="0" err="1">
                <a:solidFill>
                  <a:srgbClr val="F2EFDA"/>
                </a:solidFill>
                <a:latin typeface="Arial" pitchFamily="34" charset="0"/>
                <a:ea typeface="Arial" pitchFamily="34" charset="-122"/>
                <a:cs typeface="Arial" pitchFamily="34" charset="-120"/>
              </a:rPr>
              <a:t>Achsen</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unabhängig</a:t>
            </a:r>
            <a:r>
              <a:rPr lang="en-US" sz="1400" dirty="0">
                <a:solidFill>
                  <a:srgbClr val="F2EFDA"/>
                </a:solidFill>
                <a:latin typeface="Arial" pitchFamily="34" charset="0"/>
                <a:ea typeface="Arial" pitchFamily="34" charset="-122"/>
                <a:cs typeface="Arial" pitchFamily="34" charset="-120"/>
              </a:rPr>
              <a:t>: </a:t>
            </a:r>
            <a:r>
              <a:rPr lang="en-US" sz="1400" dirty="0" err="1">
                <a:solidFill>
                  <a:srgbClr val="F2EFDA"/>
                </a:solidFill>
                <a:latin typeface="Arial" pitchFamily="34" charset="0"/>
                <a:ea typeface="Arial" pitchFamily="34" charset="-122"/>
                <a:cs typeface="Arial" pitchFamily="34" charset="-120"/>
              </a:rPr>
              <a:t>gemeinsame</a:t>
            </a:r>
            <a:r>
              <a:rPr lang="en-US" sz="1400" dirty="0">
                <a:solidFill>
                  <a:srgbClr val="F2EFDA"/>
                </a:solidFill>
                <a:latin typeface="Arial" pitchFamily="34" charset="0"/>
                <a:ea typeface="Arial" pitchFamily="34" charset="-122"/>
                <a:cs typeface="Arial" pitchFamily="34" charset="-120"/>
              </a:rPr>
              <a:t> Variation ρ² ≤ 6 %.</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dirty="0">
                <a:solidFill>
                  <a:srgbClr val="798D6F"/>
                </a:solidFill>
                <a:latin typeface="Courier New" pitchFamily="34" charset="0"/>
                <a:ea typeface="Courier New" pitchFamily="34" charset="-122"/>
                <a:cs typeface="Courier New" pitchFamily="34" charset="-120"/>
              </a:rPr>
              <a:t>06 / 13</a:t>
            </a:r>
            <a:endParaRPr lang="en-US" sz="1200" dirty="0"/>
          </a:p>
        </p:txBody>
      </p:sp>
      <p:sp>
        <p:nvSpPr>
          <p:cNvPr id="6" name="Text 3"/>
          <p:cNvSpPr/>
          <p:nvPr/>
        </p:nvSpPr>
        <p:spPr>
          <a:xfrm>
            <a:off x="634594" y="761695"/>
            <a:ext cx="10921594" cy="418795"/>
          </a:xfrm>
          <a:prstGeom prst="rect">
            <a:avLst/>
          </a:prstGeom>
          <a:noFill/>
          <a:ln/>
        </p:spPr>
        <p:txBody>
          <a:bodyPr wrap="square" rtlCol="0" anchor="t"/>
          <a:lstStyle/>
          <a:p>
            <a:pPr marL="0" indent="0">
              <a:lnSpc>
                <a:spcPct val="100000"/>
              </a:lnSpc>
              <a:buNone/>
            </a:pPr>
            <a:r>
              <a:rPr lang="en-US" sz="2200" b="1" kern="0" spc="-50" dirty="0">
                <a:solidFill>
                  <a:srgbClr val="F2EFDA"/>
                </a:solidFill>
                <a:latin typeface="Arial" pitchFamily="34" charset="0"/>
                <a:ea typeface="Arial" pitchFamily="34" charset="-122"/>
                <a:cs typeface="Arial" pitchFamily="34" charset="-120"/>
              </a:rPr>
              <a:t>Drei Dynamiktypen — getrennt nach Kennzahlgruppe</a:t>
            </a:r>
            <a:endParaRPr lang="en-US" sz="2200" dirty="0"/>
          </a:p>
        </p:txBody>
      </p:sp>
      <p:sp>
        <p:nvSpPr>
          <p:cNvPr id="7" name="Shape 4"/>
          <p:cNvSpPr/>
          <p:nvPr/>
        </p:nvSpPr>
        <p:spPr>
          <a:xfrm>
            <a:off x="634594" y="1651406"/>
            <a:ext cx="6096305" cy="698602"/>
          </a:xfrm>
          <a:prstGeom prst="roundRect">
            <a:avLst>
              <a:gd name="adj" fmla="val 10864"/>
            </a:avLst>
          </a:prstGeom>
          <a:solidFill>
            <a:srgbClr val="153B29"/>
          </a:solidFill>
          <a:ln w="12700">
            <a:solidFill>
              <a:srgbClr val="2B513D"/>
            </a:solidFill>
            <a:prstDash val="solid"/>
          </a:ln>
        </p:spPr>
        <p:txBody>
          <a:bodyPr/>
          <a:lstStyle/>
          <a:p>
            <a:endParaRPr lang="de-DE"/>
          </a:p>
        </p:txBody>
      </p:sp>
      <p:sp>
        <p:nvSpPr>
          <p:cNvPr id="8" name="Shape 5"/>
          <p:cNvSpPr/>
          <p:nvPr/>
        </p:nvSpPr>
        <p:spPr>
          <a:xfrm>
            <a:off x="634594" y="1651406"/>
            <a:ext cx="38405" cy="698602"/>
          </a:xfrm>
          <a:prstGeom prst="rect">
            <a:avLst/>
          </a:prstGeom>
          <a:solidFill>
            <a:srgbClr val="79A2F9"/>
          </a:solidFill>
          <a:ln/>
        </p:spPr>
        <p:txBody>
          <a:bodyPr/>
          <a:lstStyle/>
          <a:p>
            <a:endParaRPr lang="de-DE"/>
          </a:p>
        </p:txBody>
      </p:sp>
      <p:sp>
        <p:nvSpPr>
          <p:cNvPr id="9" name="Text 6"/>
          <p:cNvSpPr/>
          <p:nvPr/>
        </p:nvSpPr>
        <p:spPr>
          <a:xfrm>
            <a:off x="888797" y="1765706"/>
            <a:ext cx="3301898" cy="254203"/>
          </a:xfrm>
          <a:prstGeom prst="rect">
            <a:avLst/>
          </a:prstGeom>
          <a:noFill/>
          <a:ln/>
        </p:spPr>
        <p:txBody>
          <a:bodyPr wrap="square" rtlCol="0" anchor="t"/>
          <a:lstStyle/>
          <a:p>
            <a:pPr marL="0" indent="0" algn="l">
              <a:lnSpc>
                <a:spcPct val="105000"/>
              </a:lnSpc>
              <a:buNone/>
            </a:pPr>
            <a:r>
              <a:rPr lang="en-US" sz="1400" b="1" dirty="0">
                <a:solidFill>
                  <a:srgbClr val="F2EFDA"/>
                </a:solidFill>
                <a:latin typeface="Arial" pitchFamily="34" charset="0"/>
                <a:ea typeface="Arial" pitchFamily="34" charset="-122"/>
                <a:cs typeface="Arial" pitchFamily="34" charset="-120"/>
              </a:rPr>
              <a:t>Profitabilität</a:t>
            </a:r>
            <a:endParaRPr lang="en-US" sz="1400" dirty="0"/>
          </a:p>
        </p:txBody>
      </p:sp>
      <p:sp>
        <p:nvSpPr>
          <p:cNvPr id="10" name="Text 7"/>
          <p:cNvSpPr/>
          <p:nvPr/>
        </p:nvSpPr>
        <p:spPr>
          <a:xfrm>
            <a:off x="888797" y="2044598"/>
            <a:ext cx="3556102" cy="190195"/>
          </a:xfrm>
          <a:prstGeom prst="rect">
            <a:avLst/>
          </a:prstGeom>
          <a:noFill/>
          <a:ln/>
        </p:spPr>
        <p:txBody>
          <a:bodyPr wrap="square" rtlCol="0" anchor="t"/>
          <a:lstStyle/>
          <a:p>
            <a:pPr marL="0" indent="0" algn="l">
              <a:lnSpc>
                <a:spcPct val="105000"/>
              </a:lnSpc>
              <a:buNone/>
            </a:pPr>
            <a:r>
              <a:rPr lang="en-US" sz="900" dirty="0">
                <a:solidFill>
                  <a:srgbClr val="B3BC9A"/>
                </a:solidFill>
                <a:latin typeface="Arial" pitchFamily="34" charset="0"/>
                <a:ea typeface="Arial" pitchFamily="34" charset="-122"/>
                <a:cs typeface="Arial" pitchFamily="34" charset="-120"/>
              </a:rPr>
              <a:t>&gt; 90 % signifikant — starke Mean-Reversion</a:t>
            </a:r>
            <a:endParaRPr lang="en-US" sz="900" dirty="0"/>
          </a:p>
        </p:txBody>
      </p:sp>
      <p:sp>
        <p:nvSpPr>
          <p:cNvPr id="11" name="Text 8"/>
          <p:cNvSpPr/>
          <p:nvPr/>
        </p:nvSpPr>
        <p:spPr>
          <a:xfrm>
            <a:off x="4444898" y="1651406"/>
            <a:ext cx="2184502" cy="698602"/>
          </a:xfrm>
          <a:prstGeom prst="rect">
            <a:avLst/>
          </a:prstGeom>
          <a:noFill/>
          <a:ln/>
        </p:spPr>
        <p:txBody>
          <a:bodyPr wrap="square" rtlCol="0" anchor="ctr"/>
          <a:lstStyle/>
          <a:p>
            <a:pPr marL="0" indent="0" algn="r">
              <a:lnSpc>
                <a:spcPct val="105000"/>
              </a:lnSpc>
              <a:buNone/>
            </a:pPr>
            <a:r>
              <a:rPr lang="en-US" sz="1400" b="1" dirty="0">
                <a:solidFill>
                  <a:srgbClr val="79A2F9"/>
                </a:solidFill>
                <a:latin typeface="Courier New" pitchFamily="34" charset="0"/>
                <a:ea typeface="Courier New" pitchFamily="34" charset="-122"/>
                <a:cs typeface="Courier New" pitchFamily="34" charset="-120"/>
              </a:rPr>
              <a:t>−0,43…−0,46</a:t>
            </a:r>
            <a:endParaRPr lang="en-US" sz="1400" dirty="0"/>
          </a:p>
        </p:txBody>
      </p:sp>
      <p:sp>
        <p:nvSpPr>
          <p:cNvPr id="12" name="Shape 9"/>
          <p:cNvSpPr/>
          <p:nvPr/>
        </p:nvSpPr>
        <p:spPr>
          <a:xfrm>
            <a:off x="634594" y="2463394"/>
            <a:ext cx="6096305" cy="698602"/>
          </a:xfrm>
          <a:prstGeom prst="roundRect">
            <a:avLst>
              <a:gd name="adj" fmla="val 10864"/>
            </a:avLst>
          </a:prstGeom>
          <a:solidFill>
            <a:srgbClr val="153B29"/>
          </a:solidFill>
          <a:ln w="12700">
            <a:solidFill>
              <a:srgbClr val="2B513D"/>
            </a:solidFill>
            <a:prstDash val="solid"/>
          </a:ln>
        </p:spPr>
        <p:txBody>
          <a:bodyPr/>
          <a:lstStyle/>
          <a:p>
            <a:endParaRPr lang="de-DE"/>
          </a:p>
        </p:txBody>
      </p:sp>
      <p:sp>
        <p:nvSpPr>
          <p:cNvPr id="13" name="Shape 10"/>
          <p:cNvSpPr/>
          <p:nvPr/>
        </p:nvSpPr>
        <p:spPr>
          <a:xfrm>
            <a:off x="634594" y="2463394"/>
            <a:ext cx="38405" cy="698602"/>
          </a:xfrm>
          <a:prstGeom prst="rect">
            <a:avLst/>
          </a:prstGeom>
          <a:solidFill>
            <a:srgbClr val="3EB977"/>
          </a:solidFill>
          <a:ln/>
        </p:spPr>
        <p:txBody>
          <a:bodyPr/>
          <a:lstStyle/>
          <a:p>
            <a:endParaRPr lang="de-DE"/>
          </a:p>
        </p:txBody>
      </p:sp>
      <p:sp>
        <p:nvSpPr>
          <p:cNvPr id="14" name="Text 11"/>
          <p:cNvSpPr/>
          <p:nvPr/>
        </p:nvSpPr>
        <p:spPr>
          <a:xfrm>
            <a:off x="888797" y="2577694"/>
            <a:ext cx="3301898" cy="254203"/>
          </a:xfrm>
          <a:prstGeom prst="rect">
            <a:avLst/>
          </a:prstGeom>
          <a:noFill/>
          <a:ln/>
        </p:spPr>
        <p:txBody>
          <a:bodyPr wrap="square" rtlCol="0" anchor="t"/>
          <a:lstStyle/>
          <a:p>
            <a:pPr marL="0" indent="0" algn="l">
              <a:lnSpc>
                <a:spcPct val="105000"/>
              </a:lnSpc>
              <a:buNone/>
            </a:pPr>
            <a:r>
              <a:rPr lang="en-US" sz="1400" b="1" dirty="0">
                <a:solidFill>
                  <a:srgbClr val="F2EFDA"/>
                </a:solidFill>
                <a:latin typeface="Arial" pitchFamily="34" charset="0"/>
                <a:ea typeface="Arial" pitchFamily="34" charset="-122"/>
                <a:cs typeface="Arial" pitchFamily="34" charset="-120"/>
              </a:rPr>
              <a:t>Liquidität</a:t>
            </a:r>
            <a:endParaRPr lang="en-US" sz="1400" dirty="0"/>
          </a:p>
        </p:txBody>
      </p:sp>
      <p:sp>
        <p:nvSpPr>
          <p:cNvPr id="15" name="Text 12"/>
          <p:cNvSpPr/>
          <p:nvPr/>
        </p:nvSpPr>
        <p:spPr>
          <a:xfrm>
            <a:off x="888797" y="2857500"/>
            <a:ext cx="3556102" cy="190195"/>
          </a:xfrm>
          <a:prstGeom prst="rect">
            <a:avLst/>
          </a:prstGeom>
          <a:noFill/>
          <a:ln/>
        </p:spPr>
        <p:txBody>
          <a:bodyPr wrap="square" rtlCol="0" anchor="t"/>
          <a:lstStyle/>
          <a:p>
            <a:pPr marL="0" indent="0" algn="l">
              <a:lnSpc>
                <a:spcPct val="105000"/>
              </a:lnSpc>
              <a:buNone/>
            </a:pPr>
            <a:r>
              <a:rPr lang="en-US" sz="900" dirty="0">
                <a:solidFill>
                  <a:srgbClr val="B3BC9A"/>
                </a:solidFill>
                <a:latin typeface="Arial" pitchFamily="34" charset="0"/>
                <a:ea typeface="Arial" pitchFamily="34" charset="-122"/>
                <a:cs typeface="Arial" pitchFamily="34" charset="-120"/>
              </a:rPr>
              <a:t>moderate Korrektur, höchste Volatilität</a:t>
            </a:r>
            <a:endParaRPr lang="en-US" sz="900" dirty="0"/>
          </a:p>
        </p:txBody>
      </p:sp>
      <p:sp>
        <p:nvSpPr>
          <p:cNvPr id="16" name="Text 13"/>
          <p:cNvSpPr/>
          <p:nvPr/>
        </p:nvSpPr>
        <p:spPr>
          <a:xfrm>
            <a:off x="4444898" y="2463394"/>
            <a:ext cx="2184502" cy="698602"/>
          </a:xfrm>
          <a:prstGeom prst="rect">
            <a:avLst/>
          </a:prstGeom>
          <a:noFill/>
          <a:ln/>
        </p:spPr>
        <p:txBody>
          <a:bodyPr wrap="square" rtlCol="0" anchor="ctr"/>
          <a:lstStyle/>
          <a:p>
            <a:pPr marL="0" indent="0" algn="r">
              <a:lnSpc>
                <a:spcPct val="105000"/>
              </a:lnSpc>
              <a:buNone/>
            </a:pPr>
            <a:r>
              <a:rPr lang="en-US" sz="1400" b="1" dirty="0">
                <a:solidFill>
                  <a:srgbClr val="3EB977"/>
                </a:solidFill>
                <a:latin typeface="Courier New" pitchFamily="34" charset="0"/>
                <a:ea typeface="Courier New" pitchFamily="34" charset="-122"/>
                <a:cs typeface="Courier New" pitchFamily="34" charset="-120"/>
              </a:rPr>
              <a:t>−0,17</a:t>
            </a:r>
            <a:endParaRPr lang="en-US" sz="1400" dirty="0"/>
          </a:p>
        </p:txBody>
      </p:sp>
      <p:sp>
        <p:nvSpPr>
          <p:cNvPr id="17" name="Shape 14"/>
          <p:cNvSpPr/>
          <p:nvPr/>
        </p:nvSpPr>
        <p:spPr>
          <a:xfrm>
            <a:off x="634594" y="3276295"/>
            <a:ext cx="6096305" cy="698602"/>
          </a:xfrm>
          <a:prstGeom prst="roundRect">
            <a:avLst>
              <a:gd name="adj" fmla="val 10864"/>
            </a:avLst>
          </a:prstGeom>
          <a:solidFill>
            <a:srgbClr val="153B29"/>
          </a:solidFill>
          <a:ln w="12700">
            <a:solidFill>
              <a:srgbClr val="2B513D"/>
            </a:solidFill>
            <a:prstDash val="solid"/>
          </a:ln>
        </p:spPr>
        <p:txBody>
          <a:bodyPr/>
          <a:lstStyle/>
          <a:p>
            <a:endParaRPr lang="de-DE"/>
          </a:p>
        </p:txBody>
      </p:sp>
      <p:sp>
        <p:nvSpPr>
          <p:cNvPr id="18" name="Shape 15"/>
          <p:cNvSpPr/>
          <p:nvPr/>
        </p:nvSpPr>
        <p:spPr>
          <a:xfrm>
            <a:off x="634594" y="3276295"/>
            <a:ext cx="38405" cy="698602"/>
          </a:xfrm>
          <a:prstGeom prst="rect">
            <a:avLst/>
          </a:prstGeom>
          <a:solidFill>
            <a:srgbClr val="F36451"/>
          </a:solidFill>
          <a:ln/>
        </p:spPr>
        <p:txBody>
          <a:bodyPr/>
          <a:lstStyle/>
          <a:p>
            <a:endParaRPr lang="de-DE"/>
          </a:p>
        </p:txBody>
      </p:sp>
      <p:sp>
        <p:nvSpPr>
          <p:cNvPr id="19" name="Text 16"/>
          <p:cNvSpPr/>
          <p:nvPr/>
        </p:nvSpPr>
        <p:spPr>
          <a:xfrm>
            <a:off x="888797" y="3390595"/>
            <a:ext cx="3301898" cy="254203"/>
          </a:xfrm>
          <a:prstGeom prst="rect">
            <a:avLst/>
          </a:prstGeom>
          <a:noFill/>
          <a:ln/>
        </p:spPr>
        <p:txBody>
          <a:bodyPr wrap="square" rtlCol="0" anchor="t"/>
          <a:lstStyle/>
          <a:p>
            <a:pPr marL="0" indent="0" algn="l">
              <a:lnSpc>
                <a:spcPct val="105000"/>
              </a:lnSpc>
              <a:buNone/>
            </a:pPr>
            <a:r>
              <a:rPr lang="en-US" sz="1400" b="1" dirty="0">
                <a:solidFill>
                  <a:srgbClr val="F2EFDA"/>
                </a:solidFill>
                <a:latin typeface="Arial" pitchFamily="34" charset="0"/>
                <a:ea typeface="Arial" pitchFamily="34" charset="-122"/>
                <a:cs typeface="Arial" pitchFamily="34" charset="-120"/>
              </a:rPr>
              <a:t>Kapitalstruktur</a:t>
            </a:r>
            <a:endParaRPr lang="en-US" sz="1400" dirty="0"/>
          </a:p>
        </p:txBody>
      </p:sp>
      <p:sp>
        <p:nvSpPr>
          <p:cNvPr id="20" name="Text 17"/>
          <p:cNvSpPr/>
          <p:nvPr/>
        </p:nvSpPr>
        <p:spPr>
          <a:xfrm>
            <a:off x="888797" y="3670402"/>
            <a:ext cx="3556102" cy="190195"/>
          </a:xfrm>
          <a:prstGeom prst="rect">
            <a:avLst/>
          </a:prstGeom>
          <a:noFill/>
          <a:ln/>
        </p:spPr>
        <p:txBody>
          <a:bodyPr wrap="square" rtlCol="0" anchor="t"/>
          <a:lstStyle/>
          <a:p>
            <a:pPr marL="0" indent="0" algn="l">
              <a:lnSpc>
                <a:spcPct val="105000"/>
              </a:lnSpc>
              <a:buNone/>
            </a:pPr>
            <a:r>
              <a:rPr lang="en-US" sz="900" dirty="0">
                <a:solidFill>
                  <a:srgbClr val="B3BC9A"/>
                </a:solidFill>
                <a:latin typeface="Arial" pitchFamily="34" charset="0"/>
                <a:ea typeface="Arial" pitchFamily="34" charset="-122"/>
                <a:cs typeface="Arial" pitchFamily="34" charset="-120"/>
              </a:rPr>
              <a:t>kaum Korrektur — ⅓ ohne Mean-Reversion</a:t>
            </a:r>
            <a:endParaRPr lang="en-US" sz="900" dirty="0"/>
          </a:p>
        </p:txBody>
      </p:sp>
      <p:sp>
        <p:nvSpPr>
          <p:cNvPr id="21" name="Text 18"/>
          <p:cNvSpPr/>
          <p:nvPr/>
        </p:nvSpPr>
        <p:spPr>
          <a:xfrm>
            <a:off x="4444898" y="3276295"/>
            <a:ext cx="2184502" cy="698602"/>
          </a:xfrm>
          <a:prstGeom prst="rect">
            <a:avLst/>
          </a:prstGeom>
          <a:noFill/>
          <a:ln/>
        </p:spPr>
        <p:txBody>
          <a:bodyPr wrap="square" rtlCol="0" anchor="ctr"/>
          <a:lstStyle/>
          <a:p>
            <a:pPr marL="0" indent="0" algn="r">
              <a:lnSpc>
                <a:spcPct val="105000"/>
              </a:lnSpc>
              <a:buNone/>
            </a:pPr>
            <a:r>
              <a:rPr lang="en-US" sz="1400" b="1" dirty="0">
                <a:solidFill>
                  <a:srgbClr val="F36451"/>
                </a:solidFill>
                <a:latin typeface="Courier New" pitchFamily="34" charset="0"/>
                <a:ea typeface="Courier New" pitchFamily="34" charset="-122"/>
                <a:cs typeface="Courier New" pitchFamily="34" charset="-120"/>
              </a:rPr>
              <a:t>−0,04…−0,09</a:t>
            </a:r>
            <a:endParaRPr lang="en-US" sz="1400" dirty="0"/>
          </a:p>
        </p:txBody>
      </p:sp>
      <p:sp>
        <p:nvSpPr>
          <p:cNvPr id="22" name="Text 19"/>
          <p:cNvSpPr/>
          <p:nvPr/>
        </p:nvSpPr>
        <p:spPr>
          <a:xfrm>
            <a:off x="634594" y="4267505"/>
            <a:ext cx="6096305" cy="381305"/>
          </a:xfrm>
          <a:prstGeom prst="rect">
            <a:avLst/>
          </a:prstGeom>
          <a:noFill/>
          <a:ln/>
        </p:spPr>
        <p:txBody>
          <a:bodyPr wrap="square" rtlCol="0" anchor="t"/>
          <a:lstStyle/>
          <a:p>
            <a:pPr marL="0" indent="0" algn="l">
              <a:lnSpc>
                <a:spcPct val="130000"/>
              </a:lnSpc>
              <a:buNone/>
            </a:pPr>
            <a:r>
              <a:rPr lang="en-US" sz="1000" dirty="0">
                <a:solidFill>
                  <a:srgbClr val="B3BC9A"/>
                </a:solidFill>
                <a:latin typeface="Arial" pitchFamily="34" charset="0"/>
                <a:ea typeface="Arial" pitchFamily="34" charset="-122"/>
                <a:cs typeface="Arial" pitchFamily="34" charset="-120"/>
              </a:rPr>
              <a:t>Robust über </a:t>
            </a:r>
            <a:r>
              <a:rPr lang="en-US" sz="1000" b="1" dirty="0">
                <a:solidFill>
                  <a:srgbClr val="F2EFDA"/>
                </a:solidFill>
                <a:latin typeface="Arial" pitchFamily="34" charset="0"/>
                <a:ea typeface="Arial" pitchFamily="34" charset="-122"/>
                <a:cs typeface="Arial" pitchFamily="34" charset="-120"/>
              </a:rPr>
              <a:t>4 Modellspezifikationen, 4 Stichprobenschwellen und 4 Zeitfenster</a:t>
            </a:r>
            <a:r>
              <a:rPr lang="en-US" sz="1000" dirty="0">
                <a:solidFill>
                  <a:srgbClr val="B3BC9A"/>
                </a:solidFill>
                <a:latin typeface="Arial" pitchFamily="34" charset="0"/>
                <a:ea typeface="Arial" pitchFamily="34" charset="-122"/>
                <a:cs typeface="Arial" pitchFamily="34" charset="-120"/>
              </a:rPr>
              <a:t>.</a:t>
            </a:r>
            <a:endParaRPr lang="en-US" sz="1000" dirty="0"/>
          </a:p>
        </p:txBody>
      </p:sp>
      <p:sp>
        <p:nvSpPr>
          <p:cNvPr id="23" name="Shape 20"/>
          <p:cNvSpPr/>
          <p:nvPr/>
        </p:nvSpPr>
        <p:spPr>
          <a:xfrm>
            <a:off x="7492594" y="1904695"/>
            <a:ext cx="1384402" cy="1384402"/>
          </a:xfrm>
          <a:prstGeom prst="roundRect">
            <a:avLst>
              <a:gd name="adj" fmla="val 3699"/>
            </a:avLst>
          </a:prstGeom>
          <a:solidFill>
            <a:srgbClr val="6AA7F4">
              <a:alpha val="12000"/>
            </a:srgbClr>
          </a:solidFill>
          <a:ln w="12700">
            <a:solidFill>
              <a:srgbClr val="6AA7F4"/>
            </a:solidFill>
            <a:prstDash val="solid"/>
          </a:ln>
        </p:spPr>
        <p:txBody>
          <a:bodyPr/>
          <a:lstStyle/>
          <a:p>
            <a:endParaRPr lang="de-DE"/>
          </a:p>
        </p:txBody>
      </p:sp>
      <p:sp>
        <p:nvSpPr>
          <p:cNvPr id="24" name="Text 21"/>
          <p:cNvSpPr/>
          <p:nvPr/>
        </p:nvSpPr>
        <p:spPr>
          <a:xfrm>
            <a:off x="7606894" y="2006194"/>
            <a:ext cx="1155802" cy="190195"/>
          </a:xfrm>
          <a:prstGeom prst="rect">
            <a:avLst/>
          </a:prstGeom>
          <a:noFill/>
          <a:ln/>
        </p:spPr>
        <p:txBody>
          <a:bodyPr wrap="square" rtlCol="0" anchor="t"/>
          <a:lstStyle/>
          <a:p>
            <a:pPr marL="0" indent="0" algn="l">
              <a:lnSpc>
                <a:spcPct val="105000"/>
              </a:lnSpc>
              <a:buNone/>
            </a:pPr>
            <a:r>
              <a:rPr lang="en-US" sz="800" b="1" kern="0" spc="100" dirty="0">
                <a:solidFill>
                  <a:srgbClr val="6AA7F4"/>
                </a:solidFill>
                <a:latin typeface="Courier New" pitchFamily="34" charset="0"/>
                <a:ea typeface="Courier New" pitchFamily="34" charset="-122"/>
                <a:cs typeface="Courier New" pitchFamily="34" charset="-120"/>
              </a:rPr>
              <a:t>KORREKTIV-VOLATIL</a:t>
            </a:r>
            <a:endParaRPr lang="en-US" sz="800" dirty="0"/>
          </a:p>
        </p:txBody>
      </p:sp>
      <p:sp>
        <p:nvSpPr>
          <p:cNvPr id="25" name="Text 22"/>
          <p:cNvSpPr/>
          <p:nvPr/>
        </p:nvSpPr>
        <p:spPr>
          <a:xfrm>
            <a:off x="7606894" y="2184502"/>
            <a:ext cx="1155802" cy="165506"/>
          </a:xfrm>
          <a:prstGeom prst="rect">
            <a:avLst/>
          </a:prstGeom>
          <a:noFill/>
          <a:ln/>
        </p:spPr>
        <p:txBody>
          <a:bodyPr wrap="square" rtlCol="0" anchor="t"/>
          <a:lstStyle/>
          <a:p>
            <a:pPr marL="0" indent="0" algn="l">
              <a:lnSpc>
                <a:spcPct val="105000"/>
              </a:lnSpc>
              <a:buNone/>
            </a:pPr>
            <a:r>
              <a:rPr lang="en-US" sz="800" dirty="0">
                <a:solidFill>
                  <a:srgbClr val="B3BC9A"/>
                </a:solidFill>
                <a:latin typeface="Arial" pitchFamily="34" charset="0"/>
                <a:ea typeface="Arial" pitchFamily="34" charset="-122"/>
                <a:cs typeface="Arial" pitchFamily="34" charset="-120"/>
              </a:rPr>
              <a:t>große Ausschläge, korrigiert</a:t>
            </a:r>
            <a:endParaRPr lang="en-US" sz="800" dirty="0"/>
          </a:p>
        </p:txBody>
      </p:sp>
      <p:sp>
        <p:nvSpPr>
          <p:cNvPr id="26" name="Shape 23"/>
          <p:cNvSpPr/>
          <p:nvPr/>
        </p:nvSpPr>
        <p:spPr>
          <a:xfrm>
            <a:off x="8978494" y="1904695"/>
            <a:ext cx="1384402" cy="1384402"/>
          </a:xfrm>
          <a:prstGeom prst="roundRect">
            <a:avLst>
              <a:gd name="adj" fmla="val 3699"/>
            </a:avLst>
          </a:prstGeom>
          <a:solidFill>
            <a:srgbClr val="F36451">
              <a:alpha val="12000"/>
            </a:srgbClr>
          </a:solidFill>
          <a:ln w="12700">
            <a:solidFill>
              <a:srgbClr val="F36451"/>
            </a:solidFill>
            <a:prstDash val="solid"/>
          </a:ln>
        </p:spPr>
        <p:txBody>
          <a:bodyPr/>
          <a:lstStyle/>
          <a:p>
            <a:endParaRPr lang="de-DE"/>
          </a:p>
        </p:txBody>
      </p:sp>
      <p:sp>
        <p:nvSpPr>
          <p:cNvPr id="27" name="Text 24"/>
          <p:cNvSpPr/>
          <p:nvPr/>
        </p:nvSpPr>
        <p:spPr>
          <a:xfrm>
            <a:off x="9092794" y="2006194"/>
            <a:ext cx="1155802" cy="190195"/>
          </a:xfrm>
          <a:prstGeom prst="rect">
            <a:avLst/>
          </a:prstGeom>
          <a:noFill/>
          <a:ln/>
        </p:spPr>
        <p:txBody>
          <a:bodyPr wrap="square" rtlCol="0" anchor="t"/>
          <a:lstStyle/>
          <a:p>
            <a:pPr marL="0" indent="0" algn="l">
              <a:lnSpc>
                <a:spcPct val="105000"/>
              </a:lnSpc>
              <a:buNone/>
            </a:pPr>
            <a:r>
              <a:rPr lang="en-US" sz="800" b="1" kern="0" spc="100" dirty="0">
                <a:solidFill>
                  <a:srgbClr val="F36451"/>
                </a:solidFill>
                <a:latin typeface="Courier New" pitchFamily="34" charset="0"/>
                <a:ea typeface="Courier New" pitchFamily="34" charset="-122"/>
                <a:cs typeface="Courier New" pitchFamily="34" charset="-120"/>
              </a:rPr>
              <a:t>PERSISTENT-VOLATIL</a:t>
            </a:r>
            <a:endParaRPr lang="en-US" sz="800" dirty="0"/>
          </a:p>
        </p:txBody>
      </p:sp>
      <p:sp>
        <p:nvSpPr>
          <p:cNvPr id="28" name="Text 25"/>
          <p:cNvSpPr/>
          <p:nvPr/>
        </p:nvSpPr>
        <p:spPr>
          <a:xfrm>
            <a:off x="9092794" y="2184502"/>
            <a:ext cx="1155802" cy="165506"/>
          </a:xfrm>
          <a:prstGeom prst="rect">
            <a:avLst/>
          </a:prstGeom>
          <a:noFill/>
          <a:ln/>
        </p:spPr>
        <p:txBody>
          <a:bodyPr wrap="square" rtlCol="0" anchor="t"/>
          <a:lstStyle/>
          <a:p>
            <a:pPr marL="0" indent="0" algn="l">
              <a:lnSpc>
                <a:spcPct val="105000"/>
              </a:lnSpc>
              <a:buNone/>
            </a:pPr>
            <a:r>
              <a:rPr lang="en-US" sz="800" dirty="0">
                <a:solidFill>
                  <a:srgbClr val="B3BC9A"/>
                </a:solidFill>
                <a:latin typeface="Arial" pitchFamily="34" charset="0"/>
                <a:ea typeface="Arial" pitchFamily="34" charset="-122"/>
                <a:cs typeface="Arial" pitchFamily="34" charset="-120"/>
              </a:rPr>
              <a:t>höchstes Risiko</a:t>
            </a:r>
            <a:endParaRPr lang="en-US" sz="800" dirty="0"/>
          </a:p>
        </p:txBody>
      </p:sp>
      <p:sp>
        <p:nvSpPr>
          <p:cNvPr id="29" name="Shape 26"/>
          <p:cNvSpPr/>
          <p:nvPr/>
        </p:nvSpPr>
        <p:spPr>
          <a:xfrm>
            <a:off x="7492594" y="3390595"/>
            <a:ext cx="1384402" cy="1384402"/>
          </a:xfrm>
          <a:prstGeom prst="roundRect">
            <a:avLst>
              <a:gd name="adj" fmla="val 3699"/>
            </a:avLst>
          </a:prstGeom>
          <a:solidFill>
            <a:srgbClr val="3EB977">
              <a:alpha val="12000"/>
            </a:srgbClr>
          </a:solidFill>
          <a:ln w="12700">
            <a:solidFill>
              <a:srgbClr val="3EB977"/>
            </a:solidFill>
            <a:prstDash val="solid"/>
          </a:ln>
        </p:spPr>
        <p:txBody>
          <a:bodyPr/>
          <a:lstStyle/>
          <a:p>
            <a:endParaRPr lang="de-DE"/>
          </a:p>
        </p:txBody>
      </p:sp>
      <p:sp>
        <p:nvSpPr>
          <p:cNvPr id="30" name="Text 27"/>
          <p:cNvSpPr/>
          <p:nvPr/>
        </p:nvSpPr>
        <p:spPr>
          <a:xfrm>
            <a:off x="7606894" y="3492094"/>
            <a:ext cx="1155802" cy="190195"/>
          </a:xfrm>
          <a:prstGeom prst="rect">
            <a:avLst/>
          </a:prstGeom>
          <a:noFill/>
          <a:ln/>
        </p:spPr>
        <p:txBody>
          <a:bodyPr wrap="square" rtlCol="0" anchor="t"/>
          <a:lstStyle/>
          <a:p>
            <a:pPr marL="0" indent="0" algn="l">
              <a:lnSpc>
                <a:spcPct val="105000"/>
              </a:lnSpc>
              <a:buNone/>
            </a:pPr>
            <a:r>
              <a:rPr lang="en-US" sz="800" b="1" kern="0" spc="100" dirty="0">
                <a:solidFill>
                  <a:srgbClr val="3EB977"/>
                </a:solidFill>
                <a:latin typeface="Courier New" pitchFamily="34" charset="0"/>
                <a:ea typeface="Courier New" pitchFamily="34" charset="-122"/>
                <a:cs typeface="Courier New" pitchFamily="34" charset="-120"/>
              </a:rPr>
              <a:t>KORREKTIV-STABIL</a:t>
            </a:r>
            <a:endParaRPr lang="en-US" sz="800" dirty="0"/>
          </a:p>
        </p:txBody>
      </p:sp>
      <p:sp>
        <p:nvSpPr>
          <p:cNvPr id="31" name="Text 28"/>
          <p:cNvSpPr/>
          <p:nvPr/>
        </p:nvSpPr>
        <p:spPr>
          <a:xfrm>
            <a:off x="7606894" y="3670402"/>
            <a:ext cx="1155802" cy="165506"/>
          </a:xfrm>
          <a:prstGeom prst="rect">
            <a:avLst/>
          </a:prstGeom>
          <a:noFill/>
          <a:ln/>
        </p:spPr>
        <p:txBody>
          <a:bodyPr wrap="square" rtlCol="0" anchor="t"/>
          <a:lstStyle/>
          <a:p>
            <a:pPr marL="0" indent="0" algn="l">
              <a:lnSpc>
                <a:spcPct val="105000"/>
              </a:lnSpc>
              <a:buNone/>
            </a:pPr>
            <a:r>
              <a:rPr lang="en-US" sz="800" dirty="0">
                <a:solidFill>
                  <a:srgbClr val="B3BC9A"/>
                </a:solidFill>
                <a:latin typeface="Arial" pitchFamily="34" charset="0"/>
                <a:ea typeface="Arial" pitchFamily="34" charset="-122"/>
                <a:cs typeface="Arial" pitchFamily="34" charset="-120"/>
              </a:rPr>
              <a:t>höchste Vorhersagbarkeit</a:t>
            </a:r>
            <a:endParaRPr lang="en-US" sz="800" dirty="0"/>
          </a:p>
        </p:txBody>
      </p:sp>
      <p:sp>
        <p:nvSpPr>
          <p:cNvPr id="32" name="Shape 29"/>
          <p:cNvSpPr/>
          <p:nvPr/>
        </p:nvSpPr>
        <p:spPr>
          <a:xfrm>
            <a:off x="8978494" y="3390595"/>
            <a:ext cx="1384402" cy="1384402"/>
          </a:xfrm>
          <a:prstGeom prst="roundRect">
            <a:avLst>
              <a:gd name="adj" fmla="val 3699"/>
            </a:avLst>
          </a:prstGeom>
          <a:solidFill>
            <a:srgbClr val="E4CA5F">
              <a:alpha val="12000"/>
            </a:srgbClr>
          </a:solidFill>
          <a:ln w="12700">
            <a:solidFill>
              <a:srgbClr val="E4CA5F"/>
            </a:solidFill>
            <a:prstDash val="solid"/>
          </a:ln>
        </p:spPr>
        <p:txBody>
          <a:bodyPr/>
          <a:lstStyle/>
          <a:p>
            <a:endParaRPr lang="de-DE"/>
          </a:p>
        </p:txBody>
      </p:sp>
      <p:sp>
        <p:nvSpPr>
          <p:cNvPr id="33" name="Text 30"/>
          <p:cNvSpPr/>
          <p:nvPr/>
        </p:nvSpPr>
        <p:spPr>
          <a:xfrm>
            <a:off x="9092794" y="3492094"/>
            <a:ext cx="1155802" cy="190195"/>
          </a:xfrm>
          <a:prstGeom prst="rect">
            <a:avLst/>
          </a:prstGeom>
          <a:noFill/>
          <a:ln/>
        </p:spPr>
        <p:txBody>
          <a:bodyPr wrap="square" rtlCol="0" anchor="t"/>
          <a:lstStyle/>
          <a:p>
            <a:pPr marL="0" indent="0" algn="l">
              <a:lnSpc>
                <a:spcPct val="105000"/>
              </a:lnSpc>
              <a:buNone/>
            </a:pPr>
            <a:r>
              <a:rPr lang="en-US" sz="800" b="1" kern="0" spc="100" dirty="0">
                <a:solidFill>
                  <a:srgbClr val="E4CA5F"/>
                </a:solidFill>
                <a:latin typeface="Courier New" pitchFamily="34" charset="0"/>
                <a:ea typeface="Courier New" pitchFamily="34" charset="-122"/>
                <a:cs typeface="Courier New" pitchFamily="34" charset="-120"/>
              </a:rPr>
              <a:t>PERSISTENT-STABIL</a:t>
            </a:r>
            <a:endParaRPr lang="en-US" sz="800" dirty="0"/>
          </a:p>
        </p:txBody>
      </p:sp>
      <p:sp>
        <p:nvSpPr>
          <p:cNvPr id="34" name="Text 31"/>
          <p:cNvSpPr/>
          <p:nvPr/>
        </p:nvSpPr>
        <p:spPr>
          <a:xfrm>
            <a:off x="9092794" y="3670402"/>
            <a:ext cx="1155802" cy="165506"/>
          </a:xfrm>
          <a:prstGeom prst="rect">
            <a:avLst/>
          </a:prstGeom>
          <a:noFill/>
          <a:ln/>
        </p:spPr>
        <p:txBody>
          <a:bodyPr wrap="square" rtlCol="0" anchor="t"/>
          <a:lstStyle/>
          <a:p>
            <a:pPr marL="0" indent="0" algn="l">
              <a:lnSpc>
                <a:spcPct val="105000"/>
              </a:lnSpc>
              <a:buNone/>
            </a:pPr>
            <a:r>
              <a:rPr lang="en-US" sz="800" dirty="0">
                <a:solidFill>
                  <a:srgbClr val="B3BC9A"/>
                </a:solidFill>
                <a:latin typeface="Arial" pitchFamily="34" charset="0"/>
                <a:ea typeface="Arial" pitchFamily="34" charset="-122"/>
                <a:cs typeface="Arial" pitchFamily="34" charset="-120"/>
              </a:rPr>
              <a:t>träger Drift</a:t>
            </a:r>
            <a:endParaRPr lang="en-US" sz="800" dirty="0"/>
          </a:p>
        </p:txBody>
      </p:sp>
      <p:sp>
        <p:nvSpPr>
          <p:cNvPr id="35" name="Shape 32"/>
          <p:cNvSpPr/>
          <p:nvPr/>
        </p:nvSpPr>
        <p:spPr>
          <a:xfrm>
            <a:off x="8941003" y="1904695"/>
            <a:ext cx="25603" cy="2920594"/>
          </a:xfrm>
          <a:prstGeom prst="rect">
            <a:avLst/>
          </a:prstGeom>
          <a:solidFill>
            <a:srgbClr val="DBDEE2"/>
          </a:solidFill>
          <a:ln/>
        </p:spPr>
        <p:txBody>
          <a:bodyPr/>
          <a:lstStyle/>
          <a:p>
            <a:endParaRPr lang="de-DE"/>
          </a:p>
        </p:txBody>
      </p:sp>
      <p:sp>
        <p:nvSpPr>
          <p:cNvPr id="36" name="Shape 33"/>
          <p:cNvSpPr/>
          <p:nvPr/>
        </p:nvSpPr>
        <p:spPr>
          <a:xfrm>
            <a:off x="7492594" y="3353105"/>
            <a:ext cx="2920594" cy="25603"/>
          </a:xfrm>
          <a:prstGeom prst="rect">
            <a:avLst/>
          </a:prstGeom>
          <a:solidFill>
            <a:srgbClr val="DBDEE2"/>
          </a:solidFill>
          <a:ln/>
        </p:spPr>
        <p:txBody>
          <a:bodyPr/>
          <a:lstStyle/>
          <a:p>
            <a:endParaRPr lang="de-DE"/>
          </a:p>
        </p:txBody>
      </p:sp>
      <p:sp>
        <p:nvSpPr>
          <p:cNvPr id="37" name="Shape 34"/>
          <p:cNvSpPr/>
          <p:nvPr/>
        </p:nvSpPr>
        <p:spPr>
          <a:xfrm>
            <a:off x="8169250" y="3968496"/>
            <a:ext cx="107899" cy="107899"/>
          </a:xfrm>
          <a:prstGeom prst="ellipse">
            <a:avLst/>
          </a:prstGeom>
          <a:solidFill>
            <a:srgbClr val="3EB977"/>
          </a:solidFill>
          <a:ln/>
        </p:spPr>
        <p:txBody>
          <a:bodyPr/>
          <a:lstStyle/>
          <a:p>
            <a:endParaRPr lang="de-DE"/>
          </a:p>
        </p:txBody>
      </p:sp>
      <p:sp>
        <p:nvSpPr>
          <p:cNvPr id="38" name="Shape 35"/>
          <p:cNvSpPr/>
          <p:nvPr/>
        </p:nvSpPr>
        <p:spPr>
          <a:xfrm>
            <a:off x="8343900" y="2727655"/>
            <a:ext cx="107899" cy="107899"/>
          </a:xfrm>
          <a:prstGeom prst="ellipse">
            <a:avLst/>
          </a:prstGeom>
          <a:solidFill>
            <a:srgbClr val="6AA7F4"/>
          </a:solidFill>
          <a:ln/>
        </p:spPr>
        <p:txBody>
          <a:bodyPr/>
          <a:lstStyle/>
          <a:p>
            <a:endParaRPr lang="de-DE"/>
          </a:p>
        </p:txBody>
      </p:sp>
      <p:sp>
        <p:nvSpPr>
          <p:cNvPr id="39" name="Shape 36"/>
          <p:cNvSpPr/>
          <p:nvPr/>
        </p:nvSpPr>
        <p:spPr>
          <a:xfrm>
            <a:off x="9556394" y="3749954"/>
            <a:ext cx="107899" cy="107899"/>
          </a:xfrm>
          <a:prstGeom prst="ellipse">
            <a:avLst/>
          </a:prstGeom>
          <a:solidFill>
            <a:srgbClr val="E4CA5F"/>
          </a:solidFill>
          <a:ln/>
        </p:spPr>
        <p:txBody>
          <a:bodyPr/>
          <a:lstStyle/>
          <a:p>
            <a:endParaRPr lang="de-DE"/>
          </a:p>
        </p:txBody>
      </p:sp>
      <p:sp>
        <p:nvSpPr>
          <p:cNvPr id="40" name="Shape 37"/>
          <p:cNvSpPr/>
          <p:nvPr/>
        </p:nvSpPr>
        <p:spPr>
          <a:xfrm>
            <a:off x="9424721" y="2610612"/>
            <a:ext cx="107899" cy="107899"/>
          </a:xfrm>
          <a:prstGeom prst="ellipse">
            <a:avLst/>
          </a:prstGeom>
          <a:solidFill>
            <a:srgbClr val="F36451"/>
          </a:solidFill>
          <a:ln/>
        </p:spPr>
        <p:txBody>
          <a:bodyPr/>
          <a:lstStyle/>
          <a:p>
            <a:endParaRPr lang="de-DE"/>
          </a:p>
        </p:txBody>
      </p:sp>
      <p:sp>
        <p:nvSpPr>
          <p:cNvPr id="3" name="Text 1">
            <a:extLst>
              <a:ext uri="{FF2B5EF4-FFF2-40B4-BE49-F238E27FC236}">
                <a16:creationId xmlns:a16="http://schemas.microsoft.com/office/drawing/2014/main" id="{5D00CEDE-8039-894D-D8AF-D620ADB0137F}"/>
              </a:ext>
            </a:extLst>
          </p:cNvPr>
          <p:cNvSpPr/>
          <p:nvPr/>
        </p:nvSpPr>
        <p:spPr>
          <a:xfrm>
            <a:off x="415959" y="291694"/>
            <a:ext cx="8255203" cy="215798"/>
          </a:xfrm>
          <a:prstGeom prst="rect">
            <a:avLst/>
          </a:prstGeom>
          <a:noFill/>
          <a:ln/>
        </p:spPr>
        <p:txBody>
          <a:bodyPr wrap="square" rtlCol="0" anchor="ctr"/>
          <a:lstStyle/>
          <a:p>
            <a:r>
              <a:rPr lang="en-US" sz="1200" b="1" kern="0" spc="400" dirty="0">
                <a:solidFill>
                  <a:srgbClr val="E6D34F"/>
                </a:solidFill>
                <a:latin typeface="Courier New" pitchFamily="34" charset="0"/>
                <a:cs typeface="Courier New" pitchFamily="34" charset="-120"/>
              </a:rPr>
              <a:t>FORSCHUNGSFRAGE 1</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dirty="0">
                <a:solidFill>
                  <a:srgbClr val="798D6F"/>
                </a:solidFill>
                <a:latin typeface="Courier New" pitchFamily="34" charset="0"/>
                <a:ea typeface="Courier New" pitchFamily="34" charset="-122"/>
                <a:cs typeface="Courier New" pitchFamily="34" charset="-120"/>
              </a:rPr>
              <a:t>07 / 13</a:t>
            </a:r>
            <a:endParaRPr lang="en-US" sz="1200" dirty="0"/>
          </a:p>
        </p:txBody>
      </p:sp>
      <p:sp>
        <p:nvSpPr>
          <p:cNvPr id="6" name="Text 3"/>
          <p:cNvSpPr/>
          <p:nvPr/>
        </p:nvSpPr>
        <p:spPr>
          <a:xfrm>
            <a:off x="634594" y="761695"/>
            <a:ext cx="10921594" cy="437998"/>
          </a:xfrm>
          <a:prstGeom prst="rect">
            <a:avLst/>
          </a:prstGeom>
          <a:noFill/>
          <a:ln/>
        </p:spPr>
        <p:txBody>
          <a:bodyPr wrap="square" rtlCol="0" anchor="t"/>
          <a:lstStyle/>
          <a:p>
            <a:pPr marL="0" indent="0">
              <a:lnSpc>
                <a:spcPct val="100000"/>
              </a:lnSpc>
              <a:buNone/>
            </a:pPr>
            <a:r>
              <a:rPr lang="en-US" sz="2300" b="1" kern="0" spc="-50" dirty="0">
                <a:solidFill>
                  <a:srgbClr val="F2EFDA"/>
                </a:solidFill>
                <a:latin typeface="Arial" pitchFamily="34" charset="0"/>
                <a:ea typeface="Arial" pitchFamily="34" charset="-122"/>
                <a:cs typeface="Arial" pitchFamily="34" charset="-120"/>
              </a:rPr>
              <a:t>Warum? Konstruktion und Korrekturmechanismus</a:t>
            </a:r>
            <a:endParaRPr lang="en-US" sz="2300" dirty="0"/>
          </a:p>
        </p:txBody>
      </p:sp>
      <p:sp>
        <p:nvSpPr>
          <p:cNvPr id="17" name="Shape 14"/>
          <p:cNvSpPr/>
          <p:nvPr/>
        </p:nvSpPr>
        <p:spPr>
          <a:xfrm>
            <a:off x="634594" y="2603297"/>
            <a:ext cx="5320894" cy="2984602"/>
          </a:xfrm>
          <a:prstGeom prst="roundRect">
            <a:avLst>
              <a:gd name="adj" fmla="val 3401"/>
            </a:avLst>
          </a:prstGeom>
          <a:solidFill>
            <a:srgbClr val="1E402E"/>
          </a:solidFill>
          <a:ln w="12700">
            <a:solidFill>
              <a:srgbClr val="4A6D56"/>
            </a:solidFill>
            <a:prstDash val="solid"/>
          </a:ln>
        </p:spPr>
        <p:txBody>
          <a:bodyPr/>
          <a:lstStyle/>
          <a:p>
            <a:endParaRPr lang="de-DE"/>
          </a:p>
        </p:txBody>
      </p:sp>
      <p:sp>
        <p:nvSpPr>
          <p:cNvPr id="18" name="Shape 15"/>
          <p:cNvSpPr/>
          <p:nvPr/>
        </p:nvSpPr>
        <p:spPr>
          <a:xfrm>
            <a:off x="907999" y="2876702"/>
            <a:ext cx="88697" cy="88697"/>
          </a:xfrm>
          <a:prstGeom prst="ellipse">
            <a:avLst/>
          </a:prstGeom>
          <a:solidFill>
            <a:srgbClr val="79A2F9"/>
          </a:solidFill>
          <a:ln/>
        </p:spPr>
        <p:txBody>
          <a:bodyPr/>
          <a:lstStyle/>
          <a:p>
            <a:endParaRPr lang="de-DE"/>
          </a:p>
        </p:txBody>
      </p:sp>
      <p:sp>
        <p:nvSpPr>
          <p:cNvPr id="19" name="Text 16"/>
          <p:cNvSpPr/>
          <p:nvPr/>
        </p:nvSpPr>
        <p:spPr>
          <a:xfrm>
            <a:off x="1143000" y="2781605"/>
            <a:ext cx="4572000" cy="571500"/>
          </a:xfrm>
          <a:prstGeom prst="rect">
            <a:avLst/>
          </a:prstGeom>
          <a:noFill/>
          <a:ln/>
        </p:spPr>
        <p:txBody>
          <a:bodyPr wrap="square" rtlCol="0" anchor="t"/>
          <a:lstStyle/>
          <a:p>
            <a:pPr marL="0" indent="0" algn="l">
              <a:lnSpc>
                <a:spcPct val="110000"/>
              </a:lnSpc>
              <a:buNone/>
            </a:pPr>
            <a:r>
              <a:rPr lang="en-US" sz="1500" b="1" dirty="0">
                <a:solidFill>
                  <a:srgbClr val="F2EFDA"/>
                </a:solidFill>
                <a:latin typeface="Arial" pitchFamily="34" charset="0"/>
                <a:ea typeface="Arial" pitchFamily="34" charset="-122"/>
                <a:cs typeface="Arial" pitchFamily="34" charset="-120"/>
              </a:rPr>
              <a:t>Der Markt korrigiert die Profitabilität</a:t>
            </a:r>
            <a:endParaRPr lang="en-US" sz="1500" dirty="0"/>
          </a:p>
        </p:txBody>
      </p:sp>
      <p:sp>
        <p:nvSpPr>
          <p:cNvPr id="20" name="Text 17"/>
          <p:cNvSpPr/>
          <p:nvPr/>
        </p:nvSpPr>
        <p:spPr>
          <a:xfrm>
            <a:off x="952805" y="3556102"/>
            <a:ext cx="4699102" cy="1777594"/>
          </a:xfrm>
          <a:prstGeom prst="rect">
            <a:avLst/>
          </a:prstGeom>
          <a:noFill/>
          <a:ln/>
        </p:spPr>
        <p:txBody>
          <a:bodyPr wrap="square" rtlCol="0" anchor="t"/>
          <a:lstStyle/>
          <a:p>
            <a:pPr marL="0" indent="0" algn="l">
              <a:lnSpc>
                <a:spcPct val="135000"/>
              </a:lnSpc>
              <a:buNone/>
            </a:pPr>
            <a:r>
              <a:rPr lang="en-US" sz="1200" dirty="0">
                <a:solidFill>
                  <a:srgbClr val="B3BC9A"/>
                </a:solidFill>
                <a:latin typeface="Arial" pitchFamily="34" charset="0"/>
                <a:ea typeface="Arial" pitchFamily="34" charset="-122"/>
                <a:cs typeface="Arial" pitchFamily="34" charset="-120"/>
              </a:rPr>
              <a:t>Überrenditen ziehen Wettbewerber an, Unterrenditen erzwingen Anpassung — </a:t>
            </a:r>
            <a:r>
              <a:rPr lang="en-US" sz="1200" b="1" dirty="0">
                <a:solidFill>
                  <a:srgbClr val="F2EFDA"/>
                </a:solidFill>
                <a:latin typeface="Arial" pitchFamily="34" charset="0"/>
                <a:ea typeface="Arial" pitchFamily="34" charset="-122"/>
                <a:cs typeface="Arial" pitchFamily="34" charset="-120"/>
              </a:rPr>
              <a:t>Korrektur ohne Zutun des Unternehmens</a:t>
            </a:r>
            <a:r>
              <a:rPr lang="en-US" sz="1200" dirty="0">
                <a:solidFill>
                  <a:srgbClr val="B3BC9A"/>
                </a:solidFill>
                <a:latin typeface="Arial" pitchFamily="34" charset="0"/>
                <a:ea typeface="Arial" pitchFamily="34" charset="-122"/>
                <a:cs typeface="Arial" pitchFamily="34" charset="-120"/>
              </a:rPr>
              <a:t> (Fama/French 2000: ≈ 38 % p. a.).</a:t>
            </a:r>
            <a:endParaRPr lang="en-US" sz="1200" dirty="0"/>
          </a:p>
        </p:txBody>
      </p:sp>
      <p:sp>
        <p:nvSpPr>
          <p:cNvPr id="21" name="Shape 18"/>
          <p:cNvSpPr/>
          <p:nvPr/>
        </p:nvSpPr>
        <p:spPr>
          <a:xfrm>
            <a:off x="6235294" y="2603297"/>
            <a:ext cx="5320894" cy="2984602"/>
          </a:xfrm>
          <a:prstGeom prst="roundRect">
            <a:avLst>
              <a:gd name="adj" fmla="val 3401"/>
            </a:avLst>
          </a:prstGeom>
          <a:solidFill>
            <a:srgbClr val="1E402E"/>
          </a:solidFill>
          <a:ln w="12700">
            <a:solidFill>
              <a:srgbClr val="4A6D56"/>
            </a:solidFill>
            <a:prstDash val="solid"/>
          </a:ln>
        </p:spPr>
        <p:txBody>
          <a:bodyPr/>
          <a:lstStyle/>
          <a:p>
            <a:endParaRPr lang="de-DE"/>
          </a:p>
        </p:txBody>
      </p:sp>
      <p:sp>
        <p:nvSpPr>
          <p:cNvPr id="22" name="Shape 19"/>
          <p:cNvSpPr/>
          <p:nvPr/>
        </p:nvSpPr>
        <p:spPr>
          <a:xfrm>
            <a:off x="6508699" y="2876702"/>
            <a:ext cx="88697" cy="88697"/>
          </a:xfrm>
          <a:prstGeom prst="ellipse">
            <a:avLst/>
          </a:prstGeom>
          <a:solidFill>
            <a:srgbClr val="F36451"/>
          </a:solidFill>
          <a:ln/>
        </p:spPr>
        <p:txBody>
          <a:bodyPr/>
          <a:lstStyle/>
          <a:p>
            <a:endParaRPr lang="de-DE"/>
          </a:p>
        </p:txBody>
      </p:sp>
      <p:sp>
        <p:nvSpPr>
          <p:cNvPr id="23" name="Text 20"/>
          <p:cNvSpPr/>
          <p:nvPr/>
        </p:nvSpPr>
        <p:spPr>
          <a:xfrm>
            <a:off x="6743700" y="2781605"/>
            <a:ext cx="4572000" cy="571500"/>
          </a:xfrm>
          <a:prstGeom prst="rect">
            <a:avLst/>
          </a:prstGeom>
          <a:noFill/>
          <a:ln/>
        </p:spPr>
        <p:txBody>
          <a:bodyPr wrap="square" rtlCol="0" anchor="t"/>
          <a:lstStyle/>
          <a:p>
            <a:pPr marL="0" indent="0" algn="l">
              <a:lnSpc>
                <a:spcPct val="110000"/>
              </a:lnSpc>
              <a:buNone/>
            </a:pPr>
            <a:r>
              <a:rPr lang="en-US" sz="1500" b="1" dirty="0">
                <a:solidFill>
                  <a:srgbClr val="F2EFDA"/>
                </a:solidFill>
                <a:latin typeface="Arial" pitchFamily="34" charset="0"/>
                <a:ea typeface="Arial" pitchFamily="34" charset="-122"/>
                <a:cs typeface="Arial" pitchFamily="34" charset="-120"/>
              </a:rPr>
              <a:t>Das Management entscheidet die Kapitalstruktur</a:t>
            </a:r>
            <a:endParaRPr lang="en-US" sz="1500" dirty="0"/>
          </a:p>
        </p:txBody>
      </p:sp>
      <p:sp>
        <p:nvSpPr>
          <p:cNvPr id="24" name="Text 21"/>
          <p:cNvSpPr/>
          <p:nvPr/>
        </p:nvSpPr>
        <p:spPr>
          <a:xfrm>
            <a:off x="6552590" y="3556102"/>
            <a:ext cx="4699102" cy="1777594"/>
          </a:xfrm>
          <a:prstGeom prst="rect">
            <a:avLst/>
          </a:prstGeom>
          <a:noFill/>
          <a:ln/>
        </p:spPr>
        <p:txBody>
          <a:bodyPr wrap="square" rtlCol="0" anchor="t"/>
          <a:lstStyle/>
          <a:p>
            <a:pPr marL="0" indent="0" algn="l">
              <a:lnSpc>
                <a:spcPct val="135000"/>
              </a:lnSpc>
              <a:buNone/>
            </a:pPr>
            <a:r>
              <a:rPr lang="en-US" sz="1200" dirty="0">
                <a:solidFill>
                  <a:srgbClr val="B3BC9A"/>
                </a:solidFill>
                <a:latin typeface="Arial" pitchFamily="34" charset="0"/>
                <a:ea typeface="Arial" pitchFamily="34" charset="-122"/>
                <a:cs typeface="Arial" pitchFamily="34" charset="-120"/>
              </a:rPr>
              <a:t>Kein Marktmechanismus zieht die Bilanz zur Norm — </a:t>
            </a:r>
            <a:r>
              <a:rPr lang="en-US" sz="1200" b="1" dirty="0">
                <a:solidFill>
                  <a:srgbClr val="F2EFDA"/>
                </a:solidFill>
                <a:latin typeface="Arial" pitchFamily="34" charset="0"/>
                <a:ea typeface="Arial" pitchFamily="34" charset="-122"/>
                <a:cs typeface="Arial" pitchFamily="34" charset="-120"/>
              </a:rPr>
              <a:t>nur Emission, Rückkauf, Dividende</a:t>
            </a:r>
            <a:r>
              <a:rPr lang="en-US" sz="1200" dirty="0">
                <a:solidFill>
                  <a:srgbClr val="B3BC9A"/>
                </a:solidFill>
                <a:latin typeface="Arial" pitchFamily="34" charset="0"/>
                <a:ea typeface="Arial" pitchFamily="34" charset="-122"/>
                <a:cs typeface="Arial" pitchFamily="34" charset="-120"/>
              </a:rPr>
              <a:t> (Pecking Order, Market Timing, Trade-off).</a:t>
            </a:r>
            <a:endParaRPr lang="en-US" sz="1200" dirty="0"/>
          </a:p>
        </p:txBody>
      </p:sp>
      <p:pic>
        <p:nvPicPr>
          <p:cNvPr id="25" name="Grafik 24">
            <a:extLst>
              <a:ext uri="{FF2B5EF4-FFF2-40B4-BE49-F238E27FC236}">
                <a16:creationId xmlns:a16="http://schemas.microsoft.com/office/drawing/2014/main" id="{4E95ED5A-A4FB-4963-5252-CFE8AB37837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868" r="1602"/>
          <a:stretch>
            <a:fillRect/>
          </a:stretch>
        </p:blipFill>
        <p:spPr bwMode="auto">
          <a:xfrm>
            <a:off x="3609614" y="1212572"/>
            <a:ext cx="3757102" cy="1177105"/>
          </a:xfrm>
          <a:prstGeom prst="rect">
            <a:avLst/>
          </a:prstGeom>
          <a:ln>
            <a:noFill/>
          </a:ln>
          <a:extLst>
            <a:ext uri="{53640926-AAD7-44D8-BBD7-CCE9431645EC}">
              <a14:shadowObscured xmlns:a14="http://schemas.microsoft.com/office/drawing/2010/main"/>
            </a:ext>
          </a:extLst>
        </p:spPr>
      </p:pic>
      <p:sp>
        <p:nvSpPr>
          <p:cNvPr id="3" name="Text 1">
            <a:extLst>
              <a:ext uri="{FF2B5EF4-FFF2-40B4-BE49-F238E27FC236}">
                <a16:creationId xmlns:a16="http://schemas.microsoft.com/office/drawing/2014/main" id="{1E646081-CF00-82F5-AF41-D41CFC47DF1D}"/>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dirty="0">
                <a:solidFill>
                  <a:srgbClr val="E6D34F"/>
                </a:solidFill>
                <a:latin typeface="Courier New" pitchFamily="34" charset="0"/>
                <a:cs typeface="Courier New" pitchFamily="34" charset="-120"/>
              </a:rPr>
              <a:t>FORSCHUNGSFRAGE 1</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dirty="0">
                <a:solidFill>
                  <a:srgbClr val="798D6F"/>
                </a:solidFill>
                <a:latin typeface="Courier New" pitchFamily="34" charset="0"/>
                <a:ea typeface="Courier New" pitchFamily="34" charset="-122"/>
                <a:cs typeface="Courier New" pitchFamily="34" charset="-120"/>
              </a:rPr>
              <a:t>08 / 13</a:t>
            </a:r>
            <a:endParaRPr lang="en-US" sz="1200" dirty="0"/>
          </a:p>
        </p:txBody>
      </p:sp>
      <p:sp>
        <p:nvSpPr>
          <p:cNvPr id="6" name="Text 3"/>
          <p:cNvSpPr/>
          <p:nvPr/>
        </p:nvSpPr>
        <p:spPr>
          <a:xfrm>
            <a:off x="634594" y="761695"/>
            <a:ext cx="10921594" cy="381305"/>
          </a:xfrm>
          <a:prstGeom prst="rect">
            <a:avLst/>
          </a:prstGeom>
          <a:noFill/>
          <a:ln/>
        </p:spPr>
        <p:txBody>
          <a:bodyPr wrap="square" rtlCol="0" anchor="t"/>
          <a:lstStyle/>
          <a:p>
            <a:pPr marL="0" indent="0">
              <a:lnSpc>
                <a:spcPct val="100000"/>
              </a:lnSpc>
              <a:buNone/>
            </a:pPr>
            <a:r>
              <a:rPr lang="en-US" sz="2000" b="1" kern="0" spc="-50" dirty="0">
                <a:solidFill>
                  <a:srgbClr val="F2EFDA"/>
                </a:solidFill>
                <a:latin typeface="Arial" pitchFamily="34" charset="0"/>
                <a:ea typeface="Arial" pitchFamily="34" charset="-122"/>
                <a:cs typeface="Arial" pitchFamily="34" charset="-120"/>
              </a:rPr>
              <a:t>Schocks treffen gemeinsam — korrigiert wird kennzahlspezifisch</a:t>
            </a:r>
            <a:endParaRPr lang="en-US" sz="2000" dirty="0"/>
          </a:p>
        </p:txBody>
      </p:sp>
      <p:sp>
        <p:nvSpPr>
          <p:cNvPr id="7" name="Text 4"/>
          <p:cNvSpPr/>
          <p:nvPr/>
        </p:nvSpPr>
        <p:spPr>
          <a:xfrm>
            <a:off x="634594" y="1333195"/>
            <a:ext cx="9524390" cy="254203"/>
          </a:xfrm>
          <a:prstGeom prst="rect">
            <a:avLst/>
          </a:prstGeom>
          <a:noFill/>
          <a:ln/>
        </p:spPr>
        <p:txBody>
          <a:bodyPr wrap="square" rtlCol="0" anchor="t"/>
          <a:lstStyle/>
          <a:p>
            <a:pPr marL="0" indent="0" algn="l">
              <a:lnSpc>
                <a:spcPct val="105000"/>
              </a:lnSpc>
              <a:buNone/>
            </a:pPr>
            <a:r>
              <a:rPr lang="en-US" sz="1100" dirty="0">
                <a:solidFill>
                  <a:srgbClr val="B3BC9A"/>
                </a:solidFill>
                <a:latin typeface="Arial" pitchFamily="34" charset="0"/>
                <a:ea typeface="Arial" pitchFamily="34" charset="-122"/>
                <a:cs typeface="Arial" pitchFamily="34" charset="-120"/>
              </a:rPr>
              <a:t>Paarweise Korrelation der geschätzten Parameter über die 932 Unternehmen — 21 Kennzahlpaare je Matrix.</a:t>
            </a:r>
            <a:endParaRPr lang="en-US" sz="1100" dirty="0"/>
          </a:p>
        </p:txBody>
      </p:sp>
      <p:sp>
        <p:nvSpPr>
          <p:cNvPr id="8" name="Shape 5"/>
          <p:cNvSpPr/>
          <p:nvPr/>
        </p:nvSpPr>
        <p:spPr>
          <a:xfrm>
            <a:off x="634594" y="1904695"/>
            <a:ext cx="5320894" cy="3174797"/>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 name="Text 6"/>
          <p:cNvSpPr/>
          <p:nvPr/>
        </p:nvSpPr>
        <p:spPr>
          <a:xfrm>
            <a:off x="888797" y="2095805"/>
            <a:ext cx="4826203" cy="254203"/>
          </a:xfrm>
          <a:prstGeom prst="rect">
            <a:avLst/>
          </a:prstGeom>
          <a:noFill/>
          <a:ln/>
        </p:spPr>
        <p:txBody>
          <a:bodyPr wrap="square" rtlCol="0" anchor="t"/>
          <a:lstStyle/>
          <a:p>
            <a:pPr marL="0" indent="0" algn="l">
              <a:lnSpc>
                <a:spcPct val="105000"/>
              </a:lnSpc>
              <a:buNone/>
            </a:pPr>
            <a:r>
              <a:rPr lang="en-US" sz="1200" b="1" dirty="0">
                <a:solidFill>
                  <a:srgbClr val="B3BC9A"/>
                </a:solidFill>
                <a:latin typeface="Courier New" pitchFamily="34" charset="0"/>
                <a:ea typeface="Courier New" pitchFamily="34" charset="-122"/>
                <a:cs typeface="Courier New" pitchFamily="34" charset="-120"/>
              </a:rPr>
              <a:t>φ  Mean-Reversion-Matrix</a:t>
            </a:r>
            <a:endParaRPr lang="en-US" sz="1200" dirty="0"/>
          </a:p>
        </p:txBody>
      </p:sp>
      <p:sp>
        <p:nvSpPr>
          <p:cNvPr id="10" name="Text 7"/>
          <p:cNvSpPr/>
          <p:nvPr/>
        </p:nvSpPr>
        <p:spPr>
          <a:xfrm>
            <a:off x="888797" y="2463394"/>
            <a:ext cx="4826203" cy="508406"/>
          </a:xfrm>
          <a:prstGeom prst="rect">
            <a:avLst/>
          </a:prstGeom>
          <a:noFill/>
          <a:ln/>
        </p:spPr>
        <p:txBody>
          <a:bodyPr wrap="square" rtlCol="0" anchor="t"/>
          <a:lstStyle/>
          <a:p>
            <a:pPr marL="0" indent="0" algn="l">
              <a:lnSpc>
                <a:spcPct val="105000"/>
              </a:lnSpc>
              <a:buNone/>
            </a:pPr>
            <a:r>
              <a:rPr lang="en-US" sz="1700" b="1" dirty="0">
                <a:solidFill>
                  <a:srgbClr val="F2EFDA"/>
                </a:solidFill>
                <a:latin typeface="Courier New" pitchFamily="34" charset="0"/>
                <a:ea typeface="Courier New" pitchFamily="34" charset="-122"/>
                <a:cs typeface="Courier New" pitchFamily="34" charset="-120"/>
              </a:rPr>
              <a:t>9</a:t>
            </a:r>
            <a:r>
              <a:rPr lang="en-US" sz="1700" dirty="0">
                <a:solidFill>
                  <a:srgbClr val="798D6F"/>
                </a:solidFill>
                <a:latin typeface="Courier New" pitchFamily="34" charset="0"/>
                <a:ea typeface="Courier New" pitchFamily="34" charset="-122"/>
                <a:cs typeface="Courier New" pitchFamily="34" charset="-120"/>
              </a:rPr>
              <a:t>  / 21 Paare signifikant</a:t>
            </a:r>
            <a:endParaRPr lang="en-US" sz="1700" dirty="0"/>
          </a:p>
        </p:txBody>
      </p:sp>
      <p:sp>
        <p:nvSpPr>
          <p:cNvPr id="11" name="Shape 8"/>
          <p:cNvSpPr/>
          <p:nvPr/>
        </p:nvSpPr>
        <p:spPr>
          <a:xfrm>
            <a:off x="888797" y="3174797"/>
            <a:ext cx="4813402" cy="127102"/>
          </a:xfrm>
          <a:prstGeom prst="roundRect">
            <a:avLst>
              <a:gd name="adj" fmla="val 49640"/>
            </a:avLst>
          </a:prstGeom>
          <a:solidFill>
            <a:srgbClr val="072013"/>
          </a:solidFill>
          <a:ln/>
        </p:spPr>
        <p:txBody>
          <a:bodyPr/>
          <a:lstStyle/>
          <a:p>
            <a:endParaRPr lang="de-DE"/>
          </a:p>
        </p:txBody>
      </p:sp>
      <p:sp>
        <p:nvSpPr>
          <p:cNvPr id="12" name="Shape 9"/>
          <p:cNvSpPr/>
          <p:nvPr/>
        </p:nvSpPr>
        <p:spPr>
          <a:xfrm>
            <a:off x="888797" y="3174797"/>
            <a:ext cx="2069287" cy="127102"/>
          </a:xfrm>
          <a:prstGeom prst="roundRect">
            <a:avLst>
              <a:gd name="adj" fmla="val 49640"/>
            </a:avLst>
          </a:prstGeom>
          <a:solidFill>
            <a:srgbClr val="B3BC9A"/>
          </a:solidFill>
          <a:ln/>
        </p:spPr>
        <p:txBody>
          <a:bodyPr/>
          <a:lstStyle/>
          <a:p>
            <a:endParaRPr lang="de-DE"/>
          </a:p>
        </p:txBody>
      </p:sp>
      <p:sp>
        <p:nvSpPr>
          <p:cNvPr id="13" name="Text 10"/>
          <p:cNvSpPr/>
          <p:nvPr/>
        </p:nvSpPr>
        <p:spPr>
          <a:xfrm>
            <a:off x="888797" y="3556102"/>
            <a:ext cx="4826203" cy="761695"/>
          </a:xfrm>
          <a:prstGeom prst="rect">
            <a:avLst/>
          </a:prstGeom>
          <a:noFill/>
          <a:ln/>
        </p:spPr>
        <p:txBody>
          <a:bodyPr wrap="square" rtlCol="0" anchor="t"/>
          <a:lstStyle/>
          <a:p>
            <a:pPr marL="0" indent="0" algn="l">
              <a:lnSpc>
                <a:spcPct val="130000"/>
              </a:lnSpc>
              <a:buNone/>
            </a:pPr>
            <a:r>
              <a:rPr lang="en-US" sz="1100" dirty="0">
                <a:solidFill>
                  <a:srgbClr val="B3BC9A"/>
                </a:solidFill>
                <a:latin typeface="Arial" pitchFamily="34" charset="0"/>
                <a:ea typeface="Arial" pitchFamily="34" charset="-122"/>
                <a:cs typeface="Arial" pitchFamily="34" charset="-120"/>
              </a:rPr>
              <a:t>Kopplung </a:t>
            </a:r>
            <a:r>
              <a:rPr lang="en-US" sz="1100" b="1" dirty="0">
                <a:solidFill>
                  <a:srgbClr val="F2EFDA"/>
                </a:solidFill>
                <a:latin typeface="Arial" pitchFamily="34" charset="0"/>
                <a:ea typeface="Arial" pitchFamily="34" charset="-122"/>
                <a:cs typeface="Arial" pitchFamily="34" charset="-120"/>
              </a:rPr>
              <a:t>nur innerhalb der Profitabilität</a:t>
            </a:r>
            <a:r>
              <a:rPr lang="en-US" sz="1100" dirty="0">
                <a:solidFill>
                  <a:srgbClr val="B3BC9A"/>
                </a:solidFill>
                <a:latin typeface="Arial" pitchFamily="34" charset="0"/>
                <a:ea typeface="Arial" pitchFamily="34" charset="-122"/>
                <a:cs typeface="Arial" pitchFamily="34" charset="-120"/>
              </a:rPr>
              <a:t> — ROA × ROE = 0,78.</a:t>
            </a:r>
            <a:endParaRPr lang="en-US" sz="1100" dirty="0"/>
          </a:p>
        </p:txBody>
      </p:sp>
      <p:sp>
        <p:nvSpPr>
          <p:cNvPr id="14" name="Shape 11"/>
          <p:cNvSpPr/>
          <p:nvPr/>
        </p:nvSpPr>
        <p:spPr>
          <a:xfrm>
            <a:off x="6235294" y="1904695"/>
            <a:ext cx="5320894" cy="3174797"/>
          </a:xfrm>
          <a:prstGeom prst="roundRect">
            <a:avLst>
              <a:gd name="adj" fmla="val 3197"/>
            </a:avLst>
          </a:prstGeom>
          <a:solidFill>
            <a:srgbClr val="1E402E"/>
          </a:solidFill>
          <a:ln w="12700">
            <a:solidFill>
              <a:srgbClr val="79A2F9"/>
            </a:solidFill>
            <a:prstDash val="solid"/>
          </a:ln>
        </p:spPr>
        <p:txBody>
          <a:bodyPr/>
          <a:lstStyle/>
          <a:p>
            <a:endParaRPr lang="de-DE"/>
          </a:p>
        </p:txBody>
      </p:sp>
      <p:sp>
        <p:nvSpPr>
          <p:cNvPr id="15" name="Text 12"/>
          <p:cNvSpPr/>
          <p:nvPr/>
        </p:nvSpPr>
        <p:spPr>
          <a:xfrm>
            <a:off x="6489497" y="2095805"/>
            <a:ext cx="4826203" cy="254203"/>
          </a:xfrm>
          <a:prstGeom prst="rect">
            <a:avLst/>
          </a:prstGeom>
          <a:noFill/>
          <a:ln/>
        </p:spPr>
        <p:txBody>
          <a:bodyPr wrap="square" rtlCol="0" anchor="t"/>
          <a:lstStyle/>
          <a:p>
            <a:pPr marL="0" indent="0" algn="l">
              <a:lnSpc>
                <a:spcPct val="105000"/>
              </a:lnSpc>
              <a:buNone/>
            </a:pPr>
            <a:r>
              <a:rPr lang="en-US" sz="1200" b="1" dirty="0">
                <a:solidFill>
                  <a:srgbClr val="79A2F9"/>
                </a:solidFill>
                <a:latin typeface="Courier New" pitchFamily="34" charset="0"/>
                <a:ea typeface="Courier New" pitchFamily="34" charset="-122"/>
                <a:cs typeface="Courier New" pitchFamily="34" charset="-120"/>
              </a:rPr>
              <a:t>σ  </a:t>
            </a:r>
            <a:r>
              <a:rPr lang="en-US" sz="1200" b="1" dirty="0">
                <a:solidFill>
                  <a:srgbClr val="F2EFDA"/>
                </a:solidFill>
                <a:latin typeface="Courier New" pitchFamily="34" charset="0"/>
                <a:ea typeface="Courier New" pitchFamily="34" charset="-122"/>
                <a:cs typeface="Courier New" pitchFamily="34" charset="-120"/>
              </a:rPr>
              <a:t>Volatilitäts-Matrix</a:t>
            </a:r>
            <a:endParaRPr lang="en-US" sz="1200" dirty="0"/>
          </a:p>
        </p:txBody>
      </p:sp>
      <p:sp>
        <p:nvSpPr>
          <p:cNvPr id="16" name="Text 13"/>
          <p:cNvSpPr/>
          <p:nvPr/>
        </p:nvSpPr>
        <p:spPr>
          <a:xfrm>
            <a:off x="6489497" y="2463394"/>
            <a:ext cx="4826203" cy="508406"/>
          </a:xfrm>
          <a:prstGeom prst="rect">
            <a:avLst/>
          </a:prstGeom>
          <a:noFill/>
          <a:ln/>
        </p:spPr>
        <p:txBody>
          <a:bodyPr wrap="square" rtlCol="0" anchor="t"/>
          <a:lstStyle/>
          <a:p>
            <a:pPr marL="0" indent="0" algn="l">
              <a:lnSpc>
                <a:spcPct val="105000"/>
              </a:lnSpc>
              <a:buNone/>
            </a:pPr>
            <a:r>
              <a:rPr lang="en-US" sz="1700" b="1" dirty="0">
                <a:solidFill>
                  <a:srgbClr val="79A2F9"/>
                </a:solidFill>
                <a:latin typeface="Courier New" pitchFamily="34" charset="0"/>
                <a:ea typeface="Courier New" pitchFamily="34" charset="-122"/>
                <a:cs typeface="Courier New" pitchFamily="34" charset="-120"/>
              </a:rPr>
              <a:t>19</a:t>
            </a:r>
            <a:r>
              <a:rPr lang="en-US" sz="1700" dirty="0">
                <a:solidFill>
                  <a:srgbClr val="798D6F"/>
                </a:solidFill>
                <a:latin typeface="Courier New" pitchFamily="34" charset="0"/>
                <a:ea typeface="Courier New" pitchFamily="34" charset="-122"/>
                <a:cs typeface="Courier New" pitchFamily="34" charset="-120"/>
              </a:rPr>
              <a:t>  / 21 Paare signifikant</a:t>
            </a:r>
            <a:endParaRPr lang="en-US" sz="1700" dirty="0"/>
          </a:p>
        </p:txBody>
      </p:sp>
      <p:sp>
        <p:nvSpPr>
          <p:cNvPr id="17" name="Shape 14"/>
          <p:cNvSpPr/>
          <p:nvPr/>
        </p:nvSpPr>
        <p:spPr>
          <a:xfrm>
            <a:off x="6489497" y="3174797"/>
            <a:ext cx="4813402" cy="127102"/>
          </a:xfrm>
          <a:prstGeom prst="roundRect">
            <a:avLst>
              <a:gd name="adj" fmla="val 49640"/>
            </a:avLst>
          </a:prstGeom>
          <a:solidFill>
            <a:srgbClr val="072013"/>
          </a:solidFill>
          <a:ln/>
        </p:spPr>
        <p:txBody>
          <a:bodyPr/>
          <a:lstStyle/>
          <a:p>
            <a:endParaRPr lang="de-DE"/>
          </a:p>
        </p:txBody>
      </p:sp>
      <p:sp>
        <p:nvSpPr>
          <p:cNvPr id="18" name="Shape 15"/>
          <p:cNvSpPr/>
          <p:nvPr/>
        </p:nvSpPr>
        <p:spPr>
          <a:xfrm>
            <a:off x="6489497" y="3174797"/>
            <a:ext cx="4331513" cy="127102"/>
          </a:xfrm>
          <a:prstGeom prst="roundRect">
            <a:avLst>
              <a:gd name="adj" fmla="val 49640"/>
            </a:avLst>
          </a:prstGeom>
          <a:solidFill>
            <a:srgbClr val="79A2F9"/>
          </a:solidFill>
          <a:ln/>
        </p:spPr>
        <p:txBody>
          <a:bodyPr/>
          <a:lstStyle/>
          <a:p>
            <a:endParaRPr lang="de-DE"/>
          </a:p>
        </p:txBody>
      </p:sp>
      <p:sp>
        <p:nvSpPr>
          <p:cNvPr id="19" name="Text 16"/>
          <p:cNvSpPr/>
          <p:nvPr/>
        </p:nvSpPr>
        <p:spPr>
          <a:xfrm>
            <a:off x="6489497" y="3556102"/>
            <a:ext cx="4826203" cy="761695"/>
          </a:xfrm>
          <a:prstGeom prst="rect">
            <a:avLst/>
          </a:prstGeom>
          <a:noFill/>
          <a:ln/>
        </p:spPr>
        <p:txBody>
          <a:bodyPr wrap="square" rtlCol="0" anchor="t"/>
          <a:lstStyle/>
          <a:p>
            <a:pPr marL="0" indent="0" algn="l">
              <a:lnSpc>
                <a:spcPct val="130000"/>
              </a:lnSpc>
              <a:buNone/>
            </a:pPr>
            <a:r>
              <a:rPr lang="en-US" sz="1100" dirty="0">
                <a:solidFill>
                  <a:srgbClr val="B3BC9A"/>
                </a:solidFill>
                <a:latin typeface="Arial" pitchFamily="34" charset="0"/>
                <a:ea typeface="Arial" pitchFamily="34" charset="-122"/>
                <a:cs typeface="Arial" pitchFamily="34" charset="-120"/>
              </a:rPr>
              <a:t>Volatilität </a:t>
            </a:r>
            <a:r>
              <a:rPr lang="en-US" sz="1100" b="1" dirty="0">
                <a:solidFill>
                  <a:srgbClr val="F2EFDA"/>
                </a:solidFill>
                <a:latin typeface="Arial" pitchFamily="34" charset="0"/>
                <a:ea typeface="Arial" pitchFamily="34" charset="-122"/>
                <a:cs typeface="Arial" pitchFamily="34" charset="-120"/>
              </a:rPr>
              <a:t>koppelt über fast alle Kennzahlen</a:t>
            </a:r>
            <a:r>
              <a:rPr lang="en-US" sz="1100" dirty="0">
                <a:solidFill>
                  <a:srgbClr val="B3BC9A"/>
                </a:solidFill>
                <a:latin typeface="Arial" pitchFamily="34" charset="0"/>
                <a:ea typeface="Arial" pitchFamily="34" charset="-122"/>
                <a:cs typeface="Arial" pitchFamily="34" charset="-120"/>
              </a:rPr>
              <a:t> — eine konsistente Unternehmenseigenschaft.</a:t>
            </a:r>
            <a:endParaRPr lang="en-US" sz="1100" dirty="0"/>
          </a:p>
        </p:txBody>
      </p:sp>
      <p:sp>
        <p:nvSpPr>
          <p:cNvPr id="20" name="Text 17"/>
          <p:cNvSpPr/>
          <p:nvPr/>
        </p:nvSpPr>
        <p:spPr>
          <a:xfrm>
            <a:off x="634594" y="5270602"/>
            <a:ext cx="10921594" cy="254203"/>
          </a:xfrm>
          <a:prstGeom prst="rect">
            <a:avLst/>
          </a:prstGeom>
          <a:noFill/>
          <a:ln/>
        </p:spPr>
        <p:txBody>
          <a:bodyPr wrap="square" rtlCol="0" anchor="t"/>
          <a:lstStyle/>
          <a:p>
            <a:pPr marL="0" indent="0" algn="l">
              <a:lnSpc>
                <a:spcPct val="105000"/>
              </a:lnSpc>
              <a:buNone/>
            </a:pPr>
            <a:r>
              <a:rPr lang="en-US" sz="900" dirty="0">
                <a:solidFill>
                  <a:srgbClr val="798D6F"/>
                </a:solidFill>
                <a:latin typeface="Arial" pitchFamily="34" charset="0"/>
                <a:ea typeface="Arial" pitchFamily="34" charset="-122"/>
                <a:cs typeface="Arial" pitchFamily="34" charset="-120"/>
              </a:rPr>
              <a:t>Mechanik ≠ Ökonomie: Kopplungen wie ROE × Debt/Equity folgen aus der DuPont-Identität und werden explizit ausgewiesen.</a:t>
            </a:r>
            <a:endParaRPr lang="en-US" sz="900" dirty="0"/>
          </a:p>
        </p:txBody>
      </p:sp>
      <p:sp>
        <p:nvSpPr>
          <p:cNvPr id="3" name="Text 1">
            <a:extLst>
              <a:ext uri="{FF2B5EF4-FFF2-40B4-BE49-F238E27FC236}">
                <a16:creationId xmlns:a16="http://schemas.microsoft.com/office/drawing/2014/main" id="{553C8CB4-2AEF-80BA-2427-DF0E2A01D6AE}"/>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dirty="0">
                <a:solidFill>
                  <a:srgbClr val="E6D34F"/>
                </a:solidFill>
                <a:latin typeface="Courier New" pitchFamily="34" charset="0"/>
                <a:cs typeface="Courier New" pitchFamily="34" charset="-120"/>
              </a:rPr>
              <a:t>FORSCHUNGSFRAGE 2</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dirty="0">
                <a:solidFill>
                  <a:srgbClr val="798D6F"/>
                </a:solidFill>
                <a:latin typeface="Courier New" pitchFamily="34" charset="0"/>
                <a:ea typeface="Courier New" pitchFamily="34" charset="-122"/>
                <a:cs typeface="Courier New" pitchFamily="34" charset="-120"/>
              </a:rPr>
              <a:t>09 / 13</a:t>
            </a:r>
            <a:endParaRPr lang="en-US" sz="1200" dirty="0"/>
          </a:p>
        </p:txBody>
      </p:sp>
      <p:sp>
        <p:nvSpPr>
          <p:cNvPr id="6" name="Text 3"/>
          <p:cNvSpPr/>
          <p:nvPr/>
        </p:nvSpPr>
        <p:spPr>
          <a:xfrm>
            <a:off x="634594" y="761695"/>
            <a:ext cx="10921594" cy="437998"/>
          </a:xfrm>
          <a:prstGeom prst="rect">
            <a:avLst/>
          </a:prstGeom>
          <a:noFill/>
          <a:ln/>
        </p:spPr>
        <p:txBody>
          <a:bodyPr wrap="square" rtlCol="0" anchor="t"/>
          <a:lstStyle/>
          <a:p>
            <a:pPr marL="0" indent="0">
              <a:lnSpc>
                <a:spcPct val="100000"/>
              </a:lnSpc>
              <a:buNone/>
            </a:pPr>
            <a:r>
              <a:rPr lang="en-US" sz="2300" b="1" kern="0" spc="-50" dirty="0">
                <a:solidFill>
                  <a:srgbClr val="F2EFDA"/>
                </a:solidFill>
                <a:latin typeface="Arial" pitchFamily="34" charset="0"/>
                <a:ea typeface="Arial" pitchFamily="34" charset="-122"/>
                <a:cs typeface="Arial" pitchFamily="34" charset="-120"/>
              </a:rPr>
              <a:t>Dynamik in Krisenphasen</a:t>
            </a:r>
            <a:endParaRPr lang="en-US" sz="2300" dirty="0"/>
          </a:p>
        </p:txBody>
      </p:sp>
      <p:sp>
        <p:nvSpPr>
          <p:cNvPr id="7" name="Text 4"/>
          <p:cNvSpPr/>
          <p:nvPr/>
        </p:nvSpPr>
        <p:spPr>
          <a:xfrm>
            <a:off x="634594" y="1333195"/>
            <a:ext cx="9524390" cy="254203"/>
          </a:xfrm>
          <a:prstGeom prst="rect">
            <a:avLst/>
          </a:prstGeom>
          <a:noFill/>
          <a:ln/>
        </p:spPr>
        <p:txBody>
          <a:bodyPr wrap="square" rtlCol="0" anchor="t"/>
          <a:lstStyle/>
          <a:p>
            <a:pPr marL="0" indent="0" algn="l">
              <a:lnSpc>
                <a:spcPct val="105000"/>
              </a:lnSpc>
              <a:buNone/>
            </a:pPr>
            <a:r>
              <a:rPr lang="en-US" sz="1100" dirty="0">
                <a:solidFill>
                  <a:srgbClr val="B3BC9A"/>
                </a:solidFill>
                <a:latin typeface="Arial" pitchFamily="34" charset="0"/>
                <a:ea typeface="Arial" pitchFamily="34" charset="-122"/>
                <a:cs typeface="Arial" pitchFamily="34" charset="-120"/>
              </a:rPr>
              <a:t>Datengetrieben identifiziert über die rollierende Querschnittsvolatilität (90. Perzentil, ≥ 3 Kennzahlen).</a:t>
            </a:r>
            <a:endParaRPr lang="en-US" sz="1100" dirty="0"/>
          </a:p>
        </p:txBody>
      </p:sp>
      <p:sp>
        <p:nvSpPr>
          <p:cNvPr id="8" name="Shape 5"/>
          <p:cNvSpPr/>
          <p:nvPr/>
        </p:nvSpPr>
        <p:spPr>
          <a:xfrm>
            <a:off x="1904695" y="2270455"/>
            <a:ext cx="508406" cy="523951"/>
          </a:xfrm>
          <a:prstGeom prst="roundRect">
            <a:avLst>
              <a:gd name="adj" fmla="val 7554"/>
            </a:avLst>
          </a:prstGeom>
          <a:solidFill>
            <a:srgbClr val="2B513D"/>
          </a:solidFill>
          <a:ln w="12700">
            <a:solidFill>
              <a:srgbClr val="798D6F"/>
            </a:solidFill>
            <a:prstDash val="dash"/>
          </a:ln>
        </p:spPr>
        <p:txBody>
          <a:bodyPr/>
          <a:lstStyle/>
          <a:p>
            <a:endParaRPr lang="de-DE"/>
          </a:p>
        </p:txBody>
      </p:sp>
      <p:sp>
        <p:nvSpPr>
          <p:cNvPr id="9" name="Text 6"/>
          <p:cNvSpPr/>
          <p:nvPr/>
        </p:nvSpPr>
        <p:spPr>
          <a:xfrm>
            <a:off x="1651406" y="2889504"/>
            <a:ext cx="1015898" cy="190195"/>
          </a:xfrm>
          <a:prstGeom prst="rect">
            <a:avLst/>
          </a:prstGeom>
          <a:noFill/>
          <a:ln/>
        </p:spPr>
        <p:txBody>
          <a:bodyPr wrap="square" rtlCol="0" anchor="t"/>
          <a:lstStyle/>
          <a:p>
            <a:pPr marL="0" indent="0" algn="ctr">
              <a:lnSpc>
                <a:spcPct val="105000"/>
              </a:lnSpc>
              <a:buNone/>
            </a:pPr>
            <a:r>
              <a:rPr lang="en-US" sz="900" dirty="0">
                <a:solidFill>
                  <a:srgbClr val="798D6F"/>
                </a:solidFill>
                <a:latin typeface="Courier New" pitchFamily="34" charset="0"/>
                <a:ea typeface="Courier New" pitchFamily="34" charset="-122"/>
                <a:cs typeface="Courier New" pitchFamily="34" charset="-120"/>
              </a:rPr>
              <a:t>2001</a:t>
            </a:r>
            <a:endParaRPr lang="en-US" sz="900" dirty="0"/>
          </a:p>
        </p:txBody>
      </p:sp>
      <p:sp>
        <p:nvSpPr>
          <p:cNvPr id="10" name="Shape 7"/>
          <p:cNvSpPr/>
          <p:nvPr/>
        </p:nvSpPr>
        <p:spPr>
          <a:xfrm>
            <a:off x="4762195" y="2012594"/>
            <a:ext cx="508406" cy="780898"/>
          </a:xfrm>
          <a:prstGeom prst="roundRect">
            <a:avLst>
              <a:gd name="adj" fmla="val 7554"/>
            </a:avLst>
          </a:prstGeom>
          <a:solidFill>
            <a:srgbClr val="E6D34F"/>
          </a:solidFill>
          <a:ln/>
        </p:spPr>
        <p:txBody>
          <a:bodyPr/>
          <a:lstStyle/>
          <a:p>
            <a:endParaRPr lang="de-DE"/>
          </a:p>
        </p:txBody>
      </p:sp>
      <p:sp>
        <p:nvSpPr>
          <p:cNvPr id="11" name="Text 8"/>
          <p:cNvSpPr/>
          <p:nvPr/>
        </p:nvSpPr>
        <p:spPr>
          <a:xfrm>
            <a:off x="4507992" y="2889504"/>
            <a:ext cx="1015898" cy="190195"/>
          </a:xfrm>
          <a:prstGeom prst="rect">
            <a:avLst/>
          </a:prstGeom>
          <a:noFill/>
          <a:ln/>
        </p:spPr>
        <p:txBody>
          <a:bodyPr wrap="square" rtlCol="0" anchor="t"/>
          <a:lstStyle/>
          <a:p>
            <a:pPr marL="0" indent="0" algn="ctr">
              <a:lnSpc>
                <a:spcPct val="105000"/>
              </a:lnSpc>
              <a:buNone/>
            </a:pPr>
            <a:r>
              <a:rPr lang="en-US" sz="900" dirty="0">
                <a:solidFill>
                  <a:srgbClr val="798D6F"/>
                </a:solidFill>
                <a:latin typeface="Courier New" pitchFamily="34" charset="0"/>
                <a:ea typeface="Courier New" pitchFamily="34" charset="-122"/>
                <a:cs typeface="Courier New" pitchFamily="34" charset="-120"/>
              </a:rPr>
              <a:t>2009</a:t>
            </a:r>
            <a:endParaRPr lang="en-US" sz="900" dirty="0"/>
          </a:p>
        </p:txBody>
      </p:sp>
      <p:sp>
        <p:nvSpPr>
          <p:cNvPr id="12" name="Shape 9"/>
          <p:cNvSpPr/>
          <p:nvPr/>
        </p:nvSpPr>
        <p:spPr>
          <a:xfrm>
            <a:off x="7619695" y="1841602"/>
            <a:ext cx="508406" cy="952805"/>
          </a:xfrm>
          <a:prstGeom prst="roundRect">
            <a:avLst>
              <a:gd name="adj" fmla="val 7554"/>
            </a:avLst>
          </a:prstGeom>
          <a:solidFill>
            <a:srgbClr val="F36451"/>
          </a:solidFill>
          <a:ln/>
        </p:spPr>
        <p:txBody>
          <a:bodyPr/>
          <a:lstStyle/>
          <a:p>
            <a:endParaRPr lang="de-DE"/>
          </a:p>
        </p:txBody>
      </p:sp>
      <p:sp>
        <p:nvSpPr>
          <p:cNvPr id="13" name="Text 10"/>
          <p:cNvSpPr/>
          <p:nvPr/>
        </p:nvSpPr>
        <p:spPr>
          <a:xfrm>
            <a:off x="7365492" y="2889504"/>
            <a:ext cx="1015898" cy="190195"/>
          </a:xfrm>
          <a:prstGeom prst="rect">
            <a:avLst/>
          </a:prstGeom>
          <a:noFill/>
          <a:ln/>
        </p:spPr>
        <p:txBody>
          <a:bodyPr wrap="square" rtlCol="0" anchor="t"/>
          <a:lstStyle/>
          <a:p>
            <a:pPr marL="0" indent="0" algn="ctr">
              <a:lnSpc>
                <a:spcPct val="105000"/>
              </a:lnSpc>
              <a:buNone/>
            </a:pPr>
            <a:r>
              <a:rPr lang="en-US" sz="900" dirty="0">
                <a:solidFill>
                  <a:srgbClr val="798D6F"/>
                </a:solidFill>
                <a:latin typeface="Courier New" pitchFamily="34" charset="0"/>
                <a:ea typeface="Courier New" pitchFamily="34" charset="-122"/>
                <a:cs typeface="Courier New" pitchFamily="34" charset="-120"/>
              </a:rPr>
              <a:t>2020</a:t>
            </a:r>
            <a:endParaRPr lang="en-US" sz="900" dirty="0"/>
          </a:p>
        </p:txBody>
      </p:sp>
      <p:sp>
        <p:nvSpPr>
          <p:cNvPr id="14" name="Shape 11"/>
          <p:cNvSpPr/>
          <p:nvPr/>
        </p:nvSpPr>
        <p:spPr>
          <a:xfrm>
            <a:off x="1143000" y="2806294"/>
            <a:ext cx="9905695" cy="19202"/>
          </a:xfrm>
          <a:prstGeom prst="rect">
            <a:avLst/>
          </a:prstGeom>
          <a:solidFill>
            <a:srgbClr val="2B513D"/>
          </a:solidFill>
          <a:ln/>
        </p:spPr>
        <p:txBody>
          <a:bodyPr/>
          <a:lstStyle/>
          <a:p>
            <a:endParaRPr lang="de-DE"/>
          </a:p>
        </p:txBody>
      </p:sp>
      <p:sp>
        <p:nvSpPr>
          <p:cNvPr id="15" name="Shape 12"/>
          <p:cNvSpPr/>
          <p:nvPr/>
        </p:nvSpPr>
        <p:spPr>
          <a:xfrm>
            <a:off x="634594" y="3429000"/>
            <a:ext cx="3429000" cy="1904695"/>
          </a:xfrm>
          <a:prstGeom prst="roundRect">
            <a:avLst>
              <a:gd name="adj" fmla="val 5329"/>
            </a:avLst>
          </a:prstGeom>
          <a:solidFill>
            <a:srgbClr val="1E402E"/>
          </a:solidFill>
          <a:ln w="12700">
            <a:solidFill>
              <a:srgbClr val="4A6D56"/>
            </a:solidFill>
            <a:prstDash val="solid"/>
          </a:ln>
        </p:spPr>
        <p:txBody>
          <a:bodyPr/>
          <a:lstStyle/>
          <a:p>
            <a:endParaRPr lang="de-DE"/>
          </a:p>
        </p:txBody>
      </p:sp>
      <p:sp>
        <p:nvSpPr>
          <p:cNvPr id="16" name="Shape 13"/>
          <p:cNvSpPr/>
          <p:nvPr/>
        </p:nvSpPr>
        <p:spPr>
          <a:xfrm>
            <a:off x="634594" y="3429000"/>
            <a:ext cx="3429000" cy="32004"/>
          </a:xfrm>
          <a:prstGeom prst="rect">
            <a:avLst/>
          </a:prstGeom>
          <a:solidFill>
            <a:srgbClr val="798D6F"/>
          </a:solidFill>
          <a:ln/>
        </p:spPr>
        <p:txBody>
          <a:bodyPr/>
          <a:lstStyle/>
          <a:p>
            <a:endParaRPr lang="de-DE"/>
          </a:p>
        </p:txBody>
      </p:sp>
      <p:sp>
        <p:nvSpPr>
          <p:cNvPr id="17" name="Text 14"/>
          <p:cNvSpPr/>
          <p:nvPr/>
        </p:nvSpPr>
        <p:spPr>
          <a:xfrm>
            <a:off x="825703" y="3619195"/>
            <a:ext cx="3047695" cy="254203"/>
          </a:xfrm>
          <a:prstGeom prst="rect">
            <a:avLst/>
          </a:prstGeom>
          <a:noFill/>
          <a:ln/>
        </p:spPr>
        <p:txBody>
          <a:bodyPr wrap="square" rtlCol="0" anchor="t"/>
          <a:lstStyle/>
          <a:p>
            <a:pPr marL="0" indent="0" algn="l">
              <a:lnSpc>
                <a:spcPct val="105000"/>
              </a:lnSpc>
              <a:buNone/>
            </a:pPr>
            <a:r>
              <a:rPr lang="en-US" sz="1200" b="1" dirty="0">
                <a:solidFill>
                  <a:srgbClr val="798D6F"/>
                </a:solidFill>
                <a:latin typeface="Courier New" pitchFamily="34" charset="0"/>
                <a:ea typeface="Courier New" pitchFamily="34" charset="-122"/>
                <a:cs typeface="Courier New" pitchFamily="34" charset="-120"/>
              </a:rPr>
              <a:t>2001  </a:t>
            </a:r>
            <a:r>
              <a:rPr lang="en-US" sz="1200" b="1" dirty="0">
                <a:solidFill>
                  <a:srgbClr val="F2EFDA"/>
                </a:solidFill>
                <a:latin typeface="Arial" pitchFamily="34" charset="0"/>
                <a:ea typeface="Arial" pitchFamily="34" charset="-122"/>
                <a:cs typeface="Arial" pitchFamily="34" charset="-120"/>
              </a:rPr>
              <a:t>Dot-Com</a:t>
            </a:r>
            <a:endParaRPr lang="en-US" sz="1200" dirty="0"/>
          </a:p>
        </p:txBody>
      </p:sp>
      <p:sp>
        <p:nvSpPr>
          <p:cNvPr id="18" name="Text 15"/>
          <p:cNvSpPr/>
          <p:nvPr/>
        </p:nvSpPr>
        <p:spPr>
          <a:xfrm>
            <a:off x="825703" y="3962095"/>
            <a:ext cx="3047695" cy="1143000"/>
          </a:xfrm>
          <a:prstGeom prst="rect">
            <a:avLst/>
          </a:prstGeom>
          <a:noFill/>
          <a:ln/>
        </p:spPr>
        <p:txBody>
          <a:bodyPr wrap="square" rtlCol="0" anchor="t"/>
          <a:lstStyle/>
          <a:p>
            <a:pPr marL="0" indent="0" algn="l">
              <a:lnSpc>
                <a:spcPct val="130000"/>
              </a:lnSpc>
              <a:buNone/>
            </a:pPr>
            <a:r>
              <a:rPr lang="en-US" sz="1100" dirty="0">
                <a:solidFill>
                  <a:srgbClr val="B3BC9A"/>
                </a:solidFill>
                <a:latin typeface="Arial" pitchFamily="34" charset="0"/>
                <a:ea typeface="Arial" pitchFamily="34" charset="-122"/>
                <a:cs typeface="Arial" pitchFamily="34" charset="-120"/>
              </a:rPr>
              <a:t>Keine Quadranten-Trennung — sektorspezifische Tech-Krise.</a:t>
            </a:r>
            <a:endParaRPr lang="en-US" sz="1100" dirty="0"/>
          </a:p>
        </p:txBody>
      </p:sp>
      <p:sp>
        <p:nvSpPr>
          <p:cNvPr id="19" name="Shape 16"/>
          <p:cNvSpPr/>
          <p:nvPr/>
        </p:nvSpPr>
        <p:spPr>
          <a:xfrm>
            <a:off x="4279392" y="3429000"/>
            <a:ext cx="3429000" cy="1904695"/>
          </a:xfrm>
          <a:prstGeom prst="roundRect">
            <a:avLst>
              <a:gd name="adj" fmla="val 5329"/>
            </a:avLst>
          </a:prstGeom>
          <a:solidFill>
            <a:srgbClr val="1E402E"/>
          </a:solidFill>
          <a:ln w="12700">
            <a:solidFill>
              <a:srgbClr val="4A6D56"/>
            </a:solidFill>
            <a:prstDash val="solid"/>
          </a:ln>
        </p:spPr>
        <p:txBody>
          <a:bodyPr/>
          <a:lstStyle/>
          <a:p>
            <a:endParaRPr lang="de-DE"/>
          </a:p>
        </p:txBody>
      </p:sp>
      <p:sp>
        <p:nvSpPr>
          <p:cNvPr id="20" name="Shape 17"/>
          <p:cNvSpPr/>
          <p:nvPr/>
        </p:nvSpPr>
        <p:spPr>
          <a:xfrm>
            <a:off x="4279392" y="3429000"/>
            <a:ext cx="3429000" cy="32004"/>
          </a:xfrm>
          <a:prstGeom prst="rect">
            <a:avLst/>
          </a:prstGeom>
          <a:solidFill>
            <a:srgbClr val="E6D34F"/>
          </a:solidFill>
          <a:ln/>
        </p:spPr>
        <p:txBody>
          <a:bodyPr/>
          <a:lstStyle/>
          <a:p>
            <a:endParaRPr lang="de-DE"/>
          </a:p>
        </p:txBody>
      </p:sp>
      <p:sp>
        <p:nvSpPr>
          <p:cNvPr id="21" name="Text 18"/>
          <p:cNvSpPr/>
          <p:nvPr/>
        </p:nvSpPr>
        <p:spPr>
          <a:xfrm>
            <a:off x="4470502" y="3619195"/>
            <a:ext cx="3047695" cy="254203"/>
          </a:xfrm>
          <a:prstGeom prst="rect">
            <a:avLst/>
          </a:prstGeom>
          <a:noFill/>
          <a:ln/>
        </p:spPr>
        <p:txBody>
          <a:bodyPr wrap="square" rtlCol="0" anchor="t"/>
          <a:lstStyle/>
          <a:p>
            <a:pPr marL="0" indent="0" algn="l">
              <a:lnSpc>
                <a:spcPct val="105000"/>
              </a:lnSpc>
              <a:buNone/>
            </a:pPr>
            <a:r>
              <a:rPr lang="en-US" sz="1200" b="1" dirty="0">
                <a:solidFill>
                  <a:srgbClr val="E6D34F"/>
                </a:solidFill>
                <a:latin typeface="Courier New" pitchFamily="34" charset="0"/>
                <a:ea typeface="Courier New" pitchFamily="34" charset="-122"/>
                <a:cs typeface="Courier New" pitchFamily="34" charset="-120"/>
              </a:rPr>
              <a:t>2009  </a:t>
            </a:r>
            <a:r>
              <a:rPr lang="en-US" sz="1200" b="1" dirty="0">
                <a:solidFill>
                  <a:srgbClr val="F2EFDA"/>
                </a:solidFill>
                <a:latin typeface="Arial" pitchFamily="34" charset="0"/>
                <a:ea typeface="Arial" pitchFamily="34" charset="-122"/>
                <a:cs typeface="Arial" pitchFamily="34" charset="-120"/>
              </a:rPr>
              <a:t>Globale Finanzkrise</a:t>
            </a:r>
            <a:endParaRPr lang="en-US" sz="1200" dirty="0"/>
          </a:p>
        </p:txBody>
      </p:sp>
      <p:sp>
        <p:nvSpPr>
          <p:cNvPr id="22" name="Text 19"/>
          <p:cNvSpPr/>
          <p:nvPr/>
        </p:nvSpPr>
        <p:spPr>
          <a:xfrm>
            <a:off x="4470502" y="3962095"/>
            <a:ext cx="3047695" cy="1143000"/>
          </a:xfrm>
          <a:prstGeom prst="rect">
            <a:avLst/>
          </a:prstGeom>
          <a:noFill/>
          <a:ln/>
        </p:spPr>
        <p:txBody>
          <a:bodyPr wrap="square" rtlCol="0" anchor="t"/>
          <a:lstStyle/>
          <a:p>
            <a:pPr marL="0" indent="0" algn="l">
              <a:lnSpc>
                <a:spcPct val="130000"/>
              </a:lnSpc>
              <a:buNone/>
            </a:pPr>
            <a:r>
              <a:rPr lang="en-US" sz="1100" dirty="0">
                <a:solidFill>
                  <a:srgbClr val="B3BC9A"/>
                </a:solidFill>
                <a:latin typeface="Arial" pitchFamily="34" charset="0"/>
                <a:ea typeface="Arial" pitchFamily="34" charset="-122"/>
                <a:cs typeface="Arial" pitchFamily="34" charset="-120"/>
              </a:rPr>
              <a:t>Volatil reagiert signifikant stärker: r_rb = −0,36 (ROA).</a:t>
            </a:r>
            <a:endParaRPr lang="en-US" sz="1100" dirty="0"/>
          </a:p>
        </p:txBody>
      </p:sp>
      <p:sp>
        <p:nvSpPr>
          <p:cNvPr id="23" name="Shape 20"/>
          <p:cNvSpPr/>
          <p:nvPr/>
        </p:nvSpPr>
        <p:spPr>
          <a:xfrm>
            <a:off x="7924190" y="3429000"/>
            <a:ext cx="3429000" cy="1904695"/>
          </a:xfrm>
          <a:prstGeom prst="roundRect">
            <a:avLst>
              <a:gd name="adj" fmla="val 5329"/>
            </a:avLst>
          </a:prstGeom>
          <a:solidFill>
            <a:srgbClr val="1E402E"/>
          </a:solidFill>
          <a:ln w="12700">
            <a:solidFill>
              <a:srgbClr val="4A6D56"/>
            </a:solidFill>
            <a:prstDash val="solid"/>
          </a:ln>
        </p:spPr>
        <p:txBody>
          <a:bodyPr/>
          <a:lstStyle/>
          <a:p>
            <a:endParaRPr lang="de-DE"/>
          </a:p>
        </p:txBody>
      </p:sp>
      <p:sp>
        <p:nvSpPr>
          <p:cNvPr id="24" name="Shape 21"/>
          <p:cNvSpPr/>
          <p:nvPr/>
        </p:nvSpPr>
        <p:spPr>
          <a:xfrm>
            <a:off x="7924190" y="3429000"/>
            <a:ext cx="3429000" cy="32004"/>
          </a:xfrm>
          <a:prstGeom prst="rect">
            <a:avLst/>
          </a:prstGeom>
          <a:solidFill>
            <a:srgbClr val="F36451"/>
          </a:solidFill>
          <a:ln/>
        </p:spPr>
        <p:txBody>
          <a:bodyPr/>
          <a:lstStyle/>
          <a:p>
            <a:endParaRPr lang="de-DE"/>
          </a:p>
        </p:txBody>
      </p:sp>
      <p:sp>
        <p:nvSpPr>
          <p:cNvPr id="25" name="Text 22"/>
          <p:cNvSpPr/>
          <p:nvPr/>
        </p:nvSpPr>
        <p:spPr>
          <a:xfrm>
            <a:off x="8115300" y="3619195"/>
            <a:ext cx="3047695" cy="254203"/>
          </a:xfrm>
          <a:prstGeom prst="rect">
            <a:avLst/>
          </a:prstGeom>
          <a:noFill/>
          <a:ln/>
        </p:spPr>
        <p:txBody>
          <a:bodyPr wrap="square" rtlCol="0" anchor="t"/>
          <a:lstStyle/>
          <a:p>
            <a:pPr marL="0" indent="0" algn="l">
              <a:lnSpc>
                <a:spcPct val="105000"/>
              </a:lnSpc>
              <a:buNone/>
            </a:pPr>
            <a:r>
              <a:rPr lang="en-US" sz="1200" b="1" dirty="0">
                <a:solidFill>
                  <a:srgbClr val="F36451"/>
                </a:solidFill>
                <a:latin typeface="Courier New" pitchFamily="34" charset="0"/>
                <a:ea typeface="Courier New" pitchFamily="34" charset="-122"/>
                <a:cs typeface="Courier New" pitchFamily="34" charset="-120"/>
              </a:rPr>
              <a:t>2020  </a:t>
            </a:r>
            <a:r>
              <a:rPr lang="en-US" sz="1200" b="1" dirty="0">
                <a:solidFill>
                  <a:srgbClr val="F2EFDA"/>
                </a:solidFill>
                <a:latin typeface="Arial" pitchFamily="34" charset="0"/>
                <a:ea typeface="Arial" pitchFamily="34" charset="-122"/>
                <a:cs typeface="Arial" pitchFamily="34" charset="-120"/>
              </a:rPr>
              <a:t>COVID</a:t>
            </a:r>
            <a:endParaRPr lang="en-US" sz="1200" dirty="0"/>
          </a:p>
        </p:txBody>
      </p:sp>
      <p:sp>
        <p:nvSpPr>
          <p:cNvPr id="26" name="Text 23"/>
          <p:cNvSpPr/>
          <p:nvPr/>
        </p:nvSpPr>
        <p:spPr>
          <a:xfrm>
            <a:off x="8115300" y="3962095"/>
            <a:ext cx="3047695" cy="1143000"/>
          </a:xfrm>
          <a:prstGeom prst="rect">
            <a:avLst/>
          </a:prstGeom>
          <a:noFill/>
          <a:ln/>
        </p:spPr>
        <p:txBody>
          <a:bodyPr wrap="square" rtlCol="0" anchor="t"/>
          <a:lstStyle/>
          <a:p>
            <a:pPr marL="0" indent="0" algn="l">
              <a:lnSpc>
                <a:spcPct val="130000"/>
              </a:lnSpc>
              <a:buNone/>
            </a:pPr>
            <a:r>
              <a:rPr lang="en-US" sz="1100" dirty="0">
                <a:solidFill>
                  <a:srgbClr val="B3BC9A"/>
                </a:solidFill>
                <a:latin typeface="Arial" pitchFamily="34" charset="0"/>
                <a:ea typeface="Arial" pitchFamily="34" charset="-122"/>
                <a:cs typeface="Arial" pitchFamily="34" charset="-120"/>
              </a:rPr>
              <a:t>Trennung bestätigt: r_rb = −0,27 (ROA), ε² bis 0,13.</a:t>
            </a:r>
            <a:endParaRPr lang="en-US" sz="1100" dirty="0"/>
          </a:p>
        </p:txBody>
      </p:sp>
      <p:sp>
        <p:nvSpPr>
          <p:cNvPr id="27" name="Text 24"/>
          <p:cNvSpPr/>
          <p:nvPr/>
        </p:nvSpPr>
        <p:spPr>
          <a:xfrm>
            <a:off x="634594" y="5460797"/>
            <a:ext cx="9524390" cy="190195"/>
          </a:xfrm>
          <a:prstGeom prst="rect">
            <a:avLst/>
          </a:prstGeom>
          <a:noFill/>
          <a:ln/>
        </p:spPr>
        <p:txBody>
          <a:bodyPr wrap="square" rtlCol="0" anchor="t"/>
          <a:lstStyle/>
          <a:p>
            <a:pPr marL="0" indent="0" algn="l">
              <a:lnSpc>
                <a:spcPct val="105000"/>
              </a:lnSpc>
              <a:buNone/>
            </a:pPr>
            <a:r>
              <a:rPr lang="en-US" sz="900" dirty="0">
                <a:solidFill>
                  <a:srgbClr val="798D6F"/>
                </a:solidFill>
                <a:latin typeface="Arial" pitchFamily="34" charset="0"/>
                <a:ea typeface="Arial" pitchFamily="34" charset="-122"/>
                <a:cs typeface="Arial" pitchFamily="34" charset="-120"/>
              </a:rPr>
              <a:t>Einschränkung: In-Sample-Konsistenzprüfung, keine Prognose.</a:t>
            </a:r>
            <a:endParaRPr lang="en-US" sz="900" dirty="0"/>
          </a:p>
        </p:txBody>
      </p:sp>
      <p:sp>
        <p:nvSpPr>
          <p:cNvPr id="3" name="Text 1">
            <a:extLst>
              <a:ext uri="{FF2B5EF4-FFF2-40B4-BE49-F238E27FC236}">
                <a16:creationId xmlns:a16="http://schemas.microsoft.com/office/drawing/2014/main" id="{43BD6DF8-45E4-E3E0-8EEE-F45575286118}"/>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dirty="0">
                <a:solidFill>
                  <a:srgbClr val="E6D34F"/>
                </a:solidFill>
                <a:latin typeface="Courier New" pitchFamily="34" charset="0"/>
                <a:cs typeface="Courier New" pitchFamily="34" charset="-120"/>
              </a:rPr>
              <a:t>FORSCHUNGSFRAGE 2</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dirty="0">
                <a:solidFill>
                  <a:srgbClr val="798D6F"/>
                </a:solidFill>
                <a:latin typeface="Courier New" pitchFamily="34" charset="0"/>
                <a:ea typeface="Courier New" pitchFamily="34" charset="-122"/>
                <a:cs typeface="Courier New" pitchFamily="34" charset="-120"/>
              </a:rPr>
              <a:t>10 / 13</a:t>
            </a:r>
            <a:endParaRPr lang="en-US" sz="1200" dirty="0"/>
          </a:p>
        </p:txBody>
      </p:sp>
      <p:sp>
        <p:nvSpPr>
          <p:cNvPr id="6" name="Text 3"/>
          <p:cNvSpPr/>
          <p:nvPr/>
        </p:nvSpPr>
        <p:spPr>
          <a:xfrm>
            <a:off x="634594" y="761695"/>
            <a:ext cx="10921594" cy="476402"/>
          </a:xfrm>
          <a:prstGeom prst="rect">
            <a:avLst/>
          </a:prstGeom>
          <a:noFill/>
          <a:ln/>
        </p:spPr>
        <p:txBody>
          <a:bodyPr wrap="square" rtlCol="0" anchor="t"/>
          <a:lstStyle/>
          <a:p>
            <a:pPr marL="0" indent="0">
              <a:lnSpc>
                <a:spcPct val="100000"/>
              </a:lnSpc>
              <a:buNone/>
            </a:pPr>
            <a:r>
              <a:rPr lang="en-US" sz="2500" b="1" kern="0" spc="-50" dirty="0">
                <a:solidFill>
                  <a:srgbClr val="F2EFDA"/>
                </a:solidFill>
                <a:latin typeface="Arial" pitchFamily="34" charset="0"/>
                <a:ea typeface="Arial" pitchFamily="34" charset="-122"/>
                <a:cs typeface="Arial" pitchFamily="34" charset="-120"/>
              </a:rPr>
              <a:t>Struktur erklärt σ — nicht φ</a:t>
            </a:r>
            <a:endParaRPr lang="en-US" sz="2500" dirty="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000" dirty="0">
                <a:solidFill>
                  <a:srgbClr val="B3BC9A"/>
                </a:solidFill>
                <a:latin typeface="Arial" pitchFamily="34" charset="0"/>
                <a:ea typeface="Arial" pitchFamily="34" charset="-122"/>
                <a:cs typeface="Arial" pitchFamily="34" charset="-120"/>
              </a:rPr>
              <a:t>Fünf Strukturvariablen: Größe · Anlagenintensität · Investitionsintensität · Profitabilitätsniveau · Periodenabgrenzungen.</a:t>
            </a:r>
            <a:endParaRPr lang="en-US" sz="1000" dirty="0"/>
          </a:p>
        </p:txBody>
      </p:sp>
      <p:sp>
        <p:nvSpPr>
          <p:cNvPr id="8" name="Text 5"/>
          <p:cNvSpPr/>
          <p:nvPr/>
        </p:nvSpPr>
        <p:spPr>
          <a:xfrm>
            <a:off x="634594" y="1904695"/>
            <a:ext cx="4444898" cy="254203"/>
          </a:xfrm>
          <a:prstGeom prst="rect">
            <a:avLst/>
          </a:prstGeom>
          <a:noFill/>
          <a:ln/>
        </p:spPr>
        <p:txBody>
          <a:bodyPr wrap="square" rtlCol="0" anchor="t"/>
          <a:lstStyle/>
          <a:p>
            <a:pPr marL="0" indent="0" algn="l">
              <a:lnSpc>
                <a:spcPct val="105000"/>
              </a:lnSpc>
              <a:buNone/>
            </a:pPr>
            <a:r>
              <a:rPr lang="en-US" sz="1200" b="1" dirty="0">
                <a:solidFill>
                  <a:srgbClr val="79A2F9"/>
                </a:solidFill>
                <a:latin typeface="Courier New" pitchFamily="34" charset="0"/>
                <a:ea typeface="Courier New" pitchFamily="34" charset="-122"/>
                <a:cs typeface="Courier New" pitchFamily="34" charset="-120"/>
              </a:rPr>
              <a:t>σ  </a:t>
            </a:r>
            <a:r>
              <a:rPr lang="en-US" sz="1200" b="1" dirty="0">
                <a:solidFill>
                  <a:srgbClr val="F2EFDA"/>
                </a:solidFill>
                <a:latin typeface="Arial" pitchFamily="34" charset="0"/>
                <a:ea typeface="Arial" pitchFamily="34" charset="-122"/>
                <a:cs typeface="Arial" pitchFamily="34" charset="-120"/>
              </a:rPr>
              <a:t>Volatilität — erklärt</a:t>
            </a:r>
            <a:endParaRPr lang="en-US" sz="1200" dirty="0"/>
          </a:p>
        </p:txBody>
      </p:sp>
      <p:sp>
        <p:nvSpPr>
          <p:cNvPr id="9" name="Text 6"/>
          <p:cNvSpPr/>
          <p:nvPr/>
        </p:nvSpPr>
        <p:spPr>
          <a:xfrm>
            <a:off x="4826203" y="1873606"/>
            <a:ext cx="2286000" cy="317297"/>
          </a:xfrm>
          <a:prstGeom prst="rect">
            <a:avLst/>
          </a:prstGeom>
          <a:noFill/>
          <a:ln/>
        </p:spPr>
        <p:txBody>
          <a:bodyPr wrap="square" rtlCol="0" anchor="t"/>
          <a:lstStyle/>
          <a:p>
            <a:pPr marL="0" indent="0" algn="r">
              <a:lnSpc>
                <a:spcPct val="105000"/>
              </a:lnSpc>
              <a:buNone/>
            </a:pPr>
            <a:r>
              <a:rPr lang="en-US" sz="2400" b="1" dirty="0">
                <a:solidFill>
                  <a:srgbClr val="79A2F9"/>
                </a:solidFill>
                <a:latin typeface="Courier New" pitchFamily="34" charset="0"/>
                <a:ea typeface="Courier New" pitchFamily="34" charset="-122"/>
                <a:cs typeface="Courier New" pitchFamily="34" charset="-120"/>
              </a:rPr>
              <a:t>≈ 30 %</a:t>
            </a:r>
            <a:endParaRPr lang="en-US" sz="2400" dirty="0"/>
          </a:p>
        </p:txBody>
      </p:sp>
      <p:sp>
        <p:nvSpPr>
          <p:cNvPr id="10" name="Shape 7"/>
          <p:cNvSpPr/>
          <p:nvPr/>
        </p:nvSpPr>
        <p:spPr>
          <a:xfrm>
            <a:off x="634594" y="2286000"/>
            <a:ext cx="6476695" cy="241402"/>
          </a:xfrm>
          <a:prstGeom prst="roundRect">
            <a:avLst>
              <a:gd name="adj" fmla="val 21212"/>
            </a:avLst>
          </a:prstGeom>
          <a:solidFill>
            <a:srgbClr val="072013"/>
          </a:solidFill>
          <a:ln/>
        </p:spPr>
        <p:txBody>
          <a:bodyPr/>
          <a:lstStyle/>
          <a:p>
            <a:endParaRPr lang="de-DE"/>
          </a:p>
        </p:txBody>
      </p:sp>
      <p:sp>
        <p:nvSpPr>
          <p:cNvPr id="11" name="Shape 8"/>
          <p:cNvSpPr/>
          <p:nvPr/>
        </p:nvSpPr>
        <p:spPr>
          <a:xfrm>
            <a:off x="634594" y="2286000"/>
            <a:ext cx="1943100" cy="241402"/>
          </a:xfrm>
          <a:prstGeom prst="roundRect">
            <a:avLst>
              <a:gd name="adj" fmla="val 21212"/>
            </a:avLst>
          </a:prstGeom>
          <a:solidFill>
            <a:srgbClr val="79A2F9"/>
          </a:solidFill>
          <a:ln/>
        </p:spPr>
        <p:txBody>
          <a:bodyPr/>
          <a:lstStyle/>
          <a:p>
            <a:endParaRPr lang="de-DE"/>
          </a:p>
        </p:txBody>
      </p:sp>
      <p:sp>
        <p:nvSpPr>
          <p:cNvPr id="12" name="Text 9"/>
          <p:cNvSpPr/>
          <p:nvPr/>
        </p:nvSpPr>
        <p:spPr>
          <a:xfrm>
            <a:off x="634594" y="2590495"/>
            <a:ext cx="4444898" cy="190195"/>
          </a:xfrm>
          <a:prstGeom prst="rect">
            <a:avLst/>
          </a:prstGeom>
          <a:noFill/>
          <a:ln/>
        </p:spPr>
        <p:txBody>
          <a:bodyPr wrap="square" rtlCol="0" anchor="t"/>
          <a:lstStyle/>
          <a:p>
            <a:pPr marL="0" indent="0" algn="l">
              <a:lnSpc>
                <a:spcPct val="105000"/>
              </a:lnSpc>
              <a:buNone/>
            </a:pPr>
            <a:r>
              <a:rPr lang="en-US" sz="900" dirty="0">
                <a:solidFill>
                  <a:srgbClr val="798D6F"/>
                </a:solidFill>
                <a:latin typeface="Arial" pitchFamily="34" charset="0"/>
                <a:ea typeface="Arial" pitchFamily="34" charset="-122"/>
                <a:cs typeface="Arial" pitchFamily="34" charset="-120"/>
              </a:rPr>
              <a:t>Bei der FCF-Marge bis 49 %.</a:t>
            </a:r>
            <a:endParaRPr lang="en-US" sz="900" dirty="0"/>
          </a:p>
        </p:txBody>
      </p:sp>
      <p:sp>
        <p:nvSpPr>
          <p:cNvPr id="13" name="Text 10"/>
          <p:cNvSpPr/>
          <p:nvPr/>
        </p:nvSpPr>
        <p:spPr>
          <a:xfrm>
            <a:off x="634594" y="3174797"/>
            <a:ext cx="5715000" cy="254203"/>
          </a:xfrm>
          <a:prstGeom prst="rect">
            <a:avLst/>
          </a:prstGeom>
          <a:noFill/>
          <a:ln/>
        </p:spPr>
        <p:txBody>
          <a:bodyPr wrap="square" rtlCol="0" anchor="t"/>
          <a:lstStyle/>
          <a:p>
            <a:pPr marL="0" indent="0" algn="l">
              <a:lnSpc>
                <a:spcPct val="105000"/>
              </a:lnSpc>
              <a:buNone/>
            </a:pPr>
            <a:r>
              <a:rPr lang="en-US" sz="1200" b="1" dirty="0">
                <a:solidFill>
                  <a:srgbClr val="B3BC9A"/>
                </a:solidFill>
                <a:latin typeface="Courier New" pitchFamily="34" charset="0"/>
                <a:ea typeface="Courier New" pitchFamily="34" charset="-122"/>
                <a:cs typeface="Courier New" pitchFamily="34" charset="-120"/>
              </a:rPr>
              <a:t>φ  </a:t>
            </a:r>
            <a:r>
              <a:rPr lang="en-US" sz="1200" b="1" dirty="0">
                <a:solidFill>
                  <a:srgbClr val="B3BC9A"/>
                </a:solidFill>
                <a:latin typeface="Arial" pitchFamily="34" charset="0"/>
                <a:ea typeface="Arial" pitchFamily="34" charset="-122"/>
                <a:cs typeface="Arial" pitchFamily="34" charset="-120"/>
              </a:rPr>
              <a:t>Korrekturgeschwindigkeit — erklärt</a:t>
            </a:r>
            <a:endParaRPr lang="en-US" sz="1200" dirty="0"/>
          </a:p>
        </p:txBody>
      </p:sp>
      <p:sp>
        <p:nvSpPr>
          <p:cNvPr id="14" name="Text 11"/>
          <p:cNvSpPr/>
          <p:nvPr/>
        </p:nvSpPr>
        <p:spPr>
          <a:xfrm>
            <a:off x="4826203" y="3142793"/>
            <a:ext cx="2286000" cy="317297"/>
          </a:xfrm>
          <a:prstGeom prst="rect">
            <a:avLst/>
          </a:prstGeom>
          <a:noFill/>
          <a:ln/>
        </p:spPr>
        <p:txBody>
          <a:bodyPr wrap="square" rtlCol="0" anchor="t"/>
          <a:lstStyle/>
          <a:p>
            <a:pPr marL="0" indent="0" algn="r">
              <a:lnSpc>
                <a:spcPct val="105000"/>
              </a:lnSpc>
              <a:buNone/>
            </a:pPr>
            <a:r>
              <a:rPr lang="en-US" sz="2400" b="1" dirty="0">
                <a:solidFill>
                  <a:srgbClr val="B3BC9A"/>
                </a:solidFill>
                <a:latin typeface="Courier New" pitchFamily="34" charset="0"/>
                <a:ea typeface="Courier New" pitchFamily="34" charset="-122"/>
                <a:cs typeface="Courier New" pitchFamily="34" charset="-120"/>
              </a:rPr>
              <a:t>≈ 5 %</a:t>
            </a:r>
            <a:endParaRPr lang="en-US" sz="2400" dirty="0"/>
          </a:p>
        </p:txBody>
      </p:sp>
      <p:sp>
        <p:nvSpPr>
          <p:cNvPr id="15" name="Shape 12"/>
          <p:cNvSpPr/>
          <p:nvPr/>
        </p:nvSpPr>
        <p:spPr>
          <a:xfrm>
            <a:off x="634594" y="3556102"/>
            <a:ext cx="6476695" cy="241402"/>
          </a:xfrm>
          <a:prstGeom prst="roundRect">
            <a:avLst>
              <a:gd name="adj" fmla="val 21212"/>
            </a:avLst>
          </a:prstGeom>
          <a:solidFill>
            <a:srgbClr val="072013"/>
          </a:solidFill>
          <a:ln/>
        </p:spPr>
        <p:txBody>
          <a:bodyPr/>
          <a:lstStyle/>
          <a:p>
            <a:endParaRPr lang="de-DE"/>
          </a:p>
        </p:txBody>
      </p:sp>
      <p:sp>
        <p:nvSpPr>
          <p:cNvPr id="16" name="Shape 13"/>
          <p:cNvSpPr/>
          <p:nvPr/>
        </p:nvSpPr>
        <p:spPr>
          <a:xfrm>
            <a:off x="634594" y="3556102"/>
            <a:ext cx="323698" cy="241402"/>
          </a:xfrm>
          <a:prstGeom prst="roundRect">
            <a:avLst>
              <a:gd name="adj" fmla="val 21212"/>
            </a:avLst>
          </a:prstGeom>
          <a:solidFill>
            <a:srgbClr val="B3BC9A"/>
          </a:solidFill>
          <a:ln/>
        </p:spPr>
        <p:txBody>
          <a:bodyPr/>
          <a:lstStyle/>
          <a:p>
            <a:endParaRPr lang="de-DE"/>
          </a:p>
        </p:txBody>
      </p:sp>
      <p:sp>
        <p:nvSpPr>
          <p:cNvPr id="17" name="Text 14"/>
          <p:cNvSpPr/>
          <p:nvPr/>
        </p:nvSpPr>
        <p:spPr>
          <a:xfrm>
            <a:off x="634594" y="3860597"/>
            <a:ext cx="5715000" cy="190195"/>
          </a:xfrm>
          <a:prstGeom prst="rect">
            <a:avLst/>
          </a:prstGeom>
          <a:noFill/>
          <a:ln/>
        </p:spPr>
        <p:txBody>
          <a:bodyPr wrap="square" rtlCol="0" anchor="t"/>
          <a:lstStyle/>
          <a:p>
            <a:pPr marL="0" indent="0" algn="l">
              <a:lnSpc>
                <a:spcPct val="105000"/>
              </a:lnSpc>
              <a:buNone/>
            </a:pPr>
            <a:r>
              <a:rPr lang="en-US" sz="900" dirty="0">
                <a:solidFill>
                  <a:srgbClr val="798D6F"/>
                </a:solidFill>
                <a:latin typeface="Arial" pitchFamily="34" charset="0"/>
                <a:ea typeface="Arial" pitchFamily="34" charset="-122"/>
                <a:cs typeface="Arial" pitchFamily="34" charset="-120"/>
              </a:rPr>
              <a:t>φ bleibt idiosynkratisch — ein eigenständiges Firmenmerkmal.</a:t>
            </a:r>
            <a:endParaRPr lang="en-US" sz="900" dirty="0"/>
          </a:p>
        </p:txBody>
      </p:sp>
      <p:sp>
        <p:nvSpPr>
          <p:cNvPr id="18" name="Shape 15"/>
          <p:cNvSpPr/>
          <p:nvPr/>
        </p:nvSpPr>
        <p:spPr>
          <a:xfrm>
            <a:off x="7619695" y="1904695"/>
            <a:ext cx="3936492" cy="1015898"/>
          </a:xfrm>
          <a:prstGeom prst="roundRect">
            <a:avLst>
              <a:gd name="adj" fmla="val 9991"/>
            </a:avLst>
          </a:prstGeom>
          <a:solidFill>
            <a:srgbClr val="1E402E"/>
          </a:solidFill>
          <a:ln w="12700">
            <a:solidFill>
              <a:srgbClr val="79A2F9"/>
            </a:solidFill>
            <a:prstDash val="solid"/>
          </a:ln>
        </p:spPr>
        <p:txBody>
          <a:bodyPr/>
          <a:lstStyle/>
          <a:p>
            <a:endParaRPr lang="de-DE"/>
          </a:p>
        </p:txBody>
      </p:sp>
      <p:sp>
        <p:nvSpPr>
          <p:cNvPr id="19" name="Text 16"/>
          <p:cNvSpPr/>
          <p:nvPr/>
        </p:nvSpPr>
        <p:spPr>
          <a:xfrm>
            <a:off x="7822692" y="2070202"/>
            <a:ext cx="3556102" cy="254203"/>
          </a:xfrm>
          <a:prstGeom prst="rect">
            <a:avLst/>
          </a:prstGeom>
          <a:noFill/>
          <a:ln/>
        </p:spPr>
        <p:txBody>
          <a:bodyPr wrap="square" rtlCol="0" anchor="t"/>
          <a:lstStyle/>
          <a:p>
            <a:pPr marL="0" indent="0" algn="l">
              <a:lnSpc>
                <a:spcPct val="105000"/>
              </a:lnSpc>
              <a:buNone/>
            </a:pPr>
            <a:r>
              <a:rPr lang="en-US" sz="1400" b="1" dirty="0">
                <a:solidFill>
                  <a:srgbClr val="79A2F9"/>
                </a:solidFill>
                <a:latin typeface="Courier New" pitchFamily="34" charset="0"/>
                <a:ea typeface="Courier New" pitchFamily="34" charset="-122"/>
                <a:cs typeface="Courier New" pitchFamily="34" charset="-120"/>
              </a:rPr>
              <a:t>σ = Exposition</a:t>
            </a:r>
            <a:endParaRPr lang="en-US" sz="1400" dirty="0"/>
          </a:p>
        </p:txBody>
      </p:sp>
      <p:sp>
        <p:nvSpPr>
          <p:cNvPr id="20" name="Text 17"/>
          <p:cNvSpPr/>
          <p:nvPr/>
        </p:nvSpPr>
        <p:spPr>
          <a:xfrm>
            <a:off x="7822692" y="2387498"/>
            <a:ext cx="3530498" cy="444398"/>
          </a:xfrm>
          <a:prstGeom prst="rect">
            <a:avLst/>
          </a:prstGeom>
          <a:noFill/>
          <a:ln/>
        </p:spPr>
        <p:txBody>
          <a:bodyPr wrap="square" rtlCol="0" anchor="t"/>
          <a:lstStyle/>
          <a:p>
            <a:pPr marL="0" indent="0" algn="l">
              <a:lnSpc>
                <a:spcPct val="125000"/>
              </a:lnSpc>
              <a:buNone/>
            </a:pPr>
            <a:r>
              <a:rPr lang="en-US" sz="1100" dirty="0">
                <a:solidFill>
                  <a:srgbClr val="B3BC9A"/>
                </a:solidFill>
                <a:latin typeface="Arial" pitchFamily="34" charset="0"/>
                <a:ea typeface="Arial" pitchFamily="34" charset="-122"/>
                <a:cs typeface="Arial" pitchFamily="34" charset="-120"/>
              </a:rPr>
              <a:t>Was ein Unternehmen ist, bestimmt die Größe der Schocks, die es treffen.</a:t>
            </a:r>
            <a:endParaRPr lang="en-US" sz="1100" dirty="0"/>
          </a:p>
        </p:txBody>
      </p:sp>
      <p:sp>
        <p:nvSpPr>
          <p:cNvPr id="21" name="Shape 18"/>
          <p:cNvSpPr/>
          <p:nvPr/>
        </p:nvSpPr>
        <p:spPr>
          <a:xfrm>
            <a:off x="7619695" y="3111703"/>
            <a:ext cx="3936492" cy="1015898"/>
          </a:xfrm>
          <a:prstGeom prst="roundRect">
            <a:avLst>
              <a:gd name="adj" fmla="val 9991"/>
            </a:avLst>
          </a:prstGeom>
          <a:solidFill>
            <a:srgbClr val="153B29"/>
          </a:solidFill>
          <a:ln w="12700">
            <a:solidFill>
              <a:srgbClr val="2B513D"/>
            </a:solidFill>
            <a:prstDash val="solid"/>
          </a:ln>
        </p:spPr>
        <p:txBody>
          <a:bodyPr/>
          <a:lstStyle/>
          <a:p>
            <a:endParaRPr lang="de-DE"/>
          </a:p>
        </p:txBody>
      </p:sp>
      <p:sp>
        <p:nvSpPr>
          <p:cNvPr id="22" name="Text 19"/>
          <p:cNvSpPr/>
          <p:nvPr/>
        </p:nvSpPr>
        <p:spPr>
          <a:xfrm>
            <a:off x="7822692" y="3276295"/>
            <a:ext cx="3556102" cy="254203"/>
          </a:xfrm>
          <a:prstGeom prst="rect">
            <a:avLst/>
          </a:prstGeom>
          <a:noFill/>
          <a:ln/>
        </p:spPr>
        <p:txBody>
          <a:bodyPr wrap="square" rtlCol="0" anchor="t"/>
          <a:lstStyle/>
          <a:p>
            <a:pPr marL="0" indent="0" algn="l">
              <a:lnSpc>
                <a:spcPct val="105000"/>
              </a:lnSpc>
              <a:buNone/>
            </a:pPr>
            <a:r>
              <a:rPr lang="en-US" sz="1400" b="1" dirty="0">
                <a:solidFill>
                  <a:srgbClr val="E6D34F"/>
                </a:solidFill>
                <a:latin typeface="Courier New" pitchFamily="34" charset="0"/>
                <a:ea typeface="Courier New" pitchFamily="34" charset="-122"/>
                <a:cs typeface="Courier New" pitchFamily="34" charset="-120"/>
              </a:rPr>
              <a:t>φ = Reaktion</a:t>
            </a:r>
            <a:endParaRPr lang="en-US" sz="1400" dirty="0"/>
          </a:p>
        </p:txBody>
      </p:sp>
      <p:sp>
        <p:nvSpPr>
          <p:cNvPr id="23" name="Text 20"/>
          <p:cNvSpPr/>
          <p:nvPr/>
        </p:nvSpPr>
        <p:spPr>
          <a:xfrm>
            <a:off x="7822692" y="3593592"/>
            <a:ext cx="3530498" cy="444398"/>
          </a:xfrm>
          <a:prstGeom prst="rect">
            <a:avLst/>
          </a:prstGeom>
          <a:noFill/>
          <a:ln/>
        </p:spPr>
        <p:txBody>
          <a:bodyPr wrap="square" rtlCol="0" anchor="t"/>
          <a:lstStyle/>
          <a:p>
            <a:pPr marL="0" indent="0" algn="l">
              <a:lnSpc>
                <a:spcPct val="125000"/>
              </a:lnSpc>
              <a:buNone/>
            </a:pPr>
            <a:r>
              <a:rPr lang="en-US" sz="1100" dirty="0">
                <a:solidFill>
                  <a:srgbClr val="B3BC9A"/>
                </a:solidFill>
                <a:latin typeface="Arial" pitchFamily="34" charset="0"/>
                <a:ea typeface="Arial" pitchFamily="34" charset="-122"/>
                <a:cs typeface="Arial" pitchFamily="34" charset="-120"/>
              </a:rPr>
              <a:t>Wie schnell korrigiert wird, ist wettbewerbs- und verhaltensgetrieben.</a:t>
            </a:r>
            <a:endParaRPr lang="en-US" sz="1100" dirty="0"/>
          </a:p>
        </p:txBody>
      </p:sp>
      <p:sp>
        <p:nvSpPr>
          <p:cNvPr id="3" name="Text 1">
            <a:extLst>
              <a:ext uri="{FF2B5EF4-FFF2-40B4-BE49-F238E27FC236}">
                <a16:creationId xmlns:a16="http://schemas.microsoft.com/office/drawing/2014/main" id="{A5DAD10E-645E-4386-264D-4102B2B9E5C4}"/>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dirty="0">
                <a:solidFill>
                  <a:srgbClr val="E6D34F"/>
                </a:solidFill>
                <a:latin typeface="Courier New" pitchFamily="34" charset="0"/>
                <a:cs typeface="Courier New" pitchFamily="34" charset="-120"/>
              </a:rPr>
              <a:t>FORSCHUNGSFRAGE 3</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dirty="0">
                <a:solidFill>
                  <a:srgbClr val="798D6F"/>
                </a:solidFill>
                <a:latin typeface="Courier New" pitchFamily="34" charset="0"/>
                <a:ea typeface="Courier New" pitchFamily="34" charset="-122"/>
                <a:cs typeface="Courier New" pitchFamily="34" charset="-120"/>
              </a:rPr>
              <a:t>11 / 13</a:t>
            </a:r>
            <a:endParaRPr lang="en-US" sz="1200" dirty="0"/>
          </a:p>
        </p:txBody>
      </p:sp>
      <p:sp>
        <p:nvSpPr>
          <p:cNvPr id="6" name="Text 3"/>
          <p:cNvSpPr/>
          <p:nvPr/>
        </p:nvSpPr>
        <p:spPr>
          <a:xfrm>
            <a:off x="634594" y="761695"/>
            <a:ext cx="10921594" cy="437998"/>
          </a:xfrm>
          <a:prstGeom prst="rect">
            <a:avLst/>
          </a:prstGeom>
          <a:noFill/>
          <a:ln/>
        </p:spPr>
        <p:txBody>
          <a:bodyPr wrap="square" rtlCol="0" anchor="t"/>
          <a:lstStyle/>
          <a:p>
            <a:pPr marL="0" indent="0">
              <a:lnSpc>
                <a:spcPct val="100000"/>
              </a:lnSpc>
              <a:buNone/>
            </a:pPr>
            <a:r>
              <a:rPr lang="en-US" sz="2300" b="1" kern="0" spc="-50" dirty="0">
                <a:solidFill>
                  <a:srgbClr val="F2EFDA"/>
                </a:solidFill>
                <a:latin typeface="Arial" pitchFamily="34" charset="0"/>
                <a:ea typeface="Arial" pitchFamily="34" charset="-122"/>
                <a:cs typeface="Arial" pitchFamily="34" charset="-120"/>
              </a:rPr>
              <a:t>Falsifikation &amp; Finanzdienstleister-Kontrast</a:t>
            </a:r>
            <a:endParaRPr lang="en-US" sz="2300" dirty="0"/>
          </a:p>
        </p:txBody>
      </p:sp>
      <p:sp>
        <p:nvSpPr>
          <p:cNvPr id="7" name="Shape 4"/>
          <p:cNvSpPr/>
          <p:nvPr/>
        </p:nvSpPr>
        <p:spPr>
          <a:xfrm>
            <a:off x="634594" y="1651406"/>
            <a:ext cx="5969203" cy="3683203"/>
          </a:xfrm>
          <a:prstGeom prst="roundRect">
            <a:avLst>
              <a:gd name="adj" fmla="val 2756"/>
            </a:avLst>
          </a:prstGeom>
          <a:solidFill>
            <a:srgbClr val="1E402E"/>
          </a:solidFill>
          <a:ln w="12700">
            <a:solidFill>
              <a:srgbClr val="4A6D56"/>
            </a:solidFill>
            <a:prstDash val="solid"/>
          </a:ln>
        </p:spPr>
        <p:txBody>
          <a:bodyPr/>
          <a:lstStyle/>
          <a:p>
            <a:endParaRPr lang="de-DE"/>
          </a:p>
        </p:txBody>
      </p:sp>
      <p:sp>
        <p:nvSpPr>
          <p:cNvPr id="8" name="Text 5"/>
          <p:cNvSpPr/>
          <p:nvPr/>
        </p:nvSpPr>
        <p:spPr>
          <a:xfrm>
            <a:off x="888797" y="1841602"/>
            <a:ext cx="5460797" cy="190195"/>
          </a:xfrm>
          <a:prstGeom prst="rect">
            <a:avLst/>
          </a:prstGeom>
          <a:noFill/>
          <a:ln/>
        </p:spPr>
        <p:txBody>
          <a:bodyPr wrap="square" rtlCol="0" anchor="t"/>
          <a:lstStyle/>
          <a:p>
            <a:pPr marL="0" indent="0" algn="l">
              <a:lnSpc>
                <a:spcPct val="105000"/>
              </a:lnSpc>
              <a:buNone/>
            </a:pPr>
            <a:r>
              <a:rPr lang="en-US" sz="800" kern="0" spc="200" dirty="0">
                <a:solidFill>
                  <a:srgbClr val="E6D34F"/>
                </a:solidFill>
                <a:latin typeface="Courier New" pitchFamily="34" charset="0"/>
                <a:ea typeface="Courier New" pitchFamily="34" charset="-122"/>
                <a:cs typeface="Courier New" pitchFamily="34" charset="-120"/>
              </a:rPr>
              <a:t>CLUSTER-FALSIFIKATION (KAP. 6.2.2)</a:t>
            </a:r>
            <a:endParaRPr lang="en-US" sz="800" dirty="0"/>
          </a:p>
        </p:txBody>
      </p:sp>
      <p:sp>
        <p:nvSpPr>
          <p:cNvPr id="9" name="Text 6"/>
          <p:cNvSpPr/>
          <p:nvPr/>
        </p:nvSpPr>
        <p:spPr>
          <a:xfrm>
            <a:off x="888797" y="2107692"/>
            <a:ext cx="5460797" cy="508406"/>
          </a:xfrm>
          <a:prstGeom prst="rect">
            <a:avLst/>
          </a:prstGeom>
          <a:noFill/>
          <a:ln/>
        </p:spPr>
        <p:txBody>
          <a:bodyPr wrap="square" rtlCol="0" anchor="t"/>
          <a:lstStyle/>
          <a:p>
            <a:pPr marL="0" indent="0" algn="l">
              <a:lnSpc>
                <a:spcPct val="130000"/>
              </a:lnSpc>
              <a:buNone/>
            </a:pPr>
            <a:r>
              <a:rPr lang="en-US" sz="1100" dirty="0">
                <a:solidFill>
                  <a:srgbClr val="B3BC9A"/>
                </a:solidFill>
                <a:latin typeface="Arial" pitchFamily="34" charset="0"/>
                <a:ea typeface="Arial" pitchFamily="34" charset="-122"/>
                <a:cs typeface="Arial" pitchFamily="34" charset="-120"/>
              </a:rPr>
              <a:t>Aus jeder Sektor-Mechanik eine Vorhersage zur Quadrantenverteilung abgeleitet und die Konformität gemessen.</a:t>
            </a:r>
            <a:endParaRPr lang="en-US" sz="1100" dirty="0"/>
          </a:p>
        </p:txBody>
      </p:sp>
      <p:sp>
        <p:nvSpPr>
          <p:cNvPr id="10" name="Shape 7"/>
          <p:cNvSpPr/>
          <p:nvPr/>
        </p:nvSpPr>
        <p:spPr>
          <a:xfrm>
            <a:off x="888797" y="2857500"/>
            <a:ext cx="1244498" cy="609905"/>
          </a:xfrm>
          <a:prstGeom prst="roundRect">
            <a:avLst>
              <a:gd name="adj" fmla="val 12444"/>
            </a:avLst>
          </a:prstGeom>
          <a:solidFill>
            <a:srgbClr val="3EB977">
              <a:alpha val="14000"/>
            </a:srgbClr>
          </a:solidFill>
          <a:ln w="12700">
            <a:solidFill>
              <a:srgbClr val="3EB977"/>
            </a:solidFill>
            <a:prstDash val="solid"/>
          </a:ln>
        </p:spPr>
        <p:txBody>
          <a:bodyPr/>
          <a:lstStyle/>
          <a:p>
            <a:endParaRPr lang="de-DE"/>
          </a:p>
        </p:txBody>
      </p:sp>
      <p:sp>
        <p:nvSpPr>
          <p:cNvPr id="11" name="Text 8"/>
          <p:cNvSpPr/>
          <p:nvPr/>
        </p:nvSpPr>
        <p:spPr>
          <a:xfrm>
            <a:off x="888797" y="2971800"/>
            <a:ext cx="1244498" cy="381305"/>
          </a:xfrm>
          <a:prstGeom prst="rect">
            <a:avLst/>
          </a:prstGeom>
          <a:noFill/>
          <a:ln/>
        </p:spPr>
        <p:txBody>
          <a:bodyPr wrap="square" rtlCol="0" anchor="t"/>
          <a:lstStyle/>
          <a:p>
            <a:pPr marL="0" indent="0" algn="ctr">
              <a:lnSpc>
                <a:spcPct val="105000"/>
              </a:lnSpc>
              <a:buNone/>
            </a:pPr>
            <a:r>
              <a:rPr lang="en-US" sz="1700" b="1" dirty="0">
                <a:solidFill>
                  <a:srgbClr val="3EB977"/>
                </a:solidFill>
                <a:latin typeface="Courier New" pitchFamily="34" charset="0"/>
                <a:ea typeface="Courier New" pitchFamily="34" charset="-122"/>
                <a:cs typeface="Courier New" pitchFamily="34" charset="-120"/>
              </a:rPr>
              <a:t>66 %</a:t>
            </a:r>
            <a:endParaRPr lang="en-US" sz="1700" dirty="0"/>
          </a:p>
        </p:txBody>
      </p:sp>
      <p:sp>
        <p:nvSpPr>
          <p:cNvPr id="12" name="Shape 9"/>
          <p:cNvSpPr/>
          <p:nvPr/>
        </p:nvSpPr>
        <p:spPr>
          <a:xfrm>
            <a:off x="2273198" y="2857500"/>
            <a:ext cx="1244498" cy="609905"/>
          </a:xfrm>
          <a:prstGeom prst="roundRect">
            <a:avLst>
              <a:gd name="adj" fmla="val 12444"/>
            </a:avLst>
          </a:prstGeom>
          <a:solidFill>
            <a:srgbClr val="3EB977">
              <a:alpha val="14000"/>
            </a:srgbClr>
          </a:solidFill>
          <a:ln w="12700">
            <a:solidFill>
              <a:srgbClr val="3EB977"/>
            </a:solidFill>
            <a:prstDash val="solid"/>
          </a:ln>
        </p:spPr>
        <p:txBody>
          <a:bodyPr/>
          <a:lstStyle/>
          <a:p>
            <a:endParaRPr lang="de-DE"/>
          </a:p>
        </p:txBody>
      </p:sp>
      <p:sp>
        <p:nvSpPr>
          <p:cNvPr id="13" name="Text 10"/>
          <p:cNvSpPr/>
          <p:nvPr/>
        </p:nvSpPr>
        <p:spPr>
          <a:xfrm>
            <a:off x="2273198" y="2971800"/>
            <a:ext cx="1244498" cy="381305"/>
          </a:xfrm>
          <a:prstGeom prst="rect">
            <a:avLst/>
          </a:prstGeom>
          <a:noFill/>
          <a:ln/>
        </p:spPr>
        <p:txBody>
          <a:bodyPr wrap="square" rtlCol="0" anchor="t"/>
          <a:lstStyle/>
          <a:p>
            <a:pPr marL="0" indent="0" algn="ctr">
              <a:lnSpc>
                <a:spcPct val="105000"/>
              </a:lnSpc>
              <a:buNone/>
            </a:pPr>
            <a:r>
              <a:rPr lang="en-US" sz="1700" b="1" dirty="0">
                <a:solidFill>
                  <a:srgbClr val="3EB977"/>
                </a:solidFill>
                <a:latin typeface="Courier New" pitchFamily="34" charset="0"/>
                <a:ea typeface="Courier New" pitchFamily="34" charset="-122"/>
                <a:cs typeface="Courier New" pitchFamily="34" charset="-120"/>
              </a:rPr>
              <a:t>65 %</a:t>
            </a:r>
            <a:endParaRPr lang="en-US" sz="1700" dirty="0"/>
          </a:p>
        </p:txBody>
      </p:sp>
      <p:sp>
        <p:nvSpPr>
          <p:cNvPr id="14" name="Shape 11"/>
          <p:cNvSpPr/>
          <p:nvPr/>
        </p:nvSpPr>
        <p:spPr>
          <a:xfrm>
            <a:off x="3657600" y="2857500"/>
            <a:ext cx="1244498" cy="609905"/>
          </a:xfrm>
          <a:prstGeom prst="roundRect">
            <a:avLst>
              <a:gd name="adj" fmla="val 12444"/>
            </a:avLst>
          </a:prstGeom>
          <a:solidFill>
            <a:srgbClr val="3EB977">
              <a:alpha val="14000"/>
            </a:srgbClr>
          </a:solidFill>
          <a:ln w="12700">
            <a:solidFill>
              <a:srgbClr val="3EB977"/>
            </a:solidFill>
            <a:prstDash val="solid"/>
          </a:ln>
        </p:spPr>
        <p:txBody>
          <a:bodyPr/>
          <a:lstStyle/>
          <a:p>
            <a:endParaRPr lang="de-DE"/>
          </a:p>
        </p:txBody>
      </p:sp>
      <p:sp>
        <p:nvSpPr>
          <p:cNvPr id="15" name="Text 12"/>
          <p:cNvSpPr/>
          <p:nvPr/>
        </p:nvSpPr>
        <p:spPr>
          <a:xfrm>
            <a:off x="3657600" y="2971800"/>
            <a:ext cx="1244498" cy="381305"/>
          </a:xfrm>
          <a:prstGeom prst="rect">
            <a:avLst/>
          </a:prstGeom>
          <a:noFill/>
          <a:ln/>
        </p:spPr>
        <p:txBody>
          <a:bodyPr wrap="square" rtlCol="0" anchor="t"/>
          <a:lstStyle/>
          <a:p>
            <a:pPr marL="0" indent="0" algn="ctr">
              <a:lnSpc>
                <a:spcPct val="105000"/>
              </a:lnSpc>
              <a:buNone/>
            </a:pPr>
            <a:r>
              <a:rPr lang="en-US" sz="1700" b="1" dirty="0">
                <a:solidFill>
                  <a:srgbClr val="3EB977"/>
                </a:solidFill>
                <a:latin typeface="Courier New" pitchFamily="34" charset="0"/>
                <a:ea typeface="Courier New" pitchFamily="34" charset="-122"/>
                <a:cs typeface="Courier New" pitchFamily="34" charset="-120"/>
              </a:rPr>
              <a:t>60 %</a:t>
            </a:r>
            <a:endParaRPr lang="en-US" sz="1700" dirty="0"/>
          </a:p>
        </p:txBody>
      </p:sp>
      <p:sp>
        <p:nvSpPr>
          <p:cNvPr id="16" name="Shape 13"/>
          <p:cNvSpPr/>
          <p:nvPr/>
        </p:nvSpPr>
        <p:spPr>
          <a:xfrm>
            <a:off x="5042002" y="2857500"/>
            <a:ext cx="1244498" cy="609905"/>
          </a:xfrm>
          <a:prstGeom prst="roundRect">
            <a:avLst>
              <a:gd name="adj" fmla="val 12444"/>
            </a:avLst>
          </a:prstGeom>
          <a:solidFill>
            <a:srgbClr val="F36451">
              <a:alpha val="14000"/>
            </a:srgbClr>
          </a:solidFill>
          <a:ln w="12700">
            <a:solidFill>
              <a:srgbClr val="F36451"/>
            </a:solidFill>
            <a:prstDash val="solid"/>
          </a:ln>
        </p:spPr>
        <p:txBody>
          <a:bodyPr/>
          <a:lstStyle/>
          <a:p>
            <a:endParaRPr lang="de-DE"/>
          </a:p>
        </p:txBody>
      </p:sp>
      <p:sp>
        <p:nvSpPr>
          <p:cNvPr id="17" name="Text 14"/>
          <p:cNvSpPr/>
          <p:nvPr/>
        </p:nvSpPr>
        <p:spPr>
          <a:xfrm>
            <a:off x="5042002" y="2971800"/>
            <a:ext cx="1244498" cy="381305"/>
          </a:xfrm>
          <a:prstGeom prst="rect">
            <a:avLst/>
          </a:prstGeom>
          <a:noFill/>
          <a:ln/>
        </p:spPr>
        <p:txBody>
          <a:bodyPr wrap="square" rtlCol="0" anchor="t"/>
          <a:lstStyle/>
          <a:p>
            <a:pPr marL="0" indent="0" algn="ctr">
              <a:lnSpc>
                <a:spcPct val="105000"/>
              </a:lnSpc>
              <a:buNone/>
            </a:pPr>
            <a:r>
              <a:rPr lang="en-US" sz="1700" b="1" dirty="0">
                <a:solidFill>
                  <a:srgbClr val="F36451"/>
                </a:solidFill>
                <a:latin typeface="Courier New" pitchFamily="34" charset="0"/>
                <a:ea typeface="Courier New" pitchFamily="34" charset="-122"/>
                <a:cs typeface="Courier New" pitchFamily="34" charset="-120"/>
              </a:rPr>
              <a:t>43 %</a:t>
            </a:r>
            <a:endParaRPr lang="en-US" sz="1700" dirty="0"/>
          </a:p>
        </p:txBody>
      </p:sp>
      <p:sp>
        <p:nvSpPr>
          <p:cNvPr id="18" name="Text 15"/>
          <p:cNvSpPr/>
          <p:nvPr/>
        </p:nvSpPr>
        <p:spPr>
          <a:xfrm>
            <a:off x="888797" y="3810305"/>
            <a:ext cx="5460797" cy="761695"/>
          </a:xfrm>
          <a:prstGeom prst="rect">
            <a:avLst/>
          </a:prstGeom>
          <a:noFill/>
          <a:ln/>
        </p:spPr>
        <p:txBody>
          <a:bodyPr wrap="square" rtlCol="0" anchor="t"/>
          <a:lstStyle/>
          <a:p>
            <a:pPr marL="0" indent="0" algn="l">
              <a:lnSpc>
                <a:spcPct val="130000"/>
              </a:lnSpc>
              <a:buNone/>
            </a:pPr>
            <a:r>
              <a:rPr lang="en-US" sz="1000" dirty="0">
                <a:solidFill>
                  <a:srgbClr val="B3BC9A"/>
                </a:solidFill>
                <a:latin typeface="Arial" pitchFamily="34" charset="0"/>
                <a:ea typeface="Arial" pitchFamily="34" charset="-122"/>
                <a:cs typeface="Arial" pitchFamily="34" charset="-120"/>
              </a:rPr>
              <a:t>3 von 4 Clustern bestätigt. Schwächstes Cluster </a:t>
            </a:r>
            <a:r>
              <a:rPr lang="en-US" sz="1000" b="1" dirty="0">
                <a:solidFill>
                  <a:srgbClr val="F2EFDA"/>
                </a:solidFill>
                <a:latin typeface="Arial" pitchFamily="34" charset="0"/>
                <a:ea typeface="Arial" pitchFamily="34" charset="-122"/>
                <a:cs typeface="Arial" pitchFamily="34" charset="-120"/>
              </a:rPr>
              <a:t>offen benannt</a:t>
            </a:r>
            <a:r>
              <a:rPr lang="en-US" sz="1000" dirty="0">
                <a:solidFill>
                  <a:srgbClr val="B3BC9A"/>
                </a:solidFill>
                <a:latin typeface="Arial" pitchFamily="34" charset="0"/>
                <a:ea typeface="Arial" pitchFamily="34" charset="-122"/>
                <a:cs typeface="Arial" pitchFamily="34" charset="-120"/>
              </a:rPr>
              <a:t>: Kommunikation/Energie mit 43 %.</a:t>
            </a:r>
            <a:endParaRPr lang="en-US" sz="1000" dirty="0"/>
          </a:p>
        </p:txBody>
      </p:sp>
      <p:sp>
        <p:nvSpPr>
          <p:cNvPr id="19" name="Shape 16"/>
          <p:cNvSpPr/>
          <p:nvPr/>
        </p:nvSpPr>
        <p:spPr>
          <a:xfrm>
            <a:off x="6858000" y="1651406"/>
            <a:ext cx="4699102" cy="3683203"/>
          </a:xfrm>
          <a:prstGeom prst="roundRect">
            <a:avLst>
              <a:gd name="adj" fmla="val 2756"/>
            </a:avLst>
          </a:prstGeom>
          <a:solidFill>
            <a:srgbClr val="1E402E"/>
          </a:solidFill>
          <a:ln w="12700">
            <a:solidFill>
              <a:srgbClr val="79A2F9"/>
            </a:solidFill>
            <a:prstDash val="solid"/>
          </a:ln>
        </p:spPr>
        <p:txBody>
          <a:bodyPr/>
          <a:lstStyle/>
          <a:p>
            <a:endParaRPr lang="de-DE"/>
          </a:p>
        </p:txBody>
      </p:sp>
      <p:sp>
        <p:nvSpPr>
          <p:cNvPr id="20" name="Text 17"/>
          <p:cNvSpPr/>
          <p:nvPr/>
        </p:nvSpPr>
        <p:spPr>
          <a:xfrm>
            <a:off x="7112203" y="1841602"/>
            <a:ext cx="4190695" cy="190195"/>
          </a:xfrm>
          <a:prstGeom prst="rect">
            <a:avLst/>
          </a:prstGeom>
          <a:noFill/>
          <a:ln/>
        </p:spPr>
        <p:txBody>
          <a:bodyPr wrap="square" rtlCol="0" anchor="t"/>
          <a:lstStyle/>
          <a:p>
            <a:pPr marL="0" indent="0" algn="l">
              <a:lnSpc>
                <a:spcPct val="105000"/>
              </a:lnSpc>
              <a:buNone/>
            </a:pPr>
            <a:r>
              <a:rPr lang="en-US" sz="800" kern="0" spc="200" dirty="0">
                <a:solidFill>
                  <a:srgbClr val="79A2F9"/>
                </a:solidFill>
                <a:latin typeface="Courier New" pitchFamily="34" charset="0"/>
                <a:ea typeface="Courier New" pitchFamily="34" charset="-122"/>
                <a:cs typeface="Courier New" pitchFamily="34" charset="-120"/>
              </a:rPr>
              <a:t>451 FINANZDIENSTLEISTER IM φ–σ-RAUM</a:t>
            </a:r>
            <a:endParaRPr lang="en-US" sz="800" dirty="0"/>
          </a:p>
        </p:txBody>
      </p:sp>
      <p:sp>
        <p:nvSpPr>
          <p:cNvPr id="21" name="Text 18"/>
          <p:cNvSpPr/>
          <p:nvPr/>
        </p:nvSpPr>
        <p:spPr>
          <a:xfrm>
            <a:off x="7112203" y="2286000"/>
            <a:ext cx="4190695" cy="888797"/>
          </a:xfrm>
          <a:prstGeom prst="rect">
            <a:avLst/>
          </a:prstGeom>
          <a:noFill/>
          <a:ln/>
        </p:spPr>
        <p:txBody>
          <a:bodyPr wrap="square" rtlCol="0" anchor="t"/>
          <a:lstStyle/>
          <a:p>
            <a:pPr marL="0" indent="0" algn="l">
              <a:lnSpc>
                <a:spcPct val="105000"/>
              </a:lnSpc>
              <a:buNone/>
            </a:pPr>
            <a:r>
              <a:rPr lang="en-US" sz="4500" b="1" dirty="0">
                <a:solidFill>
                  <a:srgbClr val="79A2F9"/>
                </a:solidFill>
                <a:latin typeface="Courier New" pitchFamily="34" charset="0"/>
                <a:ea typeface="Courier New" pitchFamily="34" charset="-122"/>
                <a:cs typeface="Courier New" pitchFamily="34" charset="-120"/>
              </a:rPr>
              <a:t>29×</a:t>
            </a:r>
            <a:endParaRPr lang="en-US" sz="4500" dirty="0"/>
          </a:p>
        </p:txBody>
      </p:sp>
      <p:sp>
        <p:nvSpPr>
          <p:cNvPr id="22" name="Text 19"/>
          <p:cNvSpPr/>
          <p:nvPr/>
        </p:nvSpPr>
        <p:spPr>
          <a:xfrm>
            <a:off x="7112203" y="3429000"/>
            <a:ext cx="4190695" cy="761695"/>
          </a:xfrm>
          <a:prstGeom prst="rect">
            <a:avLst/>
          </a:prstGeom>
          <a:noFill/>
          <a:ln/>
        </p:spPr>
        <p:txBody>
          <a:bodyPr wrap="square" rtlCol="0" anchor="t"/>
          <a:lstStyle/>
          <a:p>
            <a:pPr marL="0" indent="0" algn="l">
              <a:lnSpc>
                <a:spcPct val="140000"/>
              </a:lnSpc>
              <a:buNone/>
            </a:pPr>
            <a:r>
              <a:rPr lang="en-US" sz="1200" dirty="0">
                <a:solidFill>
                  <a:srgbClr val="F2EFDA"/>
                </a:solidFill>
                <a:latin typeface="Arial" pitchFamily="34" charset="0"/>
                <a:ea typeface="Arial" pitchFamily="34" charset="-122"/>
                <a:cs typeface="Arial" pitchFamily="34" charset="-120"/>
              </a:rPr>
              <a:t>Current-Ratio-Volatilität der Banken gegenüber der Hauptstichprobe (ROA-Volatilität: ⅕).</a:t>
            </a:r>
            <a:endParaRPr lang="en-US" sz="1200" dirty="0"/>
          </a:p>
        </p:txBody>
      </p:sp>
      <p:sp>
        <p:nvSpPr>
          <p:cNvPr id="23" name="Text 20"/>
          <p:cNvSpPr/>
          <p:nvPr/>
        </p:nvSpPr>
        <p:spPr>
          <a:xfrm>
            <a:off x="7112203" y="4507992"/>
            <a:ext cx="4190695" cy="634594"/>
          </a:xfrm>
          <a:prstGeom prst="rect">
            <a:avLst/>
          </a:prstGeom>
          <a:noFill/>
          <a:ln/>
        </p:spPr>
        <p:txBody>
          <a:bodyPr wrap="square" rtlCol="0" anchor="t"/>
          <a:lstStyle/>
          <a:p>
            <a:pPr marL="0" indent="0" algn="l">
              <a:lnSpc>
                <a:spcPct val="130000"/>
              </a:lnSpc>
              <a:buNone/>
            </a:pPr>
            <a:r>
              <a:rPr lang="en-US" sz="1000" dirty="0">
                <a:solidFill>
                  <a:srgbClr val="B3BC9A"/>
                </a:solidFill>
                <a:latin typeface="Arial" pitchFamily="34" charset="0"/>
                <a:ea typeface="Arial" pitchFamily="34" charset="-122"/>
                <a:cs typeface="Arial" pitchFamily="34" charset="-120"/>
              </a:rPr>
              <a:t>Der Sektorausschluss ist </a:t>
            </a:r>
            <a:r>
              <a:rPr lang="en-US" sz="1000" b="1" dirty="0">
                <a:solidFill>
                  <a:srgbClr val="F2EFDA"/>
                </a:solidFill>
                <a:latin typeface="Arial" pitchFamily="34" charset="0"/>
                <a:ea typeface="Arial" pitchFamily="34" charset="-122"/>
                <a:cs typeface="Arial" pitchFamily="34" charset="-120"/>
              </a:rPr>
              <a:t>empirisch begründet</a:t>
            </a:r>
            <a:r>
              <a:rPr lang="en-US" sz="1000" dirty="0">
                <a:solidFill>
                  <a:srgbClr val="B3BC9A"/>
                </a:solidFill>
                <a:latin typeface="Arial" pitchFamily="34" charset="0"/>
                <a:ea typeface="Arial" pitchFamily="34" charset="-122"/>
                <a:cs typeface="Arial" pitchFamily="34" charset="-120"/>
              </a:rPr>
              <a:t>, nicht nur Konvention.</a:t>
            </a:r>
            <a:endParaRPr lang="en-US" sz="1000" dirty="0"/>
          </a:p>
        </p:txBody>
      </p:sp>
      <p:sp>
        <p:nvSpPr>
          <p:cNvPr id="24" name="Text 1">
            <a:extLst>
              <a:ext uri="{FF2B5EF4-FFF2-40B4-BE49-F238E27FC236}">
                <a16:creationId xmlns:a16="http://schemas.microsoft.com/office/drawing/2014/main" id="{AF64E433-7D5E-0E48-F356-A2155D37151F}"/>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dirty="0">
                <a:solidFill>
                  <a:srgbClr val="E6D34F"/>
                </a:solidFill>
                <a:latin typeface="Courier New" pitchFamily="34" charset="0"/>
                <a:cs typeface="Courier New" pitchFamily="34" charset="-120"/>
              </a:rPr>
              <a:t>VALIDIERUNG</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dirty="0">
                <a:solidFill>
                  <a:srgbClr val="798D6F"/>
                </a:solidFill>
                <a:latin typeface="Courier New" pitchFamily="34" charset="0"/>
                <a:ea typeface="Courier New" pitchFamily="34" charset="-122"/>
                <a:cs typeface="Courier New" pitchFamily="34" charset="-120"/>
              </a:rPr>
              <a:t>12 / 13</a:t>
            </a:r>
            <a:endParaRPr lang="en-US" sz="1200" dirty="0"/>
          </a:p>
        </p:txBody>
      </p:sp>
      <p:sp>
        <p:nvSpPr>
          <p:cNvPr id="6" name="Text 3"/>
          <p:cNvSpPr/>
          <p:nvPr/>
        </p:nvSpPr>
        <p:spPr>
          <a:xfrm>
            <a:off x="634594" y="761695"/>
            <a:ext cx="10921594" cy="437998"/>
          </a:xfrm>
          <a:prstGeom prst="rect">
            <a:avLst/>
          </a:prstGeom>
          <a:noFill/>
          <a:ln/>
        </p:spPr>
        <p:txBody>
          <a:bodyPr wrap="square" rtlCol="0" anchor="t"/>
          <a:lstStyle/>
          <a:p>
            <a:pPr marL="0" indent="0">
              <a:lnSpc>
                <a:spcPct val="100000"/>
              </a:lnSpc>
              <a:buNone/>
            </a:pPr>
            <a:r>
              <a:rPr lang="en-US" sz="2300" b="1" kern="0" spc="-50" dirty="0">
                <a:solidFill>
                  <a:srgbClr val="F2EFDA"/>
                </a:solidFill>
                <a:latin typeface="Arial" pitchFamily="34" charset="0"/>
                <a:ea typeface="Arial" pitchFamily="34" charset="-122"/>
                <a:cs typeface="Arial" pitchFamily="34" charset="-120"/>
              </a:rPr>
              <a:t>Grenzen der Arbeit — und ihr Test</a:t>
            </a:r>
            <a:endParaRPr lang="en-US" sz="2300" dirty="0"/>
          </a:p>
        </p:txBody>
      </p:sp>
      <p:sp>
        <p:nvSpPr>
          <p:cNvPr id="7" name="Shape 4"/>
          <p:cNvSpPr/>
          <p:nvPr/>
        </p:nvSpPr>
        <p:spPr>
          <a:xfrm>
            <a:off x="634594" y="1651406"/>
            <a:ext cx="5333695" cy="1765706"/>
          </a:xfrm>
          <a:prstGeom prst="roundRect">
            <a:avLst>
              <a:gd name="adj" fmla="val 5748"/>
            </a:avLst>
          </a:prstGeom>
          <a:solidFill>
            <a:srgbClr val="1E402E"/>
          </a:solidFill>
          <a:ln w="12700">
            <a:solidFill>
              <a:srgbClr val="4A6D56"/>
            </a:solidFill>
            <a:prstDash val="solid"/>
          </a:ln>
        </p:spPr>
        <p:txBody>
          <a:bodyPr/>
          <a:lstStyle/>
          <a:p>
            <a:endParaRPr lang="de-DE"/>
          </a:p>
        </p:txBody>
      </p:sp>
      <p:sp>
        <p:nvSpPr>
          <p:cNvPr id="8" name="Text 5"/>
          <p:cNvSpPr/>
          <p:nvPr/>
        </p:nvSpPr>
        <p:spPr>
          <a:xfrm>
            <a:off x="863194" y="1828800"/>
            <a:ext cx="4876495" cy="254203"/>
          </a:xfrm>
          <a:prstGeom prst="rect">
            <a:avLst/>
          </a:prstGeom>
          <a:noFill/>
          <a:ln/>
        </p:spPr>
        <p:txBody>
          <a:bodyPr wrap="square" rtlCol="0" anchor="t"/>
          <a:lstStyle/>
          <a:p>
            <a:pPr marL="0" indent="0" algn="l">
              <a:lnSpc>
                <a:spcPct val="105000"/>
              </a:lnSpc>
              <a:buNone/>
            </a:pPr>
            <a:r>
              <a:rPr lang="en-US" sz="1300" b="1" dirty="0">
                <a:solidFill>
                  <a:srgbClr val="E6D34F"/>
                </a:solidFill>
                <a:latin typeface="Courier New" pitchFamily="34" charset="0"/>
                <a:ea typeface="Courier New" pitchFamily="34" charset="-122"/>
                <a:cs typeface="Courier New" pitchFamily="34" charset="-120"/>
              </a:rPr>
              <a:t>01  </a:t>
            </a:r>
            <a:r>
              <a:rPr lang="en-US" sz="1300" b="1" dirty="0">
                <a:solidFill>
                  <a:srgbClr val="F2EFDA"/>
                </a:solidFill>
                <a:latin typeface="Arial" pitchFamily="34" charset="0"/>
                <a:ea typeface="Arial" pitchFamily="34" charset="-122"/>
                <a:cs typeface="Arial" pitchFamily="34" charset="-120"/>
              </a:rPr>
              <a:t>Survivorship Bias</a:t>
            </a:r>
            <a:endParaRPr lang="en-US" sz="1300" dirty="0"/>
          </a:p>
        </p:txBody>
      </p:sp>
      <p:sp>
        <p:nvSpPr>
          <p:cNvPr id="9" name="Text 6"/>
          <p:cNvSpPr/>
          <p:nvPr/>
        </p:nvSpPr>
        <p:spPr>
          <a:xfrm>
            <a:off x="863194" y="2197303"/>
            <a:ext cx="4876495" cy="1079906"/>
          </a:xfrm>
          <a:prstGeom prst="rect">
            <a:avLst/>
          </a:prstGeom>
          <a:noFill/>
          <a:ln/>
        </p:spPr>
        <p:txBody>
          <a:bodyPr wrap="square" rtlCol="0" anchor="t"/>
          <a:lstStyle/>
          <a:p>
            <a:pPr marL="0" indent="0" algn="l">
              <a:lnSpc>
                <a:spcPct val="135000"/>
              </a:lnSpc>
              <a:buNone/>
            </a:pPr>
            <a:r>
              <a:rPr lang="en-US" sz="1000" dirty="0">
                <a:solidFill>
                  <a:srgbClr val="B3BC9A"/>
                </a:solidFill>
                <a:latin typeface="Arial" pitchFamily="34" charset="0"/>
                <a:ea typeface="Arial" pitchFamily="34" charset="-122"/>
                <a:cs typeface="Arial" pitchFamily="34" charset="-120"/>
              </a:rPr>
              <a:t>Vollständigkeitsfilter entfernt 77 % der Unternehmen. Getestet: φ-Mediane stabil bis zur 40-Quartals-Schwelle (2.356 Firmen).</a:t>
            </a:r>
            <a:endParaRPr lang="en-US" sz="1000" dirty="0"/>
          </a:p>
        </p:txBody>
      </p:sp>
      <p:sp>
        <p:nvSpPr>
          <p:cNvPr id="10" name="Shape 7"/>
          <p:cNvSpPr/>
          <p:nvPr/>
        </p:nvSpPr>
        <p:spPr>
          <a:xfrm>
            <a:off x="6222492" y="1651406"/>
            <a:ext cx="5333695" cy="1765706"/>
          </a:xfrm>
          <a:prstGeom prst="roundRect">
            <a:avLst>
              <a:gd name="adj" fmla="val 5748"/>
            </a:avLst>
          </a:prstGeom>
          <a:solidFill>
            <a:srgbClr val="1E402E"/>
          </a:solidFill>
          <a:ln w="12700">
            <a:solidFill>
              <a:srgbClr val="4A6D56"/>
            </a:solidFill>
            <a:prstDash val="solid"/>
          </a:ln>
        </p:spPr>
        <p:txBody>
          <a:bodyPr/>
          <a:lstStyle/>
          <a:p>
            <a:endParaRPr lang="de-DE"/>
          </a:p>
        </p:txBody>
      </p:sp>
      <p:sp>
        <p:nvSpPr>
          <p:cNvPr id="11" name="Text 8"/>
          <p:cNvSpPr/>
          <p:nvPr/>
        </p:nvSpPr>
        <p:spPr>
          <a:xfrm>
            <a:off x="6451092" y="1828800"/>
            <a:ext cx="4876495" cy="254203"/>
          </a:xfrm>
          <a:prstGeom prst="rect">
            <a:avLst/>
          </a:prstGeom>
          <a:noFill/>
          <a:ln/>
        </p:spPr>
        <p:txBody>
          <a:bodyPr wrap="square" rtlCol="0" anchor="t"/>
          <a:lstStyle/>
          <a:p>
            <a:pPr marL="0" indent="0" algn="l">
              <a:lnSpc>
                <a:spcPct val="105000"/>
              </a:lnSpc>
              <a:buNone/>
            </a:pPr>
            <a:r>
              <a:rPr lang="en-US" sz="1300" b="1" dirty="0">
                <a:solidFill>
                  <a:srgbClr val="E6D34F"/>
                </a:solidFill>
                <a:latin typeface="Courier New" pitchFamily="34" charset="0"/>
                <a:ea typeface="Courier New" pitchFamily="34" charset="-122"/>
                <a:cs typeface="Courier New" pitchFamily="34" charset="-120"/>
              </a:rPr>
              <a:t>02  </a:t>
            </a:r>
            <a:r>
              <a:rPr lang="en-US" sz="1300" b="1" dirty="0">
                <a:solidFill>
                  <a:srgbClr val="F2EFDA"/>
                </a:solidFill>
                <a:latin typeface="Arial" pitchFamily="34" charset="0"/>
                <a:ea typeface="Arial" pitchFamily="34" charset="-122"/>
                <a:cs typeface="Arial" pitchFamily="34" charset="-120"/>
              </a:rPr>
              <a:t>Differenzen-Konvention</a:t>
            </a:r>
            <a:endParaRPr lang="en-US" sz="1300" dirty="0"/>
          </a:p>
        </p:txBody>
      </p:sp>
      <p:sp>
        <p:nvSpPr>
          <p:cNvPr id="12" name="Text 9"/>
          <p:cNvSpPr/>
          <p:nvPr/>
        </p:nvSpPr>
        <p:spPr>
          <a:xfrm>
            <a:off x="6451092" y="2197303"/>
            <a:ext cx="4876495" cy="1079906"/>
          </a:xfrm>
          <a:prstGeom prst="rect">
            <a:avLst/>
          </a:prstGeom>
          <a:noFill/>
          <a:ln/>
        </p:spPr>
        <p:txBody>
          <a:bodyPr wrap="square" rtlCol="0" anchor="t"/>
          <a:lstStyle/>
          <a:p>
            <a:pPr marL="0" indent="0" algn="l">
              <a:lnSpc>
                <a:spcPct val="135000"/>
              </a:lnSpc>
              <a:buNone/>
            </a:pPr>
            <a:r>
              <a:rPr lang="en-US" sz="1000" dirty="0">
                <a:solidFill>
                  <a:srgbClr val="B3BC9A"/>
                </a:solidFill>
                <a:latin typeface="Arial" pitchFamily="34" charset="0"/>
                <a:ea typeface="Arial" pitchFamily="34" charset="-122"/>
                <a:cs typeface="Arial" pitchFamily="34" charset="-120"/>
              </a:rPr>
              <a:t>φ misst Veränderungs-Autokorrelation, nicht Niveau-Persistenz. Entscheidend ist die Spreizung zwischen den Kennzahlen — und die ist ökonomisch.</a:t>
            </a:r>
            <a:endParaRPr lang="en-US" sz="1000" dirty="0"/>
          </a:p>
        </p:txBody>
      </p:sp>
      <p:sp>
        <p:nvSpPr>
          <p:cNvPr id="13" name="Shape 10"/>
          <p:cNvSpPr/>
          <p:nvPr/>
        </p:nvSpPr>
        <p:spPr>
          <a:xfrm>
            <a:off x="634594" y="3543300"/>
            <a:ext cx="5333695" cy="1765706"/>
          </a:xfrm>
          <a:prstGeom prst="roundRect">
            <a:avLst>
              <a:gd name="adj" fmla="val 5748"/>
            </a:avLst>
          </a:prstGeom>
          <a:solidFill>
            <a:srgbClr val="1E402E"/>
          </a:solidFill>
          <a:ln w="12700">
            <a:solidFill>
              <a:srgbClr val="4A6D56"/>
            </a:solidFill>
            <a:prstDash val="solid"/>
          </a:ln>
        </p:spPr>
        <p:txBody>
          <a:bodyPr/>
          <a:lstStyle/>
          <a:p>
            <a:endParaRPr lang="de-DE"/>
          </a:p>
        </p:txBody>
      </p:sp>
      <p:sp>
        <p:nvSpPr>
          <p:cNvPr id="14" name="Text 11"/>
          <p:cNvSpPr/>
          <p:nvPr/>
        </p:nvSpPr>
        <p:spPr>
          <a:xfrm>
            <a:off x="863194" y="3720694"/>
            <a:ext cx="4876495" cy="254203"/>
          </a:xfrm>
          <a:prstGeom prst="rect">
            <a:avLst/>
          </a:prstGeom>
          <a:noFill/>
          <a:ln/>
        </p:spPr>
        <p:txBody>
          <a:bodyPr wrap="square" rtlCol="0" anchor="t"/>
          <a:lstStyle/>
          <a:p>
            <a:pPr marL="0" indent="0" algn="l">
              <a:lnSpc>
                <a:spcPct val="105000"/>
              </a:lnSpc>
              <a:buNone/>
            </a:pPr>
            <a:r>
              <a:rPr lang="en-US" sz="1300" b="1" dirty="0">
                <a:solidFill>
                  <a:srgbClr val="E6D34F"/>
                </a:solidFill>
                <a:latin typeface="Courier New" pitchFamily="34" charset="0"/>
                <a:ea typeface="Courier New" pitchFamily="34" charset="-122"/>
                <a:cs typeface="Courier New" pitchFamily="34" charset="-120"/>
              </a:rPr>
              <a:t>03  </a:t>
            </a:r>
            <a:r>
              <a:rPr lang="en-US" sz="1300" b="1" dirty="0">
                <a:solidFill>
                  <a:srgbClr val="F2EFDA"/>
                </a:solidFill>
                <a:latin typeface="Arial" pitchFamily="34" charset="0"/>
                <a:ea typeface="Arial" pitchFamily="34" charset="-122"/>
                <a:cs typeface="Arial" pitchFamily="34" charset="-120"/>
              </a:rPr>
              <a:t>In-Sample-Charakter</a:t>
            </a:r>
            <a:endParaRPr lang="en-US" sz="1300" dirty="0"/>
          </a:p>
        </p:txBody>
      </p:sp>
      <p:sp>
        <p:nvSpPr>
          <p:cNvPr id="15" name="Text 12"/>
          <p:cNvSpPr/>
          <p:nvPr/>
        </p:nvSpPr>
        <p:spPr>
          <a:xfrm>
            <a:off x="863194" y="4089197"/>
            <a:ext cx="4876495" cy="1079906"/>
          </a:xfrm>
          <a:prstGeom prst="rect">
            <a:avLst/>
          </a:prstGeom>
          <a:noFill/>
          <a:ln/>
        </p:spPr>
        <p:txBody>
          <a:bodyPr wrap="square" rtlCol="0" anchor="t"/>
          <a:lstStyle/>
          <a:p>
            <a:pPr marL="0" indent="0" algn="l">
              <a:lnSpc>
                <a:spcPct val="135000"/>
              </a:lnSpc>
              <a:buNone/>
            </a:pPr>
            <a:r>
              <a:rPr lang="en-US" sz="1000" dirty="0">
                <a:solidFill>
                  <a:srgbClr val="B3BC9A"/>
                </a:solidFill>
                <a:latin typeface="Arial" pitchFamily="34" charset="0"/>
                <a:ea typeface="Arial" pitchFamily="34" charset="-122"/>
                <a:cs typeface="Arial" pitchFamily="34" charset="-120"/>
              </a:rPr>
              <a:t>Quadranten und Krisentest nutzen denselben Zeitraum. Als Konsistenzprüfung deklariert; Out-of-Sample-Test als nächster Schritt.</a:t>
            </a:r>
            <a:endParaRPr lang="en-US" sz="1000" dirty="0"/>
          </a:p>
        </p:txBody>
      </p:sp>
      <p:sp>
        <p:nvSpPr>
          <p:cNvPr id="16" name="Shape 13"/>
          <p:cNvSpPr/>
          <p:nvPr/>
        </p:nvSpPr>
        <p:spPr>
          <a:xfrm>
            <a:off x="6222492" y="3543300"/>
            <a:ext cx="5333695" cy="1765706"/>
          </a:xfrm>
          <a:prstGeom prst="roundRect">
            <a:avLst>
              <a:gd name="adj" fmla="val 5748"/>
            </a:avLst>
          </a:prstGeom>
          <a:solidFill>
            <a:srgbClr val="1E402E"/>
          </a:solidFill>
          <a:ln w="12700">
            <a:solidFill>
              <a:srgbClr val="4A6D56"/>
            </a:solidFill>
            <a:prstDash val="solid"/>
          </a:ln>
        </p:spPr>
        <p:txBody>
          <a:bodyPr/>
          <a:lstStyle/>
          <a:p>
            <a:endParaRPr lang="de-DE"/>
          </a:p>
        </p:txBody>
      </p:sp>
      <p:sp>
        <p:nvSpPr>
          <p:cNvPr id="17" name="Text 14"/>
          <p:cNvSpPr/>
          <p:nvPr/>
        </p:nvSpPr>
        <p:spPr>
          <a:xfrm>
            <a:off x="6451092" y="3720694"/>
            <a:ext cx="4876495" cy="254203"/>
          </a:xfrm>
          <a:prstGeom prst="rect">
            <a:avLst/>
          </a:prstGeom>
          <a:noFill/>
          <a:ln/>
        </p:spPr>
        <p:txBody>
          <a:bodyPr wrap="square" rtlCol="0" anchor="t"/>
          <a:lstStyle/>
          <a:p>
            <a:pPr marL="0" indent="0" algn="l">
              <a:lnSpc>
                <a:spcPct val="105000"/>
              </a:lnSpc>
              <a:buNone/>
            </a:pPr>
            <a:r>
              <a:rPr lang="en-US" sz="1300" b="1" dirty="0">
                <a:solidFill>
                  <a:srgbClr val="E6D34F"/>
                </a:solidFill>
                <a:latin typeface="Courier New" pitchFamily="34" charset="0"/>
                <a:ea typeface="Courier New" pitchFamily="34" charset="-122"/>
                <a:cs typeface="Courier New" pitchFamily="34" charset="-120"/>
              </a:rPr>
              <a:t>04  </a:t>
            </a:r>
            <a:r>
              <a:rPr lang="en-US" sz="1300" b="1" dirty="0">
                <a:solidFill>
                  <a:srgbClr val="F2EFDA"/>
                </a:solidFill>
                <a:latin typeface="Arial" pitchFamily="34" charset="0"/>
                <a:ea typeface="Arial" pitchFamily="34" charset="-122"/>
                <a:cs typeface="Arial" pitchFamily="34" charset="-120"/>
              </a:rPr>
              <a:t>Geltungsbereich</a:t>
            </a:r>
            <a:endParaRPr lang="en-US" sz="1300" dirty="0"/>
          </a:p>
        </p:txBody>
      </p:sp>
      <p:sp>
        <p:nvSpPr>
          <p:cNvPr id="18" name="Text 15"/>
          <p:cNvSpPr/>
          <p:nvPr/>
        </p:nvSpPr>
        <p:spPr>
          <a:xfrm>
            <a:off x="6451092" y="4089197"/>
            <a:ext cx="4876495" cy="1079906"/>
          </a:xfrm>
          <a:prstGeom prst="rect">
            <a:avLst/>
          </a:prstGeom>
          <a:noFill/>
          <a:ln/>
        </p:spPr>
        <p:txBody>
          <a:bodyPr wrap="square" rtlCol="0" anchor="t"/>
          <a:lstStyle/>
          <a:p>
            <a:pPr marL="0" indent="0" algn="l">
              <a:lnSpc>
                <a:spcPct val="135000"/>
              </a:lnSpc>
              <a:buNone/>
            </a:pPr>
            <a:r>
              <a:rPr lang="en-US" sz="1000" dirty="0">
                <a:solidFill>
                  <a:srgbClr val="B3BC9A"/>
                </a:solidFill>
                <a:latin typeface="Arial" pitchFamily="34" charset="0"/>
                <a:ea typeface="Arial" pitchFamily="34" charset="-122"/>
                <a:cs typeface="Arial" pitchFamily="34" charset="-120"/>
              </a:rPr>
              <a:t>Etablierte US-Unternehmen, Quartalsfrequenz. Effekte unterhalb eines Quartals und andere Märkte bleiben offen.</a:t>
            </a:r>
            <a:endParaRPr lang="en-US" sz="1000" dirty="0"/>
          </a:p>
        </p:txBody>
      </p:sp>
      <p:sp>
        <p:nvSpPr>
          <p:cNvPr id="3" name="Text 13">
            <a:extLst>
              <a:ext uri="{FF2B5EF4-FFF2-40B4-BE49-F238E27FC236}">
                <a16:creationId xmlns:a16="http://schemas.microsoft.com/office/drawing/2014/main" id="{15A27E08-90AA-E0DD-1480-57D1B6BF572F}"/>
              </a:ext>
            </a:extLst>
          </p:cNvPr>
          <p:cNvSpPr/>
          <p:nvPr/>
        </p:nvSpPr>
        <p:spPr>
          <a:xfrm>
            <a:off x="634594" y="5842102"/>
            <a:ext cx="10921594" cy="254203"/>
          </a:xfrm>
          <a:prstGeom prst="rect">
            <a:avLst/>
          </a:prstGeom>
          <a:noFill/>
          <a:ln/>
        </p:spPr>
        <p:txBody>
          <a:bodyPr wrap="square" rtlCol="0" anchor="t"/>
          <a:lstStyle/>
          <a:p>
            <a:pPr marL="0" indent="0" algn="l">
              <a:lnSpc>
                <a:spcPct val="105000"/>
              </a:lnSpc>
              <a:buNone/>
            </a:pPr>
            <a:r>
              <a:rPr lang="en-US" sz="900" b="1" kern="0" spc="200" dirty="0">
                <a:solidFill>
                  <a:srgbClr val="798D6F"/>
                </a:solidFill>
                <a:latin typeface="Courier New" pitchFamily="34" charset="0"/>
                <a:ea typeface="Courier New" pitchFamily="34" charset="-122"/>
                <a:cs typeface="Courier New" pitchFamily="34" charset="-120"/>
              </a:rPr>
              <a:t>AUSBLCK   </a:t>
            </a:r>
            <a:r>
              <a:rPr lang="en-US" sz="900" dirty="0">
                <a:solidFill>
                  <a:srgbClr val="B3BC9A"/>
                </a:solidFill>
                <a:latin typeface="Arial" pitchFamily="34" charset="0"/>
                <a:ea typeface="Arial" pitchFamily="34" charset="-122"/>
                <a:cs typeface="Arial" pitchFamily="34" charset="-120"/>
              </a:rPr>
              <a:t>Out-of-Sample-Test der Quadranten · Lead-Lag auf AR-Residuen · höhere Datenfrequenz · Märkte jenseits der USA</a:t>
            </a:r>
            <a:endParaRPr lang="en-US" sz="900" dirty="0"/>
          </a:p>
        </p:txBody>
      </p:sp>
      <p:sp>
        <p:nvSpPr>
          <p:cNvPr id="19" name="Text 1">
            <a:extLst>
              <a:ext uri="{FF2B5EF4-FFF2-40B4-BE49-F238E27FC236}">
                <a16:creationId xmlns:a16="http://schemas.microsoft.com/office/drawing/2014/main" id="{EFE3FEAF-AB28-0A24-084B-66A566755ECF}"/>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dirty="0">
                <a:solidFill>
                  <a:srgbClr val="E6D34F"/>
                </a:solidFill>
                <a:latin typeface="Courier New" pitchFamily="34" charset="0"/>
                <a:cs typeface="Courier New" pitchFamily="34" charset="-120"/>
              </a:rPr>
              <a:t>LIMITATION UND AUSBLICK</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9ABACAB-E6CB-744C-BA6B-79B562EA2EC8}">
  <we:reference id="wa200010001" version="1.0.0.1" store="en-US" storeType="OMEX"/>
  <we:alternateReferences>
    <we:reference id="WA200010001" version="1.0.0.1" store="" storeType="OMEX"/>
  </we:alternateReferences>
  <we:properties>
    <we:property name="claude.fileId" value="&quot;31e2e507-e253-4e22-9e36-4cf89df1325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1838</Words>
  <Application>Microsoft Macintosh PowerPoint</Application>
  <PresentationFormat>Breitbild</PresentationFormat>
  <Paragraphs>234</Paragraphs>
  <Slides>13</Slides>
  <Notes>13</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13</vt:i4>
      </vt:variant>
    </vt:vector>
  </HeadingPairs>
  <TitlesOfParts>
    <vt:vector size="16" baseType="lpstr">
      <vt:lpstr>Arial</vt:lpstr>
      <vt:lpstr>Courier New</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Tobias Mourier</cp:lastModifiedBy>
  <cp:revision>3</cp:revision>
  <dcterms:created xsi:type="dcterms:W3CDTF">2026-06-21T21:41:59Z</dcterms:created>
  <dcterms:modified xsi:type="dcterms:W3CDTF">2026-07-01T18:50:13Z</dcterms:modified>
</cp:coreProperties>
</file>
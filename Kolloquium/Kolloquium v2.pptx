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6" r:id="rId4"/>
    <p:sldId id="271" r:id="rId5"/>
    <p:sldId id="270" r:id="rId6"/>
    <p:sldId id="269" r:id="rId7"/>
    <p:sldId id="258" r:id="rId8"/>
    <p:sldId id="290" r:id="rId9"/>
    <p:sldId id="292" r:id="rId10"/>
    <p:sldId id="260" r:id="rId11"/>
    <p:sldId id="287" r:id="rId12"/>
    <p:sldId id="293" r:id="rId13"/>
    <p:sldId id="297" r:id="rId14"/>
    <p:sldId id="282" r:id="rId15"/>
    <p:sldId id="262" r:id="rId16"/>
    <p:sldId id="283" r:id="rId17"/>
    <p:sldId id="285" r:id="rId18"/>
    <p:sldId id="272" r:id="rId19"/>
    <p:sldId id="274" r:id="rId20"/>
    <p:sldId id="276" r:id="rId21"/>
    <p:sldId id="279" r:id="rId22"/>
    <p:sldId id="294" r:id="rId23"/>
    <p:sldId id="295" r:id="rId24"/>
    <p:sldId id="296" r:id="rId25"/>
    <p:sldId id="265" r:id="rId26"/>
    <p:sldId id="266" r:id="rId27"/>
    <p:sldId id="26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FDA"/>
    <a:srgbClr val="E6D44F"/>
    <a:srgbClr val="78A2F9"/>
    <a:srgbClr val="3CBA77"/>
    <a:srgbClr val="F46451"/>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46257-789C-224F-9FF0-81096475CB9D}" v="393" dt="2026-07-04T13:37:43.458"/>
    <p1510:client id="{A0543C63-59B1-4C4A-A05B-95E80D9D0EF0}" v="62" dt="2026-07-04T23:33:34.931"/>
    <p1510:client id="{BC9CA0B8-AD44-404C-B298-833E100FD511}" v="257" dt="2026-07-04T11:09:01.15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74"/>
    <p:restoredTop sz="94688"/>
  </p:normalViewPr>
  <p:slideViewPr>
    <p:cSldViewPr snapToGrid="0">
      <p:cViewPr varScale="1">
        <p:scale>
          <a:sx n="104" d="100"/>
          <a:sy n="104" d="100"/>
        </p:scale>
        <p:origin x="240"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Sehr </a:t>
            </a:r>
            <a:r>
              <a:rPr lang="en-US" err="1"/>
              <a:t>geehrter</a:t>
            </a:r>
            <a:r>
              <a:rPr lang="en-US"/>
              <a:t> Professor Steglich, </a:t>
            </a:r>
            <a:r>
              <a:rPr lang="en-US" err="1"/>
              <a:t>sehr</a:t>
            </a:r>
            <a:r>
              <a:rPr lang="en-US"/>
              <a:t> </a:t>
            </a:r>
            <a:r>
              <a:rPr lang="en-US" err="1"/>
              <a:t>geehrter</a:t>
            </a:r>
            <a:r>
              <a:rPr lang="en-US"/>
              <a:t> Professor </a:t>
            </a:r>
            <a:r>
              <a:rPr lang="en-US" err="1"/>
              <a:t>Stollhoff</a:t>
            </a:r>
            <a:r>
              <a:rPr lang="en-US"/>
              <a:t>, ich </a:t>
            </a:r>
            <a:r>
              <a:rPr lang="en-US" err="1"/>
              <a:t>freue</a:t>
            </a:r>
            <a:r>
              <a:rPr lang="en-US"/>
              <a:t> </a:t>
            </a:r>
            <a:r>
              <a:rPr lang="en-US" err="1"/>
              <a:t>mich</a:t>
            </a:r>
            <a:r>
              <a:rPr lang="en-US"/>
              <a:t>, </a:t>
            </a:r>
            <a:r>
              <a:rPr lang="en-US" err="1"/>
              <a:t>dasss</a:t>
            </a:r>
            <a:r>
              <a:rPr lang="en-US"/>
              <a:t> ich </a:t>
            </a:r>
            <a:r>
              <a:rPr lang="en-US" err="1"/>
              <a:t>hier</a:t>
            </a:r>
            <a:r>
              <a:rPr lang="en-US"/>
              <a:t> </a:t>
            </a:r>
            <a:r>
              <a:rPr lang="en-US" err="1"/>
              <a:t>beim</a:t>
            </a:r>
            <a:r>
              <a:rPr lang="en-US"/>
              <a:t> </a:t>
            </a:r>
            <a:r>
              <a:rPr lang="en-US" err="1"/>
              <a:t>Kolloquium</a:t>
            </a:r>
            <a:r>
              <a:rPr lang="en-US"/>
              <a:t> die Möglichkeit </a:t>
            </a:r>
            <a:r>
              <a:rPr lang="en-US" err="1"/>
              <a:t>habe</a:t>
            </a:r>
            <a:r>
              <a:rPr lang="en-US"/>
              <a:t>, meine </a:t>
            </a:r>
            <a:r>
              <a:rPr lang="en-US" err="1"/>
              <a:t>Masterarbeit</a:t>
            </a:r>
            <a:r>
              <a:rPr lang="en-US"/>
              <a:t> “</a:t>
            </a:r>
            <a:r>
              <a:rPr lang="en-US" err="1"/>
              <a:t>Zeitreihenbasierte</a:t>
            </a:r>
            <a:r>
              <a:rPr lang="en-US"/>
              <a:t> </a:t>
            </a:r>
            <a:r>
              <a:rPr lang="en-US" err="1"/>
              <a:t>Analyse</a:t>
            </a:r>
            <a:r>
              <a:rPr lang="en-US"/>
              <a:t> der Dynamik von </a:t>
            </a:r>
            <a:r>
              <a:rPr lang="en-US" err="1"/>
              <a:t>Finanzkennzahlen</a:t>
            </a:r>
            <a:r>
              <a:rPr lang="en-US"/>
              <a:t> </a:t>
            </a:r>
            <a:r>
              <a:rPr lang="en-US" err="1"/>
              <a:t>börsennotierter</a:t>
            </a:r>
            <a:r>
              <a:rPr lang="en-US"/>
              <a:t> </a:t>
            </a:r>
            <a:r>
              <a:rPr lang="en-US" err="1"/>
              <a:t>Unternehmen</a:t>
            </a:r>
            <a:r>
              <a:rPr lang="en-US"/>
              <a:t>” </a:t>
            </a:r>
            <a:r>
              <a:rPr lang="en-US" err="1"/>
              <a:t>vorzustellen</a:t>
            </a:r>
            <a:r>
              <a:rPr lang="en-US"/>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FE76-30F9-E81D-C609-6B8957764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A0220-4F89-3882-C2A0-AD703044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5A11-6F13-E27F-3D78-3BCB54C24CC6}"/>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6714EC63-BC69-1CB4-4049-FB44C62C6C0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4211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1930-6BC8-FEF0-1AF1-DE584EC0A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27FD-479D-BBA6-E597-DD42073E4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106F-01DB-1314-4EF5-1A3D13F047F5}"/>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E2B0CADC-1360-0509-CABF-E77757AE30F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6794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A5CB-29CD-04CA-9734-CD726E4A0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C9F-F995-FF4A-F4F7-B629997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77D6-A7D4-0A3D-986A-43CDC82D4BB8}"/>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C40521D6-27E5-BCF1-534A-0FBB76A8C51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880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a:t>
            </a:r>
            <a:r>
              <a:rPr lang="en-US" dirty="0" err="1"/>
              <a:t>Datengrundlage</a:t>
            </a:r>
            <a:r>
              <a:rPr lang="en-US" dirty="0"/>
              <a:t> </a:t>
            </a:r>
            <a:r>
              <a:rPr lang="en-US" dirty="0" err="1"/>
              <a:t>sind</a:t>
            </a:r>
            <a:r>
              <a:rPr lang="en-US" dirty="0"/>
              <a:t> </a:t>
            </a:r>
            <a:r>
              <a:rPr lang="en-US" dirty="0" err="1"/>
              <a:t>Quartalsabschlüsse</a:t>
            </a:r>
            <a:r>
              <a:rPr lang="en-US" dirty="0"/>
              <a:t> US-</a:t>
            </a:r>
            <a:r>
              <a:rPr lang="en-US" dirty="0" err="1"/>
              <a:t>amerikanischer</a:t>
            </a:r>
            <a:r>
              <a:rPr lang="en-US" dirty="0"/>
              <a:t> </a:t>
            </a:r>
            <a:r>
              <a:rPr lang="en-US" dirty="0" err="1"/>
              <a:t>börsennotierter</a:t>
            </a:r>
            <a:r>
              <a:rPr lang="en-US" dirty="0"/>
              <a:t> </a:t>
            </a:r>
            <a:r>
              <a:rPr lang="en-US" dirty="0" err="1"/>
              <a:t>Unternehmen</a:t>
            </a:r>
            <a:r>
              <a:rPr lang="en-US" dirty="0"/>
              <a:t> </a:t>
            </a:r>
            <a:r>
              <a:rPr lang="en-US" dirty="0" err="1"/>
              <a:t>über</a:t>
            </a:r>
            <a:r>
              <a:rPr lang="en-US" dirty="0"/>
              <a:t> 25 Jahre — 100 </a:t>
            </a:r>
            <a:r>
              <a:rPr lang="en-US" dirty="0" err="1"/>
              <a:t>Quartale</a:t>
            </a:r>
            <a:r>
              <a:rPr lang="en-US" dirty="0"/>
              <a:t>, 2000–2024, via EODHD-API. Aus </a:t>
            </a:r>
            <a:r>
              <a:rPr lang="en-US" dirty="0" err="1"/>
              <a:t>knapp</a:t>
            </a:r>
            <a:r>
              <a:rPr lang="en-US" dirty="0"/>
              <a:t> 5.900 </a:t>
            </a:r>
            <a:r>
              <a:rPr lang="en-US" dirty="0" err="1"/>
              <a:t>Unternehmen</a:t>
            </a:r>
            <a:r>
              <a:rPr lang="en-US" dirty="0"/>
              <a:t> </a:t>
            </a:r>
            <a:r>
              <a:rPr lang="en-US" dirty="0" err="1"/>
              <a:t>entsteht</a:t>
            </a:r>
            <a:r>
              <a:rPr lang="en-US" dirty="0"/>
              <a:t> </a:t>
            </a:r>
            <a:r>
              <a:rPr lang="en-US" dirty="0" err="1"/>
              <a:t>über</a:t>
            </a:r>
            <a:r>
              <a:rPr lang="en-US" dirty="0"/>
              <a:t> </a:t>
            </a:r>
            <a:r>
              <a:rPr lang="en-US" dirty="0" err="1"/>
              <a:t>eine</a:t>
            </a:r>
            <a:r>
              <a:rPr lang="en-US" dirty="0"/>
              <a:t> </a:t>
            </a:r>
            <a:r>
              <a:rPr lang="en-US" dirty="0" err="1"/>
              <a:t>Filterkette</a:t>
            </a:r>
            <a:r>
              <a:rPr lang="en-US" dirty="0"/>
              <a:t> die finale </a:t>
            </a:r>
            <a:r>
              <a:rPr lang="en-US" dirty="0" err="1"/>
              <a:t>Stichprobe</a:t>
            </a:r>
            <a:r>
              <a:rPr lang="en-US" dirty="0"/>
              <a:t> von 932: </a:t>
            </a:r>
            <a:r>
              <a:rPr lang="en-US" dirty="0" err="1"/>
              <a:t>Finanzsektor</a:t>
            </a:r>
            <a:r>
              <a:rPr lang="en-US" dirty="0"/>
              <a:t> </a:t>
            </a:r>
            <a:r>
              <a:rPr lang="en-US" dirty="0" err="1"/>
              <a:t>ausgeschlossen</a:t>
            </a:r>
            <a:r>
              <a:rPr lang="en-US" dirty="0"/>
              <a:t>, ADRs </a:t>
            </a:r>
            <a:r>
              <a:rPr lang="en-US" dirty="0" err="1"/>
              <a:t>entfernt</a:t>
            </a:r>
            <a:r>
              <a:rPr lang="en-US" dirty="0"/>
              <a:t>, </a:t>
            </a:r>
            <a:r>
              <a:rPr lang="en-US" dirty="0" err="1"/>
              <a:t>Vollständigkeit</a:t>
            </a:r>
            <a:r>
              <a:rPr lang="en-US" dirty="0"/>
              <a:t>, </a:t>
            </a:r>
            <a:r>
              <a:rPr lang="en-US" dirty="0" err="1"/>
              <a:t>Winsorisierung</a:t>
            </a:r>
            <a:r>
              <a:rPr lang="en-US" dirty="0"/>
              <a:t>. Der </a:t>
            </a:r>
            <a:r>
              <a:rPr lang="en-US" dirty="0" err="1"/>
              <a:t>Vollständigkeitsfilter</a:t>
            </a:r>
            <a:r>
              <a:rPr lang="en-US" dirty="0"/>
              <a:t> </a:t>
            </a:r>
            <a:r>
              <a:rPr lang="en-US" dirty="0" err="1"/>
              <a:t>erzeugt</a:t>
            </a:r>
            <a:r>
              <a:rPr lang="en-US" dirty="0"/>
              <a:t> </a:t>
            </a:r>
            <a:r>
              <a:rPr lang="en-US" dirty="0" err="1"/>
              <a:t>einen</a:t>
            </a:r>
            <a:r>
              <a:rPr lang="en-US" dirty="0"/>
              <a:t> Survivorship Bias — </a:t>
            </a:r>
            <a:r>
              <a:rPr lang="en-US" dirty="0" err="1"/>
              <a:t>quantifiziert</a:t>
            </a:r>
            <a:r>
              <a:rPr lang="en-US" dirty="0"/>
              <a:t> und </a:t>
            </a:r>
            <a:r>
              <a:rPr lang="en-US" dirty="0" err="1"/>
              <a:t>getestet</a:t>
            </a:r>
            <a:r>
              <a:rPr lang="en-US" dirty="0"/>
              <a:t>. </a:t>
            </a:r>
            <a:r>
              <a:rPr lang="en-US" dirty="0" err="1"/>
              <a:t>Insgesamt</a:t>
            </a:r>
            <a:r>
              <a:rPr lang="en-US" dirty="0"/>
              <a:t> 6.521 </a:t>
            </a:r>
            <a:r>
              <a:rPr lang="en-US" dirty="0" err="1"/>
              <a:t>Unternehmen-Kennzahl-Kombinationen</a:t>
            </a:r>
            <a:r>
              <a:rPr lang="en-US" dirty="0"/>
              <a:t> für </a:t>
            </a:r>
            <a:r>
              <a:rPr lang="en-US" dirty="0" err="1"/>
              <a:t>sieben</a:t>
            </a:r>
            <a:r>
              <a:rPr lang="en-US" dirty="0"/>
              <a:t> </a:t>
            </a:r>
            <a:r>
              <a:rPr lang="en-US" dirty="0" err="1"/>
              <a:t>Kennzahlen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7C06-0B9B-0C67-FA9B-3F1228081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54333-E8B6-4B15-A97B-09F1D6931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29877-DFDB-8DF8-3EDE-0C50AEF34FA8}"/>
              </a:ext>
            </a:extLst>
          </p:cNvPr>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a:extLst>
              <a:ext uri="{FF2B5EF4-FFF2-40B4-BE49-F238E27FC236}">
                <a16:creationId xmlns:a16="http://schemas.microsoft.com/office/drawing/2014/main" id="{830003DC-4D32-48B6-CDCB-9042938184F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3366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E75A-BB37-C13D-BB92-C44330AB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260-E4F3-8611-9D04-B84F70A49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B4BC-AE4A-2415-82EC-2B20AD747123}"/>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74F70F19-3D68-9FA9-4024-C029F3658F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2493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2E7B-470A-3CE5-C3CA-09AF0E2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F912E-5F3E-32C7-BA56-73707F3C8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7DBE-A15F-82D1-655D-EF7C9756EC97}"/>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E540E400-C29F-D0D6-0C42-55B0DCC6DA5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9684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92A4-4920-065B-7234-FEFA7229A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BED5-A8CE-05B9-D514-27E156CD1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8BEDA-7EFD-6F82-BAD0-77172F7D658A}"/>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53502475-0BC8-B4B3-6F88-5F4B0D0DAF9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0467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Verdichtet in die Quadranten gruppieren sich die Sektoren in drei Profile: das stabile — Versorger, Industrie, Basiskonsum; das persistente — Technologie und Grundstoffe, wo Wachstums- und Rohstofftrends nachwirken; und das korrektiv-volatile — Immobilien, Kommunikation, Energie: große Ausschläge, schnelle Korrektur. Fünf Sektoren bündeln sich in nur zwei Quadranten — einzig der Zyklische Konsum besetzt alle vier.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1:00] Forschungsfrage zwei. Ich korreliere die firmenspezifisch geschätzten Parameter paarweise über die 932 Unternehmen — Spearman, 21 Paare je Matrix. Die Phi-Matrix zeigt: Die starken Kopplungen liegen ausschließlich in der Profitabilität — ROA und ROE mit 0,78, mit der EBIT-Marge 0,56 und 0,54. Wer in einer Profitabilitätskennzahl schnell korrigiert, tut es auch in den anderen — die Korrekturgeschwindigkeit ist dort ein konsistentes Firmenmerkmal. Die FCF-Marge fällt heraus: nur 0,14 bis 0,19 — Periodenabgrenzungen glätten Buchgewinne, den Cashflow nicht; das ist die Accrual-Mechanik nach Sloan und Dechow. Und zwischen den Blöcken ist nach Bonferroni nur ein einziges von zwölf Paaren signifikant.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Ergänzungen. Innerhalb jeder Kennzahl korrelieren Phi und Sigma zwischen minus 0,09 und minus 0,24 — volatilere Unternehmen korrigieren schneller, das bestätigt Dichev und Tang. Aber alle Werte unter 0,25: Die Achsen bleiben trennbar, die Quadranten sind gerechtfertigt. Und die Lead-Lag-Analyse: 13 von 21 Paaren erreichen ihren Peak bei Lag null — Schocks laufen synchron, eine gestaffelte Transmission ist auf Quartalsfrequenz nicht nachweisbar. Ein ehrliches Nullergebnis.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Vor den </a:t>
            </a:r>
            <a:r>
              <a:rPr dirty="0" err="1"/>
              <a:t>Krisentests</a:t>
            </a:r>
            <a:r>
              <a:rPr dirty="0"/>
              <a:t> der </a:t>
            </a:r>
            <a:r>
              <a:rPr dirty="0" err="1"/>
              <a:t>langfristige</a:t>
            </a:r>
            <a:r>
              <a:rPr dirty="0"/>
              <a:t> Trend: Pro Sektor und </a:t>
            </a:r>
            <a:r>
              <a:rPr dirty="0" err="1"/>
              <a:t>Kennzahl</a:t>
            </a:r>
            <a:r>
              <a:rPr dirty="0"/>
              <a:t> </a:t>
            </a:r>
            <a:r>
              <a:rPr dirty="0" err="1"/>
              <a:t>glätte</a:t>
            </a:r>
            <a:r>
              <a:rPr dirty="0"/>
              <a:t> ich das Median-</a:t>
            </a:r>
            <a:r>
              <a:rPr dirty="0" err="1"/>
              <a:t>Niveau</a:t>
            </a:r>
            <a:r>
              <a:rPr dirty="0"/>
              <a:t> </a:t>
            </a:r>
            <a:r>
              <a:rPr dirty="0" err="1"/>
              <a:t>über</a:t>
            </a:r>
            <a:r>
              <a:rPr dirty="0"/>
              <a:t> 25 </a:t>
            </a:r>
            <a:r>
              <a:rPr dirty="0" err="1"/>
              <a:t>Quartale</a:t>
            </a:r>
            <a:r>
              <a:rPr dirty="0"/>
              <a:t> und </a:t>
            </a:r>
            <a:r>
              <a:rPr dirty="0" err="1"/>
              <a:t>schätze</a:t>
            </a:r>
            <a:r>
              <a:rPr dirty="0"/>
              <a:t> parallel die AR(1)-Drift-</a:t>
            </a:r>
            <a:r>
              <a:rPr dirty="0" err="1"/>
              <a:t>Konstante</a:t>
            </a:r>
            <a:r>
              <a:rPr dirty="0"/>
              <a:t> c pro </a:t>
            </a:r>
            <a:r>
              <a:rPr dirty="0" err="1"/>
              <a:t>Unternehmen</a:t>
            </a:r>
            <a:r>
              <a:rPr dirty="0"/>
              <a:t> — </a:t>
            </a:r>
            <a:r>
              <a:rPr dirty="0" err="1"/>
              <a:t>zwei</a:t>
            </a:r>
            <a:r>
              <a:rPr dirty="0"/>
              <a:t> </a:t>
            </a:r>
            <a:r>
              <a:rPr dirty="0" err="1"/>
              <a:t>unabhängige</a:t>
            </a:r>
            <a:r>
              <a:rPr dirty="0"/>
              <a:t> </a:t>
            </a:r>
            <a:r>
              <a:rPr dirty="0" err="1"/>
              <a:t>Messungen</a:t>
            </a:r>
            <a:r>
              <a:rPr dirty="0"/>
              <a:t> </a:t>
            </a:r>
            <a:r>
              <a:rPr dirty="0" err="1"/>
              <a:t>desselben</a:t>
            </a:r>
            <a:r>
              <a:rPr dirty="0"/>
              <a:t> Trends, </a:t>
            </a:r>
            <a:r>
              <a:rPr dirty="0" err="1"/>
              <a:t>Übereinstimmung</a:t>
            </a:r>
            <a:r>
              <a:rPr dirty="0"/>
              <a:t> r </a:t>
            </a:r>
            <a:r>
              <a:rPr dirty="0" err="1"/>
              <a:t>gleich</a:t>
            </a:r>
            <a:r>
              <a:rPr dirty="0"/>
              <a:t> 0,86. Das </a:t>
            </a:r>
            <a:r>
              <a:rPr dirty="0" err="1"/>
              <a:t>Beispiel</a:t>
            </a:r>
            <a:r>
              <a:rPr dirty="0"/>
              <a:t> Technologie: Die Current Ratio </a:t>
            </a:r>
            <a:r>
              <a:rPr dirty="0" err="1"/>
              <a:t>fällt</a:t>
            </a:r>
            <a:r>
              <a:rPr dirty="0"/>
              <a:t> von 2,48 auf 1,87, Debt/Equity </a:t>
            </a:r>
            <a:r>
              <a:rPr dirty="0" err="1"/>
              <a:t>steigt</a:t>
            </a:r>
            <a:r>
              <a:rPr dirty="0"/>
              <a:t> von 0,18 auf 0,42 — die </a:t>
            </a:r>
            <a:r>
              <a:rPr dirty="0" err="1"/>
              <a:t>Kurven</a:t>
            </a:r>
            <a:r>
              <a:rPr dirty="0"/>
              <a:t> </a:t>
            </a:r>
            <a:r>
              <a:rPr dirty="0" err="1"/>
              <a:t>kreuzen</a:t>
            </a:r>
            <a:r>
              <a:rPr dirty="0"/>
              <a:t> </a:t>
            </a:r>
            <a:r>
              <a:rPr dirty="0" err="1"/>
              <a:t>sich</a:t>
            </a:r>
            <a:r>
              <a:rPr dirty="0"/>
              <a:t> 2013: </a:t>
            </a:r>
            <a:r>
              <a:rPr dirty="0" err="1"/>
              <a:t>vom</a:t>
            </a:r>
            <a:r>
              <a:rPr dirty="0"/>
              <a:t> </a:t>
            </a:r>
            <a:r>
              <a:rPr dirty="0" err="1"/>
              <a:t>liquiditätsdominierten</a:t>
            </a:r>
            <a:r>
              <a:rPr dirty="0"/>
              <a:t> Start-up-</a:t>
            </a:r>
            <a:r>
              <a:rPr dirty="0" err="1"/>
              <a:t>Profil</a:t>
            </a:r>
            <a:r>
              <a:rPr dirty="0"/>
              <a:t> </a:t>
            </a:r>
            <a:r>
              <a:rPr dirty="0" err="1"/>
              <a:t>zur</a:t>
            </a:r>
            <a:r>
              <a:rPr dirty="0"/>
              <a:t> </a:t>
            </a:r>
            <a:r>
              <a:rPr dirty="0" err="1"/>
              <a:t>reifen</a:t>
            </a:r>
            <a:r>
              <a:rPr dirty="0"/>
              <a:t>, </a:t>
            </a:r>
            <a:r>
              <a:rPr dirty="0" err="1"/>
              <a:t>fremdfinanzierten</a:t>
            </a:r>
            <a:r>
              <a:rPr dirty="0"/>
              <a:t> </a:t>
            </a:r>
            <a:r>
              <a:rPr dirty="0" err="1"/>
              <a:t>Struktur</a:t>
            </a:r>
            <a:r>
              <a:rPr dirty="0"/>
              <a:t>. Und </a:t>
            </a:r>
            <a:r>
              <a:rPr dirty="0" err="1"/>
              <a:t>über</a:t>
            </a:r>
            <a:r>
              <a:rPr dirty="0"/>
              <a:t> alle 70 </a:t>
            </a:r>
            <a:r>
              <a:rPr dirty="0" err="1"/>
              <a:t>Kombinationen</a:t>
            </a:r>
            <a:r>
              <a:rPr dirty="0"/>
              <a:t>: Debt/Equity </a:t>
            </a:r>
            <a:r>
              <a:rPr dirty="0" err="1"/>
              <a:t>driftet</a:t>
            </a:r>
            <a:r>
              <a:rPr dirty="0"/>
              <a:t> in </a:t>
            </a:r>
            <a:r>
              <a:rPr dirty="0" err="1"/>
              <a:t>allen</a:t>
            </a:r>
            <a:r>
              <a:rPr dirty="0"/>
              <a:t> </a:t>
            </a:r>
            <a:r>
              <a:rPr dirty="0" err="1"/>
              <a:t>zehn</a:t>
            </a:r>
            <a:r>
              <a:rPr dirty="0"/>
              <a:t> </a:t>
            </a:r>
            <a:r>
              <a:rPr dirty="0" err="1"/>
              <a:t>Sektoren</a:t>
            </a:r>
            <a:r>
              <a:rPr dirty="0"/>
              <a:t> </a:t>
            </a:r>
            <a:r>
              <a:rPr dirty="0" err="1"/>
              <a:t>positiv</a:t>
            </a:r>
            <a:r>
              <a:rPr dirty="0"/>
              <a:t>, die </a:t>
            </a:r>
            <a:r>
              <a:rPr dirty="0" err="1"/>
              <a:t>Eigenkapitalquote</a:t>
            </a:r>
            <a:r>
              <a:rPr dirty="0"/>
              <a:t> in </a:t>
            </a:r>
            <a:r>
              <a:rPr dirty="0" err="1"/>
              <a:t>sieben</a:t>
            </a:r>
            <a:r>
              <a:rPr dirty="0"/>
              <a:t> von </a:t>
            </a:r>
            <a:r>
              <a:rPr dirty="0" err="1"/>
              <a:t>zehn</a:t>
            </a:r>
            <a:r>
              <a:rPr dirty="0"/>
              <a:t> </a:t>
            </a:r>
            <a:r>
              <a:rPr dirty="0" err="1"/>
              <a:t>negativ</a:t>
            </a:r>
            <a:r>
              <a:rPr dirty="0"/>
              <a:t> — die </a:t>
            </a:r>
            <a:r>
              <a:rPr dirty="0" err="1"/>
              <a:t>Verschuldungs</a:t>
            </a:r>
            <a:r>
              <a:rPr dirty="0"/>
              <a:t>- und </a:t>
            </a:r>
            <a:r>
              <a:rPr dirty="0" err="1"/>
              <a:t>Margenexpansion</a:t>
            </a:r>
            <a:r>
              <a:rPr dirty="0"/>
              <a:t> der </a:t>
            </a:r>
            <a:r>
              <a:rPr dirty="0" err="1"/>
              <a:t>letzten</a:t>
            </a:r>
            <a:r>
              <a:rPr dirty="0"/>
              <a:t> 25 Jahre.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Und </a:t>
            </a:r>
            <a:r>
              <a:rPr dirty="0" err="1"/>
              <a:t>welche</a:t>
            </a:r>
            <a:r>
              <a:rPr dirty="0"/>
              <a:t> </a:t>
            </a:r>
            <a:r>
              <a:rPr dirty="0" err="1"/>
              <a:t>Kennzahl</a:t>
            </a:r>
            <a:r>
              <a:rPr dirty="0"/>
              <a:t> </a:t>
            </a:r>
            <a:r>
              <a:rPr dirty="0" err="1"/>
              <a:t>reagiert</a:t>
            </a:r>
            <a:r>
              <a:rPr dirty="0"/>
              <a:t> in </a:t>
            </a:r>
            <a:r>
              <a:rPr dirty="0" err="1"/>
              <a:t>welcher</a:t>
            </a:r>
            <a:r>
              <a:rPr dirty="0"/>
              <a:t> Krise? Die EBIT-Marge am </a:t>
            </a:r>
            <a:r>
              <a:rPr dirty="0" err="1"/>
              <a:t>stärksten</a:t>
            </a:r>
            <a:r>
              <a:rPr dirty="0"/>
              <a:t> in </a:t>
            </a:r>
            <a:r>
              <a:rPr dirty="0" err="1"/>
              <a:t>Finanzkrise</a:t>
            </a:r>
            <a:r>
              <a:rPr dirty="0"/>
              <a:t> und COVID — Faktor 1,5 </a:t>
            </a:r>
            <a:r>
              <a:rPr dirty="0" err="1"/>
              <a:t>über</a:t>
            </a:r>
            <a:r>
              <a:rPr dirty="0"/>
              <a:t> der Baseline: </a:t>
            </a:r>
            <a:r>
              <a:rPr dirty="0" err="1"/>
              <a:t>operativer</a:t>
            </a:r>
            <a:r>
              <a:rPr dirty="0"/>
              <a:t> Hebel, </a:t>
            </a:r>
            <a:r>
              <a:rPr dirty="0" err="1"/>
              <a:t>Umsatz</a:t>
            </a:r>
            <a:r>
              <a:rPr dirty="0"/>
              <a:t> </a:t>
            </a:r>
            <a:r>
              <a:rPr dirty="0" err="1"/>
              <a:t>bricht</a:t>
            </a:r>
            <a:r>
              <a:rPr dirty="0"/>
              <a:t> </a:t>
            </a:r>
            <a:r>
              <a:rPr dirty="0" err="1"/>
              <a:t>bei</a:t>
            </a:r>
            <a:r>
              <a:rPr dirty="0"/>
              <a:t> fixer </a:t>
            </a:r>
            <a:r>
              <a:rPr dirty="0" err="1"/>
              <a:t>Kostenstruktur</a:t>
            </a:r>
            <a:r>
              <a:rPr dirty="0"/>
              <a:t>. Debt/Equity </a:t>
            </a:r>
            <a:r>
              <a:rPr dirty="0" err="1"/>
              <a:t>dagegen</a:t>
            </a:r>
            <a:r>
              <a:rPr dirty="0"/>
              <a:t> in der Dot-Com-Phase — der Kurs-Crash </a:t>
            </a:r>
            <a:r>
              <a:rPr dirty="0" err="1"/>
              <a:t>vernichtet</a:t>
            </a:r>
            <a:r>
              <a:rPr dirty="0"/>
              <a:t> </a:t>
            </a:r>
            <a:r>
              <a:rPr dirty="0" err="1"/>
              <a:t>Eigenkapital</a:t>
            </a:r>
            <a:r>
              <a:rPr dirty="0"/>
              <a:t> </a:t>
            </a:r>
            <a:r>
              <a:rPr dirty="0" err="1"/>
              <a:t>mechanisch</a:t>
            </a:r>
            <a:r>
              <a:rPr dirty="0"/>
              <a:t>. Die FCF-Marge </a:t>
            </a:r>
            <a:r>
              <a:rPr dirty="0" err="1"/>
              <a:t>bleibt</a:t>
            </a:r>
            <a:r>
              <a:rPr dirty="0"/>
              <a:t> in der </a:t>
            </a:r>
            <a:r>
              <a:rPr dirty="0" err="1"/>
              <a:t>Finanzkrise</a:t>
            </a:r>
            <a:r>
              <a:rPr dirty="0"/>
              <a:t> fast </a:t>
            </a:r>
            <a:r>
              <a:rPr dirty="0" err="1"/>
              <a:t>unauffällig</a:t>
            </a:r>
            <a:r>
              <a:rPr dirty="0"/>
              <a:t> — </a:t>
            </a:r>
            <a:r>
              <a:rPr dirty="0" err="1"/>
              <a:t>dieselbe</a:t>
            </a:r>
            <a:r>
              <a:rPr dirty="0"/>
              <a:t> </a:t>
            </a:r>
            <a:r>
              <a:rPr dirty="0" err="1"/>
              <a:t>Sonderstellung</a:t>
            </a:r>
            <a:r>
              <a:rPr dirty="0"/>
              <a:t> </a:t>
            </a:r>
            <a:r>
              <a:rPr dirty="0" err="1"/>
              <a:t>wie</a:t>
            </a:r>
            <a:r>
              <a:rPr dirty="0"/>
              <a:t> in der Phi-Matrix. Und die Current Ratio </a:t>
            </a:r>
            <a:r>
              <a:rPr dirty="0" err="1"/>
              <a:t>reagiert</a:t>
            </a:r>
            <a:r>
              <a:rPr dirty="0"/>
              <a:t> </a:t>
            </a:r>
            <a:r>
              <a:rPr dirty="0" err="1"/>
              <a:t>überall</a:t>
            </a:r>
            <a:r>
              <a:rPr dirty="0"/>
              <a:t> am </a:t>
            </a:r>
            <a:r>
              <a:rPr dirty="0" err="1"/>
              <a:t>schwächsten</a:t>
            </a:r>
            <a:r>
              <a:rPr dirty="0"/>
              <a:t> — die </a:t>
            </a:r>
            <a:r>
              <a:rPr dirty="0" err="1"/>
              <a:t>träge</a:t>
            </a:r>
            <a:r>
              <a:rPr dirty="0"/>
              <a:t> </a:t>
            </a:r>
            <a:r>
              <a:rPr dirty="0" err="1"/>
              <a:t>Bilanzposition</a:t>
            </a:r>
            <a:r>
              <a:rPr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Zwei </a:t>
            </a:r>
            <a:r>
              <a:rPr dirty="0" err="1"/>
              <a:t>weitere</a:t>
            </a:r>
            <a:r>
              <a:rPr dirty="0"/>
              <a:t> </a:t>
            </a:r>
            <a:r>
              <a:rPr dirty="0" err="1"/>
              <a:t>Variablen</a:t>
            </a:r>
            <a:r>
              <a:rPr dirty="0"/>
              <a:t>. Das </a:t>
            </a:r>
            <a:r>
              <a:rPr dirty="0" err="1"/>
              <a:t>Profitabilitätsniveau</a:t>
            </a:r>
            <a:r>
              <a:rPr dirty="0"/>
              <a:t>: Profitable </a:t>
            </a:r>
            <a:r>
              <a:rPr dirty="0" err="1"/>
              <a:t>Unternehmen</a:t>
            </a:r>
            <a:r>
              <a:rPr dirty="0"/>
              <a:t> </a:t>
            </a:r>
            <a:r>
              <a:rPr dirty="0" err="1"/>
              <a:t>schwanken</a:t>
            </a:r>
            <a:r>
              <a:rPr dirty="0"/>
              <a:t> </a:t>
            </a:r>
            <a:r>
              <a:rPr dirty="0" err="1"/>
              <a:t>weniger</a:t>
            </a:r>
            <a:r>
              <a:rPr dirty="0"/>
              <a:t> — EBIT-Marge minus 0,44 — und </a:t>
            </a:r>
            <a:r>
              <a:rPr dirty="0" err="1"/>
              <a:t>revertieren</a:t>
            </a:r>
            <a:r>
              <a:rPr dirty="0"/>
              <a:t> </a:t>
            </a:r>
            <a:r>
              <a:rPr dirty="0" err="1"/>
              <a:t>sogar</a:t>
            </a:r>
            <a:r>
              <a:rPr dirty="0"/>
              <a:t> </a:t>
            </a:r>
            <a:r>
              <a:rPr dirty="0" err="1"/>
              <a:t>etwas</a:t>
            </a:r>
            <a:r>
              <a:rPr dirty="0"/>
              <a:t> </a:t>
            </a:r>
            <a:r>
              <a:rPr dirty="0" err="1"/>
              <a:t>langsamer</a:t>
            </a:r>
            <a:r>
              <a:rPr dirty="0"/>
              <a:t>: </a:t>
            </a:r>
            <a:r>
              <a:rPr dirty="0" err="1"/>
              <a:t>weniger</a:t>
            </a:r>
            <a:r>
              <a:rPr dirty="0"/>
              <a:t> </a:t>
            </a:r>
            <a:r>
              <a:rPr dirty="0" err="1"/>
              <a:t>Schwankung</a:t>
            </a:r>
            <a:r>
              <a:rPr dirty="0"/>
              <a:t>, </a:t>
            </a:r>
            <a:r>
              <a:rPr dirty="0" err="1"/>
              <a:t>weniger</a:t>
            </a:r>
            <a:r>
              <a:rPr dirty="0"/>
              <a:t> </a:t>
            </a:r>
            <a:r>
              <a:rPr dirty="0" err="1"/>
              <a:t>Korrekturbedarf</a:t>
            </a:r>
            <a:r>
              <a:rPr dirty="0"/>
              <a:t>. Und die </a:t>
            </a:r>
            <a:r>
              <a:rPr dirty="0" err="1"/>
              <a:t>Periodenabgrenzungen</a:t>
            </a:r>
            <a:r>
              <a:rPr dirty="0"/>
              <a:t> </a:t>
            </a:r>
            <a:r>
              <a:rPr dirty="0" err="1"/>
              <a:t>nach</a:t>
            </a:r>
            <a:r>
              <a:rPr dirty="0"/>
              <a:t> Sloan: Sie </a:t>
            </a:r>
            <a:r>
              <a:rPr dirty="0" err="1"/>
              <a:t>dämpfen</a:t>
            </a:r>
            <a:r>
              <a:rPr dirty="0"/>
              <a:t> die </a:t>
            </a:r>
            <a:r>
              <a:rPr dirty="0" err="1"/>
              <a:t>Volatilität</a:t>
            </a:r>
            <a:r>
              <a:rPr dirty="0"/>
              <a:t> der </a:t>
            </a:r>
            <a:r>
              <a:rPr dirty="0" err="1"/>
              <a:t>Buchgewinne</a:t>
            </a:r>
            <a:r>
              <a:rPr dirty="0"/>
              <a:t> — ROA minus 0,27 — </a:t>
            </a:r>
            <a:r>
              <a:rPr dirty="0" err="1"/>
              <a:t>aber</a:t>
            </a:r>
            <a:r>
              <a:rPr dirty="0"/>
              <a:t> nicht die der FCF-Marge. Damit </a:t>
            </a:r>
            <a:r>
              <a:rPr dirty="0" err="1"/>
              <a:t>ist</a:t>
            </a:r>
            <a:r>
              <a:rPr dirty="0"/>
              <a:t> der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 </a:t>
            </a:r>
            <a:r>
              <a:rPr dirty="0" err="1"/>
              <a:t>direkt</a:t>
            </a:r>
            <a:r>
              <a:rPr dirty="0"/>
              <a:t> </a:t>
            </a:r>
            <a:r>
              <a:rPr dirty="0" err="1"/>
              <a:t>nachgewiesen</a:t>
            </a:r>
            <a:r>
              <a:rPr dirty="0"/>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Und die härteste Prüfung: Aus jeder Sektor-Cluster-Mechanik aus Forschungsfrage eins habe ich eine falsifizierbare Vorhersage zur Quadranten-Verteilung abgeleitet. Drei von vier Clustern bestätigen sich mit 60 bis 66 Prozent Konformität. Das schwächste benenne ich offen: Kommunikation und Energie mit 43 Prozent — bei der FCF-Marge nur 30 Prozent, weil Investitionszyklen den Cashflow länger als ein Quartal persistieren lassen. Und das fünfte Cluster, Gesundheit und zyklischer Konsum, bleibt diffus — genau wie vorhergesagt.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a:t>
            </a:r>
            <a:r>
              <a:rPr dirty="0" err="1"/>
              <a:t>Forschungsfrage</a:t>
            </a:r>
            <a:r>
              <a:rPr dirty="0"/>
              <a:t> </a:t>
            </a:r>
            <a:r>
              <a:rPr dirty="0" err="1"/>
              <a:t>drei</a:t>
            </a:r>
            <a:r>
              <a:rPr dirty="0"/>
              <a:t> </a:t>
            </a:r>
            <a:r>
              <a:rPr dirty="0" err="1"/>
              <a:t>prüfe</a:t>
            </a:r>
            <a:r>
              <a:rPr dirty="0"/>
              <a:t> ich auf </a:t>
            </a:r>
            <a:r>
              <a:rPr dirty="0" err="1"/>
              <a:t>drei</a:t>
            </a:r>
            <a:r>
              <a:rPr dirty="0"/>
              <a:t> </a:t>
            </a:r>
            <a:r>
              <a:rPr dirty="0" err="1"/>
              <a:t>Ebenen</a:t>
            </a:r>
            <a:r>
              <a:rPr dirty="0"/>
              <a:t> — das </a:t>
            </a:r>
            <a:r>
              <a:rPr dirty="0" err="1"/>
              <a:t>ist</a:t>
            </a:r>
            <a:r>
              <a:rPr dirty="0"/>
              <a:t> das </a:t>
            </a:r>
            <a:r>
              <a:rPr dirty="0" err="1"/>
              <a:t>Testprogramm</a:t>
            </a:r>
            <a:r>
              <a:rPr dirty="0"/>
              <a:t>: </a:t>
            </a:r>
            <a:r>
              <a:rPr dirty="0" err="1"/>
              <a:t>Erstens</a:t>
            </a:r>
            <a:r>
              <a:rPr dirty="0"/>
              <a:t> die </a:t>
            </a:r>
            <a:r>
              <a:rPr dirty="0" err="1"/>
              <a:t>Unternehmensmerkmale</a:t>
            </a:r>
            <a:r>
              <a:rPr dirty="0"/>
              <a:t> — </a:t>
            </a:r>
            <a:r>
              <a:rPr dirty="0" err="1"/>
              <a:t>fünf</a:t>
            </a:r>
            <a:r>
              <a:rPr dirty="0"/>
              <a:t> </a:t>
            </a:r>
            <a:r>
              <a:rPr dirty="0" err="1"/>
              <a:t>Strukturvariablen</a:t>
            </a:r>
            <a:r>
              <a:rPr dirty="0"/>
              <a:t> </a:t>
            </a:r>
            <a:r>
              <a:rPr dirty="0" err="1"/>
              <a:t>gegen</a:t>
            </a:r>
            <a:r>
              <a:rPr dirty="0"/>
              <a:t> Phi und Sigma </a:t>
            </a:r>
            <a:r>
              <a:rPr dirty="0" err="1"/>
              <a:t>jeder</a:t>
            </a:r>
            <a:r>
              <a:rPr dirty="0"/>
              <a:t> </a:t>
            </a:r>
            <a:r>
              <a:rPr dirty="0" err="1"/>
              <a:t>Kennzahl</a:t>
            </a:r>
            <a:r>
              <a:rPr dirty="0"/>
              <a:t>, 98 Spearman-Tests plus </a:t>
            </a:r>
            <a:r>
              <a:rPr dirty="0" err="1"/>
              <a:t>Quintilvergleiche</a:t>
            </a:r>
            <a:r>
              <a:rPr dirty="0"/>
              <a:t>. </a:t>
            </a:r>
            <a:r>
              <a:rPr dirty="0" err="1"/>
              <a:t>Zweitens</a:t>
            </a:r>
            <a:r>
              <a:rPr dirty="0"/>
              <a:t> der Sektor — Kruskal-Wallis </a:t>
            </a:r>
            <a:r>
              <a:rPr dirty="0" err="1"/>
              <a:t>über</a:t>
            </a:r>
            <a:r>
              <a:rPr dirty="0"/>
              <a:t> die </a:t>
            </a:r>
            <a:r>
              <a:rPr dirty="0" err="1"/>
              <a:t>zehn</a:t>
            </a:r>
            <a:r>
              <a:rPr dirty="0"/>
              <a:t> GICS-</a:t>
            </a:r>
            <a:r>
              <a:rPr dirty="0" err="1"/>
              <a:t>Sektoren</a:t>
            </a:r>
            <a:r>
              <a:rPr dirty="0"/>
              <a:t>, </a:t>
            </a:r>
            <a:r>
              <a:rPr dirty="0" err="1"/>
              <a:t>dazu</a:t>
            </a:r>
            <a:r>
              <a:rPr dirty="0"/>
              <a:t> die </a:t>
            </a:r>
            <a:r>
              <a:rPr dirty="0" err="1"/>
              <a:t>Falsifikation</a:t>
            </a:r>
            <a:r>
              <a:rPr dirty="0"/>
              <a:t> der </a:t>
            </a:r>
            <a:r>
              <a:rPr dirty="0" err="1"/>
              <a:t>fünf</a:t>
            </a:r>
            <a:r>
              <a:rPr dirty="0"/>
              <a:t> Sektor-Cluster und die </a:t>
            </a:r>
            <a:r>
              <a:rPr dirty="0" err="1"/>
              <a:t>Parallelschätzung</a:t>
            </a:r>
            <a:r>
              <a:rPr dirty="0"/>
              <a:t> der 451 </a:t>
            </a:r>
            <a:r>
              <a:rPr dirty="0" err="1"/>
              <a:t>Finanzdienstleister</a:t>
            </a:r>
            <a:r>
              <a:rPr dirty="0"/>
              <a:t>. </a:t>
            </a:r>
            <a:r>
              <a:rPr dirty="0" err="1"/>
              <a:t>Drittens</a:t>
            </a:r>
            <a:r>
              <a:rPr dirty="0"/>
              <a:t> die </a:t>
            </a:r>
            <a:r>
              <a:rPr dirty="0" err="1"/>
              <a:t>Synthese</a:t>
            </a:r>
            <a:r>
              <a:rPr dirty="0"/>
              <a:t> — 14 multivariate </a:t>
            </a:r>
            <a:r>
              <a:rPr dirty="0" err="1"/>
              <a:t>Regressionen</a:t>
            </a:r>
            <a:r>
              <a:rPr dirty="0"/>
              <a:t> </a:t>
            </a:r>
            <a:r>
              <a:rPr dirty="0" err="1"/>
              <a:t>mit</a:t>
            </a:r>
            <a:r>
              <a:rPr dirty="0"/>
              <a:t> </a:t>
            </a:r>
            <a:r>
              <a:rPr dirty="0" err="1"/>
              <a:t>allen</a:t>
            </a:r>
            <a:r>
              <a:rPr dirty="0"/>
              <a:t> </a:t>
            </a:r>
            <a:r>
              <a:rPr dirty="0" err="1"/>
              <a:t>Variablen</a:t>
            </a:r>
            <a:r>
              <a:rPr dirty="0"/>
              <a:t> </a:t>
            </a:r>
            <a:r>
              <a:rPr dirty="0" err="1"/>
              <a:t>gemeinsam</a:t>
            </a:r>
            <a:r>
              <a:rPr dirty="0"/>
              <a:t>. </a:t>
            </a:r>
            <a:r>
              <a:rPr dirty="0" err="1"/>
              <a:t>Durchgängig</a:t>
            </a:r>
            <a:r>
              <a:rPr dirty="0"/>
              <a:t> Bonferroni-</a:t>
            </a:r>
            <a:r>
              <a:rPr dirty="0" err="1"/>
              <a:t>korrigiert</a:t>
            </a:r>
            <a:r>
              <a:rPr dirty="0"/>
              <a:t>. Der Reihe </a:t>
            </a:r>
            <a:r>
              <a:rPr dirty="0" err="1"/>
              <a:t>nach</a:t>
            </a:r>
            <a:r>
              <a:rPr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Die bivariate Ebene: Links Sigma, </a:t>
            </a:r>
            <a:r>
              <a:rPr dirty="0" err="1"/>
              <a:t>rechts</a:t>
            </a:r>
            <a:r>
              <a:rPr dirty="0"/>
              <a:t> Phi — und das Muster </a:t>
            </a:r>
            <a:r>
              <a:rPr dirty="0" err="1"/>
              <a:t>springt</a:t>
            </a:r>
            <a:r>
              <a:rPr dirty="0"/>
              <a:t> ins Auge: 31 von 49 Sigma-Tests </a:t>
            </a:r>
            <a:r>
              <a:rPr dirty="0" err="1"/>
              <a:t>signifikant</a:t>
            </a:r>
            <a:r>
              <a:rPr dirty="0"/>
              <a:t>, </a:t>
            </a:r>
            <a:r>
              <a:rPr dirty="0" err="1"/>
              <a:t>nur</a:t>
            </a:r>
            <a:r>
              <a:rPr dirty="0"/>
              <a:t> 10 von 49 </a:t>
            </a:r>
            <a:r>
              <a:rPr dirty="0" err="1"/>
              <a:t>bei</a:t>
            </a:r>
            <a:r>
              <a:rPr dirty="0"/>
              <a:t> Phi; die </a:t>
            </a:r>
            <a:r>
              <a:rPr dirty="0" err="1"/>
              <a:t>zehn</a:t>
            </a:r>
            <a:r>
              <a:rPr dirty="0"/>
              <a:t> </a:t>
            </a:r>
            <a:r>
              <a:rPr dirty="0" err="1"/>
              <a:t>stärksten</a:t>
            </a:r>
            <a:r>
              <a:rPr dirty="0"/>
              <a:t> </a:t>
            </a:r>
            <a:r>
              <a:rPr dirty="0" err="1"/>
              <a:t>Effekte</a:t>
            </a:r>
            <a:r>
              <a:rPr dirty="0"/>
              <a:t> </a:t>
            </a:r>
            <a:r>
              <a:rPr dirty="0" err="1"/>
              <a:t>betreffen</a:t>
            </a:r>
            <a:r>
              <a:rPr dirty="0"/>
              <a:t> </a:t>
            </a:r>
            <a:r>
              <a:rPr dirty="0" err="1"/>
              <a:t>ausnahmslos</a:t>
            </a:r>
            <a:r>
              <a:rPr dirty="0"/>
              <a:t> Sigma. Am </a:t>
            </a:r>
            <a:r>
              <a:rPr dirty="0" err="1"/>
              <a:t>stärksten</a:t>
            </a:r>
            <a:r>
              <a:rPr dirty="0"/>
              <a:t> </a:t>
            </a:r>
            <a:r>
              <a:rPr dirty="0" err="1"/>
              <a:t>wirkt</a:t>
            </a:r>
            <a:r>
              <a:rPr dirty="0"/>
              <a:t> die </a:t>
            </a:r>
            <a:r>
              <a:rPr dirty="0" err="1"/>
              <a:t>Größe</a:t>
            </a:r>
            <a:r>
              <a:rPr dirty="0"/>
              <a:t>: Die </a:t>
            </a:r>
            <a:r>
              <a:rPr dirty="0" err="1"/>
              <a:t>Mitarbeiterzahl</a:t>
            </a:r>
            <a:r>
              <a:rPr dirty="0"/>
              <a:t> </a:t>
            </a:r>
            <a:r>
              <a:rPr dirty="0" err="1"/>
              <a:t>dämpft</a:t>
            </a:r>
            <a:r>
              <a:rPr dirty="0"/>
              <a:t> die </a:t>
            </a:r>
            <a:r>
              <a:rPr dirty="0" err="1"/>
              <a:t>Volatilität</a:t>
            </a:r>
            <a:r>
              <a:rPr dirty="0"/>
              <a:t> von FCF-Marge und Current Ratio </a:t>
            </a:r>
            <a:r>
              <a:rPr dirty="0" err="1"/>
              <a:t>mit</a:t>
            </a:r>
            <a:r>
              <a:rPr dirty="0"/>
              <a:t> minus 0,53 — </a:t>
            </a:r>
            <a:r>
              <a:rPr dirty="0" err="1"/>
              <a:t>vom</a:t>
            </a:r>
            <a:r>
              <a:rPr dirty="0"/>
              <a:t> </a:t>
            </a:r>
            <a:r>
              <a:rPr dirty="0" err="1"/>
              <a:t>kleinsten</a:t>
            </a:r>
            <a:r>
              <a:rPr dirty="0"/>
              <a:t> </a:t>
            </a:r>
            <a:r>
              <a:rPr dirty="0" err="1"/>
              <a:t>zum</a:t>
            </a:r>
            <a:r>
              <a:rPr dirty="0"/>
              <a:t> </a:t>
            </a:r>
            <a:r>
              <a:rPr dirty="0" err="1"/>
              <a:t>größten</a:t>
            </a:r>
            <a:r>
              <a:rPr dirty="0"/>
              <a:t> Quintil </a:t>
            </a:r>
            <a:r>
              <a:rPr dirty="0" err="1"/>
              <a:t>fällt</a:t>
            </a:r>
            <a:r>
              <a:rPr dirty="0"/>
              <a:t> der Sigma-Median von 0,45 auf 0,11, Cohens r 0,80, der </a:t>
            </a:r>
            <a:r>
              <a:rPr dirty="0" err="1"/>
              <a:t>stärkste</a:t>
            </a:r>
            <a:r>
              <a:rPr dirty="0"/>
              <a:t> </a:t>
            </a:r>
            <a:r>
              <a:rPr dirty="0" err="1"/>
              <a:t>Effekt</a:t>
            </a:r>
            <a:r>
              <a:rPr dirty="0"/>
              <a:t> der </a:t>
            </a:r>
            <a:r>
              <a:rPr dirty="0" err="1"/>
              <a:t>Analyse</a:t>
            </a:r>
            <a:r>
              <a:rPr dirty="0"/>
              <a:t>. Die </a:t>
            </a:r>
            <a:r>
              <a:rPr dirty="0" err="1"/>
              <a:t>Anlagenintensität</a:t>
            </a:r>
            <a:r>
              <a:rPr dirty="0"/>
              <a:t> </a:t>
            </a:r>
            <a:r>
              <a:rPr dirty="0" err="1"/>
              <a:t>zeigt</a:t>
            </a:r>
            <a:r>
              <a:rPr dirty="0"/>
              <a:t> das </a:t>
            </a:r>
            <a:r>
              <a:rPr dirty="0" err="1"/>
              <a:t>feinste</a:t>
            </a:r>
            <a:r>
              <a:rPr dirty="0"/>
              <a:t> Muster: </a:t>
            </a:r>
            <a:r>
              <a:rPr dirty="0" err="1"/>
              <a:t>Bilanzgrößen</a:t>
            </a:r>
            <a:r>
              <a:rPr dirty="0"/>
              <a:t> </a:t>
            </a:r>
            <a:r>
              <a:rPr dirty="0" err="1"/>
              <a:t>stabiler</a:t>
            </a:r>
            <a:r>
              <a:rPr dirty="0"/>
              <a:t>, Strom-</a:t>
            </a:r>
            <a:r>
              <a:rPr dirty="0" err="1"/>
              <a:t>Margen</a:t>
            </a:r>
            <a:r>
              <a:rPr dirty="0"/>
              <a:t> </a:t>
            </a:r>
            <a:r>
              <a:rPr dirty="0" err="1"/>
              <a:t>volatiler</a:t>
            </a:r>
            <a:r>
              <a:rPr dirty="0"/>
              <a:t> — die Strom-</a:t>
            </a:r>
            <a:r>
              <a:rPr dirty="0" err="1"/>
              <a:t>Bestand</a:t>
            </a:r>
            <a:r>
              <a:rPr dirty="0"/>
              <a:t>-Mechanik </a:t>
            </a:r>
            <a:r>
              <a:rPr dirty="0" err="1"/>
              <a:t>aus</a:t>
            </a:r>
            <a:r>
              <a:rPr dirty="0"/>
              <a:t> </a:t>
            </a:r>
            <a:r>
              <a:rPr dirty="0" err="1"/>
              <a:t>Forschungsfrage</a:t>
            </a:r>
            <a:r>
              <a:rPr dirty="0"/>
              <a:t> </a:t>
            </a:r>
            <a:r>
              <a:rPr dirty="0" err="1"/>
              <a:t>eins</a:t>
            </a:r>
            <a:r>
              <a:rPr dirty="0"/>
              <a:t> auf </a:t>
            </a:r>
            <a:r>
              <a:rPr dirty="0" err="1"/>
              <a:t>Unternehmensebene</a:t>
            </a:r>
            <a:r>
              <a:rPr dirty="0"/>
              <a:t>. Und die </a:t>
            </a:r>
            <a:r>
              <a:rPr dirty="0" err="1"/>
              <a:t>Periodenabgrenzungen</a:t>
            </a:r>
            <a:r>
              <a:rPr dirty="0"/>
              <a:t> </a:t>
            </a:r>
            <a:r>
              <a:rPr dirty="0" err="1"/>
              <a:t>dämpfen</a:t>
            </a:r>
            <a:r>
              <a:rPr dirty="0"/>
              <a:t> die </a:t>
            </a:r>
            <a:r>
              <a:rPr dirty="0" err="1"/>
              <a:t>Buchgewinne</a:t>
            </a:r>
            <a:r>
              <a:rPr dirty="0"/>
              <a:t>, </a:t>
            </a:r>
            <a:r>
              <a:rPr dirty="0" err="1"/>
              <a:t>aber</a:t>
            </a:r>
            <a:r>
              <a:rPr dirty="0"/>
              <a:t> nicht die FCF-Marge — der </a:t>
            </a:r>
            <a:r>
              <a:rPr dirty="0" err="1"/>
              <a:t>direkte</a:t>
            </a:r>
            <a:r>
              <a:rPr dirty="0"/>
              <a:t> </a:t>
            </a:r>
            <a:r>
              <a:rPr dirty="0" err="1"/>
              <a:t>Nachweis</a:t>
            </a:r>
            <a:r>
              <a:rPr dirty="0"/>
              <a:t> des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Das </a:t>
            </a:r>
            <a:r>
              <a:rPr dirty="0" err="1"/>
              <a:t>kategoriale</a:t>
            </a:r>
            <a:r>
              <a:rPr dirty="0"/>
              <a:t> </a:t>
            </a:r>
            <a:r>
              <a:rPr dirty="0" err="1"/>
              <a:t>Gegenstück</a:t>
            </a:r>
            <a:r>
              <a:rPr dirty="0"/>
              <a:t>: der Sektor. Auf der Sigma-</a:t>
            </a:r>
            <a:r>
              <a:rPr dirty="0" err="1"/>
              <a:t>Seite</a:t>
            </a:r>
            <a:r>
              <a:rPr dirty="0"/>
              <a:t> </a:t>
            </a:r>
            <a:r>
              <a:rPr dirty="0" err="1"/>
              <a:t>erklärt</a:t>
            </a:r>
            <a:r>
              <a:rPr dirty="0"/>
              <a:t> die </a:t>
            </a:r>
            <a:r>
              <a:rPr dirty="0" err="1"/>
              <a:t>Sektorzugehörigkeit</a:t>
            </a:r>
            <a:r>
              <a:rPr dirty="0"/>
              <a:t> bis </a:t>
            </a:r>
            <a:r>
              <a:rPr dirty="0" err="1"/>
              <a:t>zu</a:t>
            </a:r>
            <a:r>
              <a:rPr dirty="0"/>
              <a:t> 22 </a:t>
            </a:r>
            <a:r>
              <a:rPr dirty="0" err="1"/>
              <a:t>Prozent</a:t>
            </a:r>
            <a:r>
              <a:rPr dirty="0"/>
              <a:t> der Variation — FCF-Marge und Current Ratio </a:t>
            </a:r>
            <a:r>
              <a:rPr dirty="0" err="1"/>
              <a:t>vorn</a:t>
            </a:r>
            <a:r>
              <a:rPr dirty="0"/>
              <a:t>, alle </a:t>
            </a:r>
            <a:r>
              <a:rPr dirty="0" err="1"/>
              <a:t>sieben</a:t>
            </a:r>
            <a:r>
              <a:rPr dirty="0"/>
              <a:t> </a:t>
            </a:r>
            <a:r>
              <a:rPr dirty="0" err="1"/>
              <a:t>signifikant</a:t>
            </a:r>
            <a:r>
              <a:rPr dirty="0"/>
              <a:t>. Auf der Phi-</a:t>
            </a:r>
            <a:r>
              <a:rPr dirty="0" err="1"/>
              <a:t>Seite</a:t>
            </a:r>
            <a:r>
              <a:rPr dirty="0"/>
              <a:t> maximal </a:t>
            </a:r>
            <a:r>
              <a:rPr dirty="0" err="1"/>
              <a:t>sieben</a:t>
            </a:r>
            <a:r>
              <a:rPr dirty="0"/>
              <a:t> </a:t>
            </a:r>
            <a:r>
              <a:rPr dirty="0" err="1"/>
              <a:t>Prozent</a:t>
            </a:r>
            <a:r>
              <a:rPr dirty="0"/>
              <a:t> — </a:t>
            </a:r>
            <a:r>
              <a:rPr dirty="0" err="1"/>
              <a:t>dieselbe</a:t>
            </a:r>
            <a:r>
              <a:rPr dirty="0"/>
              <a:t> </a:t>
            </a:r>
            <a:r>
              <a:rPr dirty="0" err="1"/>
              <a:t>Asymmetrie</a:t>
            </a:r>
            <a:r>
              <a:rPr dirty="0"/>
              <a:t> </a:t>
            </a:r>
            <a:r>
              <a:rPr dirty="0" err="1"/>
              <a:t>wie</a:t>
            </a:r>
            <a:r>
              <a:rPr dirty="0"/>
              <a:t> </a:t>
            </a:r>
            <a:r>
              <a:rPr dirty="0" err="1"/>
              <a:t>bei</a:t>
            </a:r>
            <a:r>
              <a:rPr dirty="0"/>
              <a:t> den </a:t>
            </a:r>
            <a:r>
              <a:rPr dirty="0" err="1"/>
              <a:t>Strukturvariablen</a:t>
            </a:r>
            <a:r>
              <a:rPr dirty="0"/>
              <a:t>. Der </a:t>
            </a:r>
            <a:r>
              <a:rPr dirty="0" err="1"/>
              <a:t>schärfste</a:t>
            </a:r>
            <a:r>
              <a:rPr dirty="0"/>
              <a:t> </a:t>
            </a:r>
            <a:r>
              <a:rPr dirty="0" err="1"/>
              <a:t>Kontrast</a:t>
            </a:r>
            <a:r>
              <a:rPr dirty="0"/>
              <a:t>: die 451 parallel </a:t>
            </a:r>
            <a:r>
              <a:rPr dirty="0" err="1"/>
              <a:t>geschätzten</a:t>
            </a:r>
            <a:r>
              <a:rPr dirty="0"/>
              <a:t> </a:t>
            </a:r>
            <a:r>
              <a:rPr dirty="0" err="1"/>
              <a:t>Finanzdienstleister</a:t>
            </a:r>
            <a:r>
              <a:rPr dirty="0"/>
              <a:t> — Current-Ratio-</a:t>
            </a:r>
            <a:r>
              <a:rPr dirty="0" err="1"/>
              <a:t>Volatilität</a:t>
            </a:r>
            <a:r>
              <a:rPr dirty="0"/>
              <a:t> </a:t>
            </a:r>
            <a:r>
              <a:rPr dirty="0" err="1"/>
              <a:t>beim</a:t>
            </a:r>
            <a:r>
              <a:rPr dirty="0"/>
              <a:t> 29-fachen, und die Bilanz-</a:t>
            </a:r>
            <a:r>
              <a:rPr dirty="0" err="1"/>
              <a:t>Kennzahlen</a:t>
            </a:r>
            <a:r>
              <a:rPr dirty="0"/>
              <a:t> </a:t>
            </a:r>
            <a:r>
              <a:rPr dirty="0" err="1"/>
              <a:t>revertieren</a:t>
            </a:r>
            <a:r>
              <a:rPr dirty="0"/>
              <a:t> </a:t>
            </a:r>
            <a:r>
              <a:rPr dirty="0" err="1"/>
              <a:t>deutlich</a:t>
            </a:r>
            <a:r>
              <a:rPr dirty="0"/>
              <a:t> </a:t>
            </a:r>
            <a:r>
              <a:rPr dirty="0" err="1"/>
              <a:t>stärker</a:t>
            </a:r>
            <a:r>
              <a:rPr dirty="0"/>
              <a:t>, </a:t>
            </a:r>
            <a:r>
              <a:rPr dirty="0" err="1"/>
              <a:t>weil</a:t>
            </a:r>
            <a:r>
              <a:rPr dirty="0"/>
              <a:t> </a:t>
            </a:r>
            <a:r>
              <a:rPr dirty="0" err="1"/>
              <a:t>Mindestquoten</a:t>
            </a:r>
            <a:r>
              <a:rPr dirty="0"/>
              <a:t> die </a:t>
            </a:r>
            <a:r>
              <a:rPr dirty="0" err="1"/>
              <a:t>Korrektur</a:t>
            </a:r>
            <a:r>
              <a:rPr dirty="0"/>
              <a:t> </a:t>
            </a:r>
            <a:r>
              <a:rPr dirty="0" err="1"/>
              <a:t>erzwingen</a:t>
            </a:r>
            <a:r>
              <a:rPr dirty="0"/>
              <a:t>: Der </a:t>
            </a:r>
            <a:r>
              <a:rPr dirty="0" err="1"/>
              <a:t>Ausschluss</a:t>
            </a:r>
            <a:r>
              <a:rPr dirty="0"/>
              <a:t> </a:t>
            </a:r>
            <a:r>
              <a:rPr dirty="0" err="1"/>
              <a:t>ist</a:t>
            </a:r>
            <a:r>
              <a:rPr dirty="0"/>
              <a:t> </a:t>
            </a:r>
            <a:r>
              <a:rPr dirty="0" err="1"/>
              <a:t>empirisch</a:t>
            </a:r>
            <a:r>
              <a:rPr dirty="0"/>
              <a:t> </a:t>
            </a:r>
            <a:r>
              <a:rPr dirty="0" err="1"/>
              <a:t>begründet</a:t>
            </a:r>
            <a:r>
              <a:rPr dirty="0"/>
              <a:t>. Und die </a:t>
            </a:r>
            <a:r>
              <a:rPr dirty="0" err="1"/>
              <a:t>härteste</a:t>
            </a:r>
            <a:r>
              <a:rPr dirty="0"/>
              <a:t> </a:t>
            </a:r>
            <a:r>
              <a:rPr dirty="0" err="1"/>
              <a:t>Prüfung</a:t>
            </a:r>
            <a:r>
              <a:rPr dirty="0"/>
              <a:t>: Aus </a:t>
            </a:r>
            <a:r>
              <a:rPr dirty="0" err="1"/>
              <a:t>jeder</a:t>
            </a:r>
            <a:r>
              <a:rPr dirty="0"/>
              <a:t> Cluster-Mechanik </a:t>
            </a:r>
            <a:r>
              <a:rPr dirty="0" err="1"/>
              <a:t>eine</a:t>
            </a:r>
            <a:r>
              <a:rPr dirty="0"/>
              <a:t> </a:t>
            </a:r>
            <a:r>
              <a:rPr dirty="0" err="1"/>
              <a:t>falsifizierbare</a:t>
            </a:r>
            <a:r>
              <a:rPr dirty="0"/>
              <a:t> </a:t>
            </a:r>
            <a:r>
              <a:rPr dirty="0" err="1"/>
              <a:t>Vorhersage</a:t>
            </a:r>
            <a:r>
              <a:rPr dirty="0"/>
              <a:t> — </a:t>
            </a:r>
            <a:r>
              <a:rPr dirty="0" err="1"/>
              <a:t>drei</a:t>
            </a:r>
            <a:r>
              <a:rPr dirty="0"/>
              <a:t> von vier </a:t>
            </a:r>
            <a:r>
              <a:rPr dirty="0" err="1"/>
              <a:t>bestätigt</a:t>
            </a:r>
            <a:r>
              <a:rPr dirty="0"/>
              <a:t>, das </a:t>
            </a:r>
            <a:r>
              <a:rPr dirty="0" err="1"/>
              <a:t>schwächste</a:t>
            </a:r>
            <a:r>
              <a:rPr dirty="0"/>
              <a:t> </a:t>
            </a:r>
            <a:r>
              <a:rPr dirty="0" err="1"/>
              <a:t>offen</a:t>
            </a:r>
            <a:r>
              <a:rPr dirty="0"/>
              <a:t> </a:t>
            </a:r>
            <a:r>
              <a:rPr dirty="0" err="1"/>
              <a:t>benannt</a:t>
            </a:r>
            <a:r>
              <a:rPr dirty="0"/>
              <a:t>: 43 </a:t>
            </a:r>
            <a:r>
              <a:rPr dirty="0" err="1"/>
              <a:t>Prozent</a:t>
            </a:r>
            <a:r>
              <a:rPr dirty="0"/>
              <a:t>, FCF </a:t>
            </a:r>
            <a:r>
              <a:rPr dirty="0" err="1"/>
              <a:t>sogar</a:t>
            </a:r>
            <a:r>
              <a:rPr dirty="0"/>
              <a:t> </a:t>
            </a:r>
            <a:r>
              <a:rPr dirty="0" err="1"/>
              <a:t>nur</a:t>
            </a:r>
            <a:r>
              <a:rPr dirty="0"/>
              <a:t> 30 — </a:t>
            </a:r>
            <a:r>
              <a:rPr dirty="0" err="1"/>
              <a:t>Investitionszyklen</a:t>
            </a:r>
            <a:r>
              <a:rPr dirty="0"/>
              <a:t> </a:t>
            </a:r>
            <a:r>
              <a:rPr dirty="0" err="1"/>
              <a:t>persistieren</a:t>
            </a:r>
            <a:r>
              <a:rPr dirty="0"/>
              <a:t> </a:t>
            </a:r>
            <a:r>
              <a:rPr dirty="0" err="1"/>
              <a:t>länger</a:t>
            </a:r>
            <a:r>
              <a:rPr dirty="0"/>
              <a:t> </a:t>
            </a:r>
            <a:r>
              <a:rPr dirty="0" err="1"/>
              <a:t>als</a:t>
            </a:r>
            <a:r>
              <a:rPr dirty="0"/>
              <a:t> </a:t>
            </a:r>
            <a:r>
              <a:rPr dirty="0" err="1"/>
              <a:t>ein</a:t>
            </a:r>
            <a:r>
              <a:rPr dirty="0"/>
              <a:t> Quartal.</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a:solidFill>
                  <a:srgbClr val="E6D44F"/>
                </a:solidFill>
                <a:latin typeface="Courier New" pitchFamily="34" charset="0"/>
                <a:ea typeface="Courier New" pitchFamily="34" charset="-122"/>
                <a:cs typeface="Courier New" pitchFamily="34" charset="-120"/>
              </a:rPr>
              <a:t>MASTERKOLLOQUIUM</a:t>
            </a:r>
            <a:endParaRPr lang="en-US" sz="100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PRÜFER</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DATUM</a:t>
            </a:r>
            <a:endParaRPr lang="en-US" sz="900" b="1" kern="0" spc="20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Tobias Mourier</a:t>
            </a:r>
            <a:endParaRPr lang="en-US" sz="140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err="1">
                <a:solidFill>
                  <a:srgbClr val="F2EFDA"/>
                </a:solidFill>
                <a:latin typeface="Arial" pitchFamily="34" charset="0"/>
                <a:ea typeface="Arial" pitchFamily="34" charset="-122"/>
                <a:cs typeface="Arial" pitchFamily="34" charset="-120"/>
              </a:rPr>
              <a:t>Technische</a:t>
            </a:r>
            <a:r>
              <a:rPr lang="en-US" sz="1400" b="1">
                <a:solidFill>
                  <a:srgbClr val="F2EFDA"/>
                </a:solidFill>
                <a:latin typeface="Arial" pitchFamily="34" charset="0"/>
                <a:ea typeface="Arial" pitchFamily="34" charset="-122"/>
                <a:cs typeface="Arial" pitchFamily="34" charset="-120"/>
              </a:rPr>
              <a:t> Hochschule Wildau</a:t>
            </a:r>
            <a:endParaRPr lang="en-US" sz="140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a:solidFill>
                  <a:srgbClr val="F2EFDA"/>
                </a:solidFill>
                <a:latin typeface="Arial" pitchFamily="34" charset="0"/>
                <a:cs typeface="Arial" pitchFamily="34" charset="-120"/>
              </a:rPr>
              <a:t>Prof. Dr. R. </a:t>
            </a:r>
            <a:r>
              <a:rPr lang="en-US" sz="1400" b="1" err="1">
                <a:solidFill>
                  <a:srgbClr val="F2EFDA"/>
                </a:solidFill>
                <a:latin typeface="Arial" pitchFamily="34" charset="0"/>
                <a:cs typeface="Arial" pitchFamily="34" charset="-120"/>
              </a:rPr>
              <a:t>Stollhoff</a:t>
            </a:r>
            <a:endParaRPr lang="en-US" sz="140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07.07.2026</a:t>
            </a:r>
            <a:endParaRPr lang="en-US" sz="140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2" name="Shape 16">
            <a:extLst>
              <a:ext uri="{FF2B5EF4-FFF2-40B4-BE49-F238E27FC236}">
                <a16:creationId xmlns:a16="http://schemas.microsoft.com/office/drawing/2014/main" id="{2B8ADCE8-FECF-5BB8-7B22-6B49F29FDF66}"/>
              </a:ext>
            </a:extLst>
          </p:cNvPr>
          <p:cNvSpPr/>
          <p:nvPr/>
        </p:nvSpPr>
        <p:spPr>
          <a:xfrm>
            <a:off x="876198" y="3835908"/>
            <a:ext cx="10579202" cy="194259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p:cNvSpPr/>
          <p:nvPr/>
        </p:nvSpPr>
        <p:spPr>
          <a:xfrm>
            <a:off x="634595" y="41024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sp>
        <p:nvSpPr>
          <p:cNvPr id="54" name="Text 2">
            <a:extLst>
              <a:ext uri="{FF2B5EF4-FFF2-40B4-BE49-F238E27FC236}">
                <a16:creationId xmlns:a16="http://schemas.microsoft.com/office/drawing/2014/main" id="{148FA918-77A5-D32A-008B-BBD14EAC800D}"/>
              </a:ext>
            </a:extLst>
          </p:cNvPr>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0" name="Text 2">
            <a:extLst>
              <a:ext uri="{FF2B5EF4-FFF2-40B4-BE49-F238E27FC236}">
                <a16:creationId xmlns:a16="http://schemas.microsoft.com/office/drawing/2014/main" id="{69DDE473-F5E2-CC75-B428-49DDEF93D32F}"/>
              </a:ext>
            </a:extLst>
          </p:cNvPr>
          <p:cNvSpPr/>
          <p:nvPr/>
        </p:nvSpPr>
        <p:spPr>
          <a:xfrm>
            <a:off x="634594" y="1990685"/>
            <a:ext cx="10933951" cy="701716"/>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Finanzkennzahlen</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1" name="Text 2">
            <a:extLst>
              <a:ext uri="{FF2B5EF4-FFF2-40B4-BE49-F238E27FC236}">
                <a16:creationId xmlns:a16="http://schemas.microsoft.com/office/drawing/2014/main" id="{9EC68522-C9FF-7A32-A0AE-BA8ED81B805A}"/>
              </a:ext>
            </a:extLst>
          </p:cNvPr>
          <p:cNvSpPr/>
          <p:nvPr/>
        </p:nvSpPr>
        <p:spPr>
          <a:xfrm>
            <a:off x="1307695" y="1428517"/>
            <a:ext cx="4204106" cy="673407"/>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Zeitreihenbasierte</a:t>
            </a:r>
            <a:endParaRPr lang="en-US" sz="3600">
              <a:solidFill>
                <a:srgbClr val="F3EFDA"/>
              </a:solidFill>
            </a:endParaRPr>
          </a:p>
        </p:txBody>
      </p:sp>
      <p:sp>
        <p:nvSpPr>
          <p:cNvPr id="64" name="Freihandform 63">
            <a:extLst>
              <a:ext uri="{FF2B5EF4-FFF2-40B4-BE49-F238E27FC236}">
                <a16:creationId xmlns:a16="http://schemas.microsoft.com/office/drawing/2014/main" id="{A04FF9E1-B817-C502-66FA-0A741D7BBFA8}"/>
              </a:ext>
            </a:extLst>
          </p:cNvPr>
          <p:cNvSpPr/>
          <p:nvPr/>
        </p:nvSpPr>
        <p:spPr>
          <a:xfrm>
            <a:off x="1676400" y="2755227"/>
            <a:ext cx="2476500" cy="610273"/>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Lst>
            <a:ahLst/>
            <a:cxnLst>
              <a:cxn ang="0">
                <a:pos x="csX0" y="csY0"/>
              </a:cxn>
              <a:cxn ang="0">
                <a:pos x="csX1" y="csY1"/>
              </a:cxn>
              <a:cxn ang="0">
                <a:pos x="csX2" y="csY2"/>
              </a:cxn>
              <a:cxn ang="0">
                <a:pos x="csX3" y="csY3"/>
              </a:cxn>
            </a:cxnLst>
            <a:rect l="l" t="t" r="r" b="b"/>
            <a:pathLst>
              <a:path w="2476500" h="610273">
                <a:moveTo>
                  <a:pt x="0" y="610273"/>
                </a:moveTo>
                <a:cubicBezTo>
                  <a:pt x="305858" y="316056"/>
                  <a:pt x="611717" y="21840"/>
                  <a:pt x="927100" y="673"/>
                </a:cubicBezTo>
                <a:cubicBezTo>
                  <a:pt x="1242483" y="-20494"/>
                  <a:pt x="1634067" y="464223"/>
                  <a:pt x="1892300" y="483273"/>
                </a:cubicBezTo>
                <a:cubicBezTo>
                  <a:pt x="2150533" y="502323"/>
                  <a:pt x="2313516" y="308648"/>
                  <a:pt x="2476500" y="114973"/>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60"/>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61"/>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0"/>
                                        <p:tgtEl>
                                          <p:spTgt spid="62"/>
                                        </p:tgtEl>
                                      </p:cBhvr>
                                    </p:animEffect>
                                    <p:anim calcmode="lin" valueType="num">
                                      <p:cBhvr>
                                        <p:cTn id="21" dur="1000" fill="hold"/>
                                        <p:tgtEl>
                                          <p:spTgt spid="62"/>
                                        </p:tgtEl>
                                        <p:attrNameLst>
                                          <p:attrName>ppt_x</p:attrName>
                                        </p:attrNameLst>
                                      </p:cBhvr>
                                      <p:tavLst>
                                        <p:tav tm="0">
                                          <p:val>
                                            <p:strVal val="#ppt_x"/>
                                          </p:val>
                                        </p:tav>
                                        <p:tav tm="100000">
                                          <p:val>
                                            <p:strVal val="#ppt_x"/>
                                          </p:val>
                                        </p:tav>
                                      </p:tavLst>
                                    </p:anim>
                                    <p:anim calcmode="lin" valueType="num">
                                      <p:cBhvr>
                                        <p:cTn id="22"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repeatCount="0" fill="remove" grpId="0" nodeType="clickEffect">
                                  <p:stCondLst>
                                    <p:cond delay="0"/>
                                  </p:stCondLst>
                                  <p:iterate type="lt">
                                    <p:tmPct val="10000"/>
                                  </p:iterate>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childTnLst>
                                  <p:subTnLst>
                                    <p:set>
                                      <p:cBhvr override="childStyle">
                                        <p:cTn dur="1" fill="hold" display="0" masterRel="sameClick" afterEffect="1">
                                          <p:stCondLst>
                                            <p:cond evt="end" delay="0">
                                              <p:tn val="25"/>
                                            </p:cond>
                                          </p:stCondLst>
                                        </p:cTn>
                                        <p:tgtEl>
                                          <p:spTgt spid="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 grpId="0" animBg="1"/>
      <p:bldP spid="60" grpId="0" animBg="1"/>
      <p:bldP spid="61" grpId="0" animBg="1"/>
      <p:bldP spid="6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0392-D8FD-AB43-4548-396C5376A9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C93CB7-BFC6-5F81-12D1-8EDF8E2A0969}"/>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7BD67CBC-CFD2-7759-2701-94AE434A129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CE23936F-8BA2-8997-99CD-2528654F06A1}"/>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2" name="Shape 16">
            <a:extLst>
              <a:ext uri="{FF2B5EF4-FFF2-40B4-BE49-F238E27FC236}">
                <a16:creationId xmlns:a16="http://schemas.microsoft.com/office/drawing/2014/main" id="{C7EDC60F-7F90-DF13-575D-D95D30387624}"/>
              </a:ext>
            </a:extLst>
          </p:cNvPr>
          <p:cNvSpPr/>
          <p:nvPr/>
        </p:nvSpPr>
        <p:spPr>
          <a:xfrm>
            <a:off x="876198" y="1130807"/>
            <a:ext cx="10452202" cy="3301493"/>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3" name="Text 3">
            <a:extLst>
              <a:ext uri="{FF2B5EF4-FFF2-40B4-BE49-F238E27FC236}">
                <a16:creationId xmlns:a16="http://schemas.microsoft.com/office/drawing/2014/main" id="{360353AB-1EA1-9E84-2F10-D120C64F5CE3}"/>
              </a:ext>
            </a:extLst>
          </p:cNvPr>
          <p:cNvSpPr/>
          <p:nvPr/>
        </p:nvSpPr>
        <p:spPr>
          <a:xfrm>
            <a:off x="634595" y="13973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4" name="Gruppieren 13">
            <a:extLst>
              <a:ext uri="{FF2B5EF4-FFF2-40B4-BE49-F238E27FC236}">
                <a16:creationId xmlns:a16="http://schemas.microsoft.com/office/drawing/2014/main" id="{94E9CA68-9714-CD5A-46A2-3A73EADDEF8C}"/>
              </a:ext>
            </a:extLst>
          </p:cNvPr>
          <p:cNvGrpSpPr/>
          <p:nvPr/>
        </p:nvGrpSpPr>
        <p:grpSpPr>
          <a:xfrm>
            <a:off x="3462652" y="3178966"/>
            <a:ext cx="5266696" cy="952805"/>
            <a:chOff x="3462652" y="3178966"/>
            <a:chExt cx="5266696" cy="952805"/>
          </a:xfrm>
        </p:grpSpPr>
        <p:sp>
          <p:nvSpPr>
            <p:cNvPr id="15" name="Shape 8">
              <a:extLst>
                <a:ext uri="{FF2B5EF4-FFF2-40B4-BE49-F238E27FC236}">
                  <a16:creationId xmlns:a16="http://schemas.microsoft.com/office/drawing/2014/main" id="{A479BB1A-2830-5E92-BF44-7EF85F5646EC}"/>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6" name="Text 10">
              <a:extLst>
                <a:ext uri="{FF2B5EF4-FFF2-40B4-BE49-F238E27FC236}">
                  <a16:creationId xmlns:a16="http://schemas.microsoft.com/office/drawing/2014/main" id="{C61362DC-9124-FC43-4BD4-8B5FC70D87A5}"/>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17" name="Text 11">
              <a:extLst>
                <a:ext uri="{FF2B5EF4-FFF2-40B4-BE49-F238E27FC236}">
                  <a16:creationId xmlns:a16="http://schemas.microsoft.com/office/drawing/2014/main" id="{8FC9A8A6-5943-CBB4-F0E0-AC3B06F0A402}"/>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18" name="Grafik 17" descr="Aufwärtstrend mit einfarbiger Füllung">
              <a:extLst>
                <a:ext uri="{FF2B5EF4-FFF2-40B4-BE49-F238E27FC236}">
                  <a16:creationId xmlns:a16="http://schemas.microsoft.com/office/drawing/2014/main" id="{07E0A666-31E2-AF25-06DE-EF0E45A1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spTree>
    <p:extLst>
      <p:ext uri="{BB962C8B-B14F-4D97-AF65-F5344CB8AC3E}">
        <p14:creationId xmlns:p14="http://schemas.microsoft.com/office/powerpoint/2010/main" val="878804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25D7-FDF0-5C23-5771-3650123D96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C37D20-3A10-B0EB-64DC-BE304FC3A233}"/>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50B0DCAE-1D7F-6427-7BCC-81AC5CD1AC87}"/>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EE368D7-56D7-BDE4-15D8-7514BD2B977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a:extLst>
              <a:ext uri="{FF2B5EF4-FFF2-40B4-BE49-F238E27FC236}">
                <a16:creationId xmlns:a16="http://schemas.microsoft.com/office/drawing/2014/main" id="{7AC0A42C-C39A-9B4B-AB6B-085A6C41A2D4}"/>
              </a:ext>
            </a:extLst>
          </p:cNvPr>
          <p:cNvSpPr/>
          <p:nvPr/>
        </p:nvSpPr>
        <p:spPr>
          <a:xfrm>
            <a:off x="634594" y="1410007"/>
            <a:ext cx="10921593"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5" name="Gruppieren 14">
            <a:extLst>
              <a:ext uri="{FF2B5EF4-FFF2-40B4-BE49-F238E27FC236}">
                <a16:creationId xmlns:a16="http://schemas.microsoft.com/office/drawing/2014/main" id="{F48EC34E-5C0C-123E-855E-D0FE2FE3AD92}"/>
              </a:ext>
            </a:extLst>
          </p:cNvPr>
          <p:cNvGrpSpPr/>
          <p:nvPr/>
        </p:nvGrpSpPr>
        <p:grpSpPr>
          <a:xfrm>
            <a:off x="634594" y="4820018"/>
            <a:ext cx="5266695" cy="952805"/>
            <a:chOff x="634594" y="4820018"/>
            <a:chExt cx="5266695" cy="952805"/>
          </a:xfrm>
        </p:grpSpPr>
        <p:sp>
          <p:nvSpPr>
            <p:cNvPr id="7" name="Shape 4">
              <a:extLst>
                <a:ext uri="{FF2B5EF4-FFF2-40B4-BE49-F238E27FC236}">
                  <a16:creationId xmlns:a16="http://schemas.microsoft.com/office/drawing/2014/main" id="{2451CCD6-5F43-4207-EDFC-BC142E67F31D}"/>
                </a:ext>
              </a:extLst>
            </p:cNvPr>
            <p:cNvSpPr/>
            <p:nvPr/>
          </p:nvSpPr>
          <p:spPr>
            <a:xfrm>
              <a:off x="634594" y="4820018"/>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8C261A6A-7A71-6FC2-CA7A-60031356759B}"/>
                </a:ext>
              </a:extLst>
            </p:cNvPr>
            <p:cNvSpPr/>
            <p:nvPr/>
          </p:nvSpPr>
          <p:spPr>
            <a:xfrm>
              <a:off x="952806" y="5011128"/>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FE7B232F-7009-15DA-52A6-73B1B8FEF839}"/>
                </a:ext>
              </a:extLst>
            </p:cNvPr>
            <p:cNvSpPr/>
            <p:nvPr/>
          </p:nvSpPr>
          <p:spPr>
            <a:xfrm>
              <a:off x="1714501" y="5011128"/>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71DE3C69-4297-AC3F-FC64-7518BEAF47C7}"/>
                </a:ext>
              </a:extLst>
            </p:cNvPr>
            <p:cNvSpPr/>
            <p:nvPr/>
          </p:nvSpPr>
          <p:spPr>
            <a:xfrm>
              <a:off x="1714501" y="5315623"/>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 name="Gruppieren 2">
            <a:extLst>
              <a:ext uri="{FF2B5EF4-FFF2-40B4-BE49-F238E27FC236}">
                <a16:creationId xmlns:a16="http://schemas.microsoft.com/office/drawing/2014/main" id="{47DAF238-00C2-6622-981D-613DCDB81374}"/>
              </a:ext>
            </a:extLst>
          </p:cNvPr>
          <p:cNvGrpSpPr/>
          <p:nvPr/>
        </p:nvGrpSpPr>
        <p:grpSpPr>
          <a:xfrm>
            <a:off x="6290715" y="4820018"/>
            <a:ext cx="5266696" cy="952805"/>
            <a:chOff x="6290715" y="4820018"/>
            <a:chExt cx="5266696" cy="952805"/>
          </a:xfrm>
        </p:grpSpPr>
        <p:sp>
          <p:nvSpPr>
            <p:cNvPr id="11" name="Shape 8">
              <a:extLst>
                <a:ext uri="{FF2B5EF4-FFF2-40B4-BE49-F238E27FC236}">
                  <a16:creationId xmlns:a16="http://schemas.microsoft.com/office/drawing/2014/main" id="{4086EA3F-A978-2D25-8677-0BBBA68145E1}"/>
                </a:ext>
              </a:extLst>
            </p:cNvPr>
            <p:cNvSpPr/>
            <p:nvPr/>
          </p:nvSpPr>
          <p:spPr>
            <a:xfrm>
              <a:off x="6290715" y="4820018"/>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E78499B-0088-8C2B-BF2F-4A0A8CE10A58}"/>
                </a:ext>
              </a:extLst>
            </p:cNvPr>
            <p:cNvSpPr/>
            <p:nvPr/>
          </p:nvSpPr>
          <p:spPr>
            <a:xfrm>
              <a:off x="6608012" y="4947120"/>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E6483B8E-97EC-D192-D25F-1714F3BCE9AB}"/>
                </a:ext>
              </a:extLst>
            </p:cNvPr>
            <p:cNvSpPr/>
            <p:nvPr/>
          </p:nvSpPr>
          <p:spPr>
            <a:xfrm>
              <a:off x="7369707" y="5011128"/>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6FB592D6-6B5B-AFCC-57BA-F1ACE4CC3C12}"/>
                </a:ext>
              </a:extLst>
            </p:cNvPr>
            <p:cNvSpPr/>
            <p:nvPr/>
          </p:nvSpPr>
          <p:spPr>
            <a:xfrm>
              <a:off x="7369707" y="5315623"/>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grpSp>
        <p:nvGrpSpPr>
          <p:cNvPr id="45" name="Gruppieren 44">
            <a:extLst>
              <a:ext uri="{FF2B5EF4-FFF2-40B4-BE49-F238E27FC236}">
                <a16:creationId xmlns:a16="http://schemas.microsoft.com/office/drawing/2014/main" id="{928B4D57-F59F-7C6B-DBD9-574286438805}"/>
              </a:ext>
            </a:extLst>
          </p:cNvPr>
          <p:cNvGrpSpPr/>
          <p:nvPr/>
        </p:nvGrpSpPr>
        <p:grpSpPr>
          <a:xfrm>
            <a:off x="3462652" y="3178966"/>
            <a:ext cx="5266696" cy="952805"/>
            <a:chOff x="3462652" y="3178966"/>
            <a:chExt cx="5266696" cy="952805"/>
          </a:xfrm>
        </p:grpSpPr>
        <p:sp>
          <p:nvSpPr>
            <p:cNvPr id="39" name="Shape 8">
              <a:extLst>
                <a:ext uri="{FF2B5EF4-FFF2-40B4-BE49-F238E27FC236}">
                  <a16:creationId xmlns:a16="http://schemas.microsoft.com/office/drawing/2014/main" id="{DD1B9EFF-261D-51CF-9FC3-11836FAD152B}"/>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41" name="Text 10">
              <a:extLst>
                <a:ext uri="{FF2B5EF4-FFF2-40B4-BE49-F238E27FC236}">
                  <a16:creationId xmlns:a16="http://schemas.microsoft.com/office/drawing/2014/main" id="{8C0CD161-CEAC-6651-E084-2F75ACF396A8}"/>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42" name="Text 11">
              <a:extLst>
                <a:ext uri="{FF2B5EF4-FFF2-40B4-BE49-F238E27FC236}">
                  <a16:creationId xmlns:a16="http://schemas.microsoft.com/office/drawing/2014/main" id="{08ECA982-588D-B53B-0703-D8A0D6EB93EA}"/>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44" name="Grafik 43" descr="Aufwärtstrend mit einfarbiger Füllung">
              <a:extLst>
                <a:ext uri="{FF2B5EF4-FFF2-40B4-BE49-F238E27FC236}">
                  <a16:creationId xmlns:a16="http://schemas.microsoft.com/office/drawing/2014/main" id="{24D64D48-6A16-2786-7C82-AED8F4A3B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cxnSp>
        <p:nvCxnSpPr>
          <p:cNvPr id="46" name="Gewinkelte Verbindung 45">
            <a:extLst>
              <a:ext uri="{FF2B5EF4-FFF2-40B4-BE49-F238E27FC236}">
                <a16:creationId xmlns:a16="http://schemas.microsoft.com/office/drawing/2014/main" id="{26DA133E-1058-3591-FB3A-B6E033BB1576}"/>
              </a:ext>
            </a:extLst>
          </p:cNvPr>
          <p:cNvCxnSpPr>
            <a:cxnSpLocks/>
            <a:stCxn id="39" idx="2"/>
            <a:endCxn id="7" idx="0"/>
          </p:cNvCxnSpPr>
          <p:nvPr/>
        </p:nvCxnSpPr>
        <p:spPr>
          <a:xfrm rot="5400000">
            <a:off x="4337848" y="3061865"/>
            <a:ext cx="688247" cy="2828058"/>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winkelte Verbindung 48">
            <a:extLst>
              <a:ext uri="{FF2B5EF4-FFF2-40B4-BE49-F238E27FC236}">
                <a16:creationId xmlns:a16="http://schemas.microsoft.com/office/drawing/2014/main" id="{684DF1C6-C32B-49F3-DB40-CDCDE7806DD8}"/>
              </a:ext>
            </a:extLst>
          </p:cNvPr>
          <p:cNvCxnSpPr>
            <a:cxnSpLocks/>
            <a:stCxn id="39" idx="2"/>
            <a:endCxn id="11" idx="0"/>
          </p:cNvCxnSpPr>
          <p:nvPr/>
        </p:nvCxnSpPr>
        <p:spPr>
          <a:xfrm rot="16200000" flipH="1">
            <a:off x="7165908" y="3061862"/>
            <a:ext cx="688247" cy="2828063"/>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87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C14-B51D-0216-737F-740F386C7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3A4A10-7F25-EF39-BAEF-DA9E4524417B}"/>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469CB94D-3082-21EE-E366-DBF73557BB0A}"/>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0B529815-CC56-9E8A-CE39-7DC360FBEA68}"/>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grpSp>
        <p:nvGrpSpPr>
          <p:cNvPr id="35" name="Gruppieren 34">
            <a:extLst>
              <a:ext uri="{FF2B5EF4-FFF2-40B4-BE49-F238E27FC236}">
                <a16:creationId xmlns:a16="http://schemas.microsoft.com/office/drawing/2014/main" id="{3586E0AB-5A61-06DC-79A8-A387C14F456D}"/>
              </a:ext>
            </a:extLst>
          </p:cNvPr>
          <p:cNvGrpSpPr/>
          <p:nvPr/>
        </p:nvGrpSpPr>
        <p:grpSpPr>
          <a:xfrm>
            <a:off x="634593" y="1187066"/>
            <a:ext cx="5266695" cy="952805"/>
            <a:chOff x="634593" y="1187066"/>
            <a:chExt cx="5266695" cy="952805"/>
          </a:xfrm>
        </p:grpSpPr>
        <p:sp>
          <p:nvSpPr>
            <p:cNvPr id="7" name="Shape 4">
              <a:extLst>
                <a:ext uri="{FF2B5EF4-FFF2-40B4-BE49-F238E27FC236}">
                  <a16:creationId xmlns:a16="http://schemas.microsoft.com/office/drawing/2014/main" id="{EBF44CF2-9361-B17E-7E1E-F1F282FFE6F4}"/>
                </a:ext>
              </a:extLst>
            </p:cNvPr>
            <p:cNvSpPr/>
            <p:nvPr/>
          </p:nvSpPr>
          <p:spPr>
            <a:xfrm>
              <a:off x="634593" y="1187066"/>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C1C9EC93-F886-0FEB-10FA-7162C273CED6}"/>
                </a:ext>
              </a:extLst>
            </p:cNvPr>
            <p:cNvSpPr/>
            <p:nvPr/>
          </p:nvSpPr>
          <p:spPr>
            <a:xfrm>
              <a:off x="952805" y="1378176"/>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AFD26D88-7A8C-070A-23F4-C5224BF81050}"/>
                </a:ext>
              </a:extLst>
            </p:cNvPr>
            <p:cNvSpPr/>
            <p:nvPr/>
          </p:nvSpPr>
          <p:spPr>
            <a:xfrm>
              <a:off x="1714500" y="1378176"/>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956A0472-0642-45C0-55BC-03938B4FD80D}"/>
                </a:ext>
              </a:extLst>
            </p:cNvPr>
            <p:cNvSpPr/>
            <p:nvPr/>
          </p:nvSpPr>
          <p:spPr>
            <a:xfrm>
              <a:off x="1714500" y="1682671"/>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4" name="Gruppieren 33">
            <a:extLst>
              <a:ext uri="{FF2B5EF4-FFF2-40B4-BE49-F238E27FC236}">
                <a16:creationId xmlns:a16="http://schemas.microsoft.com/office/drawing/2014/main" id="{9185C676-6C2A-35FA-907F-AD52B0CA8709}"/>
              </a:ext>
            </a:extLst>
          </p:cNvPr>
          <p:cNvGrpSpPr/>
          <p:nvPr/>
        </p:nvGrpSpPr>
        <p:grpSpPr>
          <a:xfrm>
            <a:off x="6290714" y="1187066"/>
            <a:ext cx="5266696" cy="952805"/>
            <a:chOff x="6290714" y="1187066"/>
            <a:chExt cx="5266696" cy="952805"/>
          </a:xfrm>
        </p:grpSpPr>
        <p:sp>
          <p:nvSpPr>
            <p:cNvPr id="11" name="Shape 8">
              <a:extLst>
                <a:ext uri="{FF2B5EF4-FFF2-40B4-BE49-F238E27FC236}">
                  <a16:creationId xmlns:a16="http://schemas.microsoft.com/office/drawing/2014/main" id="{C1ADF452-6B3F-5D09-2040-586DB02E9E7C}"/>
                </a:ext>
              </a:extLst>
            </p:cNvPr>
            <p:cNvSpPr/>
            <p:nvPr/>
          </p:nvSpPr>
          <p:spPr>
            <a:xfrm>
              <a:off x="6290714" y="11870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731C39D2-4E43-407F-0988-04629E064595}"/>
                </a:ext>
              </a:extLst>
            </p:cNvPr>
            <p:cNvSpPr/>
            <p:nvPr/>
          </p:nvSpPr>
          <p:spPr>
            <a:xfrm>
              <a:off x="6608011" y="1314168"/>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66791E79-A1DF-2EA2-C60E-9F296CC020A7}"/>
                </a:ext>
              </a:extLst>
            </p:cNvPr>
            <p:cNvSpPr/>
            <p:nvPr/>
          </p:nvSpPr>
          <p:spPr>
            <a:xfrm>
              <a:off x="7369706" y="13781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EE94BBEA-15DA-D4B6-8955-237BBD13EA62}"/>
                </a:ext>
              </a:extLst>
            </p:cNvPr>
            <p:cNvSpPr/>
            <p:nvPr/>
          </p:nvSpPr>
          <p:spPr>
            <a:xfrm>
              <a:off x="7369706" y="1682671"/>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sp>
        <p:nvSpPr>
          <p:cNvPr id="15" name="Shape 12">
            <a:extLst>
              <a:ext uri="{FF2B5EF4-FFF2-40B4-BE49-F238E27FC236}">
                <a16:creationId xmlns:a16="http://schemas.microsoft.com/office/drawing/2014/main" id="{9BFD8FCB-DA08-6496-726B-05792DB3650F}"/>
              </a:ext>
            </a:extLst>
          </p:cNvPr>
          <p:cNvSpPr/>
          <p:nvPr/>
        </p:nvSpPr>
        <p:spPr>
          <a:xfrm>
            <a:off x="634594"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6" name="Text 13">
            <a:extLst>
              <a:ext uri="{FF2B5EF4-FFF2-40B4-BE49-F238E27FC236}">
                <a16:creationId xmlns:a16="http://schemas.microsoft.com/office/drawing/2014/main" id="{6C25C326-784E-207C-C96A-EC49D9BE1D0D}"/>
              </a:ext>
            </a:extLst>
          </p:cNvPr>
          <p:cNvSpPr/>
          <p:nvPr/>
        </p:nvSpPr>
        <p:spPr>
          <a:xfrm>
            <a:off x="838505" y="3284188"/>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F9E7DB07-9DE8-82D1-22AB-D66FB251A1F1}"/>
              </a:ext>
            </a:extLst>
          </p:cNvPr>
          <p:cNvSpPr/>
          <p:nvPr/>
        </p:nvSpPr>
        <p:spPr>
          <a:xfrm>
            <a:off x="1206094" y="34222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4DA35E5E-8654-21B0-27CE-1A175310E094}"/>
              </a:ext>
            </a:extLst>
          </p:cNvPr>
          <p:cNvSpPr/>
          <p:nvPr/>
        </p:nvSpPr>
        <p:spPr>
          <a:xfrm>
            <a:off x="838505"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2C6BDE1-A9EF-2569-6ABE-1E0946594962}"/>
              </a:ext>
            </a:extLst>
          </p:cNvPr>
          <p:cNvSpPr/>
          <p:nvPr/>
        </p:nvSpPr>
        <p:spPr>
          <a:xfrm>
            <a:off x="4482998"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0" name="Text 17">
            <a:extLst>
              <a:ext uri="{FF2B5EF4-FFF2-40B4-BE49-F238E27FC236}">
                <a16:creationId xmlns:a16="http://schemas.microsoft.com/office/drawing/2014/main" id="{9666CFD0-64F3-AE31-EF77-CA546E12EFE7}"/>
              </a:ext>
            </a:extLst>
          </p:cNvPr>
          <p:cNvSpPr/>
          <p:nvPr/>
        </p:nvSpPr>
        <p:spPr>
          <a:xfrm>
            <a:off x="4685995"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DA5A3B3A-4484-6DB5-60B4-D3B2201111D8}"/>
              </a:ext>
            </a:extLst>
          </p:cNvPr>
          <p:cNvSpPr/>
          <p:nvPr/>
        </p:nvSpPr>
        <p:spPr>
          <a:xfrm>
            <a:off x="5054498" y="34222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71777E05-924F-1469-1E4A-04D10DD1E5D9}"/>
              </a:ext>
            </a:extLst>
          </p:cNvPr>
          <p:cNvSpPr/>
          <p:nvPr/>
        </p:nvSpPr>
        <p:spPr>
          <a:xfrm>
            <a:off x="4685995" y="3764884"/>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6B9BA81-E333-256E-7144-6785FA5AEB7D}"/>
              </a:ext>
            </a:extLst>
          </p:cNvPr>
          <p:cNvSpPr/>
          <p:nvPr/>
        </p:nvSpPr>
        <p:spPr>
          <a:xfrm>
            <a:off x="8330183"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8D56924E-5BCF-A449-657E-771953E1C94E}"/>
              </a:ext>
            </a:extLst>
          </p:cNvPr>
          <p:cNvSpPr/>
          <p:nvPr/>
        </p:nvSpPr>
        <p:spPr>
          <a:xfrm>
            <a:off x="8534094"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657967A6-169D-A03A-A654-1638E53D46C2}"/>
              </a:ext>
            </a:extLst>
          </p:cNvPr>
          <p:cNvSpPr/>
          <p:nvPr/>
        </p:nvSpPr>
        <p:spPr>
          <a:xfrm>
            <a:off x="8901683" y="34222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DDDE5884-773F-4E85-4031-29C7E92937C5}"/>
              </a:ext>
            </a:extLst>
          </p:cNvPr>
          <p:cNvSpPr/>
          <p:nvPr/>
        </p:nvSpPr>
        <p:spPr>
          <a:xfrm>
            <a:off x="8534094"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cxnSp>
        <p:nvCxnSpPr>
          <p:cNvPr id="27" name="Gewinkelte Verbindung 26">
            <a:extLst>
              <a:ext uri="{FF2B5EF4-FFF2-40B4-BE49-F238E27FC236}">
                <a16:creationId xmlns:a16="http://schemas.microsoft.com/office/drawing/2014/main" id="{02C62F4B-0BDD-C945-F62F-FEA477E23994}"/>
              </a:ext>
            </a:extLst>
          </p:cNvPr>
          <p:cNvCxnSpPr>
            <a:stCxn id="7" idx="2"/>
            <a:endCxn id="23" idx="0"/>
          </p:cNvCxnSpPr>
          <p:nvPr/>
        </p:nvCxnSpPr>
        <p:spPr>
          <a:xfrm rot="16200000" flipH="1">
            <a:off x="6142357" y="-734545"/>
            <a:ext cx="926412" cy="6675244"/>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 Verbindung 28">
            <a:extLst>
              <a:ext uri="{FF2B5EF4-FFF2-40B4-BE49-F238E27FC236}">
                <a16:creationId xmlns:a16="http://schemas.microsoft.com/office/drawing/2014/main" id="{7B2029E9-5806-691D-CE44-8ADAC71C2B5A}"/>
              </a:ext>
            </a:extLst>
          </p:cNvPr>
          <p:cNvCxnSpPr>
            <a:stCxn id="7" idx="2"/>
            <a:endCxn id="19" idx="0"/>
          </p:cNvCxnSpPr>
          <p:nvPr/>
        </p:nvCxnSpPr>
        <p:spPr>
          <a:xfrm rot="16200000" flipH="1">
            <a:off x="4218764" y="1189047"/>
            <a:ext cx="926412" cy="2828059"/>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Gewinkelte Verbindung 30">
            <a:extLst>
              <a:ext uri="{FF2B5EF4-FFF2-40B4-BE49-F238E27FC236}">
                <a16:creationId xmlns:a16="http://schemas.microsoft.com/office/drawing/2014/main" id="{EB6AF2DD-CB03-AD69-FB21-2F0056A7106F}"/>
              </a:ext>
            </a:extLst>
          </p:cNvPr>
          <p:cNvCxnSpPr>
            <a:cxnSpLocks/>
            <a:stCxn id="7" idx="2"/>
            <a:endCxn id="15" idx="0"/>
          </p:cNvCxnSpPr>
          <p:nvPr/>
        </p:nvCxnSpPr>
        <p:spPr>
          <a:xfrm rot="5400000">
            <a:off x="2294563" y="2092905"/>
            <a:ext cx="926412" cy="1020345"/>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winkelte Verbindung 32">
            <a:extLst>
              <a:ext uri="{FF2B5EF4-FFF2-40B4-BE49-F238E27FC236}">
                <a16:creationId xmlns:a16="http://schemas.microsoft.com/office/drawing/2014/main" id="{515C89FF-BAD1-FF26-A511-19B5E108CBF8}"/>
              </a:ext>
            </a:extLst>
          </p:cNvPr>
          <p:cNvCxnSpPr>
            <a:stCxn id="11" idx="2"/>
            <a:endCxn id="19" idx="0"/>
          </p:cNvCxnSpPr>
          <p:nvPr/>
        </p:nvCxnSpPr>
        <p:spPr>
          <a:xfrm rot="5400000">
            <a:off x="7046825" y="1189046"/>
            <a:ext cx="926412" cy="2828062"/>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33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5" name="Shape 12">
            <a:extLst>
              <a:ext uri="{FF2B5EF4-FFF2-40B4-BE49-F238E27FC236}">
                <a16:creationId xmlns:a16="http://schemas.microsoft.com/office/drawing/2014/main" id="{C0C842C1-28E1-8117-453A-FE4D9A2E37E3}"/>
              </a:ext>
            </a:extLst>
          </p:cNvPr>
          <p:cNvSpPr/>
          <p:nvPr/>
        </p:nvSpPr>
        <p:spPr>
          <a:xfrm>
            <a:off x="634594"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0" name="Gruppieren 49">
            <a:extLst>
              <a:ext uri="{FF2B5EF4-FFF2-40B4-BE49-F238E27FC236}">
                <a16:creationId xmlns:a16="http://schemas.microsoft.com/office/drawing/2014/main" id="{6551550D-EAFF-77BD-C781-4934F36804BA}"/>
              </a:ext>
            </a:extLst>
          </p:cNvPr>
          <p:cNvGrpSpPr/>
          <p:nvPr/>
        </p:nvGrpSpPr>
        <p:grpSpPr>
          <a:xfrm>
            <a:off x="838505" y="1405102"/>
            <a:ext cx="2818181" cy="381305"/>
            <a:chOff x="838505" y="1405102"/>
            <a:chExt cx="2818181" cy="381305"/>
          </a:xfrm>
        </p:grpSpPr>
        <p:sp>
          <p:nvSpPr>
            <p:cNvPr id="16" name="Text 13">
              <a:extLst>
                <a:ext uri="{FF2B5EF4-FFF2-40B4-BE49-F238E27FC236}">
                  <a16:creationId xmlns:a16="http://schemas.microsoft.com/office/drawing/2014/main" id="{3D3EDEFC-7B1F-80B8-83D8-C4919306094D}"/>
                </a:ext>
              </a:extLst>
            </p:cNvPr>
            <p:cNvSpPr/>
            <p:nvPr/>
          </p:nvSpPr>
          <p:spPr>
            <a:xfrm>
              <a:off x="838505" y="1405102"/>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D1573499-103B-973A-EBF5-C2C877705862}"/>
                </a:ext>
              </a:extLst>
            </p:cNvPr>
            <p:cNvSpPr/>
            <p:nvPr/>
          </p:nvSpPr>
          <p:spPr>
            <a:xfrm>
              <a:off x="1206094" y="1543208"/>
              <a:ext cx="2450592" cy="19202"/>
            </a:xfrm>
            <a:prstGeom prst="rect">
              <a:avLst/>
            </a:prstGeom>
            <a:solidFill>
              <a:srgbClr val="DBDEE2"/>
            </a:solidFill>
            <a:ln/>
          </p:spPr>
          <p:txBody>
            <a:bodyPr/>
            <a:lstStyle/>
            <a:p>
              <a:endParaRPr lang="de-DE"/>
            </a:p>
          </p:txBody>
        </p:sp>
      </p:grpSp>
      <p:sp>
        <p:nvSpPr>
          <p:cNvPr id="18" name="Text 15">
            <a:extLst>
              <a:ext uri="{FF2B5EF4-FFF2-40B4-BE49-F238E27FC236}">
                <a16:creationId xmlns:a16="http://schemas.microsoft.com/office/drawing/2014/main" id="{37B58CCC-869E-70F8-DBBB-D3008AFE245D}"/>
              </a:ext>
            </a:extLst>
          </p:cNvPr>
          <p:cNvSpPr/>
          <p:nvPr/>
        </p:nvSpPr>
        <p:spPr>
          <a:xfrm>
            <a:off x="838505"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1" name="Gruppieren 50">
            <a:extLst>
              <a:ext uri="{FF2B5EF4-FFF2-40B4-BE49-F238E27FC236}">
                <a16:creationId xmlns:a16="http://schemas.microsoft.com/office/drawing/2014/main" id="{E1DF1117-ED2C-F815-4283-512EC161B396}"/>
              </a:ext>
            </a:extLst>
          </p:cNvPr>
          <p:cNvGrpSpPr/>
          <p:nvPr/>
        </p:nvGrpSpPr>
        <p:grpSpPr>
          <a:xfrm>
            <a:off x="4685995" y="1391247"/>
            <a:ext cx="2819095" cy="381305"/>
            <a:chOff x="4685995" y="1391247"/>
            <a:chExt cx="2819095" cy="381305"/>
          </a:xfrm>
        </p:grpSpPr>
        <p:sp>
          <p:nvSpPr>
            <p:cNvPr id="20" name="Text 17">
              <a:extLst>
                <a:ext uri="{FF2B5EF4-FFF2-40B4-BE49-F238E27FC236}">
                  <a16:creationId xmlns:a16="http://schemas.microsoft.com/office/drawing/2014/main" id="{4A74AC5B-8081-0105-FEF8-21F2AB8C3CB4}"/>
                </a:ext>
              </a:extLst>
            </p:cNvPr>
            <p:cNvSpPr/>
            <p:nvPr/>
          </p:nvSpPr>
          <p:spPr>
            <a:xfrm>
              <a:off x="4685995"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48C2227C-B444-6F31-BE01-07746C211DE5}"/>
                </a:ext>
              </a:extLst>
            </p:cNvPr>
            <p:cNvSpPr/>
            <p:nvPr/>
          </p:nvSpPr>
          <p:spPr>
            <a:xfrm>
              <a:off x="5054498" y="1543208"/>
              <a:ext cx="2450592" cy="19202"/>
            </a:xfrm>
            <a:prstGeom prst="rect">
              <a:avLst/>
            </a:prstGeom>
            <a:solidFill>
              <a:srgbClr val="DBDEE2"/>
            </a:solidFill>
            <a:ln/>
          </p:spPr>
          <p:txBody>
            <a:bodyPr/>
            <a:lstStyle/>
            <a:p>
              <a:endParaRPr lang="de-DE"/>
            </a:p>
          </p:txBody>
        </p:sp>
      </p:grpSp>
      <p:sp>
        <p:nvSpPr>
          <p:cNvPr id="22" name="Text 19">
            <a:extLst>
              <a:ext uri="{FF2B5EF4-FFF2-40B4-BE49-F238E27FC236}">
                <a16:creationId xmlns:a16="http://schemas.microsoft.com/office/drawing/2014/main" id="{8FB349CB-7CE5-0805-5005-721DCEC87515}"/>
              </a:ext>
            </a:extLst>
          </p:cNvPr>
          <p:cNvSpPr/>
          <p:nvPr/>
        </p:nvSpPr>
        <p:spPr>
          <a:xfrm>
            <a:off x="4685995" y="1541310"/>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2" name="Gruppieren 51">
            <a:extLst>
              <a:ext uri="{FF2B5EF4-FFF2-40B4-BE49-F238E27FC236}">
                <a16:creationId xmlns:a16="http://schemas.microsoft.com/office/drawing/2014/main" id="{38C85DA3-B449-5A99-42EB-45AD577D8A41}"/>
              </a:ext>
            </a:extLst>
          </p:cNvPr>
          <p:cNvGrpSpPr/>
          <p:nvPr/>
        </p:nvGrpSpPr>
        <p:grpSpPr>
          <a:xfrm>
            <a:off x="8534094" y="1391247"/>
            <a:ext cx="2818181" cy="381305"/>
            <a:chOff x="8534094" y="1391247"/>
            <a:chExt cx="2818181" cy="381305"/>
          </a:xfrm>
        </p:grpSpPr>
        <p:sp>
          <p:nvSpPr>
            <p:cNvPr id="24" name="Text 21">
              <a:extLst>
                <a:ext uri="{FF2B5EF4-FFF2-40B4-BE49-F238E27FC236}">
                  <a16:creationId xmlns:a16="http://schemas.microsoft.com/office/drawing/2014/main" id="{5138326C-55F9-C391-0AA6-8363869A3312}"/>
                </a:ext>
              </a:extLst>
            </p:cNvPr>
            <p:cNvSpPr/>
            <p:nvPr/>
          </p:nvSpPr>
          <p:spPr>
            <a:xfrm>
              <a:off x="8534094"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DF06B852-C3B8-A933-7DDC-D4C5066B1367}"/>
                </a:ext>
              </a:extLst>
            </p:cNvPr>
            <p:cNvSpPr/>
            <p:nvPr/>
          </p:nvSpPr>
          <p:spPr>
            <a:xfrm>
              <a:off x="8901683" y="1543208"/>
              <a:ext cx="2450592" cy="19202"/>
            </a:xfrm>
            <a:prstGeom prst="rect">
              <a:avLst/>
            </a:prstGeom>
            <a:solidFill>
              <a:srgbClr val="DBDEE2"/>
            </a:solidFill>
            <a:ln/>
          </p:spPr>
          <p:txBody>
            <a:bodyPr/>
            <a:lstStyle/>
            <a:p>
              <a:endParaRPr lang="de-DE"/>
            </a:p>
          </p:txBody>
        </p:sp>
      </p:grpSp>
      <p:sp>
        <p:nvSpPr>
          <p:cNvPr id="26" name="Text 23">
            <a:extLst>
              <a:ext uri="{FF2B5EF4-FFF2-40B4-BE49-F238E27FC236}">
                <a16:creationId xmlns:a16="http://schemas.microsoft.com/office/drawing/2014/main" id="{9611075A-C01C-B3FA-29DD-CFC18AFA4CE4}"/>
              </a:ext>
            </a:extLst>
          </p:cNvPr>
          <p:cNvSpPr/>
          <p:nvPr/>
        </p:nvSpPr>
        <p:spPr>
          <a:xfrm>
            <a:off x="8533180"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9B988DCC-8D6F-AC80-C380-D4B3140CEAC7}"/>
                  </a:ext>
                </a:extLst>
              </p:cNvPr>
              <p:cNvSpPr txBox="1"/>
              <p:nvPr/>
            </p:nvSpPr>
            <p:spPr>
              <a:xfrm>
                <a:off x="3047238" y="3244334"/>
                <a:ext cx="60944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mtClean="0">
                          <a:latin typeface="Cambria Math" panose="02040503050406030204" pitchFamily="18" charset="0"/>
                        </a:rPr>
                        <m:t>∙</m:t>
                      </m:r>
                    </m:oMath>
                  </m:oMathPara>
                </a14:m>
                <a:endParaRPr lang="de-DE"/>
              </a:p>
            </p:txBody>
          </p:sp>
        </mc:Choice>
        <mc:Fallback xmlns="">
          <p:sp>
            <p:nvSpPr>
              <p:cNvPr id="39" name="Textfeld 38">
                <a:extLst>
                  <a:ext uri="{FF2B5EF4-FFF2-40B4-BE49-F238E27FC236}">
                    <a16:creationId xmlns:a16="http://schemas.microsoft.com/office/drawing/2014/main" id="{9B988DCC-8D6F-AC80-C380-D4B3140CEAC7}"/>
                  </a:ext>
                </a:extLst>
              </p:cNvPr>
              <p:cNvSpPr txBox="1">
                <a:spLocks noRot="1" noChangeAspect="1" noMove="1" noResize="1" noEditPoints="1" noAdjustHandles="1" noChangeArrowheads="1" noChangeShapeType="1" noTextEdit="1"/>
              </p:cNvSpPr>
              <p:nvPr/>
            </p:nvSpPr>
            <p:spPr>
              <a:xfrm>
                <a:off x="3047238" y="3244334"/>
                <a:ext cx="6094476" cy="369332"/>
              </a:xfrm>
              <a:prstGeom prst="rect">
                <a:avLst/>
              </a:prstGeom>
              <a:blipFill>
                <a:blip r:embed="rId3"/>
                <a:stretch>
                  <a:fillRect/>
                </a:stretch>
              </a:blipFill>
            </p:spPr>
            <p:txBody>
              <a:bodyPr/>
              <a:lstStyle/>
              <a:p>
                <a:r>
                  <a:rPr lang="en-US">
                    <a:noFill/>
                  </a:rPr>
                  <a:t> </a:t>
                </a:r>
              </a:p>
            </p:txBody>
          </p:sp>
        </mc:Fallback>
      </mc:AlternateContent>
      <p:grpSp>
        <p:nvGrpSpPr>
          <p:cNvPr id="49" name="Gruppieren 48">
            <a:extLst>
              <a:ext uri="{FF2B5EF4-FFF2-40B4-BE49-F238E27FC236}">
                <a16:creationId xmlns:a16="http://schemas.microsoft.com/office/drawing/2014/main" id="{D5997860-115B-5DA0-1459-E598ADA76A37}"/>
              </a:ext>
            </a:extLst>
          </p:cNvPr>
          <p:cNvGrpSpPr/>
          <p:nvPr/>
        </p:nvGrpSpPr>
        <p:grpSpPr>
          <a:xfrm>
            <a:off x="509287" y="3761773"/>
            <a:ext cx="11142000" cy="2910304"/>
            <a:chOff x="509287" y="3761773"/>
            <a:chExt cx="11142000" cy="2910304"/>
          </a:xfrm>
        </p:grpSpPr>
        <p:sp>
          <p:nvSpPr>
            <p:cNvPr id="35" name="Shape 20">
              <a:extLst>
                <a:ext uri="{FF2B5EF4-FFF2-40B4-BE49-F238E27FC236}">
                  <a16:creationId xmlns:a16="http://schemas.microsoft.com/office/drawing/2014/main" id="{104C78D8-7E69-2FD4-B7D1-02508CD1C9DF}"/>
                </a:ext>
              </a:extLst>
            </p:cNvPr>
            <p:cNvSpPr/>
            <p:nvPr/>
          </p:nvSpPr>
          <p:spPr>
            <a:xfrm>
              <a:off x="509287" y="3761773"/>
              <a:ext cx="11142000" cy="29103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27" name="Text 5">
                  <a:extLst>
                    <a:ext uri="{FF2B5EF4-FFF2-40B4-BE49-F238E27FC236}">
                      <a16:creationId xmlns:a16="http://schemas.microsoft.com/office/drawing/2014/main" id="{F300F6F1-63EF-EB25-19BB-4D465FDE9C89}"/>
                    </a:ext>
                  </a:extLst>
                </p:cNvPr>
                <p:cNvSpPr>
                  <a:spLocks noRot="1" noChangeAspect="1" noMove="1" noResize="1" noEditPoints="1" noAdjustHandles="1" noChangeArrowheads="1" noChangeShapeType="1" noTextEdit="1"/>
                </p:cNvSpPr>
                <p:nvPr/>
              </p:nvSpPr>
              <p:spPr>
                <a:xfrm>
                  <a:off x="888797" y="4500397"/>
                  <a:ext cx="381305" cy="609905"/>
                </a:xfrm>
                <a:prstGeom prst="rect">
                  <a:avLst/>
                </a:prstGeom>
                <a:blipFill>
                  <a:blip r:embed="rId4"/>
                  <a:stretch>
                    <a:fillRect/>
                  </a:stretch>
                </a:blipFill>
                <a:ln/>
              </p:spPr>
              <p:txBody>
                <a:bodyPr/>
                <a:lstStyle/>
                <a:p>
                  <a:r>
                    <a:rPr lang="en-US">
                      <a:noFill/>
                    </a:rPr>
                    <a:t> </a:t>
                  </a:r>
                </a:p>
              </p:txBody>
            </p:sp>
          </mc:Fallback>
        </mc:AlternateContent>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a:lnSpc>
                  <a:spcPct val="115000"/>
                </a:lnSpc>
              </a:pPr>
              <a:r>
                <a:rPr lang="en-US" sz="1400" err="1">
                  <a:solidFill>
                    <a:srgbClr val="F2EFDA"/>
                  </a:solidFill>
                  <a:latin typeface="Arial" pitchFamily="34" charset="0"/>
                  <a:ea typeface="Arial" pitchFamily="34" charset="-122"/>
                  <a:cs typeface="Arial" pitchFamily="34" charset="-120"/>
                </a:rPr>
                <a:t>Anwendung</a:t>
              </a:r>
              <a:r>
                <a:rPr lang="en-US" sz="1400">
                  <a:solidFill>
                    <a:srgbClr val="F2EFDA"/>
                  </a:solidFill>
                  <a:latin typeface="Arial" pitchFamily="34" charset="0"/>
                  <a:ea typeface="Arial" pitchFamily="34" charset="-122"/>
                  <a:cs typeface="Arial" pitchFamily="34" charset="-120"/>
                </a:rPr>
                <a:t> der Mean-Reversion auf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zur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individuellen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Betrachtung</a:t>
              </a:r>
              <a:r>
                <a:rPr lang="en-US" sz="1400">
                  <a:solidFill>
                    <a:srgbClr val="F2EFDA"/>
                  </a:solidFill>
                  <a:latin typeface="Arial" pitchFamily="34" charset="0"/>
                  <a:ea typeface="Arial" pitchFamily="34" charset="-122"/>
                  <a:cs typeface="Arial" pitchFamily="34" charset="-120"/>
                </a:rPr>
                <a:t> pro </a:t>
              </a:r>
              <a:r>
                <a:rPr lang="en-US" sz="1400" err="1">
                  <a:solidFill>
                    <a:srgbClr val="F2EFDA"/>
                  </a:solidFill>
                  <a:latin typeface="Arial" pitchFamily="34" charset="0"/>
                  <a:ea typeface="Arial" pitchFamily="34" charset="-122"/>
                  <a:cs typeface="Arial" pitchFamily="34" charset="-120"/>
                </a:rPr>
                <a:t>Unternehmen</a:t>
              </a:r>
              <a:endParaRPr lang="en-US" sz="140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Untersuchung</a:t>
              </a:r>
              <a:r>
                <a:rPr lang="en-US" sz="1400">
                  <a:solidFill>
                    <a:srgbClr val="F2EFDA"/>
                  </a:solidFill>
                  <a:latin typeface="Arial" pitchFamily="34" charset="0"/>
                  <a:ea typeface="Arial" pitchFamily="34" charset="-122"/>
                  <a:cs typeface="Arial" pitchFamily="34" charset="-120"/>
                </a:rPr>
                <a:t> der Dynamik </a:t>
              </a:r>
              <a:r>
                <a:rPr lang="en-US" sz="1400" err="1">
                  <a:solidFill>
                    <a:srgbClr val="F2EFDA"/>
                  </a:solidFill>
                  <a:latin typeface="Arial" pitchFamily="34" charset="0"/>
                  <a:ea typeface="Arial" pitchFamily="34" charset="-122"/>
                  <a:cs typeface="Arial" pitchFamily="34" charset="-120"/>
                </a:rPr>
                <a:t>unterschiedlicher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endParaRPr lang="en-US" sz="140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Einfluss</a:t>
              </a:r>
              <a:r>
                <a:rPr lang="en-US" sz="1400">
                  <a:solidFill>
                    <a:srgbClr val="F2EFDA"/>
                  </a:solidFill>
                  <a:latin typeface="Arial" pitchFamily="34" charset="0"/>
                  <a:ea typeface="Arial" pitchFamily="34" charset="-122"/>
                  <a:cs typeface="Arial" pitchFamily="34" charset="-120"/>
                </a:rPr>
                <a:t> der </a:t>
              </a:r>
              <a:r>
                <a:rPr lang="en-US" sz="1400" err="1">
                  <a:solidFill>
                    <a:srgbClr val="F2EFDA"/>
                  </a:solidFill>
                  <a:latin typeface="Arial" pitchFamily="34" charset="0"/>
                  <a:ea typeface="Arial" pitchFamily="34" charset="-122"/>
                  <a:cs typeface="Arial" pitchFamily="34" charset="-120"/>
                </a:rPr>
                <a:t>Strukturmerkmale</a:t>
              </a:r>
              <a:r>
                <a:rPr lang="en-US" sz="1400">
                  <a:solidFill>
                    <a:srgbClr val="F2EFDA"/>
                  </a:solidFill>
                  <a:latin typeface="Arial" pitchFamily="34" charset="0"/>
                  <a:ea typeface="Arial" pitchFamily="34" charset="-122"/>
                  <a:cs typeface="Arial" pitchFamily="34" charset="-120"/>
                </a:rPr>
                <a:t> auf Mean-Reversion und </a:t>
              </a:r>
              <a:r>
                <a:rPr lang="en-US" sz="1400" err="1">
                  <a:solidFill>
                    <a:srgbClr val="F2EFDA"/>
                  </a:solidFill>
                  <a:latin typeface="Arial" pitchFamily="34" charset="0"/>
                  <a:ea typeface="Arial" pitchFamily="34" charset="-122"/>
                  <a:cs typeface="Arial" pitchFamily="34" charset="-120"/>
                </a:rPr>
                <a:t>Volatilität</a:t>
              </a:r>
              <a:endParaRPr lang="en-US" sz="1400">
                <a:solidFill>
                  <a:srgbClr val="FF0000"/>
                </a:solidFill>
              </a:endParaRPr>
            </a:p>
          </p:txBody>
        </p:sp>
        <p:sp>
          <p:nvSpPr>
            <p:cNvPr id="36" name="Textfeld 35">
              <a:extLst>
                <a:ext uri="{FF2B5EF4-FFF2-40B4-BE49-F238E27FC236}">
                  <a16:creationId xmlns:a16="http://schemas.microsoft.com/office/drawing/2014/main" id="{A130EE69-BC72-68AF-30E8-B49AB542B86C}"/>
                </a:ext>
              </a:extLst>
            </p:cNvPr>
            <p:cNvSpPr txBox="1"/>
            <p:nvPr/>
          </p:nvSpPr>
          <p:spPr>
            <a:xfrm>
              <a:off x="686001" y="3900253"/>
              <a:ext cx="2970685" cy="461665"/>
            </a:xfrm>
            <a:prstGeom prst="rect">
              <a:avLst/>
            </a:prstGeom>
            <a:noFill/>
          </p:spPr>
          <p:txBody>
            <a:bodyPr wrap="none" rtlCol="0">
              <a:spAutoFit/>
            </a:bodyPr>
            <a:lstStyle/>
            <a:p>
              <a:r>
                <a:rPr lang="de-DE" sz="2400" b="1">
                  <a:solidFill>
                    <a:srgbClr val="78A2F9"/>
                  </a:solidFill>
                  <a:latin typeface="Arial" pitchFamily="34" charset="0"/>
                  <a:cs typeface="Arial" pitchFamily="34" charset="-120"/>
                </a:rPr>
                <a:t>Forschungsbeitrag</a:t>
              </a:r>
            </a:p>
          </p:txBody>
        </p:sp>
        <mc:AlternateContent xmlns:mc="http://schemas.openxmlformats.org/markup-compatibility/2006" xmlns:a14="http://schemas.microsoft.com/office/drawing/2010/main">
          <mc:Choice Requires="a14">
            <p:sp>
              <p:nvSpPr>
                <p:cNvPr id="40" name="Text 5">
                  <a:extLst>
                    <a:ext uri="{FF2B5EF4-FFF2-40B4-BE49-F238E27FC236}">
                      <a16:creationId xmlns:a16="http://schemas.microsoft.com/office/drawing/2014/main" id="{52838BB0-C7CE-EFCA-FE68-111E396272EE}"/>
                    </a:ext>
                  </a:extLst>
                </p:cNvPr>
                <p:cNvSpPr/>
                <p:nvPr/>
              </p:nvSpPr>
              <p:spPr>
                <a:xfrm>
                  <a:off x="888796" y="51861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0" name="Text 5">
                  <a:extLst>
                    <a:ext uri="{FF2B5EF4-FFF2-40B4-BE49-F238E27FC236}">
                      <a16:creationId xmlns:a16="http://schemas.microsoft.com/office/drawing/2014/main" id="{52838BB0-C7CE-EFCA-FE68-111E396272EE}"/>
                    </a:ext>
                  </a:extLst>
                </p:cNvPr>
                <p:cNvSpPr>
                  <a:spLocks noRot="1" noChangeAspect="1" noMove="1" noResize="1" noEditPoints="1" noAdjustHandles="1" noChangeArrowheads="1" noChangeShapeType="1" noTextEdit="1"/>
                </p:cNvSpPr>
                <p:nvPr/>
              </p:nvSpPr>
              <p:spPr>
                <a:xfrm>
                  <a:off x="888796" y="5186197"/>
                  <a:ext cx="381305" cy="609905"/>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5">
                  <a:extLst>
                    <a:ext uri="{FF2B5EF4-FFF2-40B4-BE49-F238E27FC236}">
                      <a16:creationId xmlns:a16="http://schemas.microsoft.com/office/drawing/2014/main" id="{173030AA-CE19-5411-C01F-5B1E6F9672A4}"/>
                    </a:ext>
                  </a:extLst>
                </p:cNvPr>
                <p:cNvSpPr/>
                <p:nvPr/>
              </p:nvSpPr>
              <p:spPr>
                <a:xfrm>
                  <a:off x="888796" y="58719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1" name="Text 5">
                  <a:extLst>
                    <a:ext uri="{FF2B5EF4-FFF2-40B4-BE49-F238E27FC236}">
                      <a16:creationId xmlns:a16="http://schemas.microsoft.com/office/drawing/2014/main" id="{173030AA-CE19-5411-C01F-5B1E6F9672A4}"/>
                    </a:ext>
                  </a:extLst>
                </p:cNvPr>
                <p:cNvSpPr>
                  <a:spLocks noRot="1" noChangeAspect="1" noMove="1" noResize="1" noEditPoints="1" noAdjustHandles="1" noChangeArrowheads="1" noChangeShapeType="1" noTextEdit="1"/>
                </p:cNvSpPr>
                <p:nvPr/>
              </p:nvSpPr>
              <p:spPr>
                <a:xfrm>
                  <a:off x="888796" y="5871997"/>
                  <a:ext cx="381305" cy="609905"/>
                </a:xfrm>
                <a:prstGeom prst="rect">
                  <a:avLst/>
                </a:prstGeom>
                <a:blipFill>
                  <a:blip r:embed="rId4"/>
                  <a:stretch>
                    <a:fillRect/>
                  </a:stretch>
                </a:blipFill>
                <a:ln/>
              </p:spPr>
              <p:txBody>
                <a:bodyPr/>
                <a:lstStyle/>
                <a:p>
                  <a:r>
                    <a:rPr lang="en-US">
                      <a:noFill/>
                    </a:rPr>
                    <a:t> </a:t>
                  </a:r>
                </a:p>
              </p:txBody>
            </p:sp>
          </mc:Fallback>
        </mc:AlternateContent>
      </p:grpSp>
      <p:cxnSp>
        <p:nvCxnSpPr>
          <p:cNvPr id="43" name="Gerade Verbindung mit Pfeil 42">
            <a:extLst>
              <a:ext uri="{FF2B5EF4-FFF2-40B4-BE49-F238E27FC236}">
                <a16:creationId xmlns:a16="http://schemas.microsoft.com/office/drawing/2014/main" id="{F9F5C56D-E0DE-A2DC-10A6-8AC066BCD89F}"/>
              </a:ext>
            </a:extLst>
          </p:cNvPr>
          <p:cNvCxnSpPr>
            <a:stCxn id="15" idx="2"/>
          </p:cNvCxnSpPr>
          <p:nvPr/>
        </p:nvCxnSpPr>
        <p:spPr>
          <a:xfrm>
            <a:off x="2247596"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2F72D3AB-A6D2-479F-A087-1780EA8BCE0C}"/>
              </a:ext>
            </a:extLst>
          </p:cNvPr>
          <p:cNvCxnSpPr>
            <a:cxnSpLocks/>
          </p:cNvCxnSpPr>
          <p:nvPr/>
        </p:nvCxnSpPr>
        <p:spPr>
          <a:xfrm>
            <a:off x="6078459"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3970CE8D-0B3C-24B8-2B18-D9D0C78FEC07}"/>
              </a:ext>
            </a:extLst>
          </p:cNvPr>
          <p:cNvCxnSpPr>
            <a:cxnSpLocks/>
          </p:cNvCxnSpPr>
          <p:nvPr/>
        </p:nvCxnSpPr>
        <p:spPr>
          <a:xfrm>
            <a:off x="9981286" y="3189743"/>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sp>
        <p:nvSpPr>
          <p:cNvPr id="18" name="Shape 15"/>
          <p:cNvSpPr/>
          <p:nvPr/>
        </p:nvSpPr>
        <p:spPr>
          <a:xfrm>
            <a:off x="6493760" y="1730043"/>
            <a:ext cx="5298484" cy="3129157"/>
          </a:xfrm>
          <a:prstGeom prst="roundRect">
            <a:avLst>
              <a:gd name="adj" fmla="val 11100"/>
            </a:avLst>
          </a:prstGeom>
          <a:solidFill>
            <a:srgbClr val="1E402E"/>
          </a:solidFill>
          <a:ln w="12700">
            <a:solidFill>
              <a:srgbClr val="4A6D56"/>
            </a:solidFill>
            <a:prstDash val="solid"/>
          </a:ln>
        </p:spPr>
        <p:txBody>
          <a:bodyPr/>
          <a:lstStyle/>
          <a:p>
            <a:endParaRPr lang="de-DE">
              <a:solidFill>
                <a:srgbClr val="F3EFDA"/>
              </a:solidFill>
            </a:endParaRPr>
          </a:p>
        </p:txBody>
      </p:sp>
      <p:sp>
        <p:nvSpPr>
          <p:cNvPr id="21" name="Shape 18"/>
          <p:cNvSpPr/>
          <p:nvPr/>
        </p:nvSpPr>
        <p:spPr>
          <a:xfrm>
            <a:off x="6517210" y="5143248"/>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6781722" y="5295953"/>
            <a:ext cx="1865766" cy="777845"/>
          </a:xfrm>
          <a:prstGeom prst="rect">
            <a:avLst/>
          </a:prstGeom>
          <a:noFill/>
          <a:ln/>
        </p:spPr>
        <p:txBody>
          <a:bodyPr wrap="square" rtlCol="0" anchor="t"/>
          <a:lstStyle/>
          <a:p>
            <a:pPr marL="0" indent="0" algn="ctr">
              <a:lnSpc>
                <a:spcPct val="105000"/>
              </a:lnSpc>
              <a:buNone/>
            </a:pPr>
            <a:r>
              <a:rPr lang="en-US" sz="2600" b="1">
                <a:solidFill>
                  <a:srgbClr val="F2EFDA"/>
                </a:solidFill>
                <a:latin typeface="Courier New" pitchFamily="34" charset="0"/>
                <a:ea typeface="Courier New" pitchFamily="34" charset="-122"/>
                <a:cs typeface="Courier New" pitchFamily="34" charset="-120"/>
              </a:rPr>
              <a:t>7</a:t>
            </a:r>
            <a:endParaRPr lang="en-US" sz="2600"/>
          </a:p>
        </p:txBody>
      </p:sp>
      <p:sp>
        <p:nvSpPr>
          <p:cNvPr id="23" name="Text 20"/>
          <p:cNvSpPr/>
          <p:nvPr/>
        </p:nvSpPr>
        <p:spPr>
          <a:xfrm>
            <a:off x="6781722" y="5778757"/>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ohne</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Ausreißer</a:t>
            </a:r>
            <a:endParaRPr lang="en-US" sz="1200" dirty="0"/>
          </a:p>
        </p:txBody>
      </p:sp>
      <p:grpSp>
        <p:nvGrpSpPr>
          <p:cNvPr id="4" name="Gruppieren 3">
            <a:extLst>
              <a:ext uri="{FF2B5EF4-FFF2-40B4-BE49-F238E27FC236}">
                <a16:creationId xmlns:a16="http://schemas.microsoft.com/office/drawing/2014/main" id="{875E9B17-88F9-7450-14EE-80A82D92FC17}"/>
              </a:ext>
            </a:extLst>
          </p:cNvPr>
          <p:cNvGrpSpPr/>
          <p:nvPr/>
        </p:nvGrpSpPr>
        <p:grpSpPr>
          <a:xfrm>
            <a:off x="9090308" y="5143247"/>
            <a:ext cx="2701936" cy="1166354"/>
            <a:chOff x="9090308" y="5143247"/>
            <a:chExt cx="2701936" cy="1166354"/>
          </a:xfrm>
        </p:grpSpPr>
        <p:sp>
          <p:nvSpPr>
            <p:cNvPr id="24" name="Shape 21"/>
            <p:cNvSpPr/>
            <p:nvPr/>
          </p:nvSpPr>
          <p:spPr>
            <a:xfrm>
              <a:off x="9090308" y="5143247"/>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9355958" y="5295951"/>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9355958" y="5778755"/>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41" name="Gruppieren 40">
            <a:extLst>
              <a:ext uri="{FF2B5EF4-FFF2-40B4-BE49-F238E27FC236}">
                <a16:creationId xmlns:a16="http://schemas.microsoft.com/office/drawing/2014/main" id="{99382E20-8895-FB84-CB5A-BA43FE06AAAC}"/>
              </a:ext>
            </a:extLst>
          </p:cNvPr>
          <p:cNvGrpSpPr/>
          <p:nvPr/>
        </p:nvGrpSpPr>
        <p:grpSpPr>
          <a:xfrm>
            <a:off x="341036" y="1730044"/>
            <a:ext cx="5779249" cy="4366262"/>
            <a:chOff x="341036" y="1730044"/>
            <a:chExt cx="5779249" cy="4366262"/>
          </a:xfrm>
        </p:grpSpPr>
        <p:sp>
          <p:nvSpPr>
            <p:cNvPr id="35" name="Shape 16">
              <a:extLst>
                <a:ext uri="{FF2B5EF4-FFF2-40B4-BE49-F238E27FC236}">
                  <a16:creationId xmlns:a16="http://schemas.microsoft.com/office/drawing/2014/main" id="{348D57E5-985C-505A-706B-DE2174DEE793}"/>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a:solidFill>
                    <a:srgbClr val="78A2F9"/>
                  </a:solidFill>
                  <a:latin typeface="Courier New" pitchFamily="34" charset="0"/>
                  <a:ea typeface="Courier New" pitchFamily="34" charset="-122"/>
                  <a:cs typeface="Courier New" pitchFamily="34" charset="-120"/>
                </a:rPr>
                <a:t>932</a:t>
              </a:r>
              <a:endParaRPr lang="en-US" sz="1700">
                <a:solidFill>
                  <a:srgbClr val="78A2F9"/>
                </a:solidFill>
              </a:endParaRPr>
            </a:p>
          </p:txBody>
        </p:sp>
      </p:gr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4237828810"/>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
        <p:nvSpPr>
          <p:cNvPr id="36" name="Textfeld 35">
            <a:extLst>
              <a:ext uri="{FF2B5EF4-FFF2-40B4-BE49-F238E27FC236}">
                <a16:creationId xmlns:a16="http://schemas.microsoft.com/office/drawing/2014/main" id="{FE34ABDE-D9D2-8B5B-C910-E70B69B7F15E}"/>
              </a:ext>
            </a:extLst>
          </p:cNvPr>
          <p:cNvSpPr txBox="1"/>
          <p:nvPr/>
        </p:nvSpPr>
        <p:spPr>
          <a:xfrm>
            <a:off x="6216120" y="5530986"/>
            <a:ext cx="277640" cy="307777"/>
          </a:xfrm>
          <a:prstGeom prst="rect">
            <a:avLst/>
          </a:prstGeom>
          <a:noFill/>
        </p:spPr>
        <p:txBody>
          <a:bodyPr wrap="none" rtlCol="0">
            <a:spAutoFit/>
          </a:bodyPr>
          <a:lstStyle/>
          <a:p>
            <a:r>
              <a:rPr lang="de-DE" sz="1400">
                <a:solidFill>
                  <a:srgbClr val="F3EFDA"/>
                </a:solidFill>
              </a:rPr>
              <a:t>X</a:t>
            </a:r>
          </a:p>
        </p:txBody>
      </p:sp>
      <p:sp>
        <p:nvSpPr>
          <p:cNvPr id="38" name="Textfeld 37">
            <a:extLst>
              <a:ext uri="{FF2B5EF4-FFF2-40B4-BE49-F238E27FC236}">
                <a16:creationId xmlns:a16="http://schemas.microsoft.com/office/drawing/2014/main" id="{C27E94C8-1375-3175-68CA-8D6233FDD11C}"/>
              </a:ext>
            </a:extLst>
          </p:cNvPr>
          <p:cNvSpPr txBox="1"/>
          <p:nvPr/>
        </p:nvSpPr>
        <p:spPr>
          <a:xfrm>
            <a:off x="8838317" y="5609009"/>
            <a:ext cx="274434" cy="307777"/>
          </a:xfrm>
          <a:prstGeom prst="rect">
            <a:avLst/>
          </a:prstGeom>
          <a:noFill/>
        </p:spPr>
        <p:txBody>
          <a:bodyPr wrap="none" rtlCol="0">
            <a:spAutoFit/>
          </a:bodyPr>
          <a:lstStyle/>
          <a:p>
            <a:r>
              <a:rPr lang="de-DE" sz="1400">
                <a:solidFill>
                  <a:srgbClr val="F3EFDA"/>
                </a:solidFill>
              </a:rPr>
              <a:t>=</a:t>
            </a:r>
          </a:p>
        </p:txBody>
      </p:sp>
      <p:pic>
        <p:nvPicPr>
          <p:cNvPr id="40" name="Grafik 39">
            <a:extLst>
              <a:ext uri="{FF2B5EF4-FFF2-40B4-BE49-F238E27FC236}">
                <a16:creationId xmlns:a16="http://schemas.microsoft.com/office/drawing/2014/main" id="{D066B4EF-CF18-91A1-7017-A86AE285C374}"/>
              </a:ext>
            </a:extLst>
          </p:cNvPr>
          <p:cNvPicPr>
            <a:picLocks noChangeAspect="1"/>
          </p:cNvPicPr>
          <p:nvPr/>
        </p:nvPicPr>
        <p:blipFill>
          <a:blip r:embed="rId3"/>
          <a:srcRect l="9912" t="11882" r="47705" b="43348"/>
          <a:stretch>
            <a:fillRect/>
          </a:stretch>
        </p:blipFill>
        <p:spPr>
          <a:xfrm>
            <a:off x="6742971" y="2007110"/>
            <a:ext cx="4757738" cy="2570722"/>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1000"/>
                                        <p:tgtEl>
                                          <p:spTgt spid="40"/>
                                        </p:tgtEl>
                                      </p:cBhvr>
                                    </p:animEffect>
                                    <p:anim calcmode="lin" valueType="num">
                                      <p:cBhvr>
                                        <p:cTn id="35" dur="1000" fill="hold"/>
                                        <p:tgtEl>
                                          <p:spTgt spid="40"/>
                                        </p:tgtEl>
                                        <p:attrNameLst>
                                          <p:attrName>ppt_x</p:attrName>
                                        </p:attrNameLst>
                                      </p:cBhvr>
                                      <p:tavLst>
                                        <p:tav tm="0">
                                          <p:val>
                                            <p:strVal val="#ppt_x"/>
                                          </p:val>
                                        </p:tav>
                                        <p:tav tm="100000">
                                          <p:val>
                                            <p:strVal val="#ppt_x"/>
                                          </p:val>
                                        </p:tav>
                                      </p:tavLst>
                                    </p:anim>
                                    <p:anim calcmode="lin" valueType="num">
                                      <p:cBhvr>
                                        <p:cTn id="36" dur="1000" fill="hold"/>
                                        <p:tgtEl>
                                          <p:spTgt spid="4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36"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 (1) auf </a:t>
            </a:r>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
        <p:nvSpPr>
          <p:cNvPr id="7" name="Shape 4"/>
          <p:cNvSpPr/>
          <p:nvPr/>
        </p:nvSpPr>
        <p:spPr>
          <a:xfrm>
            <a:off x="4315744" y="5522510"/>
            <a:ext cx="4355418"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4561935" y="5525986"/>
            <a:ext cx="3863036" cy="761695"/>
          </a:xfrm>
          <a:prstGeom prst="rect">
            <a:avLst/>
          </a:prstGeom>
          <a:noFill/>
          <a:ln/>
        </p:spPr>
        <p:txBody>
          <a:bodyPr wrap="square" rtlCol="0" anchor="ctr"/>
          <a:lstStyle/>
          <a:p>
            <a:pPr marL="0" indent="0" algn="l">
              <a:lnSpc>
                <a:spcPct val="105000"/>
              </a:lnSpc>
              <a:buNone/>
            </a:pPr>
            <a:r>
              <a:rPr lang="en-US" sz="2000" dirty="0" err="1">
                <a:solidFill>
                  <a:srgbClr val="F2EFDA"/>
                </a:solidFill>
                <a:latin typeface="Courier New" pitchFamily="34" charset="0"/>
                <a:ea typeface="Courier New" pitchFamily="34" charset="-122"/>
                <a:cs typeface="Courier New" pitchFamily="34" charset="-120"/>
              </a:rPr>
              <a:t>ΔYt</a:t>
            </a:r>
            <a:r>
              <a:rPr lang="en-US" sz="2000" dirty="0">
                <a:solidFill>
                  <a:srgbClr val="F2EFDA"/>
                </a:solidFill>
                <a:latin typeface="Courier New" pitchFamily="34" charset="0"/>
                <a:ea typeface="Courier New" pitchFamily="34" charset="-122"/>
                <a:cs typeface="Courier New" pitchFamily="34" charset="-120"/>
              </a:rPr>
              <a:t> = c + </a:t>
            </a:r>
            <a:r>
              <a:rPr lang="en-US" sz="2000" b="1" dirty="0" err="1">
                <a:solidFill>
                  <a:srgbClr val="78A2F9"/>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 ΔYt−1 + </a:t>
            </a:r>
            <a:r>
              <a:rPr lang="en-US" sz="2000" dirty="0" err="1">
                <a:solidFill>
                  <a:srgbClr val="F2EFDA"/>
                </a:solidFill>
                <a:latin typeface="Courier New" pitchFamily="34" charset="0"/>
                <a:cs typeface="Courier New" pitchFamily="34" charset="-120"/>
              </a:rPr>
              <a:t>εt</a:t>
            </a:r>
            <a:endParaRPr lang="en-US" sz="2000" dirty="0">
              <a:solidFill>
                <a:srgbClr val="F2EFDA"/>
              </a:solidFill>
              <a:latin typeface="Courier New" pitchFamily="34" charset="0"/>
              <a:cs typeface="Courier New" pitchFamily="34" charset="-120"/>
            </a:endParaRPr>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p:cNvGraphicFramePr/>
          <p:nvPr>
            <p:extLst>
              <p:ext uri="{D42A27DB-BD31-4B8C-83A1-F6EECF244321}">
                <p14:modId xmlns:p14="http://schemas.microsoft.com/office/powerpoint/2010/main" val="2505003258"/>
              </p:ext>
            </p:extLst>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p:cNvCxnSpPr/>
          <p:nvPr/>
        </p:nvCxnSpPr>
        <p:spPr>
          <a:xfrm>
            <a:off x="1142187" y="3612474"/>
            <a:ext cx="10033000" cy="0"/>
          </a:xfrm>
          <a:prstGeom prst="line">
            <a:avLst/>
          </a:prstGeom>
          <a:ln w="12700" cap="rnd">
            <a:solidFill>
              <a:srgbClr val="E6D34F"/>
            </a:solidFill>
            <a:prstDash val="dash"/>
          </a:ln>
        </p:spPr>
      </p:cxnSp>
      <p:sp>
        <p:nvSpPr>
          <p:cNvPr id="602" name="Label_Mittelwert_Phi"/>
          <p:cNvSpPr txBox="1"/>
          <p:nvPr/>
        </p:nvSpPr>
        <p:spPr>
          <a:xfrm>
            <a:off x="2331271" y="4247561"/>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603" name="Pfeil_MeanReversion_Peak_Phi"/>
          <p:cNvSpPr/>
          <p:nvPr/>
        </p:nvSpPr>
        <p:spPr>
          <a:xfrm rot="16200000">
            <a:off x="6652964" y="2937229"/>
            <a:ext cx="569300" cy="317502"/>
          </a:xfrm>
          <a:custGeom>
            <a:avLst/>
            <a:gdLst/>
            <a:ahLst/>
            <a:cxnLst/>
            <a:rect l="0" t="0" r="0" b="0"/>
            <a:pathLst>
              <a:path w="333756" h="698500">
                <a:moveTo>
                  <a:pt x="25400" y="25400"/>
                </a:moveTo>
                <a:cubicBezTo>
                  <a:pt x="252222" y="195199"/>
                  <a:pt x="308356" y="415417"/>
                  <a:pt x="190500" y="673100"/>
                </a:cubicBezTo>
              </a:path>
            </a:pathLst>
          </a:custGeom>
          <a:noFill/>
          <a:ln w="19050" cap="rnd">
            <a:solidFill>
              <a:srgbClr val="E6D34F"/>
            </a:solidFill>
            <a:tailEnd type="triangle" w="med" len="med"/>
          </a:ln>
        </p:spPr>
        <p:txBody>
          <a:bodyPr/>
          <a:lstStyle/>
          <a:p>
            <a:endParaRPr lang="de-DE"/>
          </a:p>
        </p:txBody>
      </p:sp>
      <p:sp>
        <p:nvSpPr>
          <p:cNvPr id="604" name="Pfeil_MeanReversion_Trough_Phi"/>
          <p:cNvSpPr/>
          <p:nvPr/>
        </p:nvSpPr>
        <p:spPr>
          <a:xfrm rot="17287761" flipV="1">
            <a:off x="1928475" y="4159454"/>
            <a:ext cx="533271" cy="334087"/>
          </a:xfrm>
          <a:custGeom>
            <a:avLst/>
            <a:gdLst/>
            <a:ahLst/>
            <a:cxnLst/>
            <a:rect l="0" t="0" r="0" b="0"/>
            <a:pathLst>
              <a:path w="336550" h="1016000">
                <a:moveTo>
                  <a:pt x="146050" y="990600"/>
                </a:moveTo>
                <a:cubicBezTo>
                  <a:pt x="25273" y="642112"/>
                  <a:pt x="81407" y="313944"/>
                  <a:pt x="311150" y="25400"/>
                </a:cubicBezTo>
              </a:path>
            </a:pathLst>
          </a:custGeom>
          <a:noFill/>
          <a:ln w="19050" cap="rnd">
            <a:solidFill>
              <a:srgbClr val="E6D34F"/>
            </a:solidFill>
            <a:tailEnd type="triangle" w="med" len="med"/>
          </a:ln>
        </p:spPr>
        <p:txBody>
          <a:bodyPr/>
          <a:lstStyle/>
          <a:p>
            <a:endParaRPr lang="de-DE"/>
          </a:p>
        </p:txBody>
      </p:sp>
      <p:sp>
        <p:nvSpPr>
          <p:cNvPr id="10" name="Label_Mittelwert_Phi">
            <a:extLst>
              <a:ext uri="{FF2B5EF4-FFF2-40B4-BE49-F238E27FC236}">
                <a16:creationId xmlns:a16="http://schemas.microsoft.com/office/drawing/2014/main" id="{BCE3EBD0-AD79-50B7-7404-5515ADA9196A}"/>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495AFE09-C7B8-A0EF-8763-C41569A99F8E}"/>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76AA765B-779C-1C63-0FB2-DCC63FCF45A6}"/>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6531892E-E5F6-2C35-CACB-992F5F84BFCF}"/>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60D3C51D-A5EE-2DF4-1AF8-A036A56DBC43}"/>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2" name="Label_Mittelwert_Phi">
            <a:extLst>
              <a:ext uri="{FF2B5EF4-FFF2-40B4-BE49-F238E27FC236}">
                <a16:creationId xmlns:a16="http://schemas.microsoft.com/office/drawing/2014/main" id="{8D70BE7B-0330-0FEC-2C6D-55A52B1DE595}"/>
              </a:ext>
            </a:extLst>
          </p:cNvPr>
          <p:cNvSpPr txBox="1"/>
          <p:nvPr/>
        </p:nvSpPr>
        <p:spPr>
          <a:xfrm>
            <a:off x="6721269" y="2803862"/>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16" name="Textfeld 15">
            <a:extLst>
              <a:ext uri="{FF2B5EF4-FFF2-40B4-BE49-F238E27FC236}">
                <a16:creationId xmlns:a16="http://schemas.microsoft.com/office/drawing/2014/main" id="{B5B9AD8C-CC39-FD93-8562-4DFC67983212}"/>
              </a:ext>
            </a:extLst>
          </p:cNvPr>
          <p:cNvSpPr txBox="1"/>
          <p:nvPr/>
        </p:nvSpPr>
        <p:spPr>
          <a:xfrm>
            <a:off x="1895517" y="758743"/>
            <a:ext cx="6094070" cy="415498"/>
          </a:xfrm>
          <a:prstGeom prst="rect">
            <a:avLst/>
          </a:prstGeom>
          <a:noFill/>
        </p:spPr>
        <p:txBody>
          <a:bodyPr wrap="square">
            <a:spAutoFit/>
          </a:bodyPr>
          <a:lstStyle/>
          <a:p>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de-DE" sz="2100" dirty="0"/>
          </a:p>
        </p:txBody>
      </p:sp>
      <p:sp>
        <p:nvSpPr>
          <p:cNvPr id="15" name="Textfeld 14">
            <a:extLst>
              <a:ext uri="{FF2B5EF4-FFF2-40B4-BE49-F238E27FC236}">
                <a16:creationId xmlns:a16="http://schemas.microsoft.com/office/drawing/2014/main" id="{C1FEEA0A-C4FF-ED6F-8259-166B5980C00C}"/>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719069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a:extLst>
            <a:ext uri="{FF2B5EF4-FFF2-40B4-BE49-F238E27FC236}">
              <a16:creationId xmlns:a16="http://schemas.microsoft.com/office/drawing/2014/main" id="{F61C2813-B6F1-74E0-8964-CD5A11E36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B2FB-190A-67A0-C860-53C641DDAC82}"/>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3C451C1A-8AF3-EDB6-3BCE-11B7F76C7686}"/>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a:extLst>
              <a:ext uri="{FF2B5EF4-FFF2-40B4-BE49-F238E27FC236}">
                <a16:creationId xmlns:a16="http://schemas.microsoft.com/office/drawing/2014/main" id="{62D9103C-85D0-1A3D-22ED-3A2D8CBC7FCB}"/>
              </a:ext>
            </a:extLst>
          </p:cNvPr>
          <p:cNvSpPr/>
          <p:nvPr/>
        </p:nvSpPr>
        <p:spPr>
          <a:xfrm>
            <a:off x="634594" y="761695"/>
            <a:ext cx="10921594" cy="399593"/>
          </a:xfrm>
          <a:prstGeom prst="rect">
            <a:avLst/>
          </a:prstGeom>
          <a:noFill/>
          <a:ln/>
        </p:spPr>
        <p:txBody>
          <a:bodyPr wrap="square" rtlCol="0" anchor="t"/>
          <a:lstStyle/>
          <a:p>
            <a:r>
              <a:rPr lang="en-US" sz="2100" b="1" kern="0" spc="-50" dirty="0" err="1">
                <a:solidFill>
                  <a:srgbClr val="F2EFDA"/>
                </a:solidFill>
                <a:latin typeface="Arial" pitchFamily="34" charset="0"/>
                <a:ea typeface="Arial" pitchFamily="34" charset="-122"/>
                <a:cs typeface="Arial" pitchFamily="34" charset="-120"/>
              </a:rPr>
              <a:t>Veränderungsvolatilität</a:t>
            </a:r>
            <a:endParaRPr lang="en-US" sz="2100" dirty="0"/>
          </a:p>
        </p:txBody>
      </p:sp>
      <p:sp>
        <p:nvSpPr>
          <p:cNvPr id="3" name="Text 1">
            <a:extLst>
              <a:ext uri="{FF2B5EF4-FFF2-40B4-BE49-F238E27FC236}">
                <a16:creationId xmlns:a16="http://schemas.microsoft.com/office/drawing/2014/main" id="{C883CA9D-A844-9A22-C4E5-69D6BCD2D21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a:extLst>
              <a:ext uri="{FF2B5EF4-FFF2-40B4-BE49-F238E27FC236}">
                <a16:creationId xmlns:a16="http://schemas.microsoft.com/office/drawing/2014/main" id="{0DB63EAD-7534-C947-73C8-21E9ED7ECC05}"/>
              </a:ext>
            </a:extLst>
          </p:cNvPr>
          <p:cNvGraphicFramePr/>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a:extLst>
              <a:ext uri="{FF2B5EF4-FFF2-40B4-BE49-F238E27FC236}">
                <a16:creationId xmlns:a16="http://schemas.microsoft.com/office/drawing/2014/main" id="{83F66AAD-09A2-1A17-F313-5CF3F3B7EF12}"/>
              </a:ext>
            </a:extLst>
          </p:cNvPr>
          <p:cNvCxnSpPr/>
          <p:nvPr/>
        </p:nvCxnSpPr>
        <p:spPr>
          <a:xfrm>
            <a:off x="1142187" y="3612474"/>
            <a:ext cx="10033000" cy="0"/>
          </a:xfrm>
          <a:prstGeom prst="line">
            <a:avLst/>
          </a:prstGeom>
          <a:ln w="12700" cap="rnd">
            <a:solidFill>
              <a:srgbClr val="E6D34F"/>
            </a:solidFill>
            <a:prstDash val="dash"/>
          </a:ln>
        </p:spPr>
      </p:cxnSp>
      <p:sp>
        <p:nvSpPr>
          <p:cNvPr id="10" name="Label_Mittelwert_Phi">
            <a:extLst>
              <a:ext uri="{FF2B5EF4-FFF2-40B4-BE49-F238E27FC236}">
                <a16:creationId xmlns:a16="http://schemas.microsoft.com/office/drawing/2014/main" id="{1C4BD6DF-0E74-E353-88FB-94DD8C069095}"/>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59E07578-278C-FD13-C011-F445DCAA18B2}"/>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500A11CE-91DA-DFF1-1D94-5BE8DE7161EA}"/>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B83BD454-504E-8A3C-6C31-C8417DA5D7B7}"/>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1A6FD065-913F-1F27-5BD3-B40236E90CED}"/>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3" name="Shape 4">
            <a:extLst>
              <a:ext uri="{FF2B5EF4-FFF2-40B4-BE49-F238E27FC236}">
                <a16:creationId xmlns:a16="http://schemas.microsoft.com/office/drawing/2014/main" id="{AD42079C-DA00-E929-46EC-33148230D956}"/>
              </a:ext>
            </a:extLst>
          </p:cNvPr>
          <p:cNvSpPr/>
          <p:nvPr/>
        </p:nvSpPr>
        <p:spPr>
          <a:xfrm>
            <a:off x="4286402" y="5199975"/>
            <a:ext cx="3619196" cy="1285646"/>
          </a:xfrm>
          <a:prstGeom prst="roundRect">
            <a:avLst>
              <a:gd name="adj" fmla="val 13325"/>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15" name="Text 5">
                <a:extLst>
                  <a:ext uri="{FF2B5EF4-FFF2-40B4-BE49-F238E27FC236}">
                    <a16:creationId xmlns:a16="http://schemas.microsoft.com/office/drawing/2014/main" id="{46A8EF8F-C624-FA76-5BD4-923FC1C4789A}"/>
                  </a:ext>
                </a:extLst>
              </p:cNvPr>
              <p:cNvSpPr/>
              <p:nvPr/>
            </p:nvSpPr>
            <p:spPr>
              <a:xfrm>
                <a:off x="4286402" y="5459517"/>
                <a:ext cx="3619196" cy="761695"/>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r>
                        <m:rPr>
                          <m:nor/>
                        </m:rPr>
                        <a:rPr lang="de-DE" sz="2000" b="0" i="0" dirty="0">
                          <a:solidFill>
                            <a:srgbClr val="78A2F9"/>
                          </a:solidFill>
                          <a:latin typeface="Courier New" pitchFamily="34" charset="0"/>
                          <a:ea typeface="Courier New" pitchFamily="34" charset="-122"/>
                          <a:cs typeface="Courier New" pitchFamily="34" charset="-120"/>
                        </a:rPr>
                        <m:t>𝜎</m:t>
                      </m:r>
                      <m:r>
                        <a:rPr lang="de-DE" sz="2000" b="1" smtClean="0">
                          <a:solidFill>
                            <a:srgbClr val="F3EFDA"/>
                          </a:solidFill>
                          <a:latin typeface="Cambria Math" panose="02040503050406030204" pitchFamily="18" charset="0"/>
                          <a:ea typeface="Courier New" pitchFamily="34" charset="-122"/>
                          <a:cs typeface="Courier New" pitchFamily="34" charset="-120"/>
                        </a:rPr>
                        <m:t>=</m:t>
                      </m:r>
                      <m:rad>
                        <m:radPr>
                          <m:degHide m:val="on"/>
                          <m:ctrlPr>
                            <a:rPr lang="de-DE" sz="2000" b="1" i="1" smtClean="0">
                              <a:solidFill>
                                <a:srgbClr val="F3EFDA"/>
                              </a:solidFill>
                              <a:latin typeface="Cambria Math" panose="02040503050406030204" pitchFamily="18" charset="0"/>
                              <a:ea typeface="Courier New" pitchFamily="34" charset="-122"/>
                              <a:cs typeface="Courier New" pitchFamily="34" charset="-120"/>
                            </a:rPr>
                          </m:ctrlPr>
                        </m:radPr>
                        <m:deg/>
                        <m:e>
                          <m:f>
                            <m:fPr>
                              <m:ctrlPr>
                                <a:rPr lang="de-DE" sz="2000" b="1" i="1">
                                  <a:solidFill>
                                    <a:srgbClr val="F3EFDA"/>
                                  </a:solidFill>
                                  <a:latin typeface="Cambria Math" panose="02040503050406030204" pitchFamily="18" charset="0"/>
                                  <a:ea typeface="Courier New" pitchFamily="34" charset="-122"/>
                                  <a:cs typeface="Courier New" pitchFamily="34" charset="-120"/>
                                </a:rPr>
                              </m:ctrlPr>
                            </m:fPr>
                            <m:num>
                              <m:r>
                                <a:rPr lang="de-DE" sz="2000" b="1">
                                  <a:solidFill>
                                    <a:srgbClr val="F3EFDA"/>
                                  </a:solidFill>
                                  <a:latin typeface="Cambria Math" panose="02040503050406030204" pitchFamily="18" charset="0"/>
                                  <a:ea typeface="Courier New" pitchFamily="34" charset="-122"/>
                                  <a:cs typeface="Courier New" pitchFamily="34" charset="-120"/>
                                </a:rPr>
                                <m:t>1</m:t>
                              </m:r>
                            </m:num>
                            <m:den>
                              <m:r>
                                <a:rPr lang="de-DE" sz="2000" b="1">
                                  <a:solidFill>
                                    <a:srgbClr val="F3EFDA"/>
                                  </a:solidFill>
                                  <a:latin typeface="Cambria Math" panose="02040503050406030204" pitchFamily="18" charset="0"/>
                                  <a:ea typeface="Courier New" pitchFamily="34" charset="-122"/>
                                  <a:cs typeface="Courier New" pitchFamily="34" charset="-120"/>
                                </a:rPr>
                                <m:t>𝑛</m:t>
                              </m:r>
                              <m:r>
                                <a:rPr lang="de-DE" sz="2000" b="1">
                                  <a:solidFill>
                                    <a:srgbClr val="F3EFDA"/>
                                  </a:solidFill>
                                  <a:latin typeface="Cambria Math" panose="02040503050406030204" pitchFamily="18" charset="0"/>
                                  <a:ea typeface="Courier New" pitchFamily="34" charset="-122"/>
                                  <a:cs typeface="Courier New" pitchFamily="34" charset="-120"/>
                                </a:rPr>
                                <m:t>−1</m:t>
                              </m:r>
                            </m:den>
                          </m:f>
                          <m:nary>
                            <m:naryPr>
                              <m:chr m:val="∑"/>
                              <m:grow m:val="on"/>
                              <m:ctrlPr>
                                <a:rPr lang="de-DE" sz="2000" b="1" i="1">
                                  <a:solidFill>
                                    <a:srgbClr val="F3EFDA"/>
                                  </a:solidFill>
                                  <a:latin typeface="Cambria Math" panose="02040503050406030204" pitchFamily="18" charset="0"/>
                                  <a:ea typeface="Courier New" pitchFamily="34" charset="-122"/>
                                  <a:cs typeface="Courier New" pitchFamily="34" charset="-120"/>
                                </a:rPr>
                              </m:ctrlPr>
                            </m:naryPr>
                            <m:sub>
                              <m:r>
                                <a:rPr lang="de-DE" sz="2000" b="1">
                                  <a:solidFill>
                                    <a:srgbClr val="F3EFDA"/>
                                  </a:solidFill>
                                  <a:latin typeface="Cambria Math" panose="02040503050406030204" pitchFamily="18" charset="0"/>
                                  <a:ea typeface="Courier New" pitchFamily="34" charset="-122"/>
                                  <a:cs typeface="Courier New" pitchFamily="34" charset="-120"/>
                                </a:rPr>
                                <m:t>𝑡</m:t>
                              </m:r>
                              <m:r>
                                <a:rPr lang="de-DE" sz="2000" b="1">
                                  <a:solidFill>
                                    <a:srgbClr val="F3EFDA"/>
                                  </a:solidFill>
                                  <a:latin typeface="Cambria Math" panose="02040503050406030204" pitchFamily="18" charset="0"/>
                                  <a:ea typeface="Courier New" pitchFamily="34" charset="-122"/>
                                  <a:cs typeface="Courier New" pitchFamily="34" charset="-120"/>
                                </a:rPr>
                                <m:t>=2</m:t>
                              </m:r>
                            </m:sub>
                            <m:sup>
                              <m:r>
                                <a:rPr lang="de-DE" sz="2000" b="1">
                                  <a:solidFill>
                                    <a:srgbClr val="F3EFDA"/>
                                  </a:solidFill>
                                  <a:latin typeface="Cambria Math" panose="02040503050406030204" pitchFamily="18" charset="0"/>
                                  <a:ea typeface="Courier New" pitchFamily="34" charset="-122"/>
                                  <a:cs typeface="Courier New" pitchFamily="34" charset="-120"/>
                                </a:rPr>
                                <m:t>𝑛</m:t>
                              </m:r>
                            </m:sup>
                            <m:e>
                              <m:r>
                                <a:rPr lang="de-DE" sz="2000" b="1">
                                  <a:solidFill>
                                    <a:srgbClr val="F3EFDA"/>
                                  </a:solidFill>
                                  <a:latin typeface="Cambria Math" panose="02040503050406030204" pitchFamily="18" charset="0"/>
                                  <a:ea typeface="Courier New" pitchFamily="34" charset="-122"/>
                                  <a:cs typeface="Courier New" pitchFamily="34" charset="-120"/>
                                </a:rPr>
                                <m:t>(</m:t>
                              </m:r>
                            </m:e>
                          </m:nary>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𝛥</m:t>
                              </m:r>
                              <m:sSub>
                                <m:sSubPr>
                                  <m:ctrlPr>
                                    <a:rPr lang="de-DE" sz="2000" b="1" i="1">
                                      <a:solidFill>
                                        <a:srgbClr val="F3EFDA"/>
                                      </a:solidFill>
                                      <a:latin typeface="Cambria Math" panose="02040503050406030204" pitchFamily="18" charset="0"/>
                                      <a:ea typeface="Courier New" pitchFamily="34" charset="-122"/>
                                      <a:cs typeface="Courier New" pitchFamily="34" charset="-120"/>
                                    </a:rPr>
                                  </m:ctrlPr>
                                </m:sSubPr>
                                <m:e>
                                  <m:r>
                                    <a:rPr lang="de-DE" sz="2000" b="1">
                                      <a:solidFill>
                                        <a:srgbClr val="F3EFDA"/>
                                      </a:solidFill>
                                      <a:latin typeface="Cambria Math" panose="02040503050406030204" pitchFamily="18" charset="0"/>
                                      <a:ea typeface="Courier New" pitchFamily="34" charset="-122"/>
                                      <a:cs typeface="Courier New" pitchFamily="34" charset="-120"/>
                                    </a:rPr>
                                    <m:t>𝑦</m:t>
                                  </m:r>
                                </m:e>
                                <m:sub>
                                  <m:r>
                                    <a:rPr lang="de-DE" sz="2000" b="1">
                                      <a:solidFill>
                                        <a:srgbClr val="F3EFDA"/>
                                      </a:solidFill>
                                      <a:latin typeface="Cambria Math" panose="02040503050406030204" pitchFamily="18" charset="0"/>
                                      <a:ea typeface="Courier New" pitchFamily="34" charset="-122"/>
                                      <a:cs typeface="Courier New" pitchFamily="34" charset="-120"/>
                                    </a:rPr>
                                    <m:t>𝑡</m:t>
                                  </m:r>
                                </m:sub>
                              </m:sSub>
                              <m:r>
                                <a:rPr lang="de-DE" sz="2000" b="1">
                                  <a:solidFill>
                                    <a:srgbClr val="F3EFDA"/>
                                  </a:solidFill>
                                  <a:latin typeface="Cambria Math" panose="02040503050406030204" pitchFamily="18" charset="0"/>
                                  <a:ea typeface="Courier New" pitchFamily="34" charset="-122"/>
                                  <a:cs typeface="Courier New" pitchFamily="34" charset="-120"/>
                                </a:rPr>
                                <m:t>−</m:t>
                              </m:r>
                              <m:acc>
                                <m:accPr>
                                  <m:chr m:val="̄"/>
                                  <m:ctrlPr>
                                    <a:rPr lang="de-DE" sz="2000" b="1" i="1">
                                      <a:solidFill>
                                        <a:srgbClr val="F3EFDA"/>
                                      </a:solidFill>
                                      <a:latin typeface="Cambria Math" panose="02040503050406030204" pitchFamily="18" charset="0"/>
                                      <a:ea typeface="Courier New" pitchFamily="34" charset="-122"/>
                                      <a:cs typeface="Courier New" pitchFamily="34" charset="-120"/>
                                    </a:rPr>
                                  </m:ctrlPr>
                                </m:accPr>
                                <m:e>
                                  <m:r>
                                    <a:rPr lang="de-DE" sz="2000" b="1">
                                      <a:solidFill>
                                        <a:srgbClr val="F3EFDA"/>
                                      </a:solidFill>
                                      <a:latin typeface="Cambria Math" panose="02040503050406030204" pitchFamily="18" charset="0"/>
                                      <a:ea typeface="Courier New" pitchFamily="34" charset="-122"/>
                                      <a:cs typeface="Courier New" pitchFamily="34" charset="-120"/>
                                    </a:rPr>
                                    <m:t>𝛥</m:t>
                                  </m:r>
                                  <m:r>
                                    <a:rPr lang="de-DE" sz="2000" b="1">
                                      <a:solidFill>
                                        <a:srgbClr val="F3EFDA"/>
                                      </a:solidFill>
                                      <a:latin typeface="Cambria Math" panose="02040503050406030204" pitchFamily="18" charset="0"/>
                                      <a:ea typeface="Courier New" pitchFamily="34" charset="-122"/>
                                      <a:cs typeface="Courier New" pitchFamily="34" charset="-120"/>
                                    </a:rPr>
                                    <m:t>𝑦</m:t>
                                  </m:r>
                                </m:e>
                              </m:acc>
                              <m:sSup>
                                <m:sSupPr>
                                  <m:ctrlPr>
                                    <a:rPr lang="de-DE" sz="2000" b="1" i="1">
                                      <a:solidFill>
                                        <a:srgbClr val="F3EFDA"/>
                                      </a:solidFill>
                                      <a:latin typeface="Cambria Math" panose="02040503050406030204" pitchFamily="18" charset="0"/>
                                      <a:ea typeface="Courier New" pitchFamily="34" charset="-122"/>
                                      <a:cs typeface="Courier New" pitchFamily="34" charset="-120"/>
                                    </a:rPr>
                                  </m:ctrlPr>
                                </m:sSupPr>
                                <m:e>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m:t>
                                      </m:r>
                                    </m:e>
                                  </m:d>
                                </m:e>
                                <m:sup>
                                  <m:r>
                                    <a:rPr lang="de-DE" sz="2000" b="1">
                                      <a:solidFill>
                                        <a:srgbClr val="F3EFDA"/>
                                      </a:solidFill>
                                      <a:latin typeface="Cambria Math" panose="02040503050406030204" pitchFamily="18" charset="0"/>
                                      <a:ea typeface="Courier New" pitchFamily="34" charset="-122"/>
                                      <a:cs typeface="Courier New" pitchFamily="34" charset="-120"/>
                                    </a:rPr>
                                    <m:t>2</m:t>
                                  </m:r>
                                </m:sup>
                              </m:sSup>
                            </m:e>
                          </m:d>
                        </m:e>
                      </m:rad>
                    </m:oMath>
                  </m:oMathPara>
                </a14:m>
                <a:endParaRPr lang="en-US" sz="2000" b="1" dirty="0">
                  <a:solidFill>
                    <a:srgbClr val="78A2F9"/>
                  </a:solidFill>
                  <a:latin typeface="Courier New" pitchFamily="34" charset="0"/>
                  <a:ea typeface="Courier New" pitchFamily="34" charset="-122"/>
                  <a:cs typeface="Courier New" pitchFamily="34" charset="-120"/>
                </a:endParaRPr>
              </a:p>
            </p:txBody>
          </p:sp>
        </mc:Choice>
        <mc:Fallback xmlns="">
          <p:sp>
            <p:nvSpPr>
              <p:cNvPr id="15" name="Text 5">
                <a:extLst>
                  <a:ext uri="{FF2B5EF4-FFF2-40B4-BE49-F238E27FC236}">
                    <a16:creationId xmlns:a16="http://schemas.microsoft.com/office/drawing/2014/main" id="{46A8EF8F-C624-FA76-5BD4-923FC1C4789A}"/>
                  </a:ext>
                </a:extLst>
              </p:cNvPr>
              <p:cNvSpPr>
                <a:spLocks noRot="1" noChangeAspect="1" noMove="1" noResize="1" noEditPoints="1" noAdjustHandles="1" noChangeArrowheads="1" noChangeShapeType="1" noTextEdit="1"/>
              </p:cNvSpPr>
              <p:nvPr/>
            </p:nvSpPr>
            <p:spPr>
              <a:xfrm>
                <a:off x="4286402" y="5459517"/>
                <a:ext cx="3619196" cy="761695"/>
              </a:xfrm>
              <a:prstGeom prst="rect">
                <a:avLst/>
              </a:prstGeom>
              <a:blipFill>
                <a:blip r:embed="rId4"/>
                <a:stretch>
                  <a:fillRect t="-134426" b="-204918"/>
                </a:stretch>
              </a:blipFill>
              <a:ln/>
            </p:spPr>
            <p:txBody>
              <a:bodyPr/>
              <a:lstStyle/>
              <a:p>
                <a:r>
                  <a:rPr lang="de-DE">
                    <a:noFill/>
                  </a:rPr>
                  <a:t> </a:t>
                </a:r>
              </a:p>
            </p:txBody>
          </p:sp>
        </mc:Fallback>
      </mc:AlternateContent>
      <p:cxnSp>
        <p:nvCxnSpPr>
          <p:cNvPr id="16" name="Pfeil_Sigma_Amplitude">
            <a:extLst>
              <a:ext uri="{FF2B5EF4-FFF2-40B4-BE49-F238E27FC236}">
                <a16:creationId xmlns:a16="http://schemas.microsoft.com/office/drawing/2014/main" id="{19101B1A-E308-A2C5-34CE-D8F7277FBFD2}"/>
              </a:ext>
            </a:extLst>
          </p:cNvPr>
          <p:cNvCxnSpPr>
            <a:cxnSpLocks/>
          </p:cNvCxnSpPr>
          <p:nvPr/>
        </p:nvCxnSpPr>
        <p:spPr>
          <a:xfrm>
            <a:off x="11669349" y="2954114"/>
            <a:ext cx="0" cy="1455615"/>
          </a:xfrm>
          <a:prstGeom prst="line">
            <a:avLst/>
          </a:prstGeom>
          <a:ln w="19050" cap="rnd">
            <a:solidFill>
              <a:srgbClr val="E6D34F"/>
            </a:solidFill>
            <a:headEnd type="triangle" w="med" len="med"/>
            <a:tailEnd type="triangle" w="med" len="med"/>
          </a:ln>
        </p:spPr>
      </p:cxnSp>
      <p:cxnSp>
        <p:nvCxnSpPr>
          <p:cNvPr id="17" name="Hilfslinie_Sigma_Oben">
            <a:extLst>
              <a:ext uri="{FF2B5EF4-FFF2-40B4-BE49-F238E27FC236}">
                <a16:creationId xmlns:a16="http://schemas.microsoft.com/office/drawing/2014/main" id="{67A37EF3-08E4-E1E5-41B2-52BC693105B2}"/>
              </a:ext>
            </a:extLst>
          </p:cNvPr>
          <p:cNvCxnSpPr/>
          <p:nvPr/>
        </p:nvCxnSpPr>
        <p:spPr>
          <a:xfrm>
            <a:off x="11351849" y="2974628"/>
            <a:ext cx="317500" cy="0"/>
          </a:xfrm>
          <a:prstGeom prst="line">
            <a:avLst/>
          </a:prstGeom>
          <a:ln w="9525" cap="rnd">
            <a:solidFill>
              <a:srgbClr val="E6D34F"/>
            </a:solidFill>
            <a:prstDash val="dash"/>
          </a:ln>
        </p:spPr>
      </p:cxnSp>
      <p:cxnSp>
        <p:nvCxnSpPr>
          <p:cNvPr id="18" name="Hilfslinie_Sigma_Unten">
            <a:extLst>
              <a:ext uri="{FF2B5EF4-FFF2-40B4-BE49-F238E27FC236}">
                <a16:creationId xmlns:a16="http://schemas.microsoft.com/office/drawing/2014/main" id="{F6C1F759-4EBC-BA94-1F4B-B635FAAFCE8C}"/>
              </a:ext>
            </a:extLst>
          </p:cNvPr>
          <p:cNvCxnSpPr/>
          <p:nvPr/>
        </p:nvCxnSpPr>
        <p:spPr>
          <a:xfrm>
            <a:off x="11351849" y="4367723"/>
            <a:ext cx="317500" cy="0"/>
          </a:xfrm>
          <a:prstGeom prst="line">
            <a:avLst/>
          </a:prstGeom>
          <a:ln w="9525" cap="rnd">
            <a:solidFill>
              <a:srgbClr val="E6D34F"/>
            </a:solidFill>
            <a:prstDash val="dash"/>
          </a:ln>
        </p:spPr>
      </p:cxnSp>
      <p:sp>
        <p:nvSpPr>
          <p:cNvPr id="19" name="Label_Sigma">
            <a:extLst>
              <a:ext uri="{FF2B5EF4-FFF2-40B4-BE49-F238E27FC236}">
                <a16:creationId xmlns:a16="http://schemas.microsoft.com/office/drawing/2014/main" id="{9942469C-DB05-C1D8-5F99-0568CBCE3C33}"/>
              </a:ext>
            </a:extLst>
          </p:cNvPr>
          <p:cNvSpPr txBox="1"/>
          <p:nvPr/>
        </p:nvSpPr>
        <p:spPr>
          <a:xfrm>
            <a:off x="11758249" y="3462114"/>
            <a:ext cx="431800" cy="304800"/>
          </a:xfrm>
          <a:prstGeom prst="rect">
            <a:avLst/>
          </a:prstGeom>
          <a:noFill/>
        </p:spPr>
        <p:txBody>
          <a:bodyPr wrap="none" lIns="0" tIns="0" rIns="0" bIns="0" anchor="ctr"/>
          <a:lstStyle/>
          <a:p>
            <a:pPr algn="ctr"/>
            <a:r>
              <a:rPr lang="de-DE" sz="1800" b="1" dirty="0" err="1">
                <a:solidFill>
                  <a:srgbClr val="E6D34F"/>
                </a:solidFill>
              </a:rPr>
              <a:t>σ</a:t>
            </a:r>
            <a:endParaRPr lang="de-DE" sz="1800" b="1" dirty="0">
              <a:solidFill>
                <a:srgbClr val="E6D34F"/>
              </a:solidFill>
            </a:endParaRPr>
          </a:p>
        </p:txBody>
      </p:sp>
      <p:cxnSp>
        <p:nvCxnSpPr>
          <p:cNvPr id="20" name="Pfeil_Sigma_Amplitude">
            <a:extLst>
              <a:ext uri="{FF2B5EF4-FFF2-40B4-BE49-F238E27FC236}">
                <a16:creationId xmlns:a16="http://schemas.microsoft.com/office/drawing/2014/main" id="{8E0D388A-CBE1-9C2D-34B8-9286DBBAA726}"/>
              </a:ext>
            </a:extLst>
          </p:cNvPr>
          <p:cNvCxnSpPr>
            <a:cxnSpLocks/>
          </p:cNvCxnSpPr>
          <p:nvPr/>
        </p:nvCxnSpPr>
        <p:spPr>
          <a:xfrm>
            <a:off x="3393844" y="3281583"/>
            <a:ext cx="0" cy="709190"/>
          </a:xfrm>
          <a:prstGeom prst="line">
            <a:avLst/>
          </a:prstGeom>
          <a:ln w="19050" cap="rnd">
            <a:solidFill>
              <a:srgbClr val="E6D34F"/>
            </a:solidFill>
            <a:headEnd type="triangle" w="med" len="med"/>
            <a:tailEnd type="triangle" w="med" len="med"/>
          </a:ln>
        </p:spPr>
      </p:cxnSp>
      <p:cxnSp>
        <p:nvCxnSpPr>
          <p:cNvPr id="21" name="Hilfslinie_Sigma_Oben">
            <a:extLst>
              <a:ext uri="{FF2B5EF4-FFF2-40B4-BE49-F238E27FC236}">
                <a16:creationId xmlns:a16="http://schemas.microsoft.com/office/drawing/2014/main" id="{7BCCC8BC-B819-BDD5-BBA1-C1BDD7635CA8}"/>
              </a:ext>
            </a:extLst>
          </p:cNvPr>
          <p:cNvCxnSpPr/>
          <p:nvPr/>
        </p:nvCxnSpPr>
        <p:spPr>
          <a:xfrm>
            <a:off x="3241599" y="3281583"/>
            <a:ext cx="317500" cy="0"/>
          </a:xfrm>
          <a:prstGeom prst="line">
            <a:avLst/>
          </a:prstGeom>
          <a:ln w="9525" cap="rnd">
            <a:solidFill>
              <a:srgbClr val="E6D34F"/>
            </a:solidFill>
            <a:prstDash val="dash"/>
          </a:ln>
        </p:spPr>
      </p:cxnSp>
      <p:cxnSp>
        <p:nvCxnSpPr>
          <p:cNvPr id="22" name="Hilfslinie_Sigma_Oben">
            <a:extLst>
              <a:ext uri="{FF2B5EF4-FFF2-40B4-BE49-F238E27FC236}">
                <a16:creationId xmlns:a16="http://schemas.microsoft.com/office/drawing/2014/main" id="{77CA50E0-7F4F-750A-F3A1-267108A9FBEA}"/>
              </a:ext>
            </a:extLst>
          </p:cNvPr>
          <p:cNvCxnSpPr/>
          <p:nvPr/>
        </p:nvCxnSpPr>
        <p:spPr>
          <a:xfrm>
            <a:off x="3052473" y="3995844"/>
            <a:ext cx="317500" cy="0"/>
          </a:xfrm>
          <a:prstGeom prst="line">
            <a:avLst/>
          </a:prstGeom>
          <a:ln w="9525" cap="rnd">
            <a:solidFill>
              <a:srgbClr val="E6D34F"/>
            </a:solidFill>
            <a:prstDash val="dash"/>
          </a:ln>
        </p:spPr>
      </p:cxn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C87BF89A-9103-67D6-1DF8-54636BA18E65}"/>
                  </a:ext>
                </a:extLst>
              </p:cNvPr>
              <p:cNvSpPr txBox="1"/>
              <p:nvPr/>
            </p:nvSpPr>
            <p:spPr>
              <a:xfrm>
                <a:off x="2760988" y="4150871"/>
                <a:ext cx="961221" cy="371064"/>
              </a:xfrm>
              <a:prstGeom prst="rect">
                <a:avLst/>
              </a:prstGeom>
              <a:noFill/>
            </p:spPr>
            <p:txBody>
              <a:bodyPr wrap="none" lIns="0" tIns="0" rIns="0" bIns="0" anchor="ctr"/>
              <a:lstStyle>
                <a:lvl1pPr algn="ctr">
                  <a:defRPr b="1">
                    <a:solidFill>
                      <a:srgbClr val="E6D34F"/>
                    </a:solidFill>
                  </a:defRPr>
                </a:lvl1pPr>
              </a:lstStyle>
              <a:p>
                <a:pPr/>
                <a14:m>
                  <m:oMathPara xmlns:m="http://schemas.openxmlformats.org/officeDocument/2006/math">
                    <m:oMathParaPr>
                      <m:jc m:val="centerGroup"/>
                    </m:oMathParaPr>
                    <m:oMath xmlns:m="http://schemas.openxmlformats.org/officeDocument/2006/math">
                      <m:r>
                        <a:rPr lang="de-DE">
                          <a:latin typeface="Cambria Math" panose="02040503050406030204" pitchFamily="18" charset="0"/>
                        </a:rPr>
                        <m:t>𝛥</m:t>
                      </m:r>
                      <m:sSub>
                        <m:sSubPr>
                          <m:ctrlPr>
                            <a:rPr lang="de-DE" i="1">
                              <a:latin typeface="Cambria Math" panose="02040503050406030204" pitchFamily="18" charset="0"/>
                            </a:rPr>
                          </m:ctrlPr>
                        </m:sSubPr>
                        <m:e>
                          <m:r>
                            <a:rPr lang="de-DE">
                              <a:latin typeface="Cambria Math" panose="02040503050406030204" pitchFamily="18" charset="0"/>
                            </a:rPr>
                            <m:t>𝑦</m:t>
                          </m:r>
                        </m:e>
                        <m:sub>
                          <m:r>
                            <a:rPr lang="de-DE">
                              <a:latin typeface="Cambria Math" panose="02040503050406030204" pitchFamily="18" charset="0"/>
                            </a:rPr>
                            <m:t>𝑡</m:t>
                          </m:r>
                        </m:sub>
                      </m:sSub>
                      <m:r>
                        <a:rPr lang="de-DE">
                          <a:latin typeface="Cambria Math" panose="02040503050406030204" pitchFamily="18" charset="0"/>
                        </a:rPr>
                        <m:t>−</m:t>
                      </m:r>
                      <m:acc>
                        <m:accPr>
                          <m:chr m:val="̄"/>
                          <m:ctrlPr>
                            <a:rPr lang="de-DE" i="1">
                              <a:latin typeface="Cambria Math" panose="02040503050406030204" pitchFamily="18" charset="0"/>
                            </a:rPr>
                          </m:ctrlPr>
                        </m:accPr>
                        <m:e>
                          <m:r>
                            <a:rPr lang="de-DE">
                              <a:latin typeface="Cambria Math" panose="02040503050406030204" pitchFamily="18" charset="0"/>
                            </a:rPr>
                            <m:t>𝛥</m:t>
                          </m:r>
                          <m:r>
                            <a:rPr lang="de-DE">
                              <a:latin typeface="Cambria Math" panose="02040503050406030204" pitchFamily="18" charset="0"/>
                            </a:rPr>
                            <m:t>𝑦</m:t>
                          </m:r>
                        </m:e>
                      </m:acc>
                    </m:oMath>
                  </m:oMathPara>
                </a14:m>
                <a:endParaRPr lang="de-DE" dirty="0"/>
              </a:p>
            </p:txBody>
          </p:sp>
        </mc:Choice>
        <mc:Fallback xmlns="">
          <p:sp>
            <p:nvSpPr>
              <p:cNvPr id="23" name="Textfeld 22">
                <a:extLst>
                  <a:ext uri="{FF2B5EF4-FFF2-40B4-BE49-F238E27FC236}">
                    <a16:creationId xmlns:a16="http://schemas.microsoft.com/office/drawing/2014/main" id="{C87BF89A-9103-67D6-1DF8-54636BA18E65}"/>
                  </a:ext>
                </a:extLst>
              </p:cNvPr>
              <p:cNvSpPr txBox="1">
                <a:spLocks noRot="1" noChangeAspect="1" noMove="1" noResize="1" noEditPoints="1" noAdjustHandles="1" noChangeArrowheads="1" noChangeShapeType="1" noTextEdit="1"/>
              </p:cNvSpPr>
              <p:nvPr/>
            </p:nvSpPr>
            <p:spPr>
              <a:xfrm>
                <a:off x="2760988" y="4150871"/>
                <a:ext cx="961221" cy="371064"/>
              </a:xfrm>
              <a:prstGeom prst="rect">
                <a:avLst/>
              </a:prstGeom>
              <a:blipFill>
                <a:blip r:embed="rId5"/>
                <a:stretch>
                  <a:fillRect l="-6494" r="-3896" b="-9677"/>
                </a:stretch>
              </a:blipFill>
            </p:spPr>
            <p:txBody>
              <a:bodyPr/>
              <a:lstStyle/>
              <a:p>
                <a:r>
                  <a:rPr lang="de-DE">
                    <a:noFill/>
                  </a:rPr>
                  <a:t> </a:t>
                </a:r>
              </a:p>
            </p:txBody>
          </p:sp>
        </mc:Fallback>
      </mc:AlternateContent>
      <p:sp>
        <p:nvSpPr>
          <p:cNvPr id="7" name="Textfeld 6">
            <a:extLst>
              <a:ext uri="{FF2B5EF4-FFF2-40B4-BE49-F238E27FC236}">
                <a16:creationId xmlns:a16="http://schemas.microsoft.com/office/drawing/2014/main" id="{B3D616A4-3FEE-AFC8-543C-2E0F455E7B2B}"/>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373924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341036" y="1619701"/>
            <a:ext cx="5779249" cy="45840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05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METHODIK</a:t>
            </a:r>
          </a:p>
        </p:txBody>
      </p:sp>
      <p:sp>
        <p:nvSpPr>
          <p:cNvPr id="34" name="Shape 12">
            <a:extLst>
              <a:ext uri="{FF2B5EF4-FFF2-40B4-BE49-F238E27FC236}">
                <a16:creationId xmlns:a16="http://schemas.microsoft.com/office/drawing/2014/main" id="{24307684-3263-A01D-89DE-A5FB50BAB70B}"/>
              </a:ext>
            </a:extLst>
          </p:cNvPr>
          <p:cNvSpPr/>
          <p:nvPr/>
        </p:nvSpPr>
        <p:spPr>
          <a:xfrm>
            <a:off x="6465620" y="13681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758B25B-3AB3-7352-18FD-624509E04F2F}"/>
              </a:ext>
            </a:extLst>
          </p:cNvPr>
          <p:cNvSpPr/>
          <p:nvPr/>
        </p:nvSpPr>
        <p:spPr>
          <a:xfrm>
            <a:off x="6500651" y="15860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0F6E75AC-BC04-351D-2E4F-F498A1E3A861}"/>
              </a:ext>
            </a:extLst>
          </p:cNvPr>
          <p:cNvSpPr/>
          <p:nvPr/>
        </p:nvSpPr>
        <p:spPr>
          <a:xfrm>
            <a:off x="6599840" y="16197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6464959" y="31458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D333D71B-7735-4E3B-E0A9-25B8FC061182}"/>
              </a:ext>
            </a:extLst>
          </p:cNvPr>
          <p:cNvSpPr/>
          <p:nvPr/>
        </p:nvSpPr>
        <p:spPr>
          <a:xfrm>
            <a:off x="6499990" y="33637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F9C655DB-7830-A7FF-D5A2-0E4F3ABB8791}"/>
              </a:ext>
            </a:extLst>
          </p:cNvPr>
          <p:cNvSpPr/>
          <p:nvPr/>
        </p:nvSpPr>
        <p:spPr>
          <a:xfrm>
            <a:off x="6524469" y="33973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Unterteilung</a:t>
            </a:r>
            <a:r>
              <a:rPr lang="en-US" sz="1400" dirty="0">
                <a:solidFill>
                  <a:srgbClr val="F2EFDA"/>
                </a:solidFill>
                <a:latin typeface="Arial" pitchFamily="34" charset="0"/>
                <a:ea typeface="Arial" pitchFamily="34" charset="-122"/>
                <a:cs typeface="Arial" pitchFamily="34" charset="-120"/>
              </a:rPr>
              <a:t> für </a:t>
            </a:r>
            <a:r>
              <a:rPr lang="en-US" sz="1400" dirty="0" err="1">
                <a:solidFill>
                  <a:srgbClr val="F2EFDA"/>
                </a:solidFill>
                <a:latin typeface="Arial" pitchFamily="34" charset="0"/>
                <a:ea typeface="Arial" pitchFamily="34" charset="-122"/>
                <a:cs typeface="Arial" pitchFamily="34" charset="-120"/>
              </a:rPr>
              <a:t>jede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Median-Split</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6464959" y="4955748"/>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44" name="Text 13">
            <a:extLst>
              <a:ext uri="{FF2B5EF4-FFF2-40B4-BE49-F238E27FC236}">
                <a16:creationId xmlns:a16="http://schemas.microsoft.com/office/drawing/2014/main" id="{BC43F0F2-B75D-F18B-705B-F8E91A32425B}"/>
              </a:ext>
            </a:extLst>
          </p:cNvPr>
          <p:cNvSpPr/>
          <p:nvPr/>
        </p:nvSpPr>
        <p:spPr>
          <a:xfrm>
            <a:off x="6499990" y="5173653"/>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3</a:t>
            </a:r>
            <a:endParaRPr lang="en-US" sz="1400"/>
          </a:p>
        </p:txBody>
      </p:sp>
      <p:sp>
        <p:nvSpPr>
          <p:cNvPr id="46" name="Text 15">
            <a:extLst>
              <a:ext uri="{FF2B5EF4-FFF2-40B4-BE49-F238E27FC236}">
                <a16:creationId xmlns:a16="http://schemas.microsoft.com/office/drawing/2014/main" id="{2F9779FA-E5BC-D265-7BD6-B12B84E76E69}"/>
              </a:ext>
            </a:extLst>
          </p:cNvPr>
          <p:cNvSpPr/>
          <p:nvPr/>
        </p:nvSpPr>
        <p:spPr>
          <a:xfrm>
            <a:off x="6524469" y="5207308"/>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Variation ρ² ≤ 6 %</a:t>
            </a:r>
            <a:endParaRPr lang="en-US" sz="1400" dirty="0"/>
          </a:p>
        </p:txBody>
      </p:sp>
      <p:sp>
        <p:nvSpPr>
          <p:cNvPr id="47" name="Shape 14">
            <a:extLst>
              <a:ext uri="{FF2B5EF4-FFF2-40B4-BE49-F238E27FC236}">
                <a16:creationId xmlns:a16="http://schemas.microsoft.com/office/drawing/2014/main" id="{97DFBAE3-357A-F11D-FA76-D410C78576F2}"/>
              </a:ext>
            </a:extLst>
          </p:cNvPr>
          <p:cNvSpPr/>
          <p:nvPr/>
        </p:nvSpPr>
        <p:spPr>
          <a:xfrm>
            <a:off x="6891119" y="17213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A9F28197-AC8F-5CCA-E246-4FC83BBCC1F3}"/>
              </a:ext>
            </a:extLst>
          </p:cNvPr>
          <p:cNvSpPr/>
          <p:nvPr/>
        </p:nvSpPr>
        <p:spPr>
          <a:xfrm>
            <a:off x="6889861" y="3512104"/>
            <a:ext cx="4427756" cy="18000"/>
          </a:xfrm>
          <a:prstGeom prst="rect">
            <a:avLst/>
          </a:prstGeom>
          <a:solidFill>
            <a:srgbClr val="DBDEE2"/>
          </a:solidFill>
          <a:ln/>
        </p:spPr>
        <p:txBody>
          <a:bodyPr/>
          <a:lstStyle/>
          <a:p>
            <a:endParaRPr lang="de-DE"/>
          </a:p>
        </p:txBody>
      </p:sp>
      <p:sp>
        <p:nvSpPr>
          <p:cNvPr id="49" name="Shape 14">
            <a:extLst>
              <a:ext uri="{FF2B5EF4-FFF2-40B4-BE49-F238E27FC236}">
                <a16:creationId xmlns:a16="http://schemas.microsoft.com/office/drawing/2014/main" id="{788F02BE-EE59-0DFB-3743-D055F98990BB}"/>
              </a:ext>
            </a:extLst>
          </p:cNvPr>
          <p:cNvSpPr/>
          <p:nvPr/>
        </p:nvSpPr>
        <p:spPr>
          <a:xfrm>
            <a:off x="6889861" y="5322016"/>
            <a:ext cx="4427756" cy="18000"/>
          </a:xfrm>
          <a:prstGeom prst="rect">
            <a:avLst/>
          </a:prstGeom>
          <a:solidFill>
            <a:srgbClr val="DBDEE2"/>
          </a:solidFill>
          <a:ln/>
        </p:spPr>
        <p:txBody>
          <a:bodyPr/>
          <a:lstStyle/>
          <a:p>
            <a:endParaRPr lang="de-DE"/>
          </a:p>
        </p:txBody>
      </p:sp>
      <p:grpSp>
        <p:nvGrpSpPr>
          <p:cNvPr id="4" name="Gruppieren 3">
            <a:extLst>
              <a:ext uri="{FF2B5EF4-FFF2-40B4-BE49-F238E27FC236}">
                <a16:creationId xmlns:a16="http://schemas.microsoft.com/office/drawing/2014/main" id="{F55B37CB-C036-7061-87B0-8835DD0E9D0B}"/>
              </a:ext>
            </a:extLst>
          </p:cNvPr>
          <p:cNvGrpSpPr>
            <a:grpSpLocks noChangeAspect="1"/>
          </p:cNvGrpSpPr>
          <p:nvPr/>
        </p:nvGrpSpPr>
        <p:grpSpPr>
          <a:xfrm>
            <a:off x="725364" y="1509315"/>
            <a:ext cx="4291933" cy="4474141"/>
            <a:chOff x="1310081" y="1802745"/>
            <a:chExt cx="3314157" cy="3454855"/>
          </a:xfrm>
        </p:grpSpPr>
        <p:sp>
          <p:nvSpPr>
            <p:cNvPr id="50" name="Shape 20">
              <a:extLst>
                <a:ext uri="{FF2B5EF4-FFF2-40B4-BE49-F238E27FC236}">
                  <a16:creationId xmlns:a16="http://schemas.microsoft.com/office/drawing/2014/main" id="{43D0FA38-5B66-D1EB-7410-D66597F45441}"/>
                </a:ext>
              </a:extLst>
            </p:cNvPr>
            <p:cNvSpPr/>
            <p:nvPr/>
          </p:nvSpPr>
          <p:spPr>
            <a:xfrm>
              <a:off x="1726794" y="2325431"/>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51" name="Text 21">
              <a:extLst>
                <a:ext uri="{FF2B5EF4-FFF2-40B4-BE49-F238E27FC236}">
                  <a16:creationId xmlns:a16="http://schemas.microsoft.com/office/drawing/2014/main" id="{D68C807F-9DB3-C586-A8D5-A55B9B248FE3}"/>
                </a:ext>
              </a:extLst>
            </p:cNvPr>
            <p:cNvSpPr/>
            <p:nvPr/>
          </p:nvSpPr>
          <p:spPr>
            <a:xfrm>
              <a:off x="1726794" y="2544122"/>
              <a:ext cx="1384402" cy="437080"/>
            </a:xfrm>
            <a:prstGeom prst="rect">
              <a:avLst/>
            </a:prstGeom>
            <a:noFill/>
            <a:ln/>
          </p:spPr>
          <p:txBody>
            <a:bodyPr wrap="square" rtlCol="0" anchor="t"/>
            <a:lstStyle/>
            <a:p>
              <a:pPr marL="0" indent="0" algn="ctr">
                <a:lnSpc>
                  <a:spcPct val="105000"/>
                </a:lnSpc>
                <a:buNone/>
              </a:pPr>
              <a:r>
                <a:rPr lang="en-US" sz="1200" b="1" kern="0" spc="100" dirty="0">
                  <a:solidFill>
                    <a:srgbClr val="6AA7F4"/>
                  </a:solidFill>
                  <a:latin typeface="Courier New" pitchFamily="34" charset="0"/>
                  <a:ea typeface="Courier New" pitchFamily="34" charset="-122"/>
                  <a:cs typeface="Courier New" pitchFamily="34" charset="-120"/>
                </a:rPr>
                <a:t>KORREKTIV-VOLATIL</a:t>
              </a:r>
              <a:endParaRPr lang="en-US" sz="1200" dirty="0"/>
            </a:p>
          </p:txBody>
        </p:sp>
        <p:sp>
          <p:nvSpPr>
            <p:cNvPr id="52" name="Text 22">
              <a:extLst>
                <a:ext uri="{FF2B5EF4-FFF2-40B4-BE49-F238E27FC236}">
                  <a16:creationId xmlns:a16="http://schemas.microsoft.com/office/drawing/2014/main" id="{4F4D47BB-1E6E-389D-B9D7-BADF3844ECBC}"/>
                </a:ext>
              </a:extLst>
            </p:cNvPr>
            <p:cNvSpPr/>
            <p:nvPr/>
          </p:nvSpPr>
          <p:spPr>
            <a:xfrm>
              <a:off x="1726793" y="3057845"/>
              <a:ext cx="1379722" cy="32015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3" name="Shape 23">
              <a:extLst>
                <a:ext uri="{FF2B5EF4-FFF2-40B4-BE49-F238E27FC236}">
                  <a16:creationId xmlns:a16="http://schemas.microsoft.com/office/drawing/2014/main" id="{5C0E9600-EE8E-D8BE-0A4D-5EF6760D0953}"/>
                </a:ext>
              </a:extLst>
            </p:cNvPr>
            <p:cNvSpPr/>
            <p:nvPr/>
          </p:nvSpPr>
          <p:spPr>
            <a:xfrm>
              <a:off x="3212694" y="2325431"/>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54" name="Text 24">
              <a:extLst>
                <a:ext uri="{FF2B5EF4-FFF2-40B4-BE49-F238E27FC236}">
                  <a16:creationId xmlns:a16="http://schemas.microsoft.com/office/drawing/2014/main" id="{8B12939C-1556-5600-C571-E191A5A263CA}"/>
                </a:ext>
              </a:extLst>
            </p:cNvPr>
            <p:cNvSpPr/>
            <p:nvPr/>
          </p:nvSpPr>
          <p:spPr>
            <a:xfrm>
              <a:off x="3219814" y="2549639"/>
              <a:ext cx="1384402" cy="455113"/>
            </a:xfrm>
            <a:prstGeom prst="rect">
              <a:avLst/>
            </a:prstGeom>
            <a:noFill/>
            <a:ln/>
          </p:spPr>
          <p:txBody>
            <a:bodyPr wrap="square" rtlCol="0" anchor="t"/>
            <a:lstStyle/>
            <a:p>
              <a:pPr marL="0" indent="0" algn="ctr">
                <a:lnSpc>
                  <a:spcPct val="105000"/>
                </a:lnSpc>
                <a:buNone/>
              </a:pPr>
              <a:r>
                <a:rPr lang="en-US" sz="1200" b="1" kern="0" spc="100" dirty="0">
                  <a:solidFill>
                    <a:srgbClr val="F36451"/>
                  </a:solidFill>
                  <a:latin typeface="Courier New" pitchFamily="34" charset="0"/>
                  <a:ea typeface="Courier New" pitchFamily="34" charset="-122"/>
                  <a:cs typeface="Courier New" pitchFamily="34" charset="-120"/>
                </a:rPr>
                <a:t>PERSISTENT-VOLATIL</a:t>
              </a:r>
              <a:endParaRPr lang="en-US" sz="1200" dirty="0"/>
            </a:p>
          </p:txBody>
        </p:sp>
        <p:sp>
          <p:nvSpPr>
            <p:cNvPr id="55" name="Text 25">
              <a:extLst>
                <a:ext uri="{FF2B5EF4-FFF2-40B4-BE49-F238E27FC236}">
                  <a16:creationId xmlns:a16="http://schemas.microsoft.com/office/drawing/2014/main" id="{CD27CF29-98B7-ED80-4C33-9FD1BD39A197}"/>
                </a:ext>
              </a:extLst>
            </p:cNvPr>
            <p:cNvSpPr/>
            <p:nvPr/>
          </p:nvSpPr>
          <p:spPr>
            <a:xfrm>
              <a:off x="3212694" y="3044687"/>
              <a:ext cx="1384402" cy="39584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a:t>
              </a:r>
              <a:br>
                <a:rPr lang="en-US" sz="1050" dirty="0">
                  <a:solidFill>
                    <a:srgbClr val="B3BC9A"/>
                  </a:solidFill>
                  <a:latin typeface="Arial" pitchFamily="34" charset="0"/>
                  <a:ea typeface="Arial" pitchFamily="34" charset="-122"/>
                  <a:cs typeface="Arial" pitchFamily="34" charset="-120"/>
                </a:rPr>
              </a:b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6" name="Shape 26">
              <a:extLst>
                <a:ext uri="{FF2B5EF4-FFF2-40B4-BE49-F238E27FC236}">
                  <a16:creationId xmlns:a16="http://schemas.microsoft.com/office/drawing/2014/main" id="{3B6F4360-4D96-FB1C-EF59-95A25FC882A4}"/>
                </a:ext>
              </a:extLst>
            </p:cNvPr>
            <p:cNvSpPr/>
            <p:nvPr/>
          </p:nvSpPr>
          <p:spPr>
            <a:xfrm>
              <a:off x="1726794" y="3822906"/>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57" name="Text 27">
              <a:extLst>
                <a:ext uri="{FF2B5EF4-FFF2-40B4-BE49-F238E27FC236}">
                  <a16:creationId xmlns:a16="http://schemas.microsoft.com/office/drawing/2014/main" id="{A5ACDA0C-E803-8DF9-11F1-6860DE609810}"/>
                </a:ext>
              </a:extLst>
            </p:cNvPr>
            <p:cNvSpPr/>
            <p:nvPr/>
          </p:nvSpPr>
          <p:spPr>
            <a:xfrm>
              <a:off x="1733194" y="4030011"/>
              <a:ext cx="1371601" cy="382304"/>
            </a:xfrm>
            <a:prstGeom prst="rect">
              <a:avLst/>
            </a:prstGeom>
            <a:noFill/>
            <a:ln/>
          </p:spPr>
          <p:txBody>
            <a:bodyPr wrap="square" rtlCol="0" anchor="t"/>
            <a:lstStyle/>
            <a:p>
              <a:pPr marL="0" indent="0" algn="ctr">
                <a:lnSpc>
                  <a:spcPct val="105000"/>
                </a:lnSpc>
                <a:buNone/>
              </a:pPr>
              <a:r>
                <a:rPr lang="en-US" sz="1200" b="1" kern="0" spc="100" dirty="0">
                  <a:solidFill>
                    <a:srgbClr val="3EB977"/>
                  </a:solidFill>
                  <a:latin typeface="Courier New" pitchFamily="34" charset="0"/>
                  <a:ea typeface="Courier New" pitchFamily="34" charset="-122"/>
                  <a:cs typeface="Courier New" pitchFamily="34" charset="-120"/>
                </a:rPr>
                <a:t>KORREKTIV-</a:t>
              </a:r>
              <a:br>
                <a:rPr lang="en-US" sz="1200" b="1" kern="0" spc="100" dirty="0">
                  <a:solidFill>
                    <a:srgbClr val="3EB977"/>
                  </a:solidFill>
                  <a:latin typeface="Courier New" pitchFamily="34" charset="0"/>
                  <a:ea typeface="Courier New" pitchFamily="34" charset="-122"/>
                  <a:cs typeface="Courier New" pitchFamily="34" charset="-120"/>
                </a:rPr>
              </a:br>
              <a:r>
                <a:rPr lang="en-US" sz="1200" b="1" kern="0" spc="100" dirty="0">
                  <a:solidFill>
                    <a:srgbClr val="3EB977"/>
                  </a:solidFill>
                  <a:latin typeface="Courier New" pitchFamily="34" charset="0"/>
                  <a:ea typeface="Courier New" pitchFamily="34" charset="-122"/>
                  <a:cs typeface="Courier New" pitchFamily="34" charset="-120"/>
                </a:rPr>
                <a:t>STABIL</a:t>
              </a:r>
              <a:endParaRPr lang="en-US" sz="1200" dirty="0"/>
            </a:p>
          </p:txBody>
        </p:sp>
        <p:sp>
          <p:nvSpPr>
            <p:cNvPr id="58" name="Text 28">
              <a:extLst>
                <a:ext uri="{FF2B5EF4-FFF2-40B4-BE49-F238E27FC236}">
                  <a16:creationId xmlns:a16="http://schemas.microsoft.com/office/drawing/2014/main" id="{B2A24319-FA2F-99B4-BAC3-141988FD0074}"/>
                </a:ext>
              </a:extLst>
            </p:cNvPr>
            <p:cNvSpPr/>
            <p:nvPr/>
          </p:nvSpPr>
          <p:spPr>
            <a:xfrm>
              <a:off x="1726793" y="4613919"/>
              <a:ext cx="1371601"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9" name="Shape 29">
              <a:extLst>
                <a:ext uri="{FF2B5EF4-FFF2-40B4-BE49-F238E27FC236}">
                  <a16:creationId xmlns:a16="http://schemas.microsoft.com/office/drawing/2014/main" id="{49DD4501-F484-83BB-84D6-BA1B6D836013}"/>
                </a:ext>
              </a:extLst>
            </p:cNvPr>
            <p:cNvSpPr/>
            <p:nvPr/>
          </p:nvSpPr>
          <p:spPr>
            <a:xfrm>
              <a:off x="3212694" y="3822906"/>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60" name="Text 30">
              <a:extLst>
                <a:ext uri="{FF2B5EF4-FFF2-40B4-BE49-F238E27FC236}">
                  <a16:creationId xmlns:a16="http://schemas.microsoft.com/office/drawing/2014/main" id="{1EC9A50B-FAFF-4700-7EAF-1E0AE6B1C685}"/>
                </a:ext>
              </a:extLst>
            </p:cNvPr>
            <p:cNvSpPr/>
            <p:nvPr/>
          </p:nvSpPr>
          <p:spPr>
            <a:xfrm>
              <a:off x="3230660" y="4039282"/>
              <a:ext cx="1359531" cy="382304"/>
            </a:xfrm>
            <a:prstGeom prst="rect">
              <a:avLst/>
            </a:prstGeom>
            <a:noFill/>
            <a:ln/>
          </p:spPr>
          <p:txBody>
            <a:bodyPr wrap="square" rtlCol="0" anchor="t"/>
            <a:lstStyle/>
            <a:p>
              <a:pPr marL="0" indent="0" algn="ctr">
                <a:lnSpc>
                  <a:spcPct val="105000"/>
                </a:lnSpc>
                <a:buNone/>
              </a:pPr>
              <a:r>
                <a:rPr lang="en-US" sz="1200" b="1" kern="0" spc="100" dirty="0">
                  <a:solidFill>
                    <a:srgbClr val="E4CA5F"/>
                  </a:solidFill>
                  <a:latin typeface="Courier New" pitchFamily="34" charset="0"/>
                  <a:ea typeface="Courier New" pitchFamily="34" charset="-122"/>
                  <a:cs typeface="Courier New" pitchFamily="34" charset="-120"/>
                </a:rPr>
                <a:t>PERSISTENT-STABIL</a:t>
              </a:r>
              <a:endParaRPr lang="en-US" sz="1200" dirty="0"/>
            </a:p>
          </p:txBody>
        </p:sp>
        <p:sp>
          <p:nvSpPr>
            <p:cNvPr id="61" name="Text 31">
              <a:extLst>
                <a:ext uri="{FF2B5EF4-FFF2-40B4-BE49-F238E27FC236}">
                  <a16:creationId xmlns:a16="http://schemas.microsoft.com/office/drawing/2014/main" id="{F55F4CEE-18D1-F87C-8A60-84B1455C5904}"/>
                </a:ext>
              </a:extLst>
            </p:cNvPr>
            <p:cNvSpPr/>
            <p:nvPr/>
          </p:nvSpPr>
          <p:spPr>
            <a:xfrm>
              <a:off x="3219814" y="4621036"/>
              <a:ext cx="1371602"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62" name="Shape 32">
              <a:extLst>
                <a:ext uri="{FF2B5EF4-FFF2-40B4-BE49-F238E27FC236}">
                  <a16:creationId xmlns:a16="http://schemas.microsoft.com/office/drawing/2014/main" id="{69683159-F678-5F61-F286-5344430851B2}"/>
                </a:ext>
              </a:extLst>
            </p:cNvPr>
            <p:cNvSpPr/>
            <p:nvPr/>
          </p:nvSpPr>
          <p:spPr>
            <a:xfrm>
              <a:off x="3158378" y="2337006"/>
              <a:ext cx="25603" cy="2920594"/>
            </a:xfrm>
            <a:prstGeom prst="rect">
              <a:avLst/>
            </a:prstGeom>
            <a:solidFill>
              <a:srgbClr val="DBDEE2"/>
            </a:solidFill>
            <a:ln/>
          </p:spPr>
          <p:txBody>
            <a:bodyPr/>
            <a:lstStyle/>
            <a:p>
              <a:endParaRPr lang="de-DE"/>
            </a:p>
          </p:txBody>
        </p:sp>
        <p:sp>
          <p:nvSpPr>
            <p:cNvPr id="63" name="Shape 33">
              <a:extLst>
                <a:ext uri="{FF2B5EF4-FFF2-40B4-BE49-F238E27FC236}">
                  <a16:creationId xmlns:a16="http://schemas.microsoft.com/office/drawing/2014/main" id="{B86CF289-76D7-CE78-EAD0-7D42DFC1F768}"/>
                </a:ext>
              </a:extLst>
            </p:cNvPr>
            <p:cNvSpPr/>
            <p:nvPr/>
          </p:nvSpPr>
          <p:spPr>
            <a:xfrm>
              <a:off x="1703644" y="3762266"/>
              <a:ext cx="2920594" cy="25603"/>
            </a:xfrm>
            <a:prstGeom prst="rect">
              <a:avLst/>
            </a:prstGeom>
            <a:solidFill>
              <a:srgbClr val="DBDEE2"/>
            </a:solidFill>
            <a:ln/>
          </p:spPr>
          <p:txBody>
            <a:bodyPr/>
            <a:lstStyle/>
            <a:p>
              <a:endParaRPr lang="de-DE"/>
            </a:p>
          </p:txBody>
        </p:sp>
        <p:sp>
          <p:nvSpPr>
            <p:cNvPr id="64" name="Shape 34">
              <a:extLst>
                <a:ext uri="{FF2B5EF4-FFF2-40B4-BE49-F238E27FC236}">
                  <a16:creationId xmlns:a16="http://schemas.microsoft.com/office/drawing/2014/main" id="{DD24F446-4365-620B-1939-07059F9CBEBB}"/>
                </a:ext>
              </a:extLst>
            </p:cNvPr>
            <p:cNvSpPr/>
            <p:nvPr/>
          </p:nvSpPr>
          <p:spPr>
            <a:xfrm>
              <a:off x="1782789" y="3877686"/>
              <a:ext cx="107899" cy="107899"/>
            </a:xfrm>
            <a:prstGeom prst="ellipse">
              <a:avLst/>
            </a:prstGeom>
            <a:solidFill>
              <a:srgbClr val="3EB977"/>
            </a:solidFill>
            <a:ln/>
          </p:spPr>
          <p:txBody>
            <a:bodyPr/>
            <a:lstStyle/>
            <a:p>
              <a:endParaRPr lang="de-DE"/>
            </a:p>
          </p:txBody>
        </p:sp>
        <p:sp>
          <p:nvSpPr>
            <p:cNvPr id="65" name="Shape 35">
              <a:extLst>
                <a:ext uri="{FF2B5EF4-FFF2-40B4-BE49-F238E27FC236}">
                  <a16:creationId xmlns:a16="http://schemas.microsoft.com/office/drawing/2014/main" id="{53FBED0A-AD80-DF02-DF7A-7521358B3738}"/>
                </a:ext>
              </a:extLst>
            </p:cNvPr>
            <p:cNvSpPr/>
            <p:nvPr/>
          </p:nvSpPr>
          <p:spPr>
            <a:xfrm>
              <a:off x="1782790" y="2378722"/>
              <a:ext cx="107899" cy="107899"/>
            </a:xfrm>
            <a:prstGeom prst="ellipse">
              <a:avLst/>
            </a:prstGeom>
            <a:solidFill>
              <a:srgbClr val="6AA7F4"/>
            </a:solidFill>
            <a:ln/>
          </p:spPr>
          <p:txBody>
            <a:bodyPr/>
            <a:lstStyle/>
            <a:p>
              <a:endParaRPr lang="de-DE"/>
            </a:p>
          </p:txBody>
        </p:sp>
        <p:sp>
          <p:nvSpPr>
            <p:cNvPr id="66" name="Shape 36">
              <a:extLst>
                <a:ext uri="{FF2B5EF4-FFF2-40B4-BE49-F238E27FC236}">
                  <a16:creationId xmlns:a16="http://schemas.microsoft.com/office/drawing/2014/main" id="{4EA99839-0C4B-6EF0-A602-7B8E466501D8}"/>
                </a:ext>
              </a:extLst>
            </p:cNvPr>
            <p:cNvSpPr/>
            <p:nvPr/>
          </p:nvSpPr>
          <p:spPr>
            <a:xfrm>
              <a:off x="3268690" y="3882021"/>
              <a:ext cx="107899" cy="107899"/>
            </a:xfrm>
            <a:prstGeom prst="ellipse">
              <a:avLst/>
            </a:prstGeom>
            <a:solidFill>
              <a:srgbClr val="E4CA5F"/>
            </a:solidFill>
            <a:ln/>
          </p:spPr>
          <p:txBody>
            <a:bodyPr/>
            <a:lstStyle/>
            <a:p>
              <a:endParaRPr lang="de-DE"/>
            </a:p>
          </p:txBody>
        </p:sp>
        <p:sp>
          <p:nvSpPr>
            <p:cNvPr id="67" name="Shape 37">
              <a:extLst>
                <a:ext uri="{FF2B5EF4-FFF2-40B4-BE49-F238E27FC236}">
                  <a16:creationId xmlns:a16="http://schemas.microsoft.com/office/drawing/2014/main" id="{43EC3E95-2106-E459-36A8-4A8A57F460BF}"/>
                </a:ext>
              </a:extLst>
            </p:cNvPr>
            <p:cNvSpPr/>
            <p:nvPr/>
          </p:nvSpPr>
          <p:spPr>
            <a:xfrm>
              <a:off x="3264336" y="2376169"/>
              <a:ext cx="107899" cy="107899"/>
            </a:xfrm>
            <a:prstGeom prst="ellipse">
              <a:avLst/>
            </a:prstGeom>
            <a:solidFill>
              <a:srgbClr val="F36451"/>
            </a:solidFill>
            <a:ln/>
          </p:spPr>
          <p:txBody>
            <a:bodyPr/>
            <a:lstStyle/>
            <a:p>
              <a:endParaRPr lang="de-DE"/>
            </a:p>
          </p:txBody>
        </p:sp>
        <p:sp>
          <p:nvSpPr>
            <p:cNvPr id="68" name="Text 9">
              <a:extLst>
                <a:ext uri="{FF2B5EF4-FFF2-40B4-BE49-F238E27FC236}">
                  <a16:creationId xmlns:a16="http://schemas.microsoft.com/office/drawing/2014/main" id="{C98A64F0-A3AF-9C66-F182-C22FD0857B7B}"/>
                </a:ext>
              </a:extLst>
            </p:cNvPr>
            <p:cNvSpPr/>
            <p:nvPr/>
          </p:nvSpPr>
          <p:spPr>
            <a:xfrm>
              <a:off x="3005334" y="1802745"/>
              <a:ext cx="571500" cy="622706"/>
            </a:xfrm>
            <a:prstGeom prst="rect">
              <a:avLst/>
            </a:prstGeom>
            <a:noFill/>
            <a:ln/>
          </p:spPr>
          <p:txBody>
            <a:bodyPr wrap="square" rtlCol="0" anchor="ctr"/>
            <a:lstStyle/>
            <a:p>
              <a:pPr marL="0" indent="0" algn="l">
                <a:lnSpc>
                  <a:spcPct val="105000"/>
                </a:lnSpc>
                <a:buNone/>
              </a:pPr>
              <a:r>
                <a:rPr lang="en-US" sz="3200" b="1" dirty="0" err="1">
                  <a:solidFill>
                    <a:srgbClr val="79A2F9"/>
                  </a:solidFill>
                  <a:latin typeface="Courier New" pitchFamily="34" charset="0"/>
                  <a:ea typeface="Courier New" pitchFamily="34" charset="-122"/>
                  <a:cs typeface="Courier New" pitchFamily="34" charset="-120"/>
                </a:rPr>
                <a:t>σ</a:t>
              </a:r>
              <a:endParaRPr lang="en-US" sz="3200" dirty="0"/>
            </a:p>
          </p:txBody>
        </p:sp>
        <p:sp>
          <p:nvSpPr>
            <p:cNvPr id="69" name="Text 5">
              <a:extLst>
                <a:ext uri="{FF2B5EF4-FFF2-40B4-BE49-F238E27FC236}">
                  <a16:creationId xmlns:a16="http://schemas.microsoft.com/office/drawing/2014/main" id="{76ED3E53-D4F2-91DE-D1AB-EC86E59ECB23}"/>
                </a:ext>
              </a:extLst>
            </p:cNvPr>
            <p:cNvSpPr/>
            <p:nvPr/>
          </p:nvSpPr>
          <p:spPr>
            <a:xfrm>
              <a:off x="1310081" y="3423630"/>
              <a:ext cx="571500" cy="558698"/>
            </a:xfrm>
            <a:prstGeom prst="rect">
              <a:avLst/>
            </a:prstGeom>
            <a:noFill/>
            <a:ln/>
          </p:spPr>
          <p:txBody>
            <a:bodyPr wrap="square" rtlCol="0" anchor="ctr"/>
            <a:lstStyle/>
            <a:p>
              <a:pPr marL="0" indent="0" algn="l">
                <a:lnSpc>
                  <a:spcPct val="105000"/>
                </a:lnSpc>
                <a:buNone/>
              </a:pPr>
              <a:r>
                <a:rPr lang="en-US" sz="3200" b="1" dirty="0" err="1">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6AE3-2958-86C4-EA4B-A7C133CF00E9}"/>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D6B3AFD3-278C-CC88-CC82-21CD99B1B7D9}"/>
              </a:ext>
            </a:extLst>
          </p:cNvPr>
          <p:cNvSpPr/>
          <p:nvPr/>
        </p:nvSpPr>
        <p:spPr>
          <a:xfrm>
            <a:off x="341036" y="1874345"/>
            <a:ext cx="5779249" cy="3770421"/>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8F76EE4-7095-C527-A9B1-59C2C33C6A69}"/>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4E43CEA6-40CF-97DB-8DE7-86C1F98B36E0}"/>
              </a:ext>
            </a:extLst>
          </p:cNvPr>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err="1">
                <a:solidFill>
                  <a:srgbClr val="F2EFDA"/>
                </a:solidFill>
                <a:latin typeface="Arial" pitchFamily="34" charset="0"/>
                <a:ea typeface="Arial" pitchFamily="34" charset="-122"/>
                <a:cs typeface="Arial" pitchFamily="34" charset="-120"/>
              </a:rPr>
              <a:t>Volatilität</a:t>
            </a:r>
            <a:r>
              <a:rPr lang="en-US" sz="2300" b="1" kern="0" spc="-50" dirty="0">
                <a:solidFill>
                  <a:srgbClr val="F2EFDA"/>
                </a:solidFill>
                <a:latin typeface="Arial" pitchFamily="34" charset="0"/>
                <a:ea typeface="Arial" pitchFamily="34" charset="-122"/>
                <a:cs typeface="Arial" pitchFamily="34" charset="-120"/>
              </a:rPr>
              <a:t> der </a:t>
            </a:r>
            <a:r>
              <a:rPr lang="en-US" sz="2300" b="1" kern="0" spc="-50" dirty="0" err="1">
                <a:solidFill>
                  <a:srgbClr val="F2EFDA"/>
                </a:solidFill>
                <a:latin typeface="Arial" pitchFamily="34" charset="0"/>
                <a:ea typeface="Arial" pitchFamily="34" charset="-122"/>
                <a:cs typeface="Arial" pitchFamily="34" charset="-120"/>
              </a:rPr>
              <a:t>Kennzahlen</a:t>
            </a:r>
            <a:endParaRPr lang="en-US" sz="2300" dirty="0"/>
          </a:p>
        </p:txBody>
      </p:sp>
      <p:sp>
        <p:nvSpPr>
          <p:cNvPr id="34" name="Shape 12">
            <a:extLst>
              <a:ext uri="{FF2B5EF4-FFF2-40B4-BE49-F238E27FC236}">
                <a16:creationId xmlns:a16="http://schemas.microsoft.com/office/drawing/2014/main" id="{7FCD2A1A-87C8-6BF7-50C6-EFC387BDF27D}"/>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80D7BD54-8536-2ECC-3528-A5C162FD261F}"/>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F354A542-B7E2-5DF2-61C2-A7E76B40FB54}"/>
              </a:ext>
            </a:extLst>
          </p:cNvPr>
          <p:cNvSpPr/>
          <p:nvPr/>
        </p:nvSpPr>
        <p:spPr>
          <a:xfrm>
            <a:off x="6599840" y="18864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sollte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wegen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unterschiedlicher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Verhältnisse</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nur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innerhalb</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betrachtet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werden</a:t>
            </a:r>
            <a:endParaRPr lang="en-US" sz="1400" dirty="0"/>
          </a:p>
        </p:txBody>
      </p:sp>
      <p:sp>
        <p:nvSpPr>
          <p:cNvPr id="38" name="Shape 12">
            <a:extLst>
              <a:ext uri="{FF2B5EF4-FFF2-40B4-BE49-F238E27FC236}">
                <a16:creationId xmlns:a16="http://schemas.microsoft.com/office/drawing/2014/main" id="{98BFFF3D-6319-AE59-D613-2D58068531D2}"/>
              </a:ext>
            </a:extLst>
          </p:cNvPr>
          <p:cNvSpPr/>
          <p:nvPr/>
        </p:nvSpPr>
        <p:spPr>
          <a:xfrm>
            <a:off x="6464959" y="43269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19A4CB85-CA88-B4AD-7961-DCBB8546D8A5}"/>
              </a:ext>
            </a:extLst>
          </p:cNvPr>
          <p:cNvSpPr/>
          <p:nvPr/>
        </p:nvSpPr>
        <p:spPr>
          <a:xfrm>
            <a:off x="6499990" y="45448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002A0DB6-A72F-2501-1C81-9205EEE528A6}"/>
              </a:ext>
            </a:extLst>
          </p:cNvPr>
          <p:cNvSpPr/>
          <p:nvPr/>
        </p:nvSpPr>
        <p:spPr>
          <a:xfrm>
            <a:off x="6524469" y="45784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Steigende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je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Art des </a:t>
            </a:r>
            <a:r>
              <a:rPr lang="en-US" sz="1400" dirty="0" err="1">
                <a:solidFill>
                  <a:srgbClr val="F2EFDA"/>
                </a:solidFill>
                <a:latin typeface="Arial" pitchFamily="34" charset="0"/>
                <a:ea typeface="Arial" pitchFamily="34" charset="-122"/>
                <a:cs typeface="Arial" pitchFamily="34" charset="-120"/>
              </a:rPr>
              <a:t>Nenners</a:t>
            </a:r>
            <a:endParaRPr lang="en-US" sz="1400" dirty="0"/>
          </a:p>
        </p:txBody>
      </p:sp>
      <p:sp>
        <p:nvSpPr>
          <p:cNvPr id="47" name="Shape 14">
            <a:extLst>
              <a:ext uri="{FF2B5EF4-FFF2-40B4-BE49-F238E27FC236}">
                <a16:creationId xmlns:a16="http://schemas.microsoft.com/office/drawing/2014/main" id="{DDC8FF6E-86DF-59FE-6395-C6EDF8FA85BF}"/>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1649496-72AC-50AA-1388-3D47B135039A}"/>
              </a:ext>
            </a:extLst>
          </p:cNvPr>
          <p:cNvSpPr/>
          <p:nvPr/>
        </p:nvSpPr>
        <p:spPr>
          <a:xfrm>
            <a:off x="6889861" y="469320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D893F2EE-AFBA-49F1-248F-B0D0F2C404F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365483DB-4C52-B652-C386-83796DFDCDE4}"/>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A156F4D-08B3-1179-BFD0-011F980800FF}"/>
              </a:ext>
            </a:extLst>
          </p:cNvPr>
          <p:cNvPicPr>
            <a:picLocks noChangeAspect="1"/>
          </p:cNvPicPr>
          <p:nvPr/>
        </p:nvPicPr>
        <p:blipFill>
          <a:blip r:embed="rId3"/>
          <a:srcRect t="25674" b="858"/>
          <a:stretch>
            <a:fillRect/>
          </a:stretch>
        </p:blipFill>
        <p:spPr>
          <a:xfrm>
            <a:off x="503968" y="2062297"/>
            <a:ext cx="5479312" cy="3430646"/>
          </a:xfrm>
          <a:prstGeom prst="rect">
            <a:avLst/>
          </a:prstGeom>
        </p:spPr>
      </p:pic>
    </p:spTree>
    <p:extLst>
      <p:ext uri="{BB962C8B-B14F-4D97-AF65-F5344CB8AC3E}">
        <p14:creationId xmlns:p14="http://schemas.microsoft.com/office/powerpoint/2010/main" val="1898370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54E2-93E6-548D-DCAF-2312C9FED33D}"/>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58751C72-77DA-2661-918E-370AF53AC66A}"/>
              </a:ext>
            </a:extLst>
          </p:cNvPr>
          <p:cNvSpPr/>
          <p:nvPr/>
        </p:nvSpPr>
        <p:spPr>
          <a:xfrm>
            <a:off x="341036" y="1396324"/>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60C96A02-5AF6-056C-F8EE-45FE34958FB3}"/>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5452EF61-7228-88E4-1CDC-81F7E8B57524}"/>
              </a:ext>
            </a:extLst>
          </p:cNvPr>
          <p:cNvSpPr/>
          <p:nvPr/>
        </p:nvSpPr>
        <p:spPr>
          <a:xfrm>
            <a:off x="634594" y="761695"/>
            <a:ext cx="10921594" cy="437998"/>
          </a:xfrm>
          <a:prstGeom prst="rect">
            <a:avLst/>
          </a:prstGeom>
          <a:noFill/>
          <a:ln/>
        </p:spPr>
        <p:txBody>
          <a:bodyPr wrap="square" rtlCol="0" anchor="t"/>
          <a:lstStyle/>
          <a:p>
            <a:r>
              <a:rPr lang="en-US" sz="2400" b="1" kern="0" spc="-50" dirty="0">
                <a:solidFill>
                  <a:srgbClr val="F2EFDA"/>
                </a:solidFill>
                <a:latin typeface="Arial" pitchFamily="34" charset="0"/>
                <a:ea typeface="Arial" pitchFamily="34" charset="-122"/>
                <a:cs typeface="Arial" pitchFamily="34" charset="-120"/>
              </a:rPr>
              <a:t>Mean Reversion der </a:t>
            </a:r>
            <a:r>
              <a:rPr lang="en-US" sz="2400" b="1" kern="0" spc="-50" dirty="0" err="1">
                <a:solidFill>
                  <a:srgbClr val="F2EFDA"/>
                </a:solidFill>
                <a:latin typeface="Arial" pitchFamily="34" charset="0"/>
                <a:ea typeface="Arial" pitchFamily="34" charset="-122"/>
                <a:cs typeface="Arial" pitchFamily="34" charset="-120"/>
              </a:rPr>
              <a:t>Kennzahlen</a:t>
            </a:r>
            <a:endParaRPr lang="en-US" sz="2400" dirty="0"/>
          </a:p>
        </p:txBody>
      </p:sp>
      <p:sp>
        <p:nvSpPr>
          <p:cNvPr id="34" name="Shape 12">
            <a:extLst>
              <a:ext uri="{FF2B5EF4-FFF2-40B4-BE49-F238E27FC236}">
                <a16:creationId xmlns:a16="http://schemas.microsoft.com/office/drawing/2014/main" id="{C19EA1B0-54A6-14E5-42BC-E7B8DD39F9D3}"/>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A45F53D-63DC-BB00-0160-D4C871CE9D61}"/>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E1E571B4-D8B2-A905-6516-72E327A6E420}"/>
              </a:ext>
            </a:extLst>
          </p:cNvPr>
          <p:cNvSpPr/>
          <p:nvPr/>
        </p:nvSpPr>
        <p:spPr>
          <a:xfrm>
            <a:off x="6464959" y="333315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23ADAB6F-9E07-5994-D0C0-8357BB4BF905}"/>
              </a:ext>
            </a:extLst>
          </p:cNvPr>
          <p:cNvSpPr/>
          <p:nvPr/>
        </p:nvSpPr>
        <p:spPr>
          <a:xfrm>
            <a:off x="6499990" y="355106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552B462C-569E-D8B3-230C-01ADF26AEC5A}"/>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08D3D67-C324-1AD4-FF07-C204106BAE63}"/>
              </a:ext>
            </a:extLst>
          </p:cNvPr>
          <p:cNvSpPr/>
          <p:nvPr/>
        </p:nvSpPr>
        <p:spPr>
          <a:xfrm>
            <a:off x="6889861" y="369942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C9E04798-A04A-F7FC-5E10-B109D502408C}"/>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9772CBA-18B2-136A-524C-6208AEEBB28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E0D2427-7208-F751-19D8-19B3738F0262}"/>
              </a:ext>
            </a:extLst>
          </p:cNvPr>
          <p:cNvPicPr>
            <a:picLocks noChangeAspect="1"/>
          </p:cNvPicPr>
          <p:nvPr/>
        </p:nvPicPr>
        <p:blipFill>
          <a:blip r:embed="rId3"/>
          <a:srcRect t="9502" r="16758"/>
          <a:stretch>
            <a:fillRect/>
          </a:stretch>
        </p:blipFill>
        <p:spPr>
          <a:xfrm>
            <a:off x="540969" y="1583059"/>
            <a:ext cx="5364557" cy="4786570"/>
          </a:xfrm>
          <a:prstGeom prst="rect">
            <a:avLst/>
          </a:prstGeom>
        </p:spPr>
      </p:pic>
      <p:sp>
        <p:nvSpPr>
          <p:cNvPr id="9" name="Text 6">
            <a:extLst>
              <a:ext uri="{FF2B5EF4-FFF2-40B4-BE49-F238E27FC236}">
                <a16:creationId xmlns:a16="http://schemas.microsoft.com/office/drawing/2014/main" id="{AA2DFECD-AA68-5F59-BDD2-CF82AE6CDE12}"/>
              </a:ext>
            </a:extLst>
          </p:cNvPr>
          <p:cNvSpPr/>
          <p:nvPr/>
        </p:nvSpPr>
        <p:spPr>
          <a:xfrm>
            <a:off x="6889861" y="2168607"/>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BCB1E86C-7183-E1FF-3E95-0C701BD3C690}"/>
              </a:ext>
            </a:extLst>
          </p:cNvPr>
          <p:cNvSpPr/>
          <p:nvPr/>
        </p:nvSpPr>
        <p:spPr>
          <a:xfrm>
            <a:off x="9095148" y="2168606"/>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pic>
        <p:nvPicPr>
          <p:cNvPr id="14" name="Grafik 13">
            <a:extLst>
              <a:ext uri="{FF2B5EF4-FFF2-40B4-BE49-F238E27FC236}">
                <a16:creationId xmlns:a16="http://schemas.microsoft.com/office/drawing/2014/main" id="{CFC1FD7B-A352-DD42-F8E6-AFF897202966}"/>
              </a:ext>
            </a:extLst>
          </p:cNvPr>
          <p:cNvPicPr>
            <a:picLocks noChangeAspect="1"/>
          </p:cNvPicPr>
          <p:nvPr/>
        </p:nvPicPr>
        <p:blipFill>
          <a:blip r:embed="rId4"/>
          <a:srcRect t="7867" r="17739" b="858"/>
          <a:stretch>
            <a:fillRect/>
          </a:stretch>
        </p:blipFill>
        <p:spPr>
          <a:xfrm>
            <a:off x="592719" y="1498893"/>
            <a:ext cx="5252498" cy="4966784"/>
          </a:xfrm>
          <a:prstGeom prst="rect">
            <a:avLst/>
          </a:prstGeom>
        </p:spPr>
      </p:pic>
      <p:sp>
        <p:nvSpPr>
          <p:cNvPr id="25" name="Text 6">
            <a:extLst>
              <a:ext uri="{FF2B5EF4-FFF2-40B4-BE49-F238E27FC236}">
                <a16:creationId xmlns:a16="http://schemas.microsoft.com/office/drawing/2014/main" id="{C3ED8DB7-B607-4EE4-09B2-8C239F6172C9}"/>
              </a:ext>
            </a:extLst>
          </p:cNvPr>
          <p:cNvSpPr/>
          <p:nvPr/>
        </p:nvSpPr>
        <p:spPr>
          <a:xfrm>
            <a:off x="6889864" y="3866781"/>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94D32090-1D22-A805-3E19-49641D99EB9F}"/>
              </a:ext>
            </a:extLst>
          </p:cNvPr>
          <p:cNvSpPr/>
          <p:nvPr/>
        </p:nvSpPr>
        <p:spPr>
          <a:xfrm>
            <a:off x="9010242" y="3866781"/>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B895259A-79D7-6C58-E7EA-DB8CE637087F}"/>
              </a:ext>
            </a:extLst>
          </p:cNvPr>
          <p:cNvSpPr/>
          <p:nvPr/>
        </p:nvSpPr>
        <p:spPr>
          <a:xfrm>
            <a:off x="6464958" y="5026777"/>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4F4B6BB6-3647-3D37-CEB0-FEC11A051900}"/>
              </a:ext>
            </a:extLst>
          </p:cNvPr>
          <p:cNvSpPr/>
          <p:nvPr/>
        </p:nvSpPr>
        <p:spPr>
          <a:xfrm>
            <a:off x="6499989" y="5244682"/>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B095499C-5AD6-CA93-B65B-0091B9708F60}"/>
              </a:ext>
            </a:extLst>
          </p:cNvPr>
          <p:cNvSpPr/>
          <p:nvPr/>
        </p:nvSpPr>
        <p:spPr>
          <a:xfrm>
            <a:off x="6889860" y="5393045"/>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ED875D25-9F7F-7D76-39F4-9A1DEB15AC44}"/>
              </a:ext>
            </a:extLst>
          </p:cNvPr>
          <p:cNvSpPr/>
          <p:nvPr/>
        </p:nvSpPr>
        <p:spPr>
          <a:xfrm>
            <a:off x="6889863" y="5560402"/>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6C2C07BB-DE35-7F58-9558-44C77C5F5317}"/>
              </a:ext>
            </a:extLst>
          </p:cNvPr>
          <p:cNvSpPr/>
          <p:nvPr/>
        </p:nvSpPr>
        <p:spPr>
          <a:xfrm>
            <a:off x="9010241" y="5560402"/>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Tree>
    <p:extLst>
      <p:ext uri="{BB962C8B-B14F-4D97-AF65-F5344CB8AC3E}">
        <p14:creationId xmlns:p14="http://schemas.microsoft.com/office/powerpoint/2010/main" val="1416874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2FA4-E81D-2E0B-1436-78CE73643038}"/>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745353F1-3BFC-ADE4-DF5E-AA2A8B06C8A4}"/>
              </a:ext>
            </a:extLst>
          </p:cNvPr>
          <p:cNvSpPr/>
          <p:nvPr/>
        </p:nvSpPr>
        <p:spPr>
          <a:xfrm>
            <a:off x="341036" y="469561"/>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5E81087-646C-F7A5-AA29-DFCB382C97CF}"/>
              </a:ext>
            </a:extLst>
          </p:cNvPr>
          <p:cNvSpPr/>
          <p:nvPr/>
        </p:nvSpPr>
        <p:spPr>
          <a:xfrm>
            <a:off x="0" y="0"/>
            <a:ext cx="12191695" cy="38405"/>
          </a:xfrm>
          <a:prstGeom prst="rect">
            <a:avLst/>
          </a:prstGeom>
          <a:solidFill>
            <a:srgbClr val="DBDEE2"/>
          </a:solidFill>
          <a:ln/>
        </p:spPr>
        <p:txBody>
          <a:bodyPr/>
          <a:lstStyle/>
          <a:p>
            <a:endParaRPr lang="de-DE"/>
          </a:p>
        </p:txBody>
      </p:sp>
      <p:sp>
        <p:nvSpPr>
          <p:cNvPr id="34" name="Shape 12">
            <a:extLst>
              <a:ext uri="{FF2B5EF4-FFF2-40B4-BE49-F238E27FC236}">
                <a16:creationId xmlns:a16="http://schemas.microsoft.com/office/drawing/2014/main" id="{3DB06677-B161-1A88-729A-E6EDA0D14C13}"/>
              </a:ext>
            </a:extLst>
          </p:cNvPr>
          <p:cNvSpPr/>
          <p:nvPr/>
        </p:nvSpPr>
        <p:spPr>
          <a:xfrm>
            <a:off x="6465620" y="708077"/>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54C07E23-0124-C4BC-0EA2-71246CA8078E}"/>
              </a:ext>
            </a:extLst>
          </p:cNvPr>
          <p:cNvSpPr/>
          <p:nvPr/>
        </p:nvSpPr>
        <p:spPr>
          <a:xfrm>
            <a:off x="6500651" y="925983"/>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212F8A23-05AF-6F36-B230-54A50F7E85A3}"/>
              </a:ext>
            </a:extLst>
          </p:cNvPr>
          <p:cNvSpPr/>
          <p:nvPr/>
        </p:nvSpPr>
        <p:spPr>
          <a:xfrm>
            <a:off x="6464959" y="2406393"/>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9489B989-8E37-213D-0994-D657F2BFB481}"/>
              </a:ext>
            </a:extLst>
          </p:cNvPr>
          <p:cNvSpPr/>
          <p:nvPr/>
        </p:nvSpPr>
        <p:spPr>
          <a:xfrm>
            <a:off x="6499990" y="2624298"/>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03237D3B-2012-DEF7-0A54-BC56B4C3F82E}"/>
              </a:ext>
            </a:extLst>
          </p:cNvPr>
          <p:cNvSpPr/>
          <p:nvPr/>
        </p:nvSpPr>
        <p:spPr>
          <a:xfrm>
            <a:off x="6891119" y="1061252"/>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052CE9AB-7A15-6BF7-BA06-22248A89F170}"/>
              </a:ext>
            </a:extLst>
          </p:cNvPr>
          <p:cNvSpPr/>
          <p:nvPr/>
        </p:nvSpPr>
        <p:spPr>
          <a:xfrm>
            <a:off x="6889861" y="2772661"/>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A034BBF4-9E68-F529-8FFA-83E48B2FB0D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4AB2A51-FD77-D7B4-E0C0-E213C3A239B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09264BA6-61D7-B3F6-BC59-4A3203D4F112}"/>
              </a:ext>
            </a:extLst>
          </p:cNvPr>
          <p:cNvPicPr>
            <a:picLocks noChangeAspect="1"/>
          </p:cNvPicPr>
          <p:nvPr/>
        </p:nvPicPr>
        <p:blipFill>
          <a:blip r:embed="rId3"/>
          <a:srcRect t="9502" r="16758"/>
          <a:stretch>
            <a:fillRect/>
          </a:stretch>
        </p:blipFill>
        <p:spPr>
          <a:xfrm>
            <a:off x="540969" y="656296"/>
            <a:ext cx="5364557" cy="4786570"/>
          </a:xfrm>
          <a:prstGeom prst="rect">
            <a:avLst/>
          </a:prstGeom>
        </p:spPr>
      </p:pic>
      <p:sp>
        <p:nvSpPr>
          <p:cNvPr id="9" name="Text 6">
            <a:extLst>
              <a:ext uri="{FF2B5EF4-FFF2-40B4-BE49-F238E27FC236}">
                <a16:creationId xmlns:a16="http://schemas.microsoft.com/office/drawing/2014/main" id="{2DD747AF-6C50-1B52-B0BA-D38D5D57D04A}"/>
              </a:ext>
            </a:extLst>
          </p:cNvPr>
          <p:cNvSpPr/>
          <p:nvPr/>
        </p:nvSpPr>
        <p:spPr>
          <a:xfrm>
            <a:off x="6889861" y="1241844"/>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FDF0A116-617C-56BC-A5D6-771A6EF445BD}"/>
              </a:ext>
            </a:extLst>
          </p:cNvPr>
          <p:cNvSpPr/>
          <p:nvPr/>
        </p:nvSpPr>
        <p:spPr>
          <a:xfrm>
            <a:off x="9095148" y="1241843"/>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sp>
        <p:nvSpPr>
          <p:cNvPr id="25" name="Text 6">
            <a:extLst>
              <a:ext uri="{FF2B5EF4-FFF2-40B4-BE49-F238E27FC236}">
                <a16:creationId xmlns:a16="http://schemas.microsoft.com/office/drawing/2014/main" id="{07C09C03-039C-EAAC-9D95-63ECA4205ED7}"/>
              </a:ext>
            </a:extLst>
          </p:cNvPr>
          <p:cNvSpPr/>
          <p:nvPr/>
        </p:nvSpPr>
        <p:spPr>
          <a:xfrm>
            <a:off x="6889864" y="2940018"/>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A97B506E-8AF6-85DE-2ABB-EE5DA0B15FF1}"/>
              </a:ext>
            </a:extLst>
          </p:cNvPr>
          <p:cNvSpPr/>
          <p:nvPr/>
        </p:nvSpPr>
        <p:spPr>
          <a:xfrm>
            <a:off x="9010242" y="2940018"/>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E6F6CC6D-334E-6CDF-D99A-24637F0CF1C2}"/>
              </a:ext>
            </a:extLst>
          </p:cNvPr>
          <p:cNvSpPr/>
          <p:nvPr/>
        </p:nvSpPr>
        <p:spPr>
          <a:xfrm>
            <a:off x="6464958" y="4100014"/>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26380E20-0DC4-1EEC-785D-D8AAA5F18DC8}"/>
              </a:ext>
            </a:extLst>
          </p:cNvPr>
          <p:cNvSpPr/>
          <p:nvPr/>
        </p:nvSpPr>
        <p:spPr>
          <a:xfrm>
            <a:off x="6499989" y="4317919"/>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434B39D1-3FEA-6F58-40BD-D60B74C34D61}"/>
              </a:ext>
            </a:extLst>
          </p:cNvPr>
          <p:cNvSpPr/>
          <p:nvPr/>
        </p:nvSpPr>
        <p:spPr>
          <a:xfrm>
            <a:off x="6889860" y="4466282"/>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1F0D1679-B120-1F49-57BA-090DF53030FF}"/>
              </a:ext>
            </a:extLst>
          </p:cNvPr>
          <p:cNvSpPr/>
          <p:nvPr/>
        </p:nvSpPr>
        <p:spPr>
          <a:xfrm>
            <a:off x="6889863" y="4633639"/>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2447E42B-9813-60B5-2A8B-9AB04AD1DF63}"/>
              </a:ext>
            </a:extLst>
          </p:cNvPr>
          <p:cNvSpPr/>
          <p:nvPr/>
        </p:nvSpPr>
        <p:spPr>
          <a:xfrm>
            <a:off x="9010241" y="4633639"/>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
        <p:nvSpPr>
          <p:cNvPr id="3" name="!!K_Q1">
            <a:extLst>
              <a:ext uri="{FF2B5EF4-FFF2-40B4-BE49-F238E27FC236}">
                <a16:creationId xmlns:a16="http://schemas.microsoft.com/office/drawing/2014/main" id="{702B3D6D-0D82-C280-8AFD-C34D0DD12AC5}"/>
              </a:ext>
            </a:extLst>
          </p:cNvPr>
          <p:cNvSpPr/>
          <p:nvPr/>
        </p:nvSpPr>
        <p:spPr>
          <a:xfrm>
            <a:off x="495633"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 name="!!L_Q1">
            <a:extLst>
              <a:ext uri="{FF2B5EF4-FFF2-40B4-BE49-F238E27FC236}">
                <a16:creationId xmlns:a16="http://schemas.microsoft.com/office/drawing/2014/main" id="{29130253-F7D9-5E0D-67D2-5A9DA87F2792}"/>
              </a:ext>
            </a:extLst>
          </p:cNvPr>
          <p:cNvSpPr/>
          <p:nvPr/>
        </p:nvSpPr>
        <p:spPr>
          <a:xfrm>
            <a:off x="749836"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SIGNIFIKANZRATEN</a:t>
            </a:r>
            <a:endParaRPr lang="en-US" sz="1000" dirty="0"/>
          </a:p>
        </p:txBody>
      </p:sp>
      <p:sp>
        <p:nvSpPr>
          <p:cNvPr id="10" name="!!T_Q1">
            <a:extLst>
              <a:ext uri="{FF2B5EF4-FFF2-40B4-BE49-F238E27FC236}">
                <a16:creationId xmlns:a16="http://schemas.microsoft.com/office/drawing/2014/main" id="{A9DB90E9-468B-57E5-79B7-AB5CF2298323}"/>
              </a:ext>
            </a:extLst>
          </p:cNvPr>
          <p:cNvSpPr/>
          <p:nvPr/>
        </p:nvSpPr>
        <p:spPr>
          <a:xfrm>
            <a:off x="749836" y="6204879"/>
            <a:ext cx="2998792" cy="230000"/>
          </a:xfrm>
          <a:prstGeom prst="rect">
            <a:avLst/>
          </a:prstGeom>
          <a:noFill/>
          <a:ln/>
        </p:spPr>
        <p:txBody>
          <a:bodyPr wrap="square" rtlCol="0" anchor="t"/>
          <a:lstStyle/>
          <a:p>
            <a:pPr marL="0" indent="0" algn="l">
              <a:lnSpc>
                <a:spcPct val="100000"/>
              </a:lnSpc>
              <a:buNone/>
            </a:pPr>
            <a:r>
              <a:rPr lang="en-US" sz="1250" b="1" kern="0" dirty="0">
                <a:solidFill>
                  <a:srgbClr val="78A2F9"/>
                </a:solidFill>
                <a:latin typeface="Courier New" pitchFamily="34" charset="0"/>
                <a:ea typeface="Courier New" pitchFamily="34" charset="-122"/>
                <a:cs typeface="Courier New" pitchFamily="34" charset="-120"/>
              </a:rPr>
              <a:t>&gt; 90 % </a:t>
            </a:r>
            <a:r>
              <a:rPr lang="en-US" sz="1250" b="1" kern="0" dirty="0">
                <a:solidFill>
                  <a:srgbClr val="F2EFDA"/>
                </a:solidFill>
                <a:latin typeface="Courier New" pitchFamily="34" charset="0"/>
                <a:ea typeface="Courier New" pitchFamily="34" charset="-122"/>
                <a:cs typeface="Courier New" pitchFamily="34" charset="-120"/>
              </a:rPr>
              <a:t>· </a:t>
            </a:r>
            <a:r>
              <a:rPr lang="en-US" sz="1250" b="1" kern="0" dirty="0">
                <a:solidFill>
                  <a:srgbClr val="3CBA77"/>
                </a:solidFill>
                <a:latin typeface="Courier New" pitchFamily="34" charset="0"/>
                <a:ea typeface="Courier New" pitchFamily="34" charset="-122"/>
                <a:cs typeface="Courier New" pitchFamily="34" charset="-120"/>
              </a:rPr>
              <a:t>46 %</a:t>
            </a:r>
            <a:r>
              <a:rPr lang="en-US" sz="1250" b="1" kern="0" dirty="0">
                <a:solidFill>
                  <a:srgbClr val="F2EFDA"/>
                </a:solidFill>
                <a:latin typeface="Courier New" pitchFamily="34" charset="0"/>
                <a:ea typeface="Courier New" pitchFamily="34" charset="-122"/>
                <a:cs typeface="Courier New" pitchFamily="34" charset="-120"/>
              </a:rPr>
              <a:t> · </a:t>
            </a:r>
            <a:r>
              <a:rPr lang="en-US" sz="1250" b="1" kern="0" dirty="0">
                <a:solidFill>
                  <a:srgbClr val="F46451"/>
                </a:solidFill>
                <a:latin typeface="Courier New" pitchFamily="34" charset="0"/>
                <a:cs typeface="Courier New" pitchFamily="34" charset="-120"/>
              </a:rPr>
              <a:t>≈ 25 %</a:t>
            </a:r>
          </a:p>
        </p:txBody>
      </p:sp>
      <p:sp>
        <p:nvSpPr>
          <p:cNvPr id="12" name="!!K_Q2">
            <a:extLst>
              <a:ext uri="{FF2B5EF4-FFF2-40B4-BE49-F238E27FC236}">
                <a16:creationId xmlns:a16="http://schemas.microsoft.com/office/drawing/2014/main" id="{76958959-4238-A617-8B72-2C231878D7D0}"/>
              </a:ext>
            </a:extLst>
          </p:cNvPr>
          <p:cNvSpPr/>
          <p:nvPr/>
        </p:nvSpPr>
        <p:spPr>
          <a:xfrm>
            <a:off x="4202831"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3" name="!!L_Q2">
            <a:extLst>
              <a:ext uri="{FF2B5EF4-FFF2-40B4-BE49-F238E27FC236}">
                <a16:creationId xmlns:a16="http://schemas.microsoft.com/office/drawing/2014/main" id="{83137080-A3EB-B927-7A40-B7CF9AA56611}"/>
              </a:ext>
            </a:extLst>
          </p:cNvPr>
          <p:cNvSpPr/>
          <p:nvPr/>
        </p:nvSpPr>
        <p:spPr>
          <a:xfrm>
            <a:off x="4457034" y="5864879"/>
            <a:ext cx="2998792" cy="23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MODELLARTEFAKTE</a:t>
            </a:r>
            <a:endParaRPr lang="en-US" sz="1000"/>
          </a:p>
        </p:txBody>
      </p:sp>
      <p:sp>
        <p:nvSpPr>
          <p:cNvPr id="15" name="!!T_Q2">
            <a:extLst>
              <a:ext uri="{FF2B5EF4-FFF2-40B4-BE49-F238E27FC236}">
                <a16:creationId xmlns:a16="http://schemas.microsoft.com/office/drawing/2014/main" id="{DA4278AB-3367-6269-9062-606637343188}"/>
              </a:ext>
            </a:extLst>
          </p:cNvPr>
          <p:cNvSpPr/>
          <p:nvPr/>
        </p:nvSpPr>
        <p:spPr>
          <a:xfrm>
            <a:off x="4457034" y="6124879"/>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11,3 %</a:t>
            </a:r>
            <a:endParaRPr lang="en-US" sz="1250" dirty="0"/>
          </a:p>
        </p:txBody>
      </p:sp>
      <p:sp>
        <p:nvSpPr>
          <p:cNvPr id="16" name="!!K_Q3">
            <a:extLst>
              <a:ext uri="{FF2B5EF4-FFF2-40B4-BE49-F238E27FC236}">
                <a16:creationId xmlns:a16="http://schemas.microsoft.com/office/drawing/2014/main" id="{B0563130-96DE-424D-4161-E920AD40A73C}"/>
              </a:ext>
            </a:extLst>
          </p:cNvPr>
          <p:cNvSpPr/>
          <p:nvPr/>
        </p:nvSpPr>
        <p:spPr>
          <a:xfrm>
            <a:off x="7910029"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7" name="!!L_Q3">
            <a:extLst>
              <a:ext uri="{FF2B5EF4-FFF2-40B4-BE49-F238E27FC236}">
                <a16:creationId xmlns:a16="http://schemas.microsoft.com/office/drawing/2014/main" id="{66ADFB0A-14A9-A6EB-9742-187480BB9643}"/>
              </a:ext>
            </a:extLst>
          </p:cNvPr>
          <p:cNvSpPr/>
          <p:nvPr/>
        </p:nvSpPr>
        <p:spPr>
          <a:xfrm>
            <a:off x="8164232"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VOLATILE FIRMEN</a:t>
            </a:r>
            <a:endParaRPr lang="en-US" sz="1000" dirty="0"/>
          </a:p>
        </p:txBody>
      </p:sp>
      <p:sp>
        <p:nvSpPr>
          <p:cNvPr id="18" name="!!T_Q3">
            <a:extLst>
              <a:ext uri="{FF2B5EF4-FFF2-40B4-BE49-F238E27FC236}">
                <a16:creationId xmlns:a16="http://schemas.microsoft.com/office/drawing/2014/main" id="{7C4E4A49-A0F3-379D-FF5D-A51153E2E020}"/>
              </a:ext>
            </a:extLst>
          </p:cNvPr>
          <p:cNvSpPr/>
          <p:nvPr/>
        </p:nvSpPr>
        <p:spPr>
          <a:xfrm>
            <a:off x="8164232" y="6124879"/>
            <a:ext cx="2998792" cy="520000"/>
          </a:xfrm>
          <a:prstGeom prst="rect">
            <a:avLst/>
          </a:prstGeom>
          <a:noFill/>
          <a:ln/>
        </p:spPr>
        <p:txBody>
          <a:bodyPr wrap="square" rtlCol="0" anchor="t"/>
          <a:lstStyle/>
          <a:p>
            <a:pPr marL="0" indent="0" algn="l">
              <a:lnSpc>
                <a:spcPct val="100000"/>
              </a:lnSpc>
              <a:buNone/>
            </a:pPr>
            <a:r>
              <a:rPr lang="en-US" sz="1250" b="1" kern="0" dirty="0" err="1">
                <a:solidFill>
                  <a:srgbClr val="F2EFDA"/>
                </a:solidFill>
                <a:latin typeface="Courier New" pitchFamily="34" charset="0"/>
                <a:ea typeface="Courier New" pitchFamily="34" charset="-122"/>
                <a:cs typeface="Courier New" pitchFamily="34" charset="-120"/>
              </a:rPr>
              <a:t>σ</a:t>
            </a:r>
            <a:r>
              <a:rPr lang="en-US" sz="1250" b="1" kern="0" dirty="0">
                <a:solidFill>
                  <a:srgbClr val="F2EFDA"/>
                </a:solidFill>
                <a:latin typeface="Courier New" pitchFamily="34" charset="0"/>
                <a:ea typeface="Courier New" pitchFamily="34" charset="-122"/>
                <a:cs typeface="Courier New" pitchFamily="34" charset="-120"/>
              </a:rPr>
              <a:t> &gt; 2:  </a:t>
            </a:r>
            <a:r>
              <a:rPr lang="en-US" sz="1250" b="1" kern="0" dirty="0" err="1">
                <a:solidFill>
                  <a:srgbClr val="F2EFDA"/>
                </a:solidFill>
                <a:latin typeface="Courier New" pitchFamily="34" charset="0"/>
                <a:ea typeface="Courier New" pitchFamily="34" charset="-122"/>
                <a:cs typeface="Courier New" pitchFamily="34" charset="-120"/>
              </a:rPr>
              <a:t>φ</a:t>
            </a:r>
            <a:r>
              <a:rPr lang="en-US" sz="1250" b="1" kern="0" dirty="0">
                <a:solidFill>
                  <a:srgbClr val="F2EFDA"/>
                </a:solidFill>
                <a:latin typeface="Courier New" pitchFamily="34" charset="0"/>
                <a:ea typeface="Courier New" pitchFamily="34" charset="-122"/>
                <a:cs typeface="Courier New" pitchFamily="34" charset="-120"/>
              </a:rPr>
              <a:t>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Bonferroni 37 % </a:t>
            </a:r>
            <a:r>
              <a:rPr lang="en-US" sz="950" kern="0" dirty="0" err="1">
                <a:solidFill>
                  <a:srgbClr val="B3BC9A"/>
                </a:solidFill>
                <a:latin typeface="Arial" pitchFamily="34" charset="0"/>
                <a:ea typeface="Arial" pitchFamily="34" charset="-122"/>
                <a:cs typeface="Arial" pitchFamily="34" charset="-120"/>
              </a:rPr>
              <a:t>statt</a:t>
            </a:r>
            <a:r>
              <a:rPr lang="en-US" sz="950" kern="0" dirty="0">
                <a:solidFill>
                  <a:srgbClr val="B3BC9A"/>
                </a:solidFill>
                <a:latin typeface="Arial" pitchFamily="34" charset="0"/>
                <a:ea typeface="Arial" pitchFamily="34" charset="-122"/>
                <a:cs typeface="Arial" pitchFamily="34" charset="-120"/>
              </a:rPr>
              <a:t> 10 % (Current Ratio) —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Bewegung</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Signal</a:t>
            </a:r>
            <a:r>
              <a:rPr lang="en-US" sz="950" kern="0" dirty="0">
                <a:solidFill>
                  <a:srgbClr val="B3BC9A"/>
                </a:solidFill>
                <a:latin typeface="Arial" pitchFamily="34" charset="0"/>
                <a:ea typeface="Arial" pitchFamily="34" charset="-122"/>
                <a:cs typeface="Arial" pitchFamily="34" charset="-120"/>
              </a:rPr>
              <a:t>.</a:t>
            </a:r>
            <a:endParaRPr lang="en-US" sz="950" dirty="0"/>
          </a:p>
        </p:txBody>
      </p:sp>
    </p:spTree>
    <p:extLst>
      <p:ext uri="{BB962C8B-B14F-4D97-AF65-F5344CB8AC3E}">
        <p14:creationId xmlns:p14="http://schemas.microsoft.com/office/powerpoint/2010/main" val="27825398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 prägt die Dynamik stärker als der Sektor</a:t>
            </a:r>
            <a:endParaRPr lang="en-US" sz="200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a:t>
            </a:r>
            <a:endParaRPr lang="en-US" sz="105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φ-Spannweite 0,12</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Sektor-Mediane −0,37 … −0,50, alle revertieren stark. Vorn: Kommunikation −0,49 · Immobilien −0,47; hinten: </a:t>
            </a:r>
            <a:r>
              <a:rPr lang="en-US" sz="950" b="1" kern="0">
                <a:solidFill>
                  <a:srgbClr val="F2EFDA"/>
                </a:solidFill>
                <a:latin typeface="Arial" pitchFamily="34" charset="0"/>
                <a:ea typeface="Arial" pitchFamily="34" charset="-122"/>
                <a:cs typeface="Arial" pitchFamily="34" charset="-120"/>
              </a:rPr>
              <a:t>Technologie und Grundstoffe</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LIQUIDITÄT</a:t>
            </a:r>
            <a:endParaRPr lang="en-US" sz="105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Spannweite 0,24 — doppelt so breit</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Technologie −0,10 bis Immobilien −0,34 — dort </a:t>
            </a:r>
            <a:r>
              <a:rPr lang="en-US" sz="950" b="1" kern="0">
                <a:solidFill>
                  <a:srgbClr val="F2EFDA"/>
                </a:solidFill>
                <a:latin typeface="Arial" pitchFamily="34" charset="0"/>
                <a:ea typeface="Arial" pitchFamily="34" charset="-122"/>
                <a:cs typeface="Arial" pitchFamily="34" charset="-120"/>
              </a:rPr>
              <a:t>σ 2,6-fach (REIT-Refinanzierungen)</a:t>
            </a:r>
            <a:r>
              <a:rPr lang="en-US" sz="950" kern="0">
                <a:solidFill>
                  <a:srgbClr val="B3BC9A"/>
                </a:solidFill>
                <a:latin typeface="Arial" pitchFamily="34" charset="0"/>
                <a:ea typeface="Arial" pitchFamily="34" charset="-122"/>
                <a:cs typeface="Arial" pitchFamily="34" charset="-120"/>
              </a:rPr>
              <a:t>, Signifikanz 82 %.</a:t>
            </a:r>
            <a:endParaRPr lang="en-US" sz="100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KAPITALSTRUKTUR</a:t>
            </a:r>
            <a:endParaRPr lang="en-US" sz="105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Versorger: die Ausnahme</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stärkste Korrektur (−0,17 · −0,14) bei niedrigster Volatilität — </a:t>
            </a:r>
            <a:r>
              <a:rPr lang="en-US" sz="950" b="1" kern="0">
                <a:solidFill>
                  <a:srgbClr val="F2EFDA"/>
                </a:solidFill>
                <a:latin typeface="Arial" pitchFamily="34" charset="0"/>
                <a:ea typeface="Arial" pitchFamily="34" charset="-122"/>
                <a:cs typeface="Arial" pitchFamily="34" charset="-120"/>
              </a:rPr>
              <a:t>Regulierung erzwingt Anpassung</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08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Konstruktion</a:t>
            </a:r>
            <a:r>
              <a:rPr lang="en-US" sz="2300" b="1" kern="0" spc="-50">
                <a:solidFill>
                  <a:srgbClr val="F2EFDA"/>
                </a:solidFill>
                <a:latin typeface="Arial" pitchFamily="34" charset="0"/>
                <a:ea typeface="Arial" pitchFamily="34" charset="-122"/>
                <a:cs typeface="Arial" pitchFamily="34" charset="-120"/>
              </a:rPr>
              <a:t> und Korrekturmechanismus</a:t>
            </a:r>
            <a:endParaRPr lang="en-US" sz="2300"/>
          </a:p>
        </p:txBody>
      </p:sp>
      <p:sp>
        <p:nvSpPr>
          <p:cNvPr id="17" name="Shape 14"/>
          <p:cNvSpPr/>
          <p:nvPr/>
        </p:nvSpPr>
        <p:spPr>
          <a:xfrm>
            <a:off x="634594"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4090654"/>
            <a:ext cx="88697" cy="55227"/>
          </a:xfrm>
          <a:prstGeom prst="ellipse">
            <a:avLst/>
          </a:prstGeom>
          <a:solidFill>
            <a:srgbClr val="79A2F9"/>
          </a:solidFill>
          <a:ln/>
        </p:spPr>
        <p:txBody>
          <a:bodyPr/>
          <a:lstStyle/>
          <a:p>
            <a:endParaRPr lang="de-DE"/>
          </a:p>
        </p:txBody>
      </p:sp>
      <p:sp>
        <p:nvSpPr>
          <p:cNvPr id="19" name="Text 16"/>
          <p:cNvSpPr/>
          <p:nvPr/>
        </p:nvSpPr>
        <p:spPr>
          <a:xfrm>
            <a:off x="1143000" y="3995557"/>
            <a:ext cx="4572000" cy="355840"/>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Der Markt korrigiert die Profitabilität</a:t>
            </a:r>
            <a:endParaRPr lang="en-US" sz="1500"/>
          </a:p>
        </p:txBody>
      </p:sp>
      <p:sp>
        <p:nvSpPr>
          <p:cNvPr id="20" name="Text 17"/>
          <p:cNvSpPr/>
          <p:nvPr/>
        </p:nvSpPr>
        <p:spPr>
          <a:xfrm>
            <a:off x="940308" y="4511335"/>
            <a:ext cx="4699102" cy="1106806"/>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Überrenditen ziehen Wettbewerber an, Unterrenditen erzwingen Anpassung — </a:t>
            </a:r>
            <a:r>
              <a:rPr lang="en-US" sz="1200" b="1">
                <a:solidFill>
                  <a:srgbClr val="F2EFDA"/>
                </a:solidFill>
                <a:latin typeface="Arial" pitchFamily="34" charset="0"/>
                <a:ea typeface="Arial" pitchFamily="34" charset="-122"/>
                <a:cs typeface="Arial" pitchFamily="34" charset="-120"/>
              </a:rPr>
              <a:t>Korrektur ohne Zutun des Unternehmens</a:t>
            </a:r>
            <a:r>
              <a:rPr lang="en-US" sz="1200">
                <a:solidFill>
                  <a:srgbClr val="B3BC9A"/>
                </a:solidFill>
                <a:latin typeface="Arial" pitchFamily="34" charset="0"/>
                <a:ea typeface="Arial" pitchFamily="34" charset="-122"/>
                <a:cs typeface="Arial" pitchFamily="34" charset="-120"/>
              </a:rPr>
              <a:t> (Fama/French 2000: ≈ 38 % p. a.).</a:t>
            </a:r>
            <a:endParaRPr lang="en-US" sz="1200"/>
          </a:p>
        </p:txBody>
      </p:sp>
      <p:sp>
        <p:nvSpPr>
          <p:cNvPr id="21" name="Shape 18"/>
          <p:cNvSpPr/>
          <p:nvPr/>
        </p:nvSpPr>
        <p:spPr>
          <a:xfrm>
            <a:off x="6235293"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8" y="4090655"/>
            <a:ext cx="88697" cy="66940"/>
          </a:xfrm>
          <a:prstGeom prst="ellipse">
            <a:avLst/>
          </a:prstGeom>
          <a:solidFill>
            <a:srgbClr val="F36451"/>
          </a:solidFill>
          <a:ln/>
        </p:spPr>
        <p:txBody>
          <a:bodyPr/>
          <a:lstStyle/>
          <a:p>
            <a:endParaRPr lang="de-DE"/>
          </a:p>
        </p:txBody>
      </p:sp>
      <p:sp>
        <p:nvSpPr>
          <p:cNvPr id="23" name="Text 20"/>
          <p:cNvSpPr/>
          <p:nvPr/>
        </p:nvSpPr>
        <p:spPr>
          <a:xfrm>
            <a:off x="6743699" y="3995556"/>
            <a:ext cx="4572000" cy="520293"/>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Das Management entscheidet die Kapitalstruktur</a:t>
            </a:r>
            <a:endParaRPr lang="en-US" sz="1500"/>
          </a:p>
        </p:txBody>
      </p:sp>
      <p:sp>
        <p:nvSpPr>
          <p:cNvPr id="24" name="Text 21"/>
          <p:cNvSpPr/>
          <p:nvPr/>
        </p:nvSpPr>
        <p:spPr>
          <a:xfrm>
            <a:off x="6552589" y="4770054"/>
            <a:ext cx="4699102" cy="848087"/>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Kein Marktmechanismus zieht die Bilanz zur Norm — </a:t>
            </a:r>
            <a:r>
              <a:rPr lang="en-US" sz="1200" b="1">
                <a:solidFill>
                  <a:srgbClr val="F2EFDA"/>
                </a:solidFill>
                <a:latin typeface="Arial" pitchFamily="34" charset="0"/>
                <a:ea typeface="Arial" pitchFamily="34" charset="-122"/>
                <a:cs typeface="Arial" pitchFamily="34" charset="-120"/>
              </a:rPr>
              <a:t>nur Emission, Rückkauf, Dividende</a:t>
            </a:r>
            <a:r>
              <a:rPr lang="en-US" sz="1200">
                <a:solidFill>
                  <a:srgbClr val="B3BC9A"/>
                </a:solidFill>
                <a:latin typeface="Arial" pitchFamily="34" charset="0"/>
                <a:ea typeface="Arial" pitchFamily="34" charset="-122"/>
                <a:cs typeface="Arial" pitchFamily="34" charset="-120"/>
              </a:rPr>
              <a:t> (Pecking Order, Market Timing, Trade-off).</a:t>
            </a:r>
            <a:endParaRPr lang="en-US" sz="120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2573784" y="1441866"/>
            <a:ext cx="7043213" cy="2206647"/>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3EFDA"/>
                </a:solidFill>
                <a:latin typeface="Arial" pitchFamily="34" charset="0"/>
                <a:ea typeface="Arial" pitchFamily="34" charset="-122"/>
                <a:cs typeface="Arial" pitchFamily="34" charset="-120"/>
              </a:rPr>
              <a:t>Kopplung</a:t>
            </a:r>
            <a:r>
              <a:rPr lang="en-US" sz="2000" b="1" kern="0" spc="-50" dirty="0">
                <a:solidFill>
                  <a:srgbClr val="F3EFDA"/>
                </a:solidFill>
                <a:latin typeface="Arial" pitchFamily="34" charset="0"/>
                <a:ea typeface="Arial" pitchFamily="34" charset="-122"/>
                <a:cs typeface="Arial" pitchFamily="34" charset="-120"/>
              </a:rPr>
              <a:t> der Mean Reversion</a:t>
            </a:r>
            <a:endParaRPr lang="en-US" sz="2000" dirty="0">
              <a:solidFill>
                <a:srgbClr val="F3EFDA"/>
              </a:solidFill>
            </a:endParaRPr>
          </a:p>
        </p:txBody>
      </p:sp>
      <p:sp>
        <p:nvSpPr>
          <p:cNvPr id="20" name="Text 17"/>
          <p:cNvSpPr/>
          <p:nvPr/>
        </p:nvSpPr>
        <p:spPr>
          <a:xfrm>
            <a:off x="634594" y="653136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 Bonferroni-korrigiert: α/21 ≈ 0,0024 je Test-Familie. Schwacher zweiter Block in der Bilanz: Debt/Equity × EK-Quote 0,33 · Current Ratio × EK-Quote 0,16.</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endParaRPr lang="en-US" sz="120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PROFITABILITÄTSBLOCK</a:t>
            </a:r>
            <a:endParaRPr lang="en-US" sz="105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0,78</a:t>
            </a:r>
            <a:r>
              <a:rPr lang="en-US" sz="1100" kern="0">
                <a:solidFill>
                  <a:srgbClr val="798D6F"/>
                </a:solidFill>
                <a:latin typeface="Courier New" pitchFamily="34" charset="0"/>
                <a:ea typeface="Courier New" pitchFamily="34" charset="-122"/>
                <a:cs typeface="Courier New" pitchFamily="34" charset="-120"/>
              </a:rPr>
              <a:t>   ROA × ROE</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 EBIT-Marge · ROE × EBIT-Marge  - die </a:t>
            </a:r>
            <a:r>
              <a:rPr lang="en-US" sz="1000" kern="0" err="1">
                <a:solidFill>
                  <a:srgbClr val="B3BC9A"/>
                </a:solidFill>
                <a:latin typeface="Arial" pitchFamily="34" charset="0"/>
                <a:ea typeface="Arial" pitchFamily="34" charset="-122"/>
                <a:cs typeface="Arial" pitchFamily="34" charset="-120"/>
              </a:rPr>
              <a:t>Rangfolge</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ist</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ein</a:t>
            </a:r>
            <a:r>
              <a:rPr lang="en-US" sz="1000" kern="0">
                <a:solidFill>
                  <a:srgbClr val="B3BC9A"/>
                </a:solidFill>
                <a:latin typeface="Arial" pitchFamily="34" charset="0"/>
                <a:ea typeface="Arial" pitchFamily="34" charset="-122"/>
                <a:cs typeface="Arial" pitchFamily="34" charset="-120"/>
              </a:rPr>
              <a:t> </a:t>
            </a:r>
            <a:r>
              <a:rPr lang="en-US" sz="1000" b="1" kern="0">
                <a:solidFill>
                  <a:srgbClr val="F2EFDA"/>
                </a:solidFill>
                <a:latin typeface="Arial" pitchFamily="34" charset="0"/>
                <a:ea typeface="Arial" pitchFamily="34" charset="-122"/>
                <a:cs typeface="Arial" pitchFamily="34" charset="-120"/>
              </a:rPr>
              <a:t>Firmenmerkmal</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FCF-MARGE:</a:t>
            </a:r>
            <a:endParaRPr lang="en-US" sz="105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0,14 … 0,19</a:t>
            </a:r>
            <a:r>
              <a:rPr lang="en-US" sz="1100" kern="0">
                <a:solidFill>
                  <a:srgbClr val="798D6F"/>
                </a:solidFill>
                <a:latin typeface="Courier New" pitchFamily="34" charset="0"/>
                <a:ea typeface="Courier New" pitchFamily="34" charset="-122"/>
                <a:cs typeface="Courier New" pitchFamily="34" charset="-120"/>
              </a:rPr>
              <a:t>   zu ROA · ROE · EBIT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Accruals glätten Buchgewinne, den Cashflow nicht </a:t>
            </a:r>
            <a:r>
              <a:rPr lang="en-US" sz="1000" b="1" kern="0">
                <a:solidFill>
                  <a:srgbClr val="F2EFDA"/>
                </a:solidFill>
                <a:latin typeface="Arial" pitchFamily="34" charset="0"/>
                <a:ea typeface="Arial" pitchFamily="34" charset="-122"/>
                <a:cs typeface="Arial" pitchFamily="34" charset="-120"/>
              </a:rPr>
              <a:t>eigene Korrekturlogik</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ZWISCHEN DEN BLÖCKEN</a:t>
            </a:r>
            <a:endParaRPr lang="en-US" sz="105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1 / 12</a:t>
            </a:r>
            <a:r>
              <a:rPr lang="en-US" sz="1100" kern="0">
                <a:solidFill>
                  <a:srgbClr val="798D6F"/>
                </a:solidFill>
                <a:latin typeface="Courier New" pitchFamily="34" charset="0"/>
                <a:ea typeface="Courier New" pitchFamily="34" charset="-122"/>
                <a:cs typeface="Courier New" pitchFamily="34" charset="-120"/>
              </a:rPr>
              <a:t>   Paare signifikant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nur ROE × EK-Quote (0,13) — direkte Folge der </a:t>
            </a:r>
            <a:r>
              <a:rPr lang="en-US" sz="1000" b="1" kern="0">
                <a:solidFill>
                  <a:srgbClr val="F2EFDA"/>
                </a:solidFill>
                <a:latin typeface="Arial" pitchFamily="34" charset="0"/>
                <a:ea typeface="Arial" pitchFamily="34" charset="-122"/>
                <a:cs typeface="Arial" pitchFamily="34" charset="-120"/>
              </a:rPr>
              <a:t>schwachen Mean-Reversion in der Kapitalstruktur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10" name="Grafik 9">
            <a:extLst>
              <a:ext uri="{FF2B5EF4-FFF2-40B4-BE49-F238E27FC236}">
                <a16:creationId xmlns:a16="http://schemas.microsoft.com/office/drawing/2014/main" id="{00379544-99A4-35CA-2644-C68BC11E76B4}"/>
              </a:ext>
            </a:extLst>
          </p:cNvPr>
          <p:cNvPicPr>
            <a:picLocks noChangeAspect="1"/>
          </p:cNvPicPr>
          <p:nvPr/>
        </p:nvPicPr>
        <p:blipFill>
          <a:blip r:embed="rId3"/>
          <a:stretch>
            <a:fillRect/>
          </a:stretch>
        </p:blipFill>
        <p:spPr>
          <a:xfrm>
            <a:off x="2045110" y="2337463"/>
            <a:ext cx="2649833" cy="2276427"/>
          </a:xfrm>
          <a:prstGeom prst="rect">
            <a:avLst/>
          </a:prstGeom>
        </p:spPr>
      </p:pic>
      <p:sp>
        <p:nvSpPr>
          <p:cNvPr id="7" name="Text 4"/>
          <p:cNvSpPr/>
          <p:nvPr/>
        </p:nvSpPr>
        <p:spPr>
          <a:xfrm>
            <a:off x="1718714" y="4704374"/>
            <a:ext cx="3542399" cy="254203"/>
          </a:xfrm>
          <a:prstGeom prst="rect">
            <a:avLst/>
          </a:prstGeom>
          <a:noFill/>
          <a:ln/>
        </p:spPr>
        <p:txBody>
          <a:bodyPr wrap="square" rtlCol="0" anchor="t"/>
          <a:lstStyle/>
          <a:p>
            <a:pPr marL="0" indent="0" algn="l">
              <a:lnSpc>
                <a:spcPct val="105000"/>
              </a:lnSpc>
              <a:buNone/>
            </a:pPr>
            <a:r>
              <a:rPr lang="en-US" sz="1100" kern="0" dirty="0" err="1">
                <a:solidFill>
                  <a:srgbClr val="B3BC9A"/>
                </a:solidFill>
                <a:latin typeface="Arial" pitchFamily="34" charset="0"/>
                <a:ea typeface="Arial" pitchFamily="34" charset="-122"/>
                <a:cs typeface="Arial" pitchFamily="34" charset="-120"/>
              </a:rPr>
              <a:t>Paarweise</a:t>
            </a:r>
            <a:r>
              <a:rPr lang="en-US" sz="1100" kern="0" dirty="0">
                <a:solidFill>
                  <a:srgbClr val="B3BC9A"/>
                </a:solidFill>
                <a:latin typeface="Arial" pitchFamily="34" charset="0"/>
                <a:ea typeface="Arial" pitchFamily="34" charset="-122"/>
                <a:cs typeface="Arial" pitchFamily="34" charset="-120"/>
              </a:rPr>
              <a:t> Spearman-</a:t>
            </a:r>
            <a:r>
              <a:rPr lang="en-US" sz="1100" kern="0" dirty="0" err="1">
                <a:solidFill>
                  <a:srgbClr val="B3BC9A"/>
                </a:solidFill>
                <a:latin typeface="Arial" pitchFamily="34" charset="0"/>
                <a:ea typeface="Arial" pitchFamily="34" charset="-122"/>
                <a:cs typeface="Arial" pitchFamily="34" charset="-120"/>
              </a:rPr>
              <a:t>Korrelation</a:t>
            </a:r>
            <a:r>
              <a:rPr lang="en-US" sz="1100" kern="0" dirty="0">
                <a:solidFill>
                  <a:srgbClr val="B3BC9A"/>
                </a:solidFill>
                <a:latin typeface="Arial" pitchFamily="34" charset="0"/>
                <a:ea typeface="Arial" pitchFamily="34" charset="-122"/>
                <a:cs typeface="Arial" pitchFamily="34" charset="-120"/>
              </a:rPr>
              <a:t> der </a:t>
            </a:r>
            <a:r>
              <a:rPr lang="en-US" sz="1100" kern="0" dirty="0" err="1">
                <a:solidFill>
                  <a:srgbClr val="B3BC9A"/>
                </a:solidFill>
                <a:latin typeface="Arial" pitchFamily="34" charset="0"/>
                <a:ea typeface="Arial" pitchFamily="34" charset="-122"/>
                <a:cs typeface="Arial" pitchFamily="34" charset="-120"/>
              </a:rPr>
              <a:t>firmenspezifisch</a:t>
            </a:r>
            <a:r>
              <a:rPr lang="en-US" sz="1100" kern="0" dirty="0">
                <a:solidFill>
                  <a:srgbClr val="B3BC9A"/>
                </a:solidFill>
                <a:latin typeface="Arial" pitchFamily="34" charset="0"/>
                <a:ea typeface="Arial" pitchFamily="34" charset="-122"/>
                <a:cs typeface="Arial" pitchFamily="34" charset="-120"/>
              </a:rPr>
              <a:t> </a:t>
            </a:r>
            <a:r>
              <a:rPr lang="en-US" sz="1100" kern="0" dirty="0" err="1">
                <a:solidFill>
                  <a:srgbClr val="B3BC9A"/>
                </a:solidFill>
                <a:latin typeface="Arial" pitchFamily="34" charset="0"/>
                <a:ea typeface="Arial" pitchFamily="34" charset="-122"/>
                <a:cs typeface="Arial" pitchFamily="34" charset="-120"/>
              </a:rPr>
              <a:t>geschätzten</a:t>
            </a:r>
            <a:r>
              <a:rPr lang="en-US" sz="1100" kern="0" dirty="0">
                <a:solidFill>
                  <a:srgbClr val="B3BC9A"/>
                </a:solidFill>
                <a:latin typeface="Arial" pitchFamily="34" charset="0"/>
                <a:ea typeface="Arial" pitchFamily="34" charset="-122"/>
                <a:cs typeface="Arial" pitchFamily="34" charset="-120"/>
              </a:rPr>
              <a:t> Parameter </a:t>
            </a:r>
            <a:r>
              <a:rPr lang="en-US" sz="1100" kern="0" dirty="0" err="1">
                <a:solidFill>
                  <a:srgbClr val="B3BC9A"/>
                </a:solidFill>
                <a:latin typeface="Arial" pitchFamily="34" charset="0"/>
                <a:ea typeface="Arial" pitchFamily="34" charset="-122"/>
                <a:cs typeface="Arial" pitchFamily="34" charset="-120"/>
              </a:rPr>
              <a:t>über</a:t>
            </a:r>
            <a:r>
              <a:rPr lang="en-US" sz="1100" kern="0" dirty="0">
                <a:solidFill>
                  <a:srgbClr val="B3BC9A"/>
                </a:solidFill>
                <a:latin typeface="Arial" pitchFamily="34" charset="0"/>
                <a:ea typeface="Arial" pitchFamily="34" charset="-122"/>
                <a:cs typeface="Arial" pitchFamily="34" charset="-120"/>
              </a:rPr>
              <a:t> 932 </a:t>
            </a:r>
            <a:r>
              <a:rPr lang="en-US" sz="1100" kern="0" dirty="0" err="1">
                <a:solidFill>
                  <a:srgbClr val="B3BC9A"/>
                </a:solidFill>
                <a:latin typeface="Arial" pitchFamily="34" charset="0"/>
                <a:ea typeface="Arial" pitchFamily="34" charset="-122"/>
                <a:cs typeface="Arial" pitchFamily="34" charset="-120"/>
              </a:rPr>
              <a:t>Unternehmen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Kopplung</a:t>
            </a:r>
            <a:r>
              <a:rPr lang="en-US" sz="2000" b="1" kern="0" spc="-50" dirty="0">
                <a:solidFill>
                  <a:srgbClr val="F2EFDA"/>
                </a:solidFill>
                <a:latin typeface="Arial" pitchFamily="34" charset="0"/>
                <a:ea typeface="Arial" pitchFamily="34" charset="-122"/>
                <a:cs typeface="Arial" pitchFamily="34" charset="-120"/>
              </a:rPr>
              <a:t> der </a:t>
            </a:r>
            <a:r>
              <a:rPr lang="en-US" sz="2000" b="1" kern="0" spc="-50" dirty="0" err="1">
                <a:solidFill>
                  <a:srgbClr val="F2EFDA"/>
                </a:solidFill>
                <a:latin typeface="Arial" pitchFamily="34" charset="0"/>
                <a:ea typeface="Arial" pitchFamily="34" charset="-122"/>
                <a:cs typeface="Arial" pitchFamily="34" charset="-120"/>
              </a:rPr>
              <a:t>Volatilität</a:t>
            </a:r>
            <a:endParaRPr lang="en-US" sz="20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9 / 21 Paare*</a:t>
            </a:r>
            <a:endParaRPr lang="en-US" sz="120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(0,19 – 0,52).</a:t>
            </a:r>
            <a:endParaRPr lang="en-US" sz="100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2" name="!!K_LeadLag"/>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pic>
        <p:nvPicPr>
          <p:cNvPr id="4" name="Grafik 3">
            <a:extLst>
              <a:ext uri="{FF2B5EF4-FFF2-40B4-BE49-F238E27FC236}">
                <a16:creationId xmlns:a16="http://schemas.microsoft.com/office/drawing/2014/main" id="{E9C823C0-400F-559D-FF7D-3B4B9462F7DE}"/>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0" name="Grafik 9">
            <a:extLst>
              <a:ext uri="{FF2B5EF4-FFF2-40B4-BE49-F238E27FC236}">
                <a16:creationId xmlns:a16="http://schemas.microsoft.com/office/drawing/2014/main" id="{B41E5FEB-D64B-7C55-724A-3C9AA3890F48}"/>
              </a:ext>
            </a:extLst>
          </p:cNvPr>
          <p:cNvPicPr>
            <a:picLocks noChangeAspect="1"/>
          </p:cNvPicPr>
          <p:nvPr/>
        </p:nvPicPr>
        <p:blipFill>
          <a:blip r:embed="rId4"/>
          <a:stretch>
            <a:fillRect/>
          </a:stretch>
        </p:blipFill>
        <p:spPr>
          <a:xfrm>
            <a:off x="7561458" y="2431244"/>
            <a:ext cx="2668566" cy="2292520"/>
          </a:xfrm>
          <a:prstGeom prst="rect">
            <a:avLst/>
          </a:prstGeom>
        </p:spPr>
      </p:pic>
      <p:sp>
        <p:nvSpPr>
          <p:cNvPr id="31" name="!!B_PhiMatrix"/>
          <p:cNvSpPr/>
          <p:nvPr/>
        </p:nvSpPr>
        <p:spPr>
          <a:xfrm>
            <a:off x="787719" y="5807201"/>
            <a:ext cx="4914480" cy="350889"/>
          </a:xfrm>
          <a:prstGeom prst="rect">
            <a:avLst/>
          </a:prstGeom>
          <a:noFill/>
          <a:ln/>
        </p:spPr>
        <p:txBody>
          <a:bodyPr wrap="square" rtlCol="0" anchor="t"/>
          <a:lstStyle/>
          <a:p>
            <a:pPr marL="0" indent="0" algn="l">
              <a:lnSpc>
                <a:spcPct val="105000"/>
              </a:lnSpc>
              <a:buNone/>
            </a:pPr>
            <a:r>
              <a:rPr lang="en-US" sz="1500" b="1" kern="0" dirty="0" err="1">
                <a:solidFill>
                  <a:srgbClr val="F2EFDA"/>
                </a:solidFill>
                <a:latin typeface="Courier New" pitchFamily="34" charset="0"/>
                <a:cs typeface="Courier New" pitchFamily="34" charset="-120"/>
              </a:rPr>
              <a:t>Kopplung</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nur</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innerhalb</a:t>
            </a:r>
            <a:r>
              <a:rPr lang="en-US" sz="1500" b="1" kern="0" dirty="0">
                <a:solidFill>
                  <a:srgbClr val="F2EFDA"/>
                </a:solidFill>
                <a:latin typeface="Courier New" pitchFamily="34" charset="0"/>
                <a:cs typeface="Courier New" pitchFamily="34" charset="-120"/>
              </a:rPr>
              <a:t> der </a:t>
            </a:r>
            <a:r>
              <a:rPr lang="en-US" sz="1500" b="1" kern="0" dirty="0" err="1">
                <a:solidFill>
                  <a:srgbClr val="F2EFDA"/>
                </a:solidFill>
                <a:latin typeface="Courier New" pitchFamily="34" charset="0"/>
                <a:cs typeface="Courier New" pitchFamily="34" charset="-120"/>
              </a:rPr>
              <a:t>Profitabilität</a:t>
            </a:r>
            <a:endParaRPr lang="en-US" sz="1500" b="1" kern="0" dirty="0">
              <a:solidFill>
                <a:srgbClr val="F2EFDA"/>
              </a:solidFill>
              <a:latin typeface="Courier New" pitchFamily="34" charset="0"/>
              <a:cs typeface="Courier New" pitchFamily="34" charset="-12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Überschrift</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aber</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auch</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inhalt</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noch</a:t>
            </a:r>
            <a:r>
              <a:rPr lang="en-US" sz="2000" b="1" kern="0" spc="-50" dirty="0">
                <a:solidFill>
                  <a:srgbClr val="F2EFDA"/>
                </a:solidFill>
                <a:latin typeface="Arial" pitchFamily="34" charset="0"/>
                <a:ea typeface="Arial" pitchFamily="34" charset="-122"/>
                <a:cs typeface="Arial" pitchFamily="34" charset="-120"/>
              </a:rPr>
              <a:t> nicht </a:t>
            </a:r>
            <a:r>
              <a:rPr lang="en-US" sz="2000" b="1" kern="0" spc="-50" dirty="0" err="1">
                <a:solidFill>
                  <a:srgbClr val="F2EFDA"/>
                </a:solidFill>
                <a:latin typeface="Arial" pitchFamily="34" charset="0"/>
                <a:ea typeface="Arial" pitchFamily="34" charset="-122"/>
                <a:cs typeface="Arial" pitchFamily="34" charset="-120"/>
              </a:rPr>
              <a:t>aufs</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allgemeine</a:t>
            </a:r>
            <a:r>
              <a:rPr lang="en-US" sz="2000" b="1" kern="0" spc="-50" dirty="0">
                <a:solidFill>
                  <a:srgbClr val="F2EFDA"/>
                </a:solidFill>
                <a:latin typeface="Arial" pitchFamily="34" charset="0"/>
                <a:ea typeface="Arial" pitchFamily="34" charset="-122"/>
                <a:cs typeface="Arial" pitchFamily="34" charset="-120"/>
              </a:rPr>
              <a:t> level</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Pro Sektor × Kennzahl: Quartals-Median über die Unternehmen, geglättet über 25 Quartale — parallel die AR(1)-Drift c pro Unternehmen als zweite Trend-Messung.</a:t>
            </a:r>
            <a:endParaRPr lang="en-US" sz="110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Validierung: Niveau-Trend und AR(1)-Drift c messen denselben Pfad — r = 0,86 über 70 Kombinationen, Vorzeichen-Übereinstimmung 54/70. Krisenphasen aus 5.2.1 als Schraffuren in jedem Plot.</a:t>
            </a:r>
            <a:endParaRPr lang="en-US" sz="90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BEISPIEL TECHNOLOGIE</a:t>
            </a:r>
            <a:endParaRPr lang="en-US" sz="1050"/>
          </a:p>
        </p:txBody>
      </p:sp>
      <p:sp>
        <p:nvSpPr>
          <p:cNvPr id="73" name="!!T_Tech"/>
          <p:cNvSpPr/>
          <p:nvPr/>
        </p:nvSpPr>
        <p:spPr>
          <a:xfrm>
            <a:off x="6489497" y="2150000"/>
            <a:ext cx="4812488" cy="1070000"/>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CR 2,48 → 1,87 · D/E 0,18 → 0,42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Die Kurven kreuzen sich um 2013 — vom liquiditätsdominierten Start-up-Profil zur </a:t>
            </a:r>
            <a:r>
              <a:rPr lang="en-US" sz="1000" b="1" kern="0">
                <a:solidFill>
                  <a:srgbClr val="F2EFDA"/>
                </a:solidFill>
                <a:latin typeface="Arial" pitchFamily="34" charset="0"/>
                <a:ea typeface="Arial" pitchFamily="34" charset="-122"/>
                <a:cs typeface="Arial" pitchFamily="34" charset="-120"/>
              </a:rPr>
              <a:t>reifen, fremdfinanzierten Struktur</a:t>
            </a:r>
            <a:r>
              <a:rPr lang="en-US" sz="1000" kern="0">
                <a:solidFill>
                  <a:srgbClr val="B3BC9A"/>
                </a:solidFill>
                <a:latin typeface="Arial" pitchFamily="34" charset="0"/>
                <a:ea typeface="Arial" pitchFamily="34" charset="-122"/>
                <a:cs typeface="Arial" pitchFamily="34" charset="-120"/>
              </a:rPr>
              <a:t>. R² = 0,82 (CR) · 0,75 (D/E) · 0,88 (EK-Quote) — die höchsten Werte der Arbeit.</a:t>
            </a:r>
            <a:endParaRPr lang="en-US" sz="100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VORZEICHEN-BILANZ · 70 SEKTOR-KENNZAHL-KOMBINATIONEN</a:t>
            </a:r>
            <a:endParaRPr lang="en-US" sz="105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44 / 70</a:t>
            </a:r>
            <a:r>
              <a:rPr lang="en-US" sz="1100" kern="0">
                <a:solidFill>
                  <a:srgbClr val="798D6F"/>
                </a:solidFill>
                <a:latin typeface="Courier New" pitchFamily="34" charset="0"/>
                <a:ea typeface="Courier New" pitchFamily="34" charset="-122"/>
                <a:cs typeface="Courier New" pitchFamily="34" charset="-120"/>
              </a:rPr>
              <a:t>   c-Mediane positiv</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Debt/Equity in </a:t>
            </a:r>
            <a:r>
              <a:rPr lang="en-US" sz="1000" b="1" kern="0">
                <a:solidFill>
                  <a:srgbClr val="F2EFDA"/>
                </a:solidFill>
                <a:latin typeface="Arial" pitchFamily="34" charset="0"/>
                <a:ea typeface="Arial" pitchFamily="34" charset="-122"/>
                <a:cs typeface="Arial" pitchFamily="34" charset="-120"/>
              </a:rPr>
              <a:t>10/10 Sektoren positiv</a:t>
            </a:r>
            <a:r>
              <a:rPr lang="en-US" sz="1000" kern="0">
                <a:solidFill>
                  <a:srgbClr val="B3BC9A"/>
                </a:solidFill>
                <a:latin typeface="Arial" pitchFamily="34" charset="0"/>
                <a:ea typeface="Arial" pitchFamily="34" charset="-122"/>
                <a:cs typeface="Arial" pitchFamily="34" charset="-120"/>
              </a:rPr>
              <a:t> · FCF-Marge 9/10 · EBIT-Marge 8/10 — EK-Quote in 7/10 negativ: </a:t>
            </a:r>
            <a:r>
              <a:rPr lang="en-US" sz="1000" b="1" kern="0">
                <a:solidFill>
                  <a:srgbClr val="F2EFDA"/>
                </a:solidFill>
                <a:latin typeface="Arial" pitchFamily="34" charset="0"/>
                <a:ea typeface="Arial" pitchFamily="34" charset="-122"/>
                <a:cs typeface="Arial" pitchFamily="34" charset="-120"/>
              </a:rPr>
              <a:t>Verschuldungs- und Margenexpansion</a:t>
            </a:r>
            <a:r>
              <a:rPr lang="en-US" sz="1000" kern="0">
                <a:solidFill>
                  <a:srgbClr val="B3BC9A"/>
                </a:solidFill>
                <a:latin typeface="Arial" pitchFamily="34" charset="0"/>
                <a:ea typeface="Arial" pitchFamily="34" charset="-122"/>
                <a:cs typeface="Arial" pitchFamily="34" charset="-120"/>
              </a:rPr>
              <a:t> (Bates et al. 2009; Graham et al. 2015).</a:t>
            </a:r>
            <a:endParaRPr lang="en-US" sz="1000"/>
          </a:p>
        </p:txBody>
      </p:sp>
      <p:pic>
        <p:nvPicPr>
          <p:cNvPr id="10" name="Grafik 9">
            <a:extLst>
              <a:ext uri="{FF2B5EF4-FFF2-40B4-BE49-F238E27FC236}">
                <a16:creationId xmlns:a16="http://schemas.microsoft.com/office/drawing/2014/main" id="{22E47D9B-033D-43BE-53E1-576C4D77197A}"/>
              </a:ext>
            </a:extLst>
          </p:cNvPr>
          <p:cNvPicPr>
            <a:picLocks noChangeAspect="1"/>
          </p:cNvPicPr>
          <p:nvPr/>
        </p:nvPicPr>
        <p:blipFill>
          <a:blip r:embed="rId3"/>
          <a:stretch>
            <a:fillRect/>
          </a:stretch>
        </p:blipFill>
        <p:spPr>
          <a:xfrm>
            <a:off x="656751" y="1943143"/>
            <a:ext cx="5438640" cy="29461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20" name="Text 17"/>
          <p:cNvSpPr/>
          <p:nvPr/>
        </p:nvSpPr>
        <p:spPr>
          <a:xfrm>
            <a:off x="635000" y="5359400"/>
            <a:ext cx="10922000" cy="254000"/>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Reaktion vs. Baseline: Median |ΔY| im Peak-Quartal ÷ Nicht-Peak-Baseline — Werte über 1 = überproportional. Testbilanz: 7/12 Bonferroni · 11/12 FDR · In-Sample-Konsistenzprüfung.</a:t>
            </a:r>
            <a:endParaRPr lang="en-US" sz="900"/>
          </a:p>
        </p:txBody>
      </p:sp>
      <p:sp>
        <p:nvSpPr>
          <p:cNvPr id="81" name="!!K_GFC"/>
          <p:cNvSpPr/>
          <p:nvPr/>
        </p:nvSpPr>
        <p:spPr>
          <a:xfrm>
            <a:off x="635000" y="4089400"/>
            <a:ext cx="3467100" cy="1143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889000" y="4216400"/>
            <a:ext cx="2959100" cy="2286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889000" y="4483100"/>
            <a:ext cx="2959100" cy="660400"/>
          </a:xfrm>
          <a:prstGeom prst="rect">
            <a:avLst/>
          </a:prstGeom>
          <a:noFill/>
          <a:ln/>
        </p:spPr>
        <p:txBody>
          <a:bodyPr wrap="square" rtlCol="0" anchor="t"/>
          <a:lstStyle/>
          <a:p>
            <a:pPr marL="0" indent="0" algn="l">
              <a:lnSpc>
                <a:spcPct val="100000"/>
              </a:lnSpc>
              <a:buNone/>
            </a:pPr>
            <a:r>
              <a:rPr lang="en-US" sz="1500" b="1" kern="0" dirty="0" err="1">
                <a:solidFill>
                  <a:srgbClr val="F2EFDA"/>
                </a:solidFill>
                <a:latin typeface="Courier New" pitchFamily="34" charset="0"/>
                <a:ea typeface="Courier New" pitchFamily="34" charset="-122"/>
                <a:cs typeface="Courier New" pitchFamily="34" charset="-120"/>
              </a:rPr>
              <a:t>r_rb</a:t>
            </a:r>
            <a:r>
              <a:rPr lang="en-US" sz="1500" b="1" kern="0" dirty="0">
                <a:solidFill>
                  <a:srgbClr val="F2EFDA"/>
                </a:solidFill>
                <a:latin typeface="Courier New" pitchFamily="34" charset="0"/>
                <a:ea typeface="Courier New" pitchFamily="34" charset="-122"/>
                <a:cs typeface="Courier New" pitchFamily="34" charset="-120"/>
              </a:rPr>
              <a:t> = −0,36</a:t>
            </a:r>
            <a:r>
              <a:rPr lang="en-US" sz="1100" kern="0" dirty="0">
                <a:solidFill>
                  <a:srgbClr val="798D6F"/>
                </a:solidFill>
                <a:latin typeface="Courier New" pitchFamily="34" charset="0"/>
                <a:ea typeface="Courier New" pitchFamily="34" charset="-122"/>
                <a:cs typeface="Courier New" pitchFamily="34" charset="-120"/>
              </a:rPr>
              <a:t>   </a:t>
            </a:r>
            <a:r>
              <a:rPr lang="en-US" sz="1100" kern="0" dirty="0" err="1">
                <a:solidFill>
                  <a:srgbClr val="798D6F"/>
                </a:solidFill>
                <a:latin typeface="Courier New" pitchFamily="34" charset="0"/>
                <a:ea typeface="Courier New" pitchFamily="34" charset="-122"/>
                <a:cs typeface="Courier New" pitchFamily="34" charset="-120"/>
              </a:rPr>
              <a:t>volatil</a:t>
            </a:r>
            <a:r>
              <a:rPr lang="en-US" sz="1100" kern="0" dirty="0">
                <a:solidFill>
                  <a:srgbClr val="798D6F"/>
                </a:solidFill>
                <a:latin typeface="Courier New" pitchFamily="34" charset="0"/>
                <a:ea typeface="Courier New" pitchFamily="34" charset="-122"/>
                <a:cs typeface="Courier New" pitchFamily="34" charset="-120"/>
              </a:rPr>
              <a:t> vs. </a:t>
            </a:r>
            <a:r>
              <a:rPr lang="en-US" sz="1100" kern="0" dirty="0" err="1">
                <a:solidFill>
                  <a:srgbClr val="798D6F"/>
                </a:solidFill>
                <a:latin typeface="Courier New" pitchFamily="34" charset="0"/>
                <a:ea typeface="Courier New" pitchFamily="34" charset="-122"/>
                <a:cs typeface="Courier New" pitchFamily="34" charset="-120"/>
              </a:rPr>
              <a:t>stabil</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ROA −0,360 · EBIT-Marge −0,355 — </a:t>
            </a:r>
            <a:r>
              <a:rPr lang="en-US" sz="1000" b="1" kern="0" dirty="0" err="1">
                <a:solidFill>
                  <a:srgbClr val="F2EFDA"/>
                </a:solidFill>
                <a:latin typeface="Arial" pitchFamily="34" charset="0"/>
                <a:ea typeface="Arial" pitchFamily="34" charset="-122"/>
                <a:cs typeface="Arial" pitchFamily="34" charset="-120"/>
              </a:rPr>
              <a:t>volatil</a:t>
            </a:r>
            <a:r>
              <a:rPr lang="en-US" sz="1000" b="1" kern="0" dirty="0">
                <a:solidFill>
                  <a:srgbClr val="F2EFDA"/>
                </a:solidFill>
                <a:latin typeface="Arial" pitchFamily="34" charset="0"/>
                <a:ea typeface="Arial" pitchFamily="34" charset="-122"/>
                <a:cs typeface="Arial" pitchFamily="34" charset="-120"/>
              </a:rPr>
              <a:t> </a:t>
            </a:r>
            <a:r>
              <a:rPr lang="en-US" sz="1000" b="1" kern="0" dirty="0" err="1">
                <a:solidFill>
                  <a:srgbClr val="F2EFDA"/>
                </a:solidFill>
                <a:latin typeface="Arial" pitchFamily="34" charset="0"/>
                <a:ea typeface="Arial" pitchFamily="34" charset="-122"/>
                <a:cs typeface="Arial" pitchFamily="34" charset="-120"/>
              </a:rPr>
              <a:t>reagiert</a:t>
            </a:r>
            <a:r>
              <a:rPr lang="en-US" sz="1000" b="1" kern="0" dirty="0">
                <a:solidFill>
                  <a:srgbClr val="F2EFDA"/>
                </a:solidFill>
                <a:latin typeface="Arial" pitchFamily="34" charset="0"/>
                <a:ea typeface="Arial" pitchFamily="34" charset="-122"/>
                <a:cs typeface="Arial" pitchFamily="34" charset="-120"/>
              </a:rPr>
              <a:t> </a:t>
            </a:r>
            <a:r>
              <a:rPr lang="en-US" sz="1000" b="1" kern="0" dirty="0" err="1">
                <a:solidFill>
                  <a:srgbClr val="F2EFDA"/>
                </a:solidFill>
                <a:latin typeface="Arial" pitchFamily="34" charset="0"/>
                <a:ea typeface="Arial" pitchFamily="34" charset="-122"/>
                <a:cs typeface="Arial" pitchFamily="34" charset="-120"/>
              </a:rPr>
              <a:t>stärker</a:t>
            </a:r>
            <a:r>
              <a:rPr lang="en-US" sz="1000" kern="0" dirty="0">
                <a:solidFill>
                  <a:srgbClr val="B3BC9A"/>
                </a:solidFill>
                <a:latin typeface="Arial" pitchFamily="34" charset="0"/>
                <a:ea typeface="Arial" pitchFamily="34" charset="-122"/>
                <a:cs typeface="Arial" pitchFamily="34" charset="-120"/>
              </a:rPr>
              <a:t> (Bonferroni).</a:t>
            </a:r>
            <a:endParaRPr lang="en-US" sz="1000" dirty="0"/>
          </a:p>
        </p:txBody>
      </p:sp>
      <p:sp>
        <p:nvSpPr>
          <p:cNvPr id="84" name="!!K_COVID"/>
          <p:cNvSpPr/>
          <p:nvPr/>
        </p:nvSpPr>
        <p:spPr>
          <a:xfrm>
            <a:off x="4356100" y="4089400"/>
            <a:ext cx="3467100" cy="1143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4610100" y="4216400"/>
            <a:ext cx="2959100" cy="2286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46101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a:t>
            </a:r>
            <a:r>
              <a:rPr lang="en-US" sz="1100" kern="0">
                <a:solidFill>
                  <a:srgbClr val="798D6F"/>
                </a:solidFill>
                <a:latin typeface="Courier New" pitchFamily="34" charset="0"/>
                <a:ea typeface="Courier New" pitchFamily="34" charset="-122"/>
                <a:cs typeface="Courier New" pitchFamily="34" charset="-120"/>
              </a:rPr>
              <a:t>   Trennung bestätigt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Bonferroni-signifikant · </a:t>
            </a:r>
            <a:r>
              <a:rPr lang="en-US" sz="1000" b="1" kern="0">
                <a:solidFill>
                  <a:srgbClr val="F2EFDA"/>
                </a:solidFill>
                <a:latin typeface="Arial" pitchFamily="34" charset="0"/>
                <a:ea typeface="Arial" pitchFamily="34" charset="-122"/>
                <a:cs typeface="Arial" pitchFamily="34" charset="-120"/>
              </a:rPr>
              <a:t>ε² = 0,13 (CR) · 0,10 (EBIT-Marge)</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87" name="!!K_DotCom"/>
          <p:cNvSpPr/>
          <p:nvPr/>
        </p:nvSpPr>
        <p:spPr>
          <a:xfrm>
            <a:off x="8077200" y="4089400"/>
            <a:ext cx="3467100" cy="1143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8331200" y="4216400"/>
            <a:ext cx="2959100" cy="2286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83312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keine Trennung</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sektorspezifische Tech-Krise mit geringer Querschnittsbreite — </a:t>
            </a:r>
            <a:r>
              <a:rPr lang="en-US" sz="1000" b="1" kern="0">
                <a:solidFill>
                  <a:srgbClr val="F2EFDA"/>
                </a:solidFill>
                <a:latin typeface="Arial" pitchFamily="34" charset="0"/>
                <a:ea typeface="Arial" pitchFamily="34" charset="-122"/>
                <a:cs typeface="Arial" pitchFamily="34" charset="-120"/>
              </a:rPr>
              <a:t>konsistent mit der Phasen-Struktur</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hip1"/>
          <p:cNvSpPr/>
          <p:nvPr/>
        </p:nvSpPr>
        <p:spPr>
          <a:xfrm>
            <a:off x="6350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28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EBIT-MARGE</a:t>
            </a:r>
            <a:endParaRPr lang="en-US" sz="1000"/>
          </a:p>
        </p:txBody>
      </p:sp>
      <p:sp>
        <p:nvSpPr>
          <p:cNvPr id="93" name="!!T_Chip1"/>
          <p:cNvSpPr/>
          <p:nvPr/>
        </p:nvSpPr>
        <p:spPr>
          <a:xfrm>
            <a:off x="8128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×1,53 · ×1,54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GFC · COVID — operativer Hebel: Umsatz bricht, Kosten bleiben.</a:t>
            </a:r>
            <a:endParaRPr lang="en-US" sz="870"/>
          </a:p>
        </p:txBody>
      </p:sp>
      <p:sp>
        <p:nvSpPr>
          <p:cNvPr id="94" name="!!K_Chip2"/>
          <p:cNvSpPr/>
          <p:nvPr/>
        </p:nvSpPr>
        <p:spPr>
          <a:xfrm>
            <a:off x="34163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94100" y="5816600"/>
            <a:ext cx="2235200" cy="215900"/>
          </a:xfrm>
          <a:prstGeom prst="rect">
            <a:avLst/>
          </a:prstGeom>
          <a:noFill/>
          <a:ln/>
        </p:spPr>
        <p:txBody>
          <a:bodyPr wrap="square" rtlCol="0" anchor="t"/>
          <a:lstStyle/>
          <a:p>
            <a:pPr marL="0" indent="0" algn="l">
              <a:lnSpc>
                <a:spcPct val="105000"/>
              </a:lnSpc>
              <a:buNone/>
            </a:pPr>
            <a:r>
              <a:rPr lang="en-US" sz="1000" b="1" kern="0">
                <a:solidFill>
                  <a:srgbClr val="F36451"/>
                </a:solidFill>
                <a:latin typeface="Courier New" pitchFamily="34" charset="0"/>
                <a:ea typeface="Courier New" pitchFamily="34" charset="-122"/>
                <a:cs typeface="Courier New" pitchFamily="34" charset="-120"/>
              </a:rPr>
              <a:t>DEBT/EQUITY</a:t>
            </a:r>
            <a:endParaRPr lang="en-US" sz="1000"/>
          </a:p>
        </p:txBody>
      </p:sp>
      <p:sp>
        <p:nvSpPr>
          <p:cNvPr id="96" name="!!T_Chip2"/>
          <p:cNvSpPr/>
          <p:nvPr/>
        </p:nvSpPr>
        <p:spPr>
          <a:xfrm>
            <a:off x="35941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×1,37 Dot-Com</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Kurs-Crash vernichtet Eigenkapital; COVID ×1,50.</a:t>
            </a:r>
            <a:endParaRPr lang="en-US" sz="870"/>
          </a:p>
        </p:txBody>
      </p:sp>
      <p:sp>
        <p:nvSpPr>
          <p:cNvPr id="97" name="!!K_Chip3"/>
          <p:cNvSpPr/>
          <p:nvPr/>
        </p:nvSpPr>
        <p:spPr>
          <a:xfrm>
            <a:off x="61849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27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FCF-MARGE</a:t>
            </a:r>
            <a:endParaRPr lang="en-US" sz="1000"/>
          </a:p>
        </p:txBody>
      </p:sp>
      <p:sp>
        <p:nvSpPr>
          <p:cNvPr id="99" name="!!T_Chip3"/>
          <p:cNvSpPr/>
          <p:nvPr/>
        </p:nvSpPr>
        <p:spPr>
          <a:xfrm>
            <a:off x="63627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×1,11 GFC</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kaum über Baseline — die Accrual-Sonderstellung erneut.</a:t>
            </a:r>
            <a:endParaRPr lang="en-US" sz="870"/>
          </a:p>
        </p:txBody>
      </p:sp>
      <p:sp>
        <p:nvSpPr>
          <p:cNvPr id="100" name="!!K_Chip4"/>
          <p:cNvSpPr/>
          <p:nvPr/>
        </p:nvSpPr>
        <p:spPr>
          <a:xfrm>
            <a:off x="89662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4000" y="5816600"/>
            <a:ext cx="2235200" cy="2159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CURRENT RATIO</a:t>
            </a:r>
            <a:endParaRPr lang="en-US" sz="1000"/>
          </a:p>
        </p:txBody>
      </p:sp>
      <p:sp>
        <p:nvSpPr>
          <p:cNvPr id="102" name="!!T_Chip4"/>
          <p:cNvSpPr/>
          <p:nvPr/>
        </p:nvSpPr>
        <p:spPr>
          <a:xfrm>
            <a:off x="91440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 ×1,24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überall am schwächsten — träge Bilanzposition.</a:t>
            </a:r>
            <a:endParaRPr lang="en-US" sz="870"/>
          </a:p>
        </p:txBody>
      </p:sp>
      <p:pic>
        <p:nvPicPr>
          <p:cNvPr id="12" name="Grafik 11">
            <a:extLst>
              <a:ext uri="{FF2B5EF4-FFF2-40B4-BE49-F238E27FC236}">
                <a16:creationId xmlns:a16="http://schemas.microsoft.com/office/drawing/2014/main" id="{C766B6D6-D0B1-7C63-3304-0AF47B33BBA7}"/>
              </a:ext>
            </a:extLst>
          </p:cNvPr>
          <p:cNvPicPr>
            <a:picLocks noChangeAspect="1"/>
          </p:cNvPicPr>
          <p:nvPr/>
        </p:nvPicPr>
        <p:blipFill>
          <a:blip r:embed="rId3"/>
          <a:stretch>
            <a:fillRect/>
          </a:stretch>
        </p:blipFill>
        <p:spPr>
          <a:xfrm>
            <a:off x="933518" y="634492"/>
            <a:ext cx="10382670" cy="33095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12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Fünf Strukturvariablen, 98 Tests — die Wirkung liegt auf der σ-Seite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Spearman: fünf Strukturvariablen × φ und σ je Kennzahl — 31 von 49 σ-Tests Bonferroni-signifikant, nur 10 von 49 bei φ; die zehn stärksten Effekte sind alle σ.</a:t>
            </a:r>
            <a:endParaRPr lang="en-US" sz="110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GRÖSSE</a:t>
            </a:r>
            <a:endParaRPr lang="en-US" sz="105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bis −0,53</a:t>
            </a:r>
            <a:r>
              <a:rPr lang="en-US" sz="1000" kern="0">
                <a:solidFill>
                  <a:srgbClr val="798D6F"/>
                </a:solidFill>
                <a:latin typeface="Courier New" pitchFamily="34" charset="0"/>
                <a:ea typeface="Courier New" pitchFamily="34" charset="-122"/>
                <a:cs typeface="Courier New" pitchFamily="34" charset="-120"/>
              </a:rPr>
              <a:t>   Mitarbeiter · Bilanzsumme · MarketCap</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Mitarbeiterzahl dämpft am stärksten: FCF-Marge und Current Ratio je −0,53. Quintil-Kontrast FCF: σ-Median </a:t>
            </a:r>
            <a:r>
              <a:rPr lang="en-US" sz="1000" b="1" kern="0">
                <a:solidFill>
                  <a:srgbClr val="F2EFDA"/>
                </a:solidFill>
                <a:latin typeface="Arial" pitchFamily="34" charset="0"/>
                <a:ea typeface="Arial" pitchFamily="34" charset="-122"/>
                <a:cs typeface="Arial" pitchFamily="34" charset="-120"/>
              </a:rPr>
              <a:t>0,45 → 0,11 (Cohens r = 0,80)</a:t>
            </a:r>
            <a:r>
              <a:rPr lang="en-US" sz="1000" kern="0">
                <a:solidFill>
                  <a:srgbClr val="B3BC9A"/>
                </a:solidFill>
                <a:latin typeface="Arial" pitchFamily="34" charset="0"/>
                <a:ea typeface="Arial" pitchFamily="34" charset="-122"/>
                <a:cs typeface="Arial" pitchFamily="34" charset="-120"/>
              </a:rPr>
              <a:t> — der stärkste Effekt der Analyse.</a:t>
            </a:r>
            <a:endParaRPr lang="en-US" sz="100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ANLAGENINTENSITÄT</a:t>
            </a:r>
            <a:endParaRPr lang="en-US" sz="105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 Bilanz · + Margen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EK-Quote −0,25 · ROA −0,18, aber EBIT-Marge +0,24 · FCF-Marge +0,22 — </a:t>
            </a:r>
            <a:r>
              <a:rPr lang="en-US" sz="1000" b="1" kern="0">
                <a:solidFill>
                  <a:srgbClr val="F2EFDA"/>
                </a:solidFill>
                <a:latin typeface="Arial" pitchFamily="34" charset="0"/>
                <a:ea typeface="Arial" pitchFamily="34" charset="-122"/>
                <a:cs typeface="Arial" pitchFamily="34" charset="-120"/>
              </a:rPr>
              <a:t>die Strom-vs.-Bestand-Mechanik auf Unternehmensebene</a:t>
            </a:r>
            <a:r>
              <a:rPr lang="en-US" sz="1000" kern="0">
                <a:solidFill>
                  <a:srgbClr val="B3BC9A"/>
                </a:solidFill>
                <a:latin typeface="Arial" pitchFamily="34" charset="0"/>
                <a:ea typeface="Arial" pitchFamily="34" charset="-122"/>
                <a:cs typeface="Arial" pitchFamily="34" charset="-120"/>
              </a:rPr>
              <a:t>. Current Ratio: kein Effekt (Mischform).</a:t>
            </a:r>
            <a:endParaRPr lang="en-US" sz="1000"/>
          </a:p>
        </p:txBody>
      </p:sp>
      <p:sp>
        <p:nvSpPr>
          <p:cNvPr id="51" name="!!K_ProfNiveau"/>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rofNiveau"/>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MEDIAN-PROFITABILITÄT</a:t>
            </a:r>
            <a:endParaRPr lang="en-US" sz="1050">
              <a:solidFill>
                <a:srgbClr val="F3EFDA"/>
              </a:solidFill>
            </a:endParaRPr>
          </a:p>
        </p:txBody>
      </p:sp>
      <p:sp>
        <p:nvSpPr>
          <p:cNvPr id="55" name="!!T_ProfNiveau"/>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ρ = −0,44 · −0,40  </a:t>
            </a:r>
            <a:r>
              <a:rPr lang="en-US" sz="950" kern="0">
                <a:solidFill>
                  <a:srgbClr val="B3BC9A"/>
                </a:solidFill>
                <a:latin typeface="Arial" pitchFamily="34" charset="0"/>
                <a:ea typeface="Arial" pitchFamily="34" charset="-122"/>
                <a:cs typeface="Arial" pitchFamily="34" charset="-120"/>
              </a:rPr>
              <a:t>EBIT- und FCF-Marge: </a:t>
            </a:r>
            <a:r>
              <a:rPr lang="en-US" sz="950" b="1" kern="0">
                <a:solidFill>
                  <a:srgbClr val="F2EFDA"/>
                </a:solidFill>
                <a:latin typeface="Arial" pitchFamily="34" charset="0"/>
                <a:ea typeface="Arial" pitchFamily="34" charset="-122"/>
                <a:cs typeface="Arial" pitchFamily="34" charset="-120"/>
              </a:rPr>
              <a:t>profitable Firmen schwanken weniger</a:t>
            </a:r>
            <a:r>
              <a:rPr lang="en-US" sz="950" kern="0">
                <a:solidFill>
                  <a:srgbClr val="B3BC9A"/>
                </a:solidFill>
                <a:latin typeface="Arial" pitchFamily="34" charset="0"/>
                <a:ea typeface="Arial" pitchFamily="34" charset="-122"/>
                <a:cs typeface="Arial" pitchFamily="34" charset="-120"/>
              </a:rPr>
              <a:t> — und revertieren etwas langsamer (φ +0,11 … +0,14).</a:t>
            </a:r>
            <a:endParaRPr lang="en-US" sz="950"/>
          </a:p>
        </p:txBody>
      </p:sp>
      <p:sp>
        <p:nvSpPr>
          <p:cNvPr id="52" name="!!K_Accruals"/>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Accruals"/>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PERIODENABGRENZUNGEN (SLOAN 1996)</a:t>
            </a:r>
            <a:endParaRPr lang="en-US" sz="1050">
              <a:solidFill>
                <a:srgbClr val="F3EFDA"/>
              </a:solidFill>
            </a:endParaRPr>
          </a:p>
        </p:txBody>
      </p:sp>
      <p:sp>
        <p:nvSpPr>
          <p:cNvPr id="56" name="!!T_Accruals"/>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ROA −0,27 · FCF −0,08 n.s.  </a:t>
            </a:r>
            <a:r>
              <a:rPr lang="en-US" sz="950" kern="0">
                <a:solidFill>
                  <a:srgbClr val="B3BC9A"/>
                </a:solidFill>
                <a:latin typeface="Arial" pitchFamily="34" charset="0"/>
                <a:ea typeface="Arial" pitchFamily="34" charset="-122"/>
                <a:cs typeface="Arial" pitchFamily="34" charset="-120"/>
              </a:rPr>
              <a:t>Accruals glätten Buchgewinne, nicht den Cashflow — </a:t>
            </a:r>
            <a:r>
              <a:rPr lang="en-US" sz="950" b="1" kern="0">
                <a:solidFill>
                  <a:srgbClr val="F2EFDA"/>
                </a:solidFill>
                <a:latin typeface="Arial" pitchFamily="34" charset="0"/>
                <a:ea typeface="Arial" pitchFamily="34" charset="-122"/>
                <a:cs typeface="Arial" pitchFamily="34" charset="-120"/>
              </a:rPr>
              <a:t>der Mechanismus hinter der FCF-Sonderstellung</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4" name="Text 17">
            <a:extLst>
              <a:ext uri="{FF2B5EF4-FFF2-40B4-BE49-F238E27FC236}">
                <a16:creationId xmlns:a16="http://schemas.microsoft.com/office/drawing/2014/main" id="{16AD8B35-D391-CB9B-97B0-799E0E49492A}"/>
              </a:ext>
            </a:extLst>
          </p:cNvPr>
          <p:cNvSpPr/>
          <p:nvPr/>
        </p:nvSpPr>
        <p:spPr>
          <a:xfrm>
            <a:off x="634593" y="655429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α/14 ≈ 0,0036. Investitionsintensität wirkt schwächer (CR −0,23 · EK-Quote −0,22 · ROA −0,11) — konzeptionelle Nähe zu Größe und Anlagenintensität; Klärung in der multivariaten Synthese (6.3).</a:t>
            </a:r>
            <a:endParaRPr lang="en-US" sz="9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Cluster-Falsifikation: Vorhersage aus der Sektor-Mechanik (4.3.3) vs. tatsächliche Quadranten-Verteilung. Cluster 5 (Gesundheit + Zykl. Konsum) bleibt wie vorhergesagt diffus — kein Quadrant über 36 %.</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σ-SEITE</a:t>
            </a:r>
            <a:endParaRPr lang="en-US" sz="1050">
              <a:solidFill>
                <a:srgbClr val="F3EFDA"/>
              </a:solidFill>
            </a:endParaRPr>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FINSRV-KONTRAST · 451 UNTERNEHMEN</a:t>
            </a:r>
            <a:endParaRPr lang="en-US" sz="1050">
              <a:solidFill>
                <a:srgbClr val="F3EFDA"/>
              </a:solidFill>
            </a:endParaRPr>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29×</a:t>
            </a:r>
            <a:r>
              <a:rPr lang="en-US" sz="1100" kern="0">
                <a:solidFill>
                  <a:srgbClr val="798D6F"/>
                </a:solidFill>
                <a:latin typeface="Courier New" pitchFamily="34" charset="0"/>
                <a:ea typeface="Courier New" pitchFamily="34" charset="-122"/>
                <a:cs typeface="Courier New" pitchFamily="34" charset="-120"/>
              </a:rPr>
              <a:t>   Current-Ratio-Volatilität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ROA-σ ein Fünftel · CR-φ −0,40 statt −0,17: Regulierung erzwingt Korrektur — </a:t>
            </a:r>
            <a:r>
              <a:rPr lang="en-US" sz="1000" b="1" kern="0">
                <a:solidFill>
                  <a:srgbClr val="F2EFDA"/>
                </a:solidFill>
                <a:latin typeface="Arial" pitchFamily="34" charset="0"/>
                <a:ea typeface="Arial" pitchFamily="34" charset="-122"/>
                <a:cs typeface="Arial" pitchFamily="34" charset="-120"/>
              </a:rPr>
              <a:t>der Ausschluss ist empirisch begründet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l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l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INDUSTRIE + BASISK.</a:t>
            </a:r>
            <a:endParaRPr lang="en-US" sz="1000"/>
          </a:p>
        </p:txBody>
      </p:sp>
      <p:sp>
        <p:nvSpPr>
          <p:cNvPr id="93" name="!!T_Cl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66 %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stabile Hälfte — robusteste Vorhersage.</a:t>
            </a:r>
            <a:endParaRPr lang="en-US" sz="870"/>
          </a:p>
        </p:txBody>
      </p:sp>
      <p:sp>
        <p:nvSpPr>
          <p:cNvPr id="94" name="!!K_Cl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l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VERSORGER + IMMOB.</a:t>
            </a:r>
            <a:endParaRPr lang="en-US" sz="1000"/>
          </a:p>
        </p:txBody>
      </p:sp>
      <p:sp>
        <p:nvSpPr>
          <p:cNvPr id="96" name="!!T_Cl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65 %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Buchgewinne stabil: ROA 82 % — Margen schwächer.</a:t>
            </a:r>
            <a:endParaRPr lang="en-US" sz="870"/>
          </a:p>
        </p:txBody>
      </p:sp>
      <p:sp>
        <p:nvSpPr>
          <p:cNvPr id="97" name="!!K_Cl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l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TECH + GRUNDSTOFFE</a:t>
            </a:r>
            <a:endParaRPr lang="en-US" sz="1000"/>
          </a:p>
        </p:txBody>
      </p:sp>
      <p:sp>
        <p:nvSpPr>
          <p:cNvPr id="99" name="!!T_Cl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60 %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persistente Hälfte — moderat bestätigt.</a:t>
            </a:r>
            <a:endParaRPr lang="en-US" sz="870"/>
          </a:p>
        </p:txBody>
      </p:sp>
      <p:sp>
        <p:nvSpPr>
          <p:cNvPr id="100" name="!!K_Cl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l4"/>
          <p:cNvSpPr/>
          <p:nvPr/>
        </p:nvSpPr>
        <p:spPr>
          <a:xfrm>
            <a:off x="9140788" y="5670000"/>
            <a:ext cx="2235398" cy="220000"/>
          </a:xfrm>
          <a:prstGeom prst="rect">
            <a:avLst/>
          </a:prstGeom>
          <a:noFill/>
          <a:ln/>
        </p:spPr>
        <p:txBody>
          <a:bodyPr wrap="square" rtlCol="0" anchor="t"/>
          <a:lstStyle/>
          <a:p>
            <a:pPr>
              <a:lnSpc>
                <a:spcPct val="105000"/>
              </a:lnSpc>
            </a:pPr>
            <a:r>
              <a:rPr lang="en-US" sz="1000" b="1" kern="0">
                <a:solidFill>
                  <a:srgbClr val="B3BC9A"/>
                </a:solidFill>
                <a:latin typeface="Courier New" pitchFamily="34" charset="0"/>
                <a:cs typeface="Courier New" pitchFamily="34" charset="-120"/>
              </a:rPr>
              <a:t>KOMM. + ENERGIE</a:t>
            </a:r>
          </a:p>
        </p:txBody>
      </p:sp>
      <p:sp>
        <p:nvSpPr>
          <p:cNvPr id="102" name="!!T_Cl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43 %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offen benannt: FCF nur 30 % — Zyklen persistieren.</a:t>
            </a:r>
            <a:endParaRPr lang="en-US" sz="87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Drei Ebenen, ein Testprogramm</a:t>
            </a:r>
            <a:endParaRPr lang="en-US" sz="20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Alle Testfamilien Bonferroni-korrigiert. Die Ergebnisse folgen auf den nächsten drei Folien.</a:t>
            </a:r>
            <a:endParaRPr lang="en-US" sz="900" dirty="0"/>
          </a:p>
        </p:txBody>
      </p:sp>
      <p:sp>
        <p:nvSpPr>
          <p:cNvPr id="40" name="!!K_Test1"/>
          <p:cNvSpPr/>
          <p:nvPr/>
        </p:nvSpPr>
        <p:spPr>
          <a:xfrm>
            <a:off x="634594" y="175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Test1"/>
          <p:cNvSpPr/>
          <p:nvPr/>
        </p:nvSpPr>
        <p:spPr>
          <a:xfrm>
            <a:off x="634594" y="1750000"/>
            <a:ext cx="38405" cy="1150000"/>
          </a:xfrm>
          <a:prstGeom prst="rect">
            <a:avLst/>
          </a:prstGeom>
          <a:solidFill>
            <a:srgbClr val="79A2F9"/>
          </a:solidFill>
          <a:ln/>
        </p:spPr>
        <p:txBody>
          <a:bodyPr/>
          <a:lstStyle/>
          <a:p>
            <a:endParaRPr lang="de-DE"/>
          </a:p>
        </p:txBody>
      </p:sp>
      <p:sp>
        <p:nvSpPr>
          <p:cNvPr id="42" name="!!L_Test1"/>
          <p:cNvSpPr/>
          <p:nvPr/>
        </p:nvSpPr>
        <p:spPr>
          <a:xfrm>
            <a:off x="888797" y="1940000"/>
            <a:ext cx="7300000" cy="260000"/>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6.1 · UNTERNEHMENSMERKMALE</a:t>
            </a:r>
            <a:endParaRPr lang="en-US" sz="1200" dirty="0"/>
          </a:p>
        </p:txBody>
      </p:sp>
      <p:sp>
        <p:nvSpPr>
          <p:cNvPr id="43" name="!!D_Test1"/>
          <p:cNvSpPr/>
          <p:nvPr/>
        </p:nvSpPr>
        <p:spPr>
          <a:xfrm>
            <a:off x="4532913" y="222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5 Strukturvariablen × 7 Kennzahlen × </a:t>
            </a:r>
            <a:r>
              <a:rPr lang="en-US" sz="1400" kern="0" dirty="0" err="1">
                <a:solidFill>
                  <a:srgbClr val="B3BC9A"/>
                </a:solidFill>
                <a:latin typeface="Arial" pitchFamily="34" charset="0"/>
                <a:ea typeface="Arial" pitchFamily="34" charset="-122"/>
                <a:cs typeface="Arial" pitchFamily="34" charset="-120"/>
              </a:rPr>
              <a:t>φ</a:t>
            </a:r>
            <a:r>
              <a:rPr lang="en-US" sz="1400" kern="0" dirty="0">
                <a:solidFill>
                  <a:srgbClr val="B3BC9A"/>
                </a:solidFill>
                <a:latin typeface="Arial" pitchFamily="34" charset="0"/>
                <a:ea typeface="Arial" pitchFamily="34" charset="-122"/>
                <a:cs typeface="Arial" pitchFamily="34" charset="-120"/>
              </a:rPr>
              <a:t> &amp; </a:t>
            </a:r>
            <a:r>
              <a:rPr lang="en-US" sz="1400" kern="0" dirty="0" err="1">
                <a:solidFill>
                  <a:srgbClr val="B3BC9A"/>
                </a:solidFill>
                <a:latin typeface="Arial" pitchFamily="34" charset="0"/>
                <a:ea typeface="Arial" pitchFamily="34" charset="-122"/>
                <a:cs typeface="Arial" pitchFamily="34" charset="-120"/>
              </a:rPr>
              <a:t>σ</a:t>
            </a:r>
            <a:r>
              <a:rPr lang="en-US" sz="1400" kern="0" dirty="0">
                <a:solidFill>
                  <a:srgbClr val="B3BC9A"/>
                </a:solidFill>
                <a:latin typeface="Arial" pitchFamily="34" charset="0"/>
                <a:ea typeface="Arial" pitchFamily="34" charset="-122"/>
                <a:cs typeface="Arial" pitchFamily="34" charset="-120"/>
              </a:rPr>
              <a:t> </a:t>
            </a:r>
            <a:endParaRPr lang="en-US" sz="1400" dirty="0"/>
          </a:p>
        </p:txBody>
      </p:sp>
      <p:sp>
        <p:nvSpPr>
          <p:cNvPr id="60" name="!!B_Test1"/>
          <p:cNvSpPr/>
          <p:nvPr/>
        </p:nvSpPr>
        <p:spPr>
          <a:xfrm>
            <a:off x="8300000" y="175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98 Tests</a:t>
            </a:r>
            <a:endParaRPr lang="en-US" sz="2000" dirty="0"/>
          </a:p>
        </p:txBody>
      </p:sp>
      <p:sp>
        <p:nvSpPr>
          <p:cNvPr id="44" name="!!K_Test2"/>
          <p:cNvSpPr/>
          <p:nvPr/>
        </p:nvSpPr>
        <p:spPr>
          <a:xfrm>
            <a:off x="634594" y="316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A_Test2"/>
          <p:cNvSpPr/>
          <p:nvPr/>
        </p:nvSpPr>
        <p:spPr>
          <a:xfrm>
            <a:off x="634594" y="3160000"/>
            <a:ext cx="38405" cy="1150000"/>
          </a:xfrm>
          <a:prstGeom prst="rect">
            <a:avLst/>
          </a:prstGeom>
          <a:solidFill>
            <a:srgbClr val="E6D34F"/>
          </a:solidFill>
          <a:ln/>
        </p:spPr>
        <p:txBody>
          <a:bodyPr/>
          <a:lstStyle/>
          <a:p>
            <a:endParaRPr lang="de-DE"/>
          </a:p>
        </p:txBody>
      </p:sp>
      <p:sp>
        <p:nvSpPr>
          <p:cNvPr id="46" name="!!L_Test2"/>
          <p:cNvSpPr/>
          <p:nvPr/>
        </p:nvSpPr>
        <p:spPr>
          <a:xfrm>
            <a:off x="888797" y="3350000"/>
            <a:ext cx="7300000" cy="260000"/>
          </a:xfrm>
          <a:prstGeom prst="rect">
            <a:avLst/>
          </a:prstGeom>
          <a:noFill/>
          <a:ln/>
        </p:spPr>
        <p:txBody>
          <a:bodyPr wrap="square" rtlCol="0" anchor="t"/>
          <a:lstStyle/>
          <a:p>
            <a:pPr marL="0" indent="0" algn="l">
              <a:lnSpc>
                <a:spcPct val="105000"/>
              </a:lnSpc>
              <a:buNone/>
            </a:pPr>
            <a:r>
              <a:rPr lang="en-US" sz="1200" b="1" kern="0" dirty="0">
                <a:solidFill>
                  <a:srgbClr val="E6D34F"/>
                </a:solidFill>
                <a:latin typeface="Courier New" pitchFamily="34" charset="0"/>
                <a:ea typeface="Courier New" pitchFamily="34" charset="-122"/>
                <a:cs typeface="Courier New" pitchFamily="34" charset="-120"/>
              </a:rPr>
              <a:t>6.2 · SEKTORMERKMALE</a:t>
            </a:r>
            <a:endParaRPr lang="en-US" sz="1200" dirty="0"/>
          </a:p>
        </p:txBody>
      </p:sp>
      <p:sp>
        <p:nvSpPr>
          <p:cNvPr id="47" name="!!D_Test2"/>
          <p:cNvSpPr/>
          <p:nvPr/>
        </p:nvSpPr>
        <p:spPr>
          <a:xfrm>
            <a:off x="4532912" y="363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Kruskal-Wallis über die </a:t>
            </a:r>
            <a:r>
              <a:rPr lang="en-US" sz="1400" kern="0" dirty="0" err="1">
                <a:solidFill>
                  <a:srgbClr val="B3BC9A"/>
                </a:solidFill>
                <a:latin typeface="Arial" pitchFamily="34" charset="0"/>
                <a:ea typeface="Arial" pitchFamily="34" charset="-122"/>
                <a:cs typeface="Arial" pitchFamily="34" charset="-120"/>
              </a:rPr>
              <a:t>zehn</a:t>
            </a:r>
            <a:r>
              <a:rPr lang="en-US" sz="1400" kern="0" dirty="0">
                <a:solidFill>
                  <a:srgbClr val="B3BC9A"/>
                </a:solidFill>
                <a:latin typeface="Arial" pitchFamily="34" charset="0"/>
                <a:ea typeface="Arial" pitchFamily="34" charset="-122"/>
                <a:cs typeface="Arial" pitchFamily="34" charset="-120"/>
              </a:rPr>
              <a:t> GICS-</a:t>
            </a:r>
            <a:r>
              <a:rPr lang="en-US" sz="1400" kern="0" dirty="0" err="1">
                <a:solidFill>
                  <a:srgbClr val="B3BC9A"/>
                </a:solidFill>
                <a:latin typeface="Arial" pitchFamily="34" charset="0"/>
                <a:ea typeface="Arial" pitchFamily="34" charset="-122"/>
                <a:cs typeface="Arial" pitchFamily="34" charset="-120"/>
              </a:rPr>
              <a:t>Sektoren</a:t>
            </a:r>
            <a:endParaRPr lang="en-US" sz="1400" dirty="0"/>
          </a:p>
        </p:txBody>
      </p:sp>
      <p:sp>
        <p:nvSpPr>
          <p:cNvPr id="64" name="!!B_Test2"/>
          <p:cNvSpPr/>
          <p:nvPr/>
        </p:nvSpPr>
        <p:spPr>
          <a:xfrm>
            <a:off x="8300000" y="316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3 Verfahren</a:t>
            </a:r>
            <a:endParaRPr lang="en-US" sz="2000" dirty="0"/>
          </a:p>
        </p:txBody>
      </p:sp>
      <p:sp>
        <p:nvSpPr>
          <p:cNvPr id="48" name="!!K_Test3"/>
          <p:cNvSpPr/>
          <p:nvPr/>
        </p:nvSpPr>
        <p:spPr>
          <a:xfrm>
            <a:off x="634594" y="457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9" name="!!A_Test3"/>
          <p:cNvSpPr/>
          <p:nvPr/>
        </p:nvSpPr>
        <p:spPr>
          <a:xfrm>
            <a:off x="634594" y="4570000"/>
            <a:ext cx="38405" cy="1150000"/>
          </a:xfrm>
          <a:prstGeom prst="rect">
            <a:avLst/>
          </a:prstGeom>
          <a:solidFill>
            <a:srgbClr val="F36451"/>
          </a:solidFill>
          <a:ln/>
        </p:spPr>
        <p:txBody>
          <a:bodyPr/>
          <a:lstStyle/>
          <a:p>
            <a:endParaRPr lang="de-DE"/>
          </a:p>
        </p:txBody>
      </p:sp>
      <p:sp>
        <p:nvSpPr>
          <p:cNvPr id="50" name="!!L_Test3"/>
          <p:cNvSpPr/>
          <p:nvPr/>
        </p:nvSpPr>
        <p:spPr>
          <a:xfrm>
            <a:off x="888797" y="4760000"/>
            <a:ext cx="7300000" cy="260000"/>
          </a:xfrm>
          <a:prstGeom prst="rect">
            <a:avLst/>
          </a:prstGeom>
          <a:noFill/>
          <a:ln/>
        </p:spPr>
        <p:txBody>
          <a:bodyPr wrap="square" rtlCol="0" anchor="t"/>
          <a:lstStyle/>
          <a:p>
            <a:pPr marL="0" indent="0" algn="l">
              <a:lnSpc>
                <a:spcPct val="105000"/>
              </a:lnSpc>
              <a:buNone/>
            </a:pPr>
            <a:r>
              <a:rPr lang="en-US" sz="1200" b="1" kern="0" dirty="0">
                <a:solidFill>
                  <a:srgbClr val="F36451"/>
                </a:solidFill>
                <a:latin typeface="Courier New" pitchFamily="34" charset="0"/>
                <a:ea typeface="Courier New" pitchFamily="34" charset="-122"/>
                <a:cs typeface="Courier New" pitchFamily="34" charset="-120"/>
              </a:rPr>
              <a:t>6.3 · SYNTHESE</a:t>
            </a:r>
            <a:endParaRPr lang="en-US" sz="1200" dirty="0"/>
          </a:p>
        </p:txBody>
      </p:sp>
      <p:sp>
        <p:nvSpPr>
          <p:cNvPr id="51" name="!!D_Test3"/>
          <p:cNvSpPr/>
          <p:nvPr/>
        </p:nvSpPr>
        <p:spPr>
          <a:xfrm>
            <a:off x="4532912" y="504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Multivariate OLS-Regression</a:t>
            </a:r>
            <a:endParaRPr lang="en-US" sz="1400" dirty="0"/>
          </a:p>
        </p:txBody>
      </p:sp>
      <p:sp>
        <p:nvSpPr>
          <p:cNvPr id="68" name="!!B_Test3"/>
          <p:cNvSpPr/>
          <p:nvPr/>
        </p:nvSpPr>
        <p:spPr>
          <a:xfrm>
            <a:off x="8300000" y="457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14 Modelle</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Unternehmensmerkmale wirken auf σ — kaum auf φ</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98 Spearman-Tests · ★ = Bonferroni-signifikant (α/14 ≈ 0,0036)</a:t>
            </a:r>
            <a:endParaRPr lang="en-US" sz="1100" dirty="0"/>
          </a:p>
        </p:txBody>
      </p:sp>
      <p:sp>
        <p:nvSpPr>
          <p:cNvPr id="20" name="Text 17"/>
          <p:cNvSpPr/>
          <p:nvPr/>
        </p:nvSpPr>
        <p:spPr>
          <a:xfrm>
            <a:off x="634594" y="58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31 von 49 σ-Tests signifikant · 10 von 49 bei φ — stärkster Effekt: Mitarbeiterzahl × FCF-Marge / Current Ratio (ρ = −0,53).</a:t>
            </a:r>
            <a:endParaRPr lang="en-US" sz="900" dirty="0"/>
          </a:p>
        </p:txBody>
      </p:sp>
      <p:pic>
        <p:nvPicPr>
          <p:cNvPr id="8" name="Grafik 7">
            <a:extLst>
              <a:ext uri="{FF2B5EF4-FFF2-40B4-BE49-F238E27FC236}">
                <a16:creationId xmlns:a16="http://schemas.microsoft.com/office/drawing/2014/main" id="{061F56C1-183F-5856-5CA7-7B380676D932}"/>
              </a:ext>
            </a:extLst>
          </p:cNvPr>
          <p:cNvPicPr>
            <a:picLocks noChangeAspect="1"/>
          </p:cNvPicPr>
          <p:nvPr/>
        </p:nvPicPr>
        <p:blipFill>
          <a:blip r:embed="rId3"/>
          <a:stretch>
            <a:fillRect/>
          </a:stretch>
        </p:blipFill>
        <p:spPr>
          <a:xfrm>
            <a:off x="634594" y="1682683"/>
            <a:ext cx="9516796" cy="38976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14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Kruskal-Wallis-Effektstärke ε² je Kennzahl · ★ = Bonferroni-signifikant</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Cluster-Vorhersagen aus der Sektor-Mechanik (Kap. 4.3.3) · Details und Beispiel-Unternehmen im Backup.</a:t>
            </a:r>
            <a:endParaRPr lang="en-US" sz="900" dirty="0"/>
          </a:p>
        </p:txBody>
      </p:sp>
      <p:sp>
        <p:nvSpPr>
          <p:cNvPr id="60" name="!!K_FinSrv"/>
          <p:cNvSpPr/>
          <p:nvPr/>
        </p:nvSpPr>
        <p:spPr>
          <a:xfrm>
            <a:off x="7734594" y="1750000"/>
            <a:ext cx="3821594" cy="1400000"/>
          </a:xfrm>
          <a:prstGeom prst="roundRect">
            <a:avLst>
              <a:gd name="adj" fmla="val 3197"/>
            </a:avLst>
          </a:prstGeom>
          <a:solidFill>
            <a:srgbClr val="1E402E"/>
          </a:solidFill>
          <a:ln w="12700">
            <a:solidFill>
              <a:srgbClr val="E6D34F"/>
            </a:solidFill>
            <a:prstDash val="solid"/>
          </a:ln>
        </p:spPr>
        <p:txBody>
          <a:bodyPr/>
          <a:lstStyle/>
          <a:p>
            <a:endParaRPr lang="de-DE"/>
          </a:p>
        </p:txBody>
      </p:sp>
      <p:sp>
        <p:nvSpPr>
          <p:cNvPr id="61" name="!!L_FinSrv"/>
          <p:cNvSpPr/>
          <p:nvPr/>
        </p:nvSpPr>
        <p:spPr>
          <a:xfrm>
            <a:off x="7934594" y="1880000"/>
            <a:ext cx="3421594" cy="23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FINSRV-KONTRAST · 451 FIRMEN</a:t>
            </a:r>
            <a:endParaRPr lang="en-US" sz="1000" dirty="0"/>
          </a:p>
        </p:txBody>
      </p:sp>
      <p:sp>
        <p:nvSpPr>
          <p:cNvPr id="62" name="!!T_FinSrv"/>
          <p:cNvSpPr/>
          <p:nvPr/>
        </p:nvSpPr>
        <p:spPr>
          <a:xfrm>
            <a:off x="7934594" y="2160000"/>
            <a:ext cx="3421594" cy="900000"/>
          </a:xfrm>
          <a:prstGeom prst="rect">
            <a:avLst/>
          </a:prstGeom>
          <a:noFill/>
          <a:ln/>
        </p:spPr>
        <p:txBody>
          <a:bodyPr wrap="square" rtlCol="0" anchor="t"/>
          <a:lstStyle/>
          <a:p>
            <a:pPr marL="0" indent="0" algn="l">
              <a:lnSpc>
                <a:spcPct val="100000"/>
              </a:lnSpc>
              <a:buNone/>
            </a:pPr>
            <a:r>
              <a:rPr lang="en-US" sz="2000" b="1" kern="0" dirty="0">
                <a:solidFill>
                  <a:srgbClr val="F2EFDA"/>
                </a:solidFill>
                <a:latin typeface="Courier New" pitchFamily="34" charset="0"/>
                <a:ea typeface="Courier New" pitchFamily="34" charset="-122"/>
                <a:cs typeface="Courier New" pitchFamily="34" charset="-120"/>
              </a:rPr>
              <a:t>29×</a:t>
            </a:r>
            <a:r>
              <a:rPr lang="en-US" sz="1050" kern="0" dirty="0">
                <a:solidFill>
                  <a:srgbClr val="798D6F"/>
                </a:solidFill>
                <a:latin typeface="Courier New" pitchFamily="34" charset="0"/>
                <a:ea typeface="Courier New" pitchFamily="34" charset="-122"/>
                <a:cs typeface="Courier New" pitchFamily="34" charset="-120"/>
              </a:rPr>
              <a:t>  Current-Ratio-σ</a:t>
            </a:r>
            <a:endParaRPr lang="en-US" sz="20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der Ausschluss ist </a:t>
            </a:r>
            <a:r>
              <a:rPr lang="en-US" sz="950" b="1" kern="0" dirty="0">
                <a:solidFill>
                  <a:srgbClr val="F2EFDA"/>
                </a:solidFill>
                <a:latin typeface="Arial" pitchFamily="34" charset="0"/>
                <a:ea typeface="Arial" pitchFamily="34" charset="-122"/>
                <a:cs typeface="Arial" pitchFamily="34" charset="-120"/>
              </a:rPr>
              <a:t>empirisch begründet</a:t>
            </a:r>
            <a:r>
              <a:rPr lang="en-US" sz="950" kern="0" dirty="0">
                <a:solidFill>
                  <a:srgbClr val="B3BC9A"/>
                </a:solidFill>
                <a:latin typeface="Arial" pitchFamily="34" charset="0"/>
                <a:ea typeface="Arial" pitchFamily="34" charset="-122"/>
                <a:cs typeface="Arial" pitchFamily="34" charset="-120"/>
              </a:rPr>
              <a:t>.</a:t>
            </a:r>
            <a:endParaRPr lang="en-US" sz="950" dirty="0"/>
          </a:p>
        </p:txBody>
      </p:sp>
      <p:sp>
        <p:nvSpPr>
          <p:cNvPr id="63" name="!!K_Cluster"/>
          <p:cNvSpPr/>
          <p:nvPr/>
        </p:nvSpPr>
        <p:spPr>
          <a:xfrm>
            <a:off x="7734594" y="3400000"/>
            <a:ext cx="3821594" cy="14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64" name="!!L_Cluster"/>
          <p:cNvSpPr/>
          <p:nvPr/>
        </p:nvSpPr>
        <p:spPr>
          <a:xfrm>
            <a:off x="7934594" y="3530000"/>
            <a:ext cx="3421594"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CLUSTER-FALSIFIKATION</a:t>
            </a:r>
            <a:endParaRPr lang="en-US" sz="1000" dirty="0"/>
          </a:p>
        </p:txBody>
      </p:sp>
      <p:sp>
        <p:nvSpPr>
          <p:cNvPr id="65" name="!!T_Cluster"/>
          <p:cNvSpPr/>
          <p:nvPr/>
        </p:nvSpPr>
        <p:spPr>
          <a:xfrm>
            <a:off x="7934594" y="3810000"/>
            <a:ext cx="3421594" cy="900000"/>
          </a:xfrm>
          <a:prstGeom prst="rect">
            <a:avLst/>
          </a:prstGeom>
          <a:noFill/>
          <a:ln/>
        </p:spPr>
        <p:txBody>
          <a:bodyPr wrap="square" rtlCol="0" anchor="t"/>
          <a:lstStyle/>
          <a:p>
            <a:pPr marL="0" indent="0" algn="l">
              <a:lnSpc>
                <a:spcPct val="100000"/>
              </a:lnSpc>
              <a:buNone/>
            </a:pPr>
            <a:r>
              <a:rPr lang="en-US" sz="1600" b="1" kern="0" dirty="0">
                <a:solidFill>
                  <a:srgbClr val="F2EFDA"/>
                </a:solidFill>
                <a:latin typeface="Courier New" pitchFamily="34" charset="0"/>
                <a:ea typeface="Courier New" pitchFamily="34" charset="-122"/>
                <a:cs typeface="Courier New" pitchFamily="34" charset="-120"/>
              </a:rPr>
              <a:t>3 / 4 bestätigt</a:t>
            </a:r>
            <a:endParaRPr lang="en-US" sz="16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66 · 65 · 60 % Konformität — schwächstes </a:t>
            </a:r>
            <a:r>
              <a:rPr lang="en-US" sz="950" b="1" kern="0" dirty="0">
                <a:solidFill>
                  <a:srgbClr val="F2EFDA"/>
                </a:solidFill>
                <a:latin typeface="Arial" pitchFamily="34" charset="0"/>
                <a:ea typeface="Arial" pitchFamily="34" charset="-122"/>
                <a:cs typeface="Arial" pitchFamily="34" charset="-120"/>
              </a:rPr>
              <a:t>offen benannt: 43 %</a:t>
            </a:r>
            <a:r>
              <a:rPr lang="en-US" sz="950" kern="0" dirty="0">
                <a:solidFill>
                  <a:srgbClr val="B3BC9A"/>
                </a:solidFill>
                <a:latin typeface="Arial" pitchFamily="34" charset="0"/>
                <a:ea typeface="Arial" pitchFamily="34" charset="-122"/>
                <a:cs typeface="Arial" pitchFamily="34" charset="-120"/>
              </a:rPr>
              <a:t>.</a:t>
            </a:r>
            <a:endParaRPr lang="en-US" sz="950" dirty="0"/>
          </a:p>
        </p:txBody>
      </p:sp>
      <p:pic>
        <p:nvPicPr>
          <p:cNvPr id="10" name="Grafik 9">
            <a:extLst>
              <a:ext uri="{FF2B5EF4-FFF2-40B4-BE49-F238E27FC236}">
                <a16:creationId xmlns:a16="http://schemas.microsoft.com/office/drawing/2014/main" id="{EF11224F-5EB7-C2C2-DCFC-66A46D2517AC}"/>
              </a:ext>
            </a:extLst>
          </p:cNvPr>
          <p:cNvPicPr>
            <a:picLocks noChangeAspect="1"/>
          </p:cNvPicPr>
          <p:nvPr/>
        </p:nvPicPr>
        <p:blipFill>
          <a:blip r:embed="rId3"/>
          <a:stretch>
            <a:fillRect/>
          </a:stretch>
        </p:blipFill>
        <p:spPr>
          <a:xfrm>
            <a:off x="835812" y="1802297"/>
            <a:ext cx="6632075" cy="29226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10 / 13</a:t>
            </a:r>
            <a:endParaRPr lang="en-US" sz="120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a:solidFill>
                  <a:srgbClr val="F2EFDA"/>
                </a:solidFill>
                <a:latin typeface="Arial" pitchFamily="34" charset="0"/>
                <a:ea typeface="Arial" pitchFamily="34" charset="-122"/>
                <a:cs typeface="Arial" pitchFamily="34" charset="-120"/>
              </a:rPr>
              <a:t>Struktur erklärt σ — nicht φ</a:t>
            </a:r>
            <a:endParaRPr lang="en-US" sz="25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a:solidFill>
                  <a:srgbClr val="79A2F9"/>
                </a:solidFill>
                <a:latin typeface="Courier New" pitchFamily="34" charset="0"/>
                <a:ea typeface="Courier New" pitchFamily="34" charset="-122"/>
                <a:cs typeface="Courier New" pitchFamily="34" charset="-120"/>
              </a:rPr>
              <a:t>σ  </a:t>
            </a:r>
            <a:r>
              <a:rPr lang="en-US" sz="1200" b="1">
                <a:solidFill>
                  <a:srgbClr val="F2EFDA"/>
                </a:solidFill>
                <a:latin typeface="Arial" pitchFamily="34" charset="0"/>
                <a:ea typeface="Arial" pitchFamily="34" charset="-122"/>
                <a:cs typeface="Arial" pitchFamily="34" charset="-120"/>
              </a:rPr>
              <a:t>Volatilität — erklärt</a:t>
            </a:r>
            <a:endParaRPr lang="en-US" sz="120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a:solidFill>
                  <a:srgbClr val="79A2F9"/>
                </a:solidFill>
                <a:latin typeface="Courier New" pitchFamily="34" charset="0"/>
                <a:ea typeface="Courier New" pitchFamily="34" charset="-122"/>
                <a:cs typeface="Courier New" pitchFamily="34" charset="-120"/>
              </a:rPr>
              <a:t>≈ 30 %</a:t>
            </a:r>
            <a:endParaRPr lang="en-US" sz="240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Bei der FCF-Marge bis 49 %.</a:t>
            </a:r>
            <a:endParaRPr lang="en-US" sz="90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a:solidFill>
                  <a:srgbClr val="B3BC9A"/>
                </a:solidFill>
                <a:latin typeface="Courier New" pitchFamily="34" charset="0"/>
                <a:ea typeface="Courier New" pitchFamily="34" charset="-122"/>
                <a:cs typeface="Courier New" pitchFamily="34" charset="-120"/>
              </a:rPr>
              <a:t>φ  </a:t>
            </a:r>
            <a:r>
              <a:rPr lang="en-US" sz="1200" b="1">
                <a:solidFill>
                  <a:srgbClr val="B3BC9A"/>
                </a:solidFill>
                <a:latin typeface="Arial" pitchFamily="34" charset="0"/>
                <a:ea typeface="Arial" pitchFamily="34" charset="-122"/>
                <a:cs typeface="Arial" pitchFamily="34" charset="-120"/>
              </a:rPr>
              <a:t>Korrekturgeschwindigkeit — erklärt</a:t>
            </a:r>
            <a:endParaRPr lang="en-US" sz="120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a:solidFill>
                  <a:srgbClr val="B3BC9A"/>
                </a:solidFill>
                <a:latin typeface="Courier New" pitchFamily="34" charset="0"/>
                <a:ea typeface="Courier New" pitchFamily="34" charset="-122"/>
                <a:cs typeface="Courier New" pitchFamily="34" charset="-120"/>
              </a:rPr>
              <a:t>≈ 5 %</a:t>
            </a:r>
            <a:endParaRPr lang="en-US" sz="240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φ bleibt idiosynkratisch — ein eigenständiges Firmenmerkmal.</a:t>
            </a:r>
            <a:endParaRPr lang="en-US" sz="90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a:solidFill>
                  <a:srgbClr val="79A2F9"/>
                </a:solidFill>
                <a:latin typeface="Courier New" pitchFamily="34" charset="0"/>
                <a:ea typeface="Courier New" pitchFamily="34" charset="-122"/>
                <a:cs typeface="Courier New" pitchFamily="34" charset="-120"/>
              </a:rPr>
              <a:t>σ = Exposition</a:t>
            </a:r>
            <a:endParaRPr lang="en-US" sz="140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φ = Reaktion</a:t>
            </a:r>
            <a:endParaRPr lang="en-US" sz="140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11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Falsifikation &amp; Finanzdienstleister-Kontrast</a:t>
            </a:r>
            <a:endParaRPr lang="en-US" sz="230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a:solidFill>
                  <a:srgbClr val="E6D34F"/>
                </a:solidFill>
                <a:latin typeface="Courier New" pitchFamily="34" charset="0"/>
                <a:ea typeface="Courier New" pitchFamily="34" charset="-122"/>
                <a:cs typeface="Courier New" pitchFamily="34" charset="-120"/>
              </a:rPr>
              <a:t>CLUSTER-FALSIFIKATION (KAP. 6.2.2)</a:t>
            </a:r>
            <a:endParaRPr lang="en-US" sz="80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66 %</a:t>
            </a:r>
            <a:endParaRPr lang="en-US" sz="170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65 %</a:t>
            </a:r>
            <a:endParaRPr lang="en-US" sz="170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60 %</a:t>
            </a:r>
            <a:endParaRPr lang="en-US" sz="170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a:solidFill>
                  <a:srgbClr val="F36451"/>
                </a:solidFill>
                <a:latin typeface="Courier New" pitchFamily="34" charset="0"/>
                <a:ea typeface="Courier New" pitchFamily="34" charset="-122"/>
                <a:cs typeface="Courier New" pitchFamily="34" charset="-120"/>
              </a:rPr>
              <a:t>43 %</a:t>
            </a:r>
            <a:endParaRPr lang="en-US" sz="170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3 von 4 Clustern bestätigt. Schwächstes Cluster </a:t>
            </a:r>
            <a:r>
              <a:rPr lang="en-US" sz="1000" b="1">
                <a:solidFill>
                  <a:srgbClr val="F2EFDA"/>
                </a:solidFill>
                <a:latin typeface="Arial" pitchFamily="34" charset="0"/>
                <a:ea typeface="Arial" pitchFamily="34" charset="-122"/>
                <a:cs typeface="Arial" pitchFamily="34" charset="-120"/>
              </a:rPr>
              <a:t>offen benannt</a:t>
            </a:r>
            <a:r>
              <a:rPr lang="en-US" sz="1000">
                <a:solidFill>
                  <a:srgbClr val="B3BC9A"/>
                </a:solidFill>
                <a:latin typeface="Arial" pitchFamily="34" charset="0"/>
                <a:ea typeface="Arial" pitchFamily="34" charset="-122"/>
                <a:cs typeface="Arial" pitchFamily="34" charset="-120"/>
              </a:rPr>
              <a:t>: Kommunikation/Energie mit 43 %.</a:t>
            </a:r>
            <a:endParaRPr lang="en-US" sz="100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a:solidFill>
                  <a:srgbClr val="79A2F9"/>
                </a:solidFill>
                <a:latin typeface="Courier New" pitchFamily="34" charset="0"/>
                <a:ea typeface="Courier New" pitchFamily="34" charset="-122"/>
                <a:cs typeface="Courier New" pitchFamily="34" charset="-120"/>
              </a:rPr>
              <a:t>451 FINANZDIENSTLEISTER IM φ–σ-RAUM</a:t>
            </a:r>
            <a:endParaRPr lang="en-US" sz="80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a:solidFill>
                  <a:srgbClr val="79A2F9"/>
                </a:solidFill>
                <a:latin typeface="Courier New" pitchFamily="34" charset="0"/>
                <a:ea typeface="Courier New" pitchFamily="34" charset="-122"/>
                <a:cs typeface="Courier New" pitchFamily="34" charset="-120"/>
              </a:rPr>
              <a:t>29×</a:t>
            </a:r>
            <a:endParaRPr lang="en-US" sz="450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Der Sektorausschluss ist </a:t>
            </a:r>
            <a:r>
              <a:rPr lang="en-US" sz="1000" b="1">
                <a:solidFill>
                  <a:srgbClr val="F2EFDA"/>
                </a:solidFill>
                <a:latin typeface="Arial" pitchFamily="34" charset="0"/>
                <a:ea typeface="Arial" pitchFamily="34" charset="-122"/>
                <a:cs typeface="Arial" pitchFamily="34" charset="-120"/>
              </a:rPr>
              <a:t>empirisch begründet</a:t>
            </a:r>
            <a:r>
              <a:rPr lang="en-US" sz="1000">
                <a:solidFill>
                  <a:srgbClr val="B3BC9A"/>
                </a:solidFill>
                <a:latin typeface="Arial" pitchFamily="34" charset="0"/>
                <a:ea typeface="Arial" pitchFamily="34" charset="-122"/>
                <a:cs typeface="Arial" pitchFamily="34" charset="-120"/>
              </a:rPr>
              <a:t>, nicht nur Konvention.</a:t>
            </a:r>
            <a:endParaRPr lang="en-US" sz="100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VALIDIERUNG (</a:t>
            </a:r>
            <a:r>
              <a:rPr lang="en-US" sz="1200" b="1" kern="0" spc="400" err="1">
                <a:solidFill>
                  <a:srgbClr val="E6D34F"/>
                </a:solidFill>
                <a:latin typeface="Courier New" pitchFamily="34" charset="0"/>
                <a:cs typeface="Courier New" pitchFamily="34" charset="-120"/>
              </a:rPr>
              <a:t>Fazit</a:t>
            </a:r>
            <a:r>
              <a:rPr lang="en-US" sz="1200" b="1" kern="0" spc="400">
                <a:solidFill>
                  <a:srgbClr val="E6D34F"/>
                </a:solidFill>
                <a:latin typeface="Courier New" pitchFamily="34" charset="0"/>
                <a:cs typeface="Courier New" pitchFamily="34" charset="-120"/>
              </a:rPr>
              <a: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12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Grenzen der Arbeit </a:t>
            </a:r>
            <a:endParaRPr lang="en-US" sz="230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01  </a:t>
            </a:r>
            <a:r>
              <a:rPr lang="en-US" sz="1300" b="1">
                <a:solidFill>
                  <a:srgbClr val="F2EFDA"/>
                </a:solidFill>
                <a:latin typeface="Arial" pitchFamily="34" charset="0"/>
                <a:ea typeface="Arial" pitchFamily="34" charset="-122"/>
                <a:cs typeface="Arial" pitchFamily="34" charset="-120"/>
              </a:rPr>
              <a:t>Survivorship Bias</a:t>
            </a:r>
            <a:endParaRPr lang="en-US" sz="130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02  </a:t>
            </a:r>
            <a:r>
              <a:rPr lang="en-US" sz="1300" b="1">
                <a:solidFill>
                  <a:srgbClr val="F2EFDA"/>
                </a:solidFill>
                <a:latin typeface="Arial" pitchFamily="34" charset="0"/>
                <a:ea typeface="Arial" pitchFamily="34" charset="-122"/>
                <a:cs typeface="Arial" pitchFamily="34" charset="-120"/>
              </a:rPr>
              <a:t>Differenzen-Konvention</a:t>
            </a:r>
            <a:endParaRPr lang="en-US" sz="130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03  </a:t>
            </a:r>
            <a:r>
              <a:rPr lang="en-US" sz="1300" b="1">
                <a:solidFill>
                  <a:srgbClr val="F2EFDA"/>
                </a:solidFill>
                <a:latin typeface="Arial" pitchFamily="34" charset="0"/>
                <a:ea typeface="Arial" pitchFamily="34" charset="-122"/>
                <a:cs typeface="Arial" pitchFamily="34" charset="-120"/>
              </a:rPr>
              <a:t>In-Sample-Charakter</a:t>
            </a:r>
            <a:endParaRPr lang="en-US" sz="130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04  </a:t>
            </a:r>
            <a:r>
              <a:rPr lang="en-US" sz="1300" b="1">
                <a:solidFill>
                  <a:srgbClr val="F2EFDA"/>
                </a:solidFill>
                <a:latin typeface="Arial" pitchFamily="34" charset="0"/>
                <a:ea typeface="Arial" pitchFamily="34" charset="-122"/>
                <a:cs typeface="Arial" pitchFamily="34" charset="-120"/>
              </a:rPr>
              <a:t>Geltungsbereich</a:t>
            </a:r>
            <a:endParaRPr lang="en-US" sz="130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a:solidFill>
                  <a:srgbClr val="798D6F"/>
                </a:solidFill>
                <a:latin typeface="Courier New" pitchFamily="34" charset="0"/>
                <a:ea typeface="Courier New" pitchFamily="34" charset="-122"/>
                <a:cs typeface="Courier New" pitchFamily="34" charset="-120"/>
              </a:rPr>
              <a:t>AUSBLCK   </a:t>
            </a:r>
            <a:r>
              <a:rPr lang="en-US" sz="90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4269</Words>
  <Application>Microsoft Macintosh PowerPoint</Application>
  <PresentationFormat>Breitbild</PresentationFormat>
  <Paragraphs>447</Paragraphs>
  <Slides>27</Slides>
  <Notes>27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27</vt:i4>
      </vt:variant>
    </vt:vector>
  </HeadingPairs>
  <TitlesOfParts>
    <vt:vector size="31" baseType="lpstr">
      <vt:lpstr>Arial</vt:lpstr>
      <vt:lpstr>Cambria Math</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8</cp:revision>
  <dcterms:created xsi:type="dcterms:W3CDTF">2026-06-21T21:41:59Z</dcterms:created>
  <dcterms:modified xsi:type="dcterms:W3CDTF">2026-07-05T12:09:52Z</dcterms:modified>
</cp:coreProperties>
</file>